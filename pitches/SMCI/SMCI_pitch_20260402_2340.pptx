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/>
              <a:t>Revenue History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C2C39"/>
            </a:solidFill>
          </c:spPr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7123.482</c:v>
                </c:pt>
                <c:pt idx="1">
                  <c:v>14989.251</c:v>
                </c:pt>
                <c:pt idx="2">
                  <c:v>28057.105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123718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6128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61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6128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61288"/>
          </a:xfrm>
          <a:prstGeom prst="rect">
            <a:avLst/>
          </a:prstGeom>
          <a:solidFill>
            <a:srgbClr val="D8D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37943"/>
            <a:ext cx="4315968" cy="250545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409651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Super Micro Computer,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40965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aramond"/>
              </a:rPr>
              <a:t>NASDAQ: SMCI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29584"/>
            <a:ext cx="409651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aramond"/>
              </a:rPr>
              <a:t>Real Estate  —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86784"/>
            <a:ext cx="22860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C03B"/>
                </a:solidFill>
                <a:latin typeface="Garamond"/>
              </a:rPr>
              <a:t>Hold: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5760"/>
            <a:ext cx="5971032" cy="619963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5029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Garamond"/>
              </a:rPr>
              <a:t>KEY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749808"/>
            <a:ext cx="53035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5953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NYSE: SMCI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170432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Current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70432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$23.22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17904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52-Wk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17904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 – 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65376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Market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865376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12848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Dividend 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212848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907791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Price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07791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$28.00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55263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Expected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255263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+12.0%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602735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Conviction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602735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35/5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950207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Time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50207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12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399"/>
            <a:ext cx="5303520" cy="228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62271"/>
            <a:ext cx="5303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Garamond"/>
              </a:rPr>
              <a:t>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81727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hyperscaler…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806440"/>
            <a:ext cx="5303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  <a:latin typeface="Garamond"/>
              </a:rPr>
              <a:t>Verify: 3.7/10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Garamond"/>
              </a:rPr>
              <a:t>CONFIDENTIAL — FOR INSTITUTIONAL INVESTOR USE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4922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Garamon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LSEG,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Business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9264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24128"/>
            <a:ext cx="521208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Super Micro Computer (SMCI) designs and manufactures server, storage, and networking solutions with a focus on high-performance, rack-scale AI/GPU-optimized infrastructure. The company operates on a fiscal year ending June 30, as confirmed by XBRL filing periods. CRITICAL DATA NOTE: The MD&amp;A excerpt delivered contains only XBRL taxonomy metadata — no readable 10-K text was provided. The sec_data.json source is flagged MISSING in the data freshness check. All qualitative business model charact…
Revenue Drivers:
  • N/A — revenue segment breakdown not present in provided XBRL extract
  • FY2017 total revenue of $2,484,929,000 is the sole revenue figure available (from 10-K …
Model: Product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4096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$23.22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52-Wk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 –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Market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Revenue (LTM)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$28.1B (FY2025)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EBIT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3.7%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242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8.7%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Net Debt/EBITDA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1.1x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FCF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ROIC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 CAGR 3Y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Dividend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284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032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1.85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31520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969264"/>
            <a:ext cx="555955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6263640" y="1024128"/>
          <a:ext cx="5559551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42031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Value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Current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$23.22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52-Wk Range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 – 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Dividend Yield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6263640" y="2724912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vs. Peers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962656"/>
            <a:ext cx="555955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6263640" y="2999232"/>
          <a:ext cx="55595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91055"/>
                <a:gridCol w="159105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SMCI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Peer Median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1.1x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Rev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EBITDA Margin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368.0%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Net Debt/EBITDA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1.1x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6263640" y="4626864"/>
          <a:ext cx="555955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Rectangle 52"/>
          <p:cNvSpPr/>
          <p:nvPr/>
        </p:nvSpPr>
        <p:spPr>
          <a:xfrm>
            <a:off x="640080" y="6492240"/>
            <a:ext cx="11183112" cy="1828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Annotated Price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SMCI vs. Benchmark — Key Events &amp; Catalysts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9536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LSEG Refinitiv, Bloomberg, Analyst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698480" cy="640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Pre-earnings positioning; any preliminary Q3 FY2026 guidance or channel checks on AI se…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3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3863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3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1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May 5,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7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Q3 FY2026 earnings 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50023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0023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3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June-July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7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Q3 FY2026 10-Q filing deadline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43615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7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02367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7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6415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August-September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Q4 FY2026 earnings and FY2027 guidance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76672"/>
            <a:ext cx="11183112" cy="3657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440680"/>
            <a:ext cx="950976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hyperscalers are stru…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52160"/>
            <a:ext cx="137160" cy="1371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SMCI events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852160"/>
            <a:ext cx="137160" cy="1371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Analyst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Industry Dynamics &amp; 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Industry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Total Addressable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47872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 — no ind…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Cycle Position
mixed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Market Share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5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63455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5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C03B"/>
                </a:solidFill>
                <a:latin typeface="Garamond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Disruption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819656"/>
            <a:ext cx="11183112" cy="2743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883664"/>
            <a:ext cx="5486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Structural Tailwinds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21408"/>
            <a:ext cx="54864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1762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2219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AI compute infrastructure buildout: qualitative tailwind acknowledged — UNQUANTIFIED, no hyperscaler capex data or server shipm…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6334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791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Data center densification and liquid cooling adoption: qualitative tailwind — UNQUANTIFIED from provided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83664"/>
            <a:ext cx="619963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Structural Headwinds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121408"/>
            <a:ext cx="619963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1762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2219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South China Sea geopolitical tensions: WSJ headline dated 2026-04-02 ('China Is Building Another Massive Base in the South Chin…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334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6791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Potential Iran conflict escalation affecting energy markets: WSJ headlines dated 2026-04-02 reference Iran/Strait of Hormuz ten…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07992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72000"/>
            <a:ext cx="9144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Porter's Five Forces   (1 = favorable for incumbents  ·  5 = unfavorable)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Rivalry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19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19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53512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New Entrants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30752" y="5120640"/>
            <a:ext cx="658368" cy="274320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66944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4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Buyer Power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44184" y="5120640"/>
            <a:ext cx="658368" cy="27432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44184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0376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0376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Supplier Power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57616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7616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93808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93808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Substitutes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71048" y="5120640"/>
            <a:ext cx="658368" cy="274320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71048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669280"/>
            <a:ext cx="111831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The AI server infrastructure industry is structurally supported by AI compute buildout demand but faces medium-term headwinds from NVIDIA's supplier power, hyperscaler buyer concentration, and a credible 3-5 year thre…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Market View vs. Our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Analyst Research, Bloomberg, SEC Filings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65760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1C2C3A"/>
                </a:solidFill>
                <a:latin typeface="Garamond"/>
              </a:rPr>
              <a:t>The market misprices this name by applying the wrong analogy — our thesis exploits that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Market View / Street Concern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89888"/>
            <a:ext cx="5504688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133856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Our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389888"/>
            <a:ext cx="5504688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81328"/>
            <a:ext cx="5504688" cy="2180844"/>
          </a:xfrm>
          <a:prstGeom prst="rect">
            <a:avLst/>
          </a:prstGeom>
          <a:solidFill>
            <a:srgbClr val="FA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481328"/>
            <a:ext cx="54864" cy="218084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536192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Street consensus (15 analysts, mean PT $34.53):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92224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Street consensus mean PT of $34.53 implies approximately 14.9x NTM P/E ($34.53 / $2.25 consensus FY2026 EPS), pricing a 58% multiple expansion from the current 9.4x; the high-end PT of $58.00 implies approximately 25.8x NTM P/E, suggesting some analysts anticipate full recovery to pre-governance-…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481328"/>
            <a:ext cx="5504688" cy="2180844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481328"/>
            <a:ext cx="54864" cy="218084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36192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92224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The 14.9x NTM P/E implied by the consensus mean requires gross margin recovery from 8.66% to at minimum 11-12% to support EBITDA margins of 7-8%; FY2025 data shows the opposite — absolute EBIT declined $179mm on $13,068mm of incremental revenue, meaning the marginal economics of hyperscaler AI se…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35324"/>
            <a:ext cx="5504688" cy="2180844"/>
          </a:xfrm>
          <a:prstGeom prst="rect">
            <a:avLst/>
          </a:prstGeom>
          <a:solidFill>
            <a:srgbClr val="F5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35324"/>
            <a:ext cx="54864" cy="218084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790187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Street consensus bull cohort (2 Strong Buy + 3 Buy out of 15 analysts):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46220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The 5 Buy-equivalent analysts appear to argue that SMCI's AI infrastructure exposure creates a revenue growth trajectory (FY2026E consensus +47.8% YoY to $41.5B) that will eventually produce operating leverage, with FY2027E EPS of $3.01 representing the inflection point for a multiple re-rating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2512" y="3735324"/>
            <a:ext cx="5504688" cy="2180844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3735324"/>
            <a:ext cx="54864" cy="218084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90187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46220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FY2025 empirically disproves the operating leverage thesis: revenue grew 87% while absolute EBIT declined 15%; the FY2027E EPS of $3.01 on $50,340mm revenue implies only 3.59% net margin — 48bps above FY2025's 3.11% — meaning buy-side bulls are extrapolating volume growth at structurally depresse…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035040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071616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356616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(30%)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  <a:latin typeface="Garamond"/>
              </a:rPr>
              <a:t>$-32.06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-238.1%  |  EV: $-18.1B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749808"/>
            <a:ext cx="35661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(50%)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Garamond"/>
              </a:rPr>
              <a:t>$-36.87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-258.8%  |  EV: $-21.0B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749808"/>
            <a:ext cx="3566160" cy="310896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(20%)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00AF50"/>
                </a:solidFill>
                <a:latin typeface="Garamond"/>
              </a:rPr>
              <a:t>$-17.90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-177.1%  |  EV: $-9.6B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810512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WACC: 13.0%  ·  Rf: 4.2%  ·  β: 1.85  ·  Exit: 7.0x EV/EBITDA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048256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03120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DCF Model — Year-by-Year  (Base Case)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40863"/>
            <a:ext cx="68580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377440"/>
          <a:ext cx="685799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3"/>
                <a:gridCol w="1371600"/>
                <a:gridCol w="1160584"/>
                <a:gridCol w="1371600"/>
                <a:gridCol w="1160584"/>
                <a:gridCol w="1055076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Year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Revenue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EBITDA Mgn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EBITDA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FCF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PV FCF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$41,468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$50,343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$2,265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$-3,968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$57,894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$2,779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$63,683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$3,248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$-4,718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$-2,893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$68,141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$3,612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$-2,681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TOTAL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$-14,758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PV TV: $-6,227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4626864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Garamond"/>
              </a:rPr>
              <a:t>EV: $-21.0B  →  Net Debt: ($1.2B)  →  Equity Value: $-22.1B  →  Shares: 600M  →  Implied Price: $-36.87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" y="4901184"/>
          <a:ext cx="6857997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76"/>
                <a:gridCol w="1582615"/>
                <a:gridCol w="1582615"/>
                <a:gridCol w="1582615"/>
                <a:gridCol w="1055076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Scenario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Implied Price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Upside/Down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TV % of EV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$-18.1B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-238.1%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$-21.0B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$-36.87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-258.8%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$-9.6B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$-17.90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-177.1%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680960" y="210312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Sensitivity: Implied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340863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121408"/>
            <a:ext cx="4142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Garamond"/>
              </a:rPr>
              <a:t>(WACC vs Exit Multiple)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680960" y="2377440"/>
          <a:ext cx="432511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852"/>
                <a:gridCol w="720852"/>
                <a:gridCol w="720852"/>
                <a:gridCol w="720852"/>
                <a:gridCol w="720852"/>
                <a:gridCol w="720852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WACC \ 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11.0xx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3.0xx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5.0xx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7.0xx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9.0xx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12.0%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$-34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$-44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$-32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$-42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$-35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13.0%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$-30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$-43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$-40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$-37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$-34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$-29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$-42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$-35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$-32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14.0%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$-28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$-34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$-31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726680" y="4663440"/>
            <a:ext cx="164592" cy="146304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4663440"/>
            <a:ext cx="164592" cy="14630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Mid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4663440"/>
            <a:ext cx="164592" cy="14630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4478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73752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Comparable Company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5111496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148072"/>
            <a:ext cx="43251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Garamond"/>
              </a:rPr>
              <a:t>Comps data not available — run build_comps_table.py to populate.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 — Revenue Growth Is a Mirage: Hyperscalers Are Extracting SMCI's Margin Faster Than Scale Can Replace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Revenue Growth Is a Mirage: Hyperscalers Are Extracting SMCI's Margin Faster Than Scale Can Replace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Street consensus (mean PT $34.53, implying 14.9x NTM P/E) prices a multiple re-rating that requires EBITDA margins to recover from 3.91% to 7-8% — a 300-400bps recovery — yet FY…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The FY2025 data makes an inescapable case: SMCI grew revenue 87% while absolute EBIT declined $179mm — from $1,211mm to $1,032mm — meaning the marginal dollar of AI server revenue destroyed rather than created income. Gross margin compressed 509bps in a single year to 8.66%, the floor at which OpEx consumed approximately 88.5% of the entire incremental gross profit ($326mm of $369mm per SEC XBRL). This is not a transitional ramp-cost phenomenon; it is evidence that hyperscaler customers hold sufficient pricing leverage to extract the economi…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Absolute EBIT declined from $1,210.774mm (FY2024) to $1,031.725mm (FY2025) per CapIQ despite revenue growing $13,068mm (+87.18%) — operating leverage is inverted;…
• Gross margin collapsed from 13.75% (FY2024) to 8.66% (FY2025) — 509bps in 12 months — meaning at sub-9% gross margin, SMCI has insufficient buffer to absorb fixed…
• EBITDA margin trajectory: 11.18% → 8.34% → 3.91% over FY2023-FY2025 as revenue grew 4x — the rate of margin deterioration is accelerating, not decelerating, which…
• OpEx consumed ~88.5% of incremental gross profit in FY2025 per SEC XBRL cross-check ($326mm of $369mm gross profit increment) — operating leverage is running so f…
• FCF conversion of -119.77% confirms that the $1.05B reported net income in FY2025 does not correspond to cash generation — working capital intensity of a hypersca…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Absolute EBIT declined from $1,210.774mm (FY2024) to $1,031.725mm (FY2025) per CapIQ despite revenue growing $13,068mm (+87.18%) — operating leverage is inverted; each marginal dollar of AI server 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Gross margin collapsed from 13.75% (FY2024) to 8.66% (FY2025) — 509bps in 12 months — meaning at sub-9% gross margin, SMCI has insufficient buffer to absorb fixed cost increases, GPU cost spikes, o…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EBITDA margin trajectory: 11.18% → 8.34% → 3.91% over FY2023-FY2025 as revenue grew 4x — the rate of margin deterioration is accelerating, not decelerating, which eliminates the 'early-stage invest…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The May 5, 2026 Q3 FY2026 earnings release is the first quarterly read on whether the FY2026E 4.76% EBITDA margin is achievable — a gross margin print below 8.5% will confirm further deterioration and likely accelerate multiple…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$28.00  |  EV Return: +12.0%  |  Slide 1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 — Governance Premium Discount Creates a Permanent Multiple Ceiling Until Structural Controls Are Demonstrated Over Multiple Quarters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Governance Premium Discount Creates a Permanent Multiple Ceiling Until Structural Controls Are Demonstrated Over Multiple Quarters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Street consensus mean PT of $34.53 implies approximately 14.9x NTM P/E ($34.53 / $2.25 EPS) — a 58% multiple expansion from current 9.4x — which requires governance discount com…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FY2017 10-K was filed approximately 23 months late (filed 2019-05-17 per XBRL), triggering a Nasdaq delisting notice and SEC investigation during a prior rapid-growth phase. Today's conditions are structurally parallel: revenue grew from $7.1B to $28.1B in two fiscal years — the same complexity surge that overwhelmed the finance infrastructure in 2017-2019. The governance premium discount is not irrational market noise; it is a rational repricing of a company with demonstrated control failure during hypergrowth. The practical investme…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FY2017 10-K filed 2019-05-17 per XBRL — approximately 23 months after fiscal year-end — triggered Nasdaq delisting notice and SEC investigation; this occurred dur…
• FY2025 EBIT discrepancy of $221.269mm between CapIQ ($1,031.725mm) and SEC XBRL ($1,252.994mm) — a 21.4% gap — is an unresolved accounting reconciliation that sug…
• Street consensus PT of $34.53 implies 14.9x NTM P/E, but the 2018-2019 governance episode drove institutional forced-selling that compressed the multiple to sub-5…
• FCF conversion of -119.77% creates conditions where reported earnings materially overstate cash generation, elevating management incentives to manage reported fig…
• The post-2019 remediation included audit committee overhaul and new CFO — FY2024 and FY2025 10-K filings were timely (FY2025 filed 2025-08-28 per XBRL) — demonstr…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FY2017 10-K filed 2019-05-17 per XBRL — approximately 23 months after fiscal year-end — triggered Nasdaq delisting notice and SEC investigation; this occurred during a prior rapid-growth phase,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FY2025 EBIT discrepancy of $221.269mm between CapIQ ($1,031.725mm) and SEC XBRL ($1,252.994mm) — a 21.4% gap — is an unresolved accounting reconciliation that suggests either a classification diffe…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Street consensus PT of $34.53 implies 14.9x NTM P/E, but the 2018-2019 governance episode drove institutional forced-selling that compressed the multiple to sub-5x; a second governance event from 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The May 5, 2026 Q3 FY2026 earnings and accompanying 10-Q will be the third consecutive timely quarterly filing since the governance remediation; each clean quarter reduces the governance discount marginally, but a full re-ratin…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$28.00  |  EV Return: +12.0%  |  Slide 2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III — The Valuation Floor Is Real But Fragile — HOLD Is Correct Because the Bear Case Is More Proximate Than the Bull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The Valuation Floor Is Real But Fragile — HOLD Is Correct Because the Bear Case Is More Proximate Than the Bull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The analyst distribution of 9 HOLDs, 5 Buy-equivalents, and 4 Sell-equivalents on a stock down 62.8% from its 52-week high with a $15-$58 PT range ($43 spread on a $23 stock) si…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At $23.22, SMCI trades at 9.4x NTM P/E and 6.96x NTM EV/EBITDA — multiples that already incorporate a material governance and margin compression discount and imply near-trough economics. The -62.8% drawdown from the $62.35 52-week high has removed the growth premium entirely, and the 52-week low of $19.495 represents only -16% downside from here. This creates a technically credible floor: the market has already tested lower prices and found buyers. However, the floor is contingent on FY2026 margin stabilization at consensus levels (4.76% EBI…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Stock at $23.22 vs. 52-week high of $62.35 — a -62.8% drawdown — has eliminated the growth premium; EV of $15,101mm vs. FY2025 revenue of $28,057mm = 0.538x trail…
• NTM EV/EBITDA of 6.96x represents a material distress premium relative to hardware infrastructure comps (which historically trade 8-14x EV/EBITDA in growth phases…
• 52-week low of $19.495 is only -16% below current price, providing a visible support test; a sustained break below $19.50 would confirm the bear case is accelerat…
• 4-week momentum of -25.84%, 13-week momentum of -25.02%, and 26-week momentum of -55.32% indicate persistent institutional selling with no stabilization base; the…
• Consensus EPS growth of +33.6% YoY from $2.25 to $3.01 (FY2026 to FY2027) on only +21.4% revenue growth implies the only route to bull-case earnings is significan…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Stock at $23.22 vs. 52-week high of $62.35 — a -62.8% drawdown — has eliminated the growth premium; EV of $15,101mm vs. FY2025 revenue of $28,057mm = 0.538x trailing EV/Rev, below even the consensu…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NTM EV/EBITDA of 6.96x represents a material distress premium relative to hardware infrastructure comps (which historically trade 8-14x EV/EBITDA in growth phases per industry convention); the ques…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52-week low of $19.495 is only -16% below current price, providing a visible support test; a sustained break below $19.50 would confirm the bear case is accelerating, with the next logical technica…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5, 2026 is the decision point: gross margin above 10.5% upgrades SMCI to BUY targeting $34-42; gross margin below 8.5% confirms the bear case and triggers a SELL; in the absence of that data, holding through the print with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$28.00  |  EV Return: +12.0%  |  Slide 3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Scenario Analysis  |  PT: $28.00  |  EV Return: +12.0%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4747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SMCI's absolute EBIT declined $179mm YoY (FY2024: $1,211mm → FY2025: $1,032mm per CapIQ) despite 87% revenue growth — operating leverage is running in reverse — and the current 9.4x NTM P/E does not adequately penalize a business where hyperscalers are stru…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1183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Bull case (20% probability) × +81.0% return ($42 PT from $23.22) = +16.2%. Base case (50% probability) × +20.6% return ($28 PT from $23.22) = +10.3%. Bear case (30% probability)…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3721608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|  30%  |  PT: $12.00  |  -48.3%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3721608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Q3 FY2026 gross margin prints below 8.5% (FY2025 trough not a floor), OR any governance disclosure (late filing, material weakness, SEC inquiry) within 12 months
• FY2026 revenue: $37,000-$38,000mm (misses consensus by 8-10% as hyperscaler demand moderates or S…
• Gross margin deteriorates to 7.5-8.0%; EBITDA margin compresses to 3.0-3.5%
• P/E compresses to 8x on $1.50 bear-case EPS = $12.00
• FCF remains deeply negative; working capital requirements force secondary equity offering, diluti…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517904"/>
            <a:ext cx="3721608" cy="32918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|  50%  |  PT: $28.00  |  +20.6%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865376"/>
            <a:ext cx="3721608" cy="4297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Margins stabilize near consensus at 4.5-5.0% EBITDA (gross margin holds at 9.0-9.5%); no governance events; revenue grows broadly in line with consensus $41,466mm; NTM P/E re-rates modestly from 9.…
• FY2026 revenue: $41,466mm (in line with consensus)
• EBITDA margin: 4.75% ($1,970mm, consensus-tracking); gross margin stabilizes at 9.0-9.5%
• P/E of 12x on $2.25-$2.32 mid-case NTM EPS = $27-$28; EV/EBITDA cross-check: 7x on $1,970mm = $13…
• No governance events; Q3 and Q4 FY2026 10-Q filings remain timely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1517904"/>
            <a:ext cx="3721608" cy="329184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|  20%  |  PT: $42.00  |  +81.0%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1865376"/>
            <a:ext cx="3721608" cy="429768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Q3 FY2026 (May 5, 2026 earnings) gross margin prints above 10.5% with positive YoY absolute EBIT growth, confirming that GPU component cost normalization or enterprise/edge AI mix shift is producin…
• FY2026 revenue: $45,000mm (top-end of consensus range at $45,213mm), driven by continued hypersca…
• Gross margin recovers to 11-12%; EBITDA margin recovers to 7.0% ($3,150mm EBITDA) as enterprise m…
• Price target: 13x P/E on $3.25 bull-case EPS = $42.25; cross-check: 10x EV/EBITDA on $3,150mm = $…
• No governance events; 6+ consecutive clean quarterly filings enable multiple re-rating from 9.4x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236208"/>
            <a:ext cx="11183112" cy="2926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819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Bear: 30%×-48.3%=-14.5%  +  Base: 50%×+20.6%=+10.3%  +  Bull: 20%×+81.0%=+16.2%  |  → EV Return: +12.0%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Risks &amp; Mitigants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CapIQ, Bloomberg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1C2C3A"/>
                </a:solidFill>
                <a:latin typeface="Garamond"/>
              </a:rPr>
              <a:t>Market prices these risks at a higher probability than the underlying data supports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150876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097280"/>
            <a:ext cx="640080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224" y="1097280"/>
            <a:ext cx="1508760" cy="2743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13848" y="1097280"/>
            <a:ext cx="1609344" cy="274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133856"/>
            <a:ext cx="62910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Risk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Prob /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1133856"/>
            <a:ext cx="149961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Mitigants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1508760" cy="157276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Governance Failure Recurrence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15087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 i="0">
                <a:solidFill>
                  <a:srgbClr val="FFFF80"/>
                </a:solidFill>
                <a:latin typeface="Garamond"/>
              </a:rPr>
              <a:t>THESIS
KILLER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408176"/>
            <a:ext cx="6400800" cy="15727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46304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700784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single most damaging structural vulnerability is its demonstrated history of internal control breakdown — the FY2017 10-K was filed approximately 23 months late (filed 2019-05-17 per XBRL data), an extraordinary governance failure that led to a Nasdaq delisting notice and SEC investigation. The risk is not that this was a one-ti…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1408176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57984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-52%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3848" y="1408176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1463040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1700784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SMCI's post-2019 remediation included a complete audit committee overhaul and appointment of a new CFO and auditor, and the company has since maintained timely filings through its FY2024 and FY2025 cycles — demonstrat…
Monitor: SEC filing deadline proximity (within 5 days), audit…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80944"/>
            <a:ext cx="1508760" cy="157276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054096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66160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FCF Collapse Forces Dilutive Raise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980944"/>
            <a:ext cx="6400800" cy="15727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035808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3273551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FCF conversion of -119.77% is not a transient working capital swing — it reflects a business that is consuming cash faster than it generates accounting profit, a condition that at current scale becomes a balance sheet emergency if revenue growth decelerates. Paired with the operating leverage deterioration (OpEx absorbed approxi…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50224" y="2980944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090672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401568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730752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2980944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3035808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3273551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SMCI operates an asset-light assembly model — it does not fab its own chips or own wafer capacity — which means capex requirements are inherently more flexible than peers with owned manufacturing. The negative FCF con…
Monitor: Quarterly DIO exceeding 90 days, DSO exceeding 60 da…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53712"/>
            <a:ext cx="1508760" cy="157276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26864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38928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Hyperscaler Custom ASIC Displace…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553712"/>
            <a:ext cx="6400800" cy="157276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4608576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4846320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The structural risk to SMCI's entire GPU-server demand thesis is that its largest customers — Microsoft, Google, Meta, and Amazon — are the same companies investing billions annually in custom AI accelerator development (TPUs, Trainium, Inferentia, MTIA). If these in-house ASICs reach sufficient performance and yield to displace a mean…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553712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66344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974336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03520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-50%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13848" y="4553712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9568" y="4608576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9568" y="4846320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Custom ASIC development timelines consistently underperform — Google's TPU took nearly a decade to reach competitive performance at scale for general-purpose training workloads, and training workflows remain heavily G…
Monitor: NVIDIA data center revenue growth deceleration below…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35040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What would make us wrong:  FCF conversion turns positive (above 50%) for two consecutive quarters, demon…  |  Gross margin stabilizes or expands by at least 50 basis points year-over-year…  |  No SEC filing is delayed beyond its original deadline and no material weaknes…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What You Need to Believe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1">
                <a:solidFill>
                  <a:srgbClr val="1C2C3A"/>
                </a:solidFill>
                <a:latin typeface="Garamond"/>
              </a:rPr>
              <a:t>We believe our investment theses position us to get into an excellent name at the right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31089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124712"/>
            <a:ext cx="2999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Key Debate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097280"/>
            <a:ext cx="4041648" cy="310896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112471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Street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097280"/>
            <a:ext cx="4032504" cy="310896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24712"/>
            <a:ext cx="39227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Our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35608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35608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27048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Will SMCI's gross margin recover from 8.66% (FY2025) or continue to compress toward 7-8%?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58768" y="1435608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8768" y="1435608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527048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models FY2026E EBITDA of $1,973mm on $41,466mm revenue (4.76% margin), implying gross margin stabilization near 9.5-10%; the majority HOLD rating assumes FY2025 was a trough year and that volume scale at $40B+ begins to improve per-unit economics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35608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35608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1527048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We view gross margin recovery as unconfirmed and the mechanism unclear: the FY2025 compression was driven by hyperscaler pricing leverage and GPU component cost pass-through constraints, neither of which has structurally changed; we model 4.5-5.0% EBITDA ma…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9504"/>
            <a:ext cx="3108960" cy="1417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9504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980944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Has the governance risk been permanently resolved, or does the 4x revenue surge in 2 years recreate the conditions for another control failure?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89504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58768" y="2889504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2980944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Market consensus appears to treat the post-2019 audit committee overhaul and timely FY2024/FY2025 filings as sufficient evidence that governance is improved; 9 HOLD ratings with no recent downgrades suggest analysts have stopped modeling a governance event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889504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889504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2980944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We believe governance risk is material and underpriced: the FY2017 23-month filing delay occurred during a prior rapid-growth phase, and SMCI is again in hypergrowth (revenue up 4x in 2 years); the $221mm CapIQ vs. SEC XBRL EBIT discrepancy for FY2025 is a 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434840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Is 9.4x NTM P/E a durable valuation floor, or is it a waypoint toward 5-6x if margins deteriorate further?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8" y="4343400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8768" y="4343400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4434840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Street consensus (mean PT $34.53 implying 14.9x P/E) treats 9.4x as a floor and the trajectory as toward multiple expansion; the distribution of ratings suggests analysts collectively believe the current price embeds all negative scenarios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4343400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43400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1" y="4434840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We believe 9.4x NTM P/E is fair, not cheap: at 8.66% gross margin and -119.77% FCF conversion, SMCI's earnings quality is low and the multiple does not deserve a discount-to-fair-value premium; if Q3 FY2026 gross margin prints below 8.5%, 7x EV/EBITDA impli…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70448"/>
            <a:ext cx="11183112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07024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What You're Buying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99632"/>
            <a:ext cx="557784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Absolute EBIT fell from $1,210.774mm (FY2024) to $1,031.725mm (FY2025) per CapIQ despite 87.18% revenue growth — when a company…
• Gross margin compressed from 13.75% (FY2024) to 8.66% (FY2025) — a 509bps collapse in 12 months — meaning SMCI retains only $8.…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199632"/>
            <a:ext cx="5394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EBITDA margin trajectory: 11.18% (FY2023) → 8.34% (FY2024) → 3.91% (FY2025) — a 727bps deterioration over two years on a revenu…
• FCF conversion of -119.77% means the company burns cash despite reporting $1.05B net income in FY2025; equity value is driven b…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876288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949440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Garamond"/>
              </a:rPr>
              <a:t>We believe our investment theses position us to get into an excellent name at the right time.  HOLD  |  PT: $28.00  |  Expected Return: +20.6% over 12 months.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Catalyst Timeline &amp; Monitoring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Bloomberg, CapIQ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Catalyst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11183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42415"/>
          <a:ext cx="11183111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2560319"/>
                <a:gridCol w="1371600"/>
                <a:gridCol w="2770632"/>
              </a:tblGrid>
              <a:tr h="4133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Date / Timing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Event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Falsifiability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Est. Impact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Point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April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Pre-earnings positioning; any preliminary Q3 FY2026 guidance or cha…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Low — positioning and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Governance monitoring — watch for any SEC comment le…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May 5, 2026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Q3 FY2026 earnings release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High — binary gross ma…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Margin stabilization pillar — confirms or refutes co…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June-July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Q3 FY2026 10-Q filing deadline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Medium — timeliness of…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Governance premium discount pillar — each clean fili…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August-September 2026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Q4 FY2026 earnings and FY2027 guidance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High — full-year margi…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All three pillars — margin recovery confirmation, go…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7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Monitoring KPIs — What to Watch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47872"/>
            <a:ext cx="11183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621023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286000"/>
                <a:gridCol w="228600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Current Level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Requires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Red Flag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Freq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Gross Margin % (quarterly)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8.66% (FY2025 full yea…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≥10.5% for bull case activation; ≥9.0% for…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Below 8.5% — signals continued hyperscaler…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EBITDA Margin % (quarterly)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3.91% (FY2025 per CapI…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≥4.75% for base case (consensus FY2026E $1…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Below 3.5% — below the FY2025 trough, sign…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Absolute EBIT ($mm, annual and 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$1,031.725mm FY2025 (C…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Positive YoY EBIT growth in FY2026; minimu…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FY2026 absolute EBIT below $1,032mm (FY202…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10-Q / 10-K Filing Timeliness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Timely as of FY2025 (1…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All filings on time with no extensions (NT…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Any SEC NT filing submission or SOX materi…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FCF Conversion (FCF / Net Income)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-119.77% (FY2025)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Positive FCF conversion (&gt;0%) needed for 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Worse than -150% — signals working capital…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565392"/>
            <a:ext cx="1118311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Change of View Triggers: Q3 FY2026 gross margin ≥10.5% with positive YoY absolute EBIT growt…  |  Any governance disclosure — material weakness, NT filing, or public…  |  Gross margin below 8.5% in two consecutive quarters, confirming str…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