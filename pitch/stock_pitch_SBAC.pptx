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t>Revenue History ($M)</a:t>
            </a:r>
          </a:p>
        </c:rich>
      </c:tx>
      <c:layout/>
      <c:overlay val="0"/>
    </c:title>
    <c:autoTitleDeleted val="0"/>
    <c:plotArea>
      <c:barChart>
        <c:barDir val="col"/>
        <c:grouping val="clustered"/>
        <c:ser>
          <c:idx val="0"/>
          <c:order val="0"/>
          <c:tx>
            <c:strRef>
              <c:f>Sheet1!$B$1</c:f>
              <c:strCache>
                <c:ptCount val="1"/>
                <c:pt idx="0">
                  <c:v>Revenue ($M)</c:v>
                </c:pt>
              </c:strCache>
            </c:strRef>
          </c:tx>
          <c:spPr>
            <a:solidFill>
              <a:srgbClr val="1C2C39"/>
            </a:solidFill>
          </c:spPr>
          <c:cat>
            <c:strRef>
              <c:f>Sheet1!$A$2:$A$3</c:f>
              <c:strCache>
                <c:ptCount val="2"/>
                <c:pt idx="0">
                  <c:v>2025A</c:v>
                </c:pt>
                <c:pt idx="1">
                  <c:v>2026E (management guidance)</c:v>
                </c:pt>
              </c:strCache>
            </c:strRef>
          </c:cat>
          <c:val>
            <c:numRef>
              <c:f>Sheet1!$B$2:$B$3</c:f>
              <c:numCache>
                <c:formatCode>General</c:formatCode>
                <c:ptCount val="2"/>
                <c:pt idx="0">
                  <c:v>2815.1</c:v>
                </c:pt>
                <c:pt idx="1">
                  <c:v>2271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91440" y="0"/>
            <a:ext cx="12371832"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1161288"/>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64592" cy="1161288"/>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286000"/>
            <a:ext cx="164592" cy="1161288"/>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3429000"/>
            <a:ext cx="164592" cy="1161288"/>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4572000"/>
            <a:ext cx="164592" cy="1161288"/>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5715000"/>
            <a:ext cx="164592" cy="1161288"/>
          </a:xfrm>
          <a:prstGeom prst="rect">
            <a:avLst/>
          </a:prstGeom>
          <a:solidFill>
            <a:srgbClr val="D8D9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837943"/>
            <a:ext cx="4315968" cy="2505456"/>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11680"/>
            <a:ext cx="4096512" cy="960120"/>
          </a:xfrm>
          <a:prstGeom prst="rect">
            <a:avLst/>
          </a:prstGeom>
          <a:noFill/>
        </p:spPr>
        <p:txBody>
          <a:bodyPr wrap="square">
            <a:normAutofit/>
          </a:bodyPr>
          <a:lstStyle/>
          <a:p>
            <a:pPr algn="l"/>
            <a:r>
              <a:rPr sz="3200" b="1" i="0">
                <a:solidFill>
                  <a:srgbClr val="FFFFFF"/>
                </a:solidFill>
                <a:latin typeface="Garamond"/>
              </a:rPr>
              <a:t>SBA COMMUNICATIONS CORP</a:t>
            </a:r>
          </a:p>
        </p:txBody>
      </p:sp>
      <p:sp>
        <p:nvSpPr>
          <p:cNvPr id="11" name="TextBox 10"/>
          <p:cNvSpPr txBox="1"/>
          <p:nvPr/>
        </p:nvSpPr>
        <p:spPr>
          <a:xfrm>
            <a:off x="877824" y="3017520"/>
            <a:ext cx="4096512" cy="475488"/>
          </a:xfrm>
          <a:prstGeom prst="rect">
            <a:avLst/>
          </a:prstGeom>
          <a:noFill/>
        </p:spPr>
        <p:txBody>
          <a:bodyPr wrap="square">
            <a:normAutofit/>
          </a:bodyPr>
          <a:lstStyle/>
          <a:p>
            <a:pPr algn="l"/>
            <a:r>
              <a:rPr sz="2800" b="0" i="0">
                <a:solidFill>
                  <a:srgbClr val="FFFFFF"/>
                </a:solidFill>
                <a:latin typeface="Garamond"/>
              </a:rPr>
              <a:t>NASDAQ: SBAC</a:t>
            </a:r>
          </a:p>
        </p:txBody>
      </p:sp>
      <p:sp>
        <p:nvSpPr>
          <p:cNvPr id="12" name="TextBox 11"/>
          <p:cNvSpPr txBox="1"/>
          <p:nvPr/>
        </p:nvSpPr>
        <p:spPr>
          <a:xfrm>
            <a:off x="877824" y="3529584"/>
            <a:ext cx="4096512" cy="329184"/>
          </a:xfrm>
          <a:prstGeom prst="rect">
            <a:avLst/>
          </a:prstGeom>
          <a:noFill/>
        </p:spPr>
        <p:txBody>
          <a:bodyPr wrap="square">
            <a:normAutofit/>
          </a:bodyPr>
          <a:lstStyle/>
          <a:p>
            <a:pPr algn="l"/>
            <a:r>
              <a:rPr sz="1600" b="0" i="0">
                <a:solidFill>
                  <a:srgbClr val="FFFFFF"/>
                </a:solidFill>
                <a:latin typeface="Garamond"/>
              </a:rPr>
              <a:t>Real Estate  —  March 2026</a:t>
            </a:r>
          </a:p>
        </p:txBody>
      </p:sp>
      <p:sp>
        <p:nvSpPr>
          <p:cNvPr id="13" name="TextBox 12"/>
          <p:cNvSpPr txBox="1"/>
          <p:nvPr/>
        </p:nvSpPr>
        <p:spPr>
          <a:xfrm>
            <a:off x="877824" y="3986784"/>
            <a:ext cx="2286000" cy="475488"/>
          </a:xfrm>
          <a:prstGeom prst="rect">
            <a:avLst/>
          </a:prstGeom>
          <a:noFill/>
        </p:spPr>
        <p:txBody>
          <a:bodyPr wrap="square">
            <a:normAutofit/>
          </a:bodyPr>
          <a:lstStyle/>
          <a:p>
            <a:pPr algn="l"/>
            <a:r>
              <a:rPr sz="2200" b="1" i="0">
                <a:solidFill>
                  <a:srgbClr val="00AF50"/>
                </a:solidFill>
                <a:latin typeface="Garamond"/>
              </a:rPr>
              <a:t>Long:</a:t>
            </a:r>
          </a:p>
        </p:txBody>
      </p:sp>
      <p:sp>
        <p:nvSpPr>
          <p:cNvPr id="14" name="Rectangle 13"/>
          <p:cNvSpPr/>
          <p:nvPr/>
        </p:nvSpPr>
        <p:spPr>
          <a:xfrm>
            <a:off x="5943600" y="365760"/>
            <a:ext cx="5971032" cy="6199632"/>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502920"/>
            <a:ext cx="5303520" cy="237744"/>
          </a:xfrm>
          <a:prstGeom prst="rect">
            <a:avLst/>
          </a:prstGeom>
          <a:noFill/>
        </p:spPr>
        <p:txBody>
          <a:bodyPr wrap="square">
            <a:normAutofit/>
          </a:bodyPr>
          <a:lstStyle/>
          <a:p>
            <a:pPr algn="l"/>
            <a:r>
              <a:rPr sz="900" b="1" i="0">
                <a:solidFill>
                  <a:srgbClr val="888888"/>
                </a:solidFill>
                <a:latin typeface="Garamond"/>
              </a:rPr>
              <a:t>KEY METRICS</a:t>
            </a:r>
          </a:p>
        </p:txBody>
      </p:sp>
      <p:sp>
        <p:nvSpPr>
          <p:cNvPr id="16" name="Rectangle 15"/>
          <p:cNvSpPr/>
          <p:nvPr/>
        </p:nvSpPr>
        <p:spPr>
          <a:xfrm>
            <a:off x="6172200" y="749808"/>
            <a:ext cx="5303520"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859536"/>
            <a:ext cx="5303520" cy="274320"/>
          </a:xfrm>
          <a:prstGeom prst="rect">
            <a:avLst/>
          </a:prstGeom>
          <a:noFill/>
        </p:spPr>
        <p:txBody>
          <a:bodyPr wrap="square">
            <a:normAutofit/>
          </a:bodyPr>
          <a:lstStyle/>
          <a:p>
            <a:pPr algn="l"/>
            <a:r>
              <a:rPr sz="1100" b="1" i="0">
                <a:solidFill>
                  <a:srgbClr val="FFFFFF"/>
                </a:solidFill>
                <a:latin typeface="Garamond"/>
              </a:rPr>
              <a:t>NYSE: SBAC</a:t>
            </a:r>
          </a:p>
        </p:txBody>
      </p:sp>
      <p:sp>
        <p:nvSpPr>
          <p:cNvPr id="18" name="TextBox 17"/>
          <p:cNvSpPr txBox="1"/>
          <p:nvPr/>
        </p:nvSpPr>
        <p:spPr>
          <a:xfrm>
            <a:off x="6172200" y="1170432"/>
            <a:ext cx="2926080" cy="274320"/>
          </a:xfrm>
          <a:prstGeom prst="rect">
            <a:avLst/>
          </a:prstGeom>
          <a:noFill/>
        </p:spPr>
        <p:txBody>
          <a:bodyPr wrap="square">
            <a:normAutofit/>
          </a:bodyPr>
          <a:lstStyle/>
          <a:p>
            <a:pPr algn="l"/>
            <a:r>
              <a:rPr sz="1000" b="1" i="0">
                <a:solidFill>
                  <a:srgbClr val="AAAAAA"/>
                </a:solidFill>
                <a:latin typeface="Garamond"/>
              </a:rPr>
              <a:t>Current Price</a:t>
            </a:r>
          </a:p>
        </p:txBody>
      </p:sp>
      <p:sp>
        <p:nvSpPr>
          <p:cNvPr id="19" name="TextBox 18"/>
          <p:cNvSpPr txBox="1"/>
          <p:nvPr/>
        </p:nvSpPr>
        <p:spPr>
          <a:xfrm>
            <a:off x="9098280" y="1170432"/>
            <a:ext cx="2743200" cy="274320"/>
          </a:xfrm>
          <a:prstGeom prst="rect">
            <a:avLst/>
          </a:prstGeom>
          <a:noFill/>
        </p:spPr>
        <p:txBody>
          <a:bodyPr wrap="square">
            <a:normAutofit/>
          </a:bodyPr>
          <a:lstStyle/>
          <a:p>
            <a:pPr algn="r"/>
            <a:r>
              <a:rPr sz="1100" b="1" i="0">
                <a:solidFill>
                  <a:srgbClr val="FFFFFF"/>
                </a:solidFill>
                <a:latin typeface="Garamond"/>
              </a:rPr>
              <a:t>$190.00</a:t>
            </a:r>
          </a:p>
        </p:txBody>
      </p:sp>
      <p:sp>
        <p:nvSpPr>
          <p:cNvPr id="20" name="TextBox 19"/>
          <p:cNvSpPr txBox="1"/>
          <p:nvPr/>
        </p:nvSpPr>
        <p:spPr>
          <a:xfrm>
            <a:off x="6172200" y="1517904"/>
            <a:ext cx="2926080" cy="274320"/>
          </a:xfrm>
          <a:prstGeom prst="rect">
            <a:avLst/>
          </a:prstGeom>
          <a:noFill/>
        </p:spPr>
        <p:txBody>
          <a:bodyPr wrap="square">
            <a:normAutofit/>
          </a:bodyPr>
          <a:lstStyle/>
          <a:p>
            <a:pPr algn="l"/>
            <a:r>
              <a:rPr sz="1000" b="1" i="0">
                <a:solidFill>
                  <a:srgbClr val="AAAAAA"/>
                </a:solidFill>
                <a:latin typeface="Garamond"/>
              </a:rPr>
              <a:t>52-Wk Range</a:t>
            </a:r>
          </a:p>
        </p:txBody>
      </p:sp>
      <p:sp>
        <p:nvSpPr>
          <p:cNvPr id="21" name="TextBox 20"/>
          <p:cNvSpPr txBox="1"/>
          <p:nvPr/>
        </p:nvSpPr>
        <p:spPr>
          <a:xfrm>
            <a:off x="9098280" y="1517904"/>
            <a:ext cx="2743200" cy="274320"/>
          </a:xfrm>
          <a:prstGeom prst="rect">
            <a:avLst/>
          </a:prstGeom>
          <a:noFill/>
        </p:spPr>
        <p:txBody>
          <a:bodyPr wrap="square">
            <a:normAutofit/>
          </a:bodyPr>
          <a:lstStyle/>
          <a:p>
            <a:pPr algn="r"/>
            <a:r>
              <a:rPr sz="1100" b="1" i="0">
                <a:solidFill>
                  <a:srgbClr val="FFFFFF"/>
                </a:solidFill>
                <a:latin typeface="Garamond"/>
              </a:rPr>
              <a:t>N/A – N/A</a:t>
            </a:r>
          </a:p>
        </p:txBody>
      </p:sp>
      <p:sp>
        <p:nvSpPr>
          <p:cNvPr id="22" name="TextBox 21"/>
          <p:cNvSpPr txBox="1"/>
          <p:nvPr/>
        </p:nvSpPr>
        <p:spPr>
          <a:xfrm>
            <a:off x="6172200" y="1865376"/>
            <a:ext cx="2926080" cy="274320"/>
          </a:xfrm>
          <a:prstGeom prst="rect">
            <a:avLst/>
          </a:prstGeom>
          <a:noFill/>
        </p:spPr>
        <p:txBody>
          <a:bodyPr wrap="square">
            <a:normAutofit/>
          </a:bodyPr>
          <a:lstStyle/>
          <a:p>
            <a:pPr algn="l"/>
            <a:r>
              <a:rPr sz="1000" b="1" i="0">
                <a:solidFill>
                  <a:srgbClr val="AAAAAA"/>
                </a:solidFill>
                <a:latin typeface="Garamond"/>
              </a:rPr>
              <a:t>Market Cap</a:t>
            </a:r>
          </a:p>
        </p:txBody>
      </p:sp>
      <p:sp>
        <p:nvSpPr>
          <p:cNvPr id="23" name="TextBox 22"/>
          <p:cNvSpPr txBox="1"/>
          <p:nvPr/>
        </p:nvSpPr>
        <p:spPr>
          <a:xfrm>
            <a:off x="9098280" y="1865376"/>
            <a:ext cx="2743200" cy="274320"/>
          </a:xfrm>
          <a:prstGeom prst="rect">
            <a:avLst/>
          </a:prstGeom>
          <a:noFill/>
        </p:spPr>
        <p:txBody>
          <a:bodyPr wrap="square">
            <a:normAutofit/>
          </a:bodyPr>
          <a:lstStyle/>
          <a:p>
            <a:pPr algn="r"/>
            <a:r>
              <a:rPr sz="1100" b="1" i="0">
                <a:solidFill>
                  <a:srgbClr val="FFFFFF"/>
                </a:solidFill>
                <a:latin typeface="Garamond"/>
              </a:rPr>
              <a:t>N/A</a:t>
            </a:r>
          </a:p>
        </p:txBody>
      </p:sp>
      <p:sp>
        <p:nvSpPr>
          <p:cNvPr id="24" name="TextBox 23"/>
          <p:cNvSpPr txBox="1"/>
          <p:nvPr/>
        </p:nvSpPr>
        <p:spPr>
          <a:xfrm>
            <a:off x="6172200" y="2212848"/>
            <a:ext cx="2926080" cy="274320"/>
          </a:xfrm>
          <a:prstGeom prst="rect">
            <a:avLst/>
          </a:prstGeom>
          <a:noFill/>
        </p:spPr>
        <p:txBody>
          <a:bodyPr wrap="square">
            <a:normAutofit/>
          </a:bodyPr>
          <a:lstStyle/>
          <a:p>
            <a:pPr algn="l"/>
            <a:r>
              <a:rPr sz="1000" b="1" i="0">
                <a:solidFill>
                  <a:srgbClr val="AAAAAA"/>
                </a:solidFill>
                <a:latin typeface="Garamond"/>
              </a:rPr>
              <a:t>Dividend Yield</a:t>
            </a:r>
          </a:p>
        </p:txBody>
      </p:sp>
      <p:sp>
        <p:nvSpPr>
          <p:cNvPr id="25" name="TextBox 24"/>
          <p:cNvSpPr txBox="1"/>
          <p:nvPr/>
        </p:nvSpPr>
        <p:spPr>
          <a:xfrm>
            <a:off x="9098280" y="2212848"/>
            <a:ext cx="2743200" cy="274320"/>
          </a:xfrm>
          <a:prstGeom prst="rect">
            <a:avLst/>
          </a:prstGeom>
          <a:noFill/>
        </p:spPr>
        <p:txBody>
          <a:bodyPr wrap="square">
            <a:normAutofit/>
          </a:bodyPr>
          <a:lstStyle/>
          <a:p>
            <a:pPr algn="r"/>
            <a:r>
              <a:rPr sz="1100" b="1" i="0">
                <a:solidFill>
                  <a:srgbClr val="FFFFFF"/>
                </a:solidFill>
                <a:latin typeface="Garamond"/>
              </a:rPr>
              <a:t>N/A</a:t>
            </a:r>
          </a:p>
        </p:txBody>
      </p:sp>
      <p:sp>
        <p:nvSpPr>
          <p:cNvPr id="26" name="TextBox 25"/>
          <p:cNvSpPr txBox="1"/>
          <p:nvPr/>
        </p:nvSpPr>
        <p:spPr>
          <a:xfrm>
            <a:off x="6172200" y="2560320"/>
            <a:ext cx="2926080" cy="274320"/>
          </a:xfrm>
          <a:prstGeom prst="rect">
            <a:avLst/>
          </a:prstGeom>
          <a:noFill/>
        </p:spPr>
        <p:txBody>
          <a:bodyPr wrap="square">
            <a:normAutofit/>
          </a:bodyPr>
          <a:lstStyle/>
          <a:p>
            <a:pPr algn="l"/>
            <a:r>
              <a:rPr sz="1000" b="1" i="0">
                <a:solidFill>
                  <a:srgbClr val="AAAAAA"/>
                </a:solidFill>
                <a:latin typeface="Garamond"/>
              </a:rPr>
              <a:t>Beta</a:t>
            </a:r>
          </a:p>
        </p:txBody>
      </p:sp>
      <p:sp>
        <p:nvSpPr>
          <p:cNvPr id="27" name="TextBox 26"/>
          <p:cNvSpPr txBox="1"/>
          <p:nvPr/>
        </p:nvSpPr>
        <p:spPr>
          <a:xfrm>
            <a:off x="9098280" y="2560320"/>
            <a:ext cx="2743200" cy="274320"/>
          </a:xfrm>
          <a:prstGeom prst="rect">
            <a:avLst/>
          </a:prstGeom>
          <a:noFill/>
        </p:spPr>
        <p:txBody>
          <a:bodyPr wrap="square">
            <a:normAutofit/>
          </a:bodyPr>
          <a:lstStyle/>
          <a:p>
            <a:pPr algn="r"/>
            <a:r>
              <a:rPr sz="1100" b="1" i="0">
                <a:solidFill>
                  <a:srgbClr val="FFFFFF"/>
                </a:solidFill>
                <a:latin typeface="Garamond"/>
              </a:rPr>
              <a:t>0.83</a:t>
            </a:r>
          </a:p>
        </p:txBody>
      </p:sp>
      <p:sp>
        <p:nvSpPr>
          <p:cNvPr id="28" name="TextBox 27"/>
          <p:cNvSpPr txBox="1"/>
          <p:nvPr/>
        </p:nvSpPr>
        <p:spPr>
          <a:xfrm>
            <a:off x="6172200" y="2907791"/>
            <a:ext cx="2926080" cy="274320"/>
          </a:xfrm>
          <a:prstGeom prst="rect">
            <a:avLst/>
          </a:prstGeom>
          <a:noFill/>
        </p:spPr>
        <p:txBody>
          <a:bodyPr wrap="square">
            <a:normAutofit/>
          </a:bodyPr>
          <a:lstStyle/>
          <a:p>
            <a:pPr algn="l"/>
            <a:r>
              <a:rPr sz="1000" b="1" i="0">
                <a:solidFill>
                  <a:srgbClr val="AAAAAA"/>
                </a:solidFill>
                <a:latin typeface="Garamond"/>
              </a:rPr>
              <a:t>Price Target</a:t>
            </a:r>
          </a:p>
        </p:txBody>
      </p:sp>
      <p:sp>
        <p:nvSpPr>
          <p:cNvPr id="29" name="TextBox 28"/>
          <p:cNvSpPr txBox="1"/>
          <p:nvPr/>
        </p:nvSpPr>
        <p:spPr>
          <a:xfrm>
            <a:off x="9098280" y="2907791"/>
            <a:ext cx="2743200" cy="274320"/>
          </a:xfrm>
          <a:prstGeom prst="rect">
            <a:avLst/>
          </a:prstGeom>
          <a:noFill/>
        </p:spPr>
        <p:txBody>
          <a:bodyPr wrap="square">
            <a:normAutofit/>
          </a:bodyPr>
          <a:lstStyle/>
          <a:p>
            <a:pPr algn="r"/>
            <a:r>
              <a:rPr sz="1100" b="1" i="0">
                <a:solidFill>
                  <a:srgbClr val="FFFFFF"/>
                </a:solidFill>
                <a:latin typeface="Garamond"/>
              </a:rPr>
              <a:t>$240.00</a:t>
            </a:r>
          </a:p>
        </p:txBody>
      </p:sp>
      <p:sp>
        <p:nvSpPr>
          <p:cNvPr id="30" name="TextBox 29"/>
          <p:cNvSpPr txBox="1"/>
          <p:nvPr/>
        </p:nvSpPr>
        <p:spPr>
          <a:xfrm>
            <a:off x="6172200" y="3255263"/>
            <a:ext cx="2926080" cy="274320"/>
          </a:xfrm>
          <a:prstGeom prst="rect">
            <a:avLst/>
          </a:prstGeom>
          <a:noFill/>
        </p:spPr>
        <p:txBody>
          <a:bodyPr wrap="square">
            <a:normAutofit/>
          </a:bodyPr>
          <a:lstStyle/>
          <a:p>
            <a:pPr algn="l"/>
            <a:r>
              <a:rPr sz="1000" b="1" i="0">
                <a:solidFill>
                  <a:srgbClr val="AAAAAA"/>
                </a:solidFill>
                <a:latin typeface="Garamond"/>
              </a:rPr>
              <a:t>Expected Return</a:t>
            </a:r>
          </a:p>
        </p:txBody>
      </p:sp>
      <p:sp>
        <p:nvSpPr>
          <p:cNvPr id="31" name="TextBox 30"/>
          <p:cNvSpPr txBox="1"/>
          <p:nvPr/>
        </p:nvSpPr>
        <p:spPr>
          <a:xfrm>
            <a:off x="9098280" y="3255263"/>
            <a:ext cx="2743200" cy="274320"/>
          </a:xfrm>
          <a:prstGeom prst="rect">
            <a:avLst/>
          </a:prstGeom>
          <a:noFill/>
        </p:spPr>
        <p:txBody>
          <a:bodyPr wrap="square">
            <a:normAutofit/>
          </a:bodyPr>
          <a:lstStyle/>
          <a:p>
            <a:pPr algn="r"/>
            <a:r>
              <a:rPr sz="1100" b="1" i="0">
                <a:solidFill>
                  <a:srgbClr val="FFFFFF"/>
                </a:solidFill>
                <a:latin typeface="Garamond"/>
              </a:rPr>
              <a:t>+26.0%</a:t>
            </a:r>
          </a:p>
        </p:txBody>
      </p:sp>
      <p:sp>
        <p:nvSpPr>
          <p:cNvPr id="32" name="TextBox 31"/>
          <p:cNvSpPr txBox="1"/>
          <p:nvPr/>
        </p:nvSpPr>
        <p:spPr>
          <a:xfrm>
            <a:off x="6172200" y="3602735"/>
            <a:ext cx="2926080" cy="274320"/>
          </a:xfrm>
          <a:prstGeom prst="rect">
            <a:avLst/>
          </a:prstGeom>
          <a:noFill/>
        </p:spPr>
        <p:txBody>
          <a:bodyPr wrap="square">
            <a:normAutofit/>
          </a:bodyPr>
          <a:lstStyle/>
          <a:p>
            <a:pPr algn="l"/>
            <a:r>
              <a:rPr sz="1000" b="1" i="0">
                <a:solidFill>
                  <a:srgbClr val="AAAAAA"/>
                </a:solidFill>
                <a:latin typeface="Garamond"/>
              </a:rPr>
              <a:t>Conviction</a:t>
            </a:r>
          </a:p>
        </p:txBody>
      </p:sp>
      <p:sp>
        <p:nvSpPr>
          <p:cNvPr id="33" name="TextBox 32"/>
          <p:cNvSpPr txBox="1"/>
          <p:nvPr/>
        </p:nvSpPr>
        <p:spPr>
          <a:xfrm>
            <a:off x="9098280" y="3602735"/>
            <a:ext cx="2743200" cy="274320"/>
          </a:xfrm>
          <a:prstGeom prst="rect">
            <a:avLst/>
          </a:prstGeom>
          <a:noFill/>
        </p:spPr>
        <p:txBody>
          <a:bodyPr wrap="square">
            <a:normAutofit/>
          </a:bodyPr>
          <a:lstStyle/>
          <a:p>
            <a:pPr algn="r"/>
            <a:r>
              <a:rPr sz="1100" b="1" i="0">
                <a:solidFill>
                  <a:srgbClr val="FFFFFF"/>
                </a:solidFill>
                <a:latin typeface="Garamond"/>
              </a:rPr>
              <a:t>4/5</a:t>
            </a:r>
          </a:p>
        </p:txBody>
      </p:sp>
      <p:sp>
        <p:nvSpPr>
          <p:cNvPr id="34" name="TextBox 33"/>
          <p:cNvSpPr txBox="1"/>
          <p:nvPr/>
        </p:nvSpPr>
        <p:spPr>
          <a:xfrm>
            <a:off x="6172200" y="3950207"/>
            <a:ext cx="2926080" cy="274320"/>
          </a:xfrm>
          <a:prstGeom prst="rect">
            <a:avLst/>
          </a:prstGeom>
          <a:noFill/>
        </p:spPr>
        <p:txBody>
          <a:bodyPr wrap="square">
            <a:normAutofit/>
          </a:bodyPr>
          <a:lstStyle/>
          <a:p>
            <a:pPr algn="l"/>
            <a:r>
              <a:rPr sz="1000" b="1" i="0">
                <a:solidFill>
                  <a:srgbClr val="AAAAAA"/>
                </a:solidFill>
                <a:latin typeface="Garamond"/>
              </a:rPr>
              <a:t>Time Horizon</a:t>
            </a:r>
          </a:p>
        </p:txBody>
      </p:sp>
      <p:sp>
        <p:nvSpPr>
          <p:cNvPr id="35" name="TextBox 34"/>
          <p:cNvSpPr txBox="1"/>
          <p:nvPr/>
        </p:nvSpPr>
        <p:spPr>
          <a:xfrm>
            <a:off x="9098280" y="3950207"/>
            <a:ext cx="2743200" cy="274320"/>
          </a:xfrm>
          <a:prstGeom prst="rect">
            <a:avLst/>
          </a:prstGeom>
          <a:noFill/>
        </p:spPr>
        <p:txBody>
          <a:bodyPr wrap="square">
            <a:normAutofit/>
          </a:bodyPr>
          <a:lstStyle/>
          <a:p>
            <a:pPr algn="r"/>
            <a:r>
              <a:rPr sz="1100" b="1" i="0">
                <a:solidFill>
                  <a:srgbClr val="FFFFFF"/>
                </a:solidFill>
                <a:latin typeface="Garamond"/>
              </a:rPr>
              <a:t>12-18 months</a:t>
            </a:r>
          </a:p>
        </p:txBody>
      </p:sp>
      <p:sp>
        <p:nvSpPr>
          <p:cNvPr id="36" name="Rectangle 35"/>
          <p:cNvSpPr/>
          <p:nvPr/>
        </p:nvSpPr>
        <p:spPr>
          <a:xfrm>
            <a:off x="6172200" y="4343399"/>
            <a:ext cx="5303520" cy="2286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4462271"/>
            <a:ext cx="5303520" cy="201168"/>
          </a:xfrm>
          <a:prstGeom prst="rect">
            <a:avLst/>
          </a:prstGeom>
          <a:noFill/>
        </p:spPr>
        <p:txBody>
          <a:bodyPr wrap="square">
            <a:normAutofit/>
          </a:bodyPr>
          <a:lstStyle/>
          <a:p>
            <a:pPr algn="l"/>
            <a:r>
              <a:rPr sz="800" b="1" i="0">
                <a:solidFill>
                  <a:srgbClr val="888888"/>
                </a:solidFill>
                <a:latin typeface="Garamond"/>
              </a:rPr>
              <a:t>THESIS</a:t>
            </a:r>
          </a:p>
        </p:txBody>
      </p:sp>
      <p:sp>
        <p:nvSpPr>
          <p:cNvPr id="38" name="TextBox 37"/>
          <p:cNvSpPr txBox="1"/>
          <p:nvPr/>
        </p:nvSpPr>
        <p:spPr>
          <a:xfrm>
            <a:off x="6172200" y="4681727"/>
            <a:ext cx="5303520" cy="1097280"/>
          </a:xfrm>
          <a:prstGeom prst="rect">
            <a:avLst/>
          </a:prstGeom>
          <a:noFill/>
        </p:spPr>
        <p:txBody>
          <a:bodyPr wrap="square">
            <a:spAutoFit/>
          </a:bodyPr>
          <a:lstStyle/>
          <a:p>
            <a:pPr algn="l"/>
            <a:r>
              <a:rPr sz="950" b="0" i="1">
                <a:solidFill>
                  <a:srgbClr val="CCCCCC"/>
                </a:solidFill>
                <a:latin typeface="Garamond"/>
              </a:rPr>
              <a:t>The market is pricing SBAC as if Sprint/DISH churn is structural impairment. It is finite, declining, and nearly over. As churn sunsets in 2027 and Brazil's mandatory 5G deadlines force carrier spending, SBAC's pure-play tower model will re-rate f…</a:t>
            </a:r>
          </a:p>
        </p:txBody>
      </p:sp>
      <p:sp>
        <p:nvSpPr>
          <p:cNvPr id="39" name="TextBox 38"/>
          <p:cNvSpPr txBox="1"/>
          <p:nvPr/>
        </p:nvSpPr>
        <p:spPr>
          <a:xfrm>
            <a:off x="6172200" y="5806440"/>
            <a:ext cx="5303520" cy="256032"/>
          </a:xfrm>
          <a:prstGeom prst="rect">
            <a:avLst/>
          </a:prstGeom>
          <a:noFill/>
        </p:spPr>
        <p:txBody>
          <a:bodyPr wrap="square">
            <a:normAutofit/>
          </a:bodyPr>
          <a:lstStyle/>
          <a:p>
            <a:pPr algn="r"/>
            <a:r>
              <a:rPr sz="850" b="1" i="0">
                <a:solidFill>
                  <a:srgbClr val="00AF50"/>
                </a:solidFill>
                <a:latin typeface="Garamond"/>
              </a:rPr>
              <a:t>Verify: 8.0/10 PASS</a:t>
            </a:r>
          </a:p>
        </p:txBody>
      </p:sp>
      <p:sp>
        <p:nvSpPr>
          <p:cNvPr id="40" name="Rectangle 39"/>
          <p:cNvSpPr/>
          <p:nvPr/>
        </p:nvSpPr>
        <p:spPr>
          <a:xfrm>
            <a:off x="0" y="6400800"/>
            <a:ext cx="12188952"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6492240"/>
            <a:ext cx="8686800" cy="256032"/>
          </a:xfrm>
          <a:prstGeom prst="rect">
            <a:avLst/>
          </a:prstGeom>
          <a:noFill/>
        </p:spPr>
        <p:txBody>
          <a:bodyPr wrap="square">
            <a:normAutofit/>
          </a:bodyPr>
          <a:lstStyle/>
          <a:p>
            <a:pPr algn="l"/>
            <a:r>
              <a:rPr sz="850" b="1" i="0">
                <a:solidFill>
                  <a:srgbClr val="000000"/>
                </a:solidFill>
                <a:latin typeface="Garamond"/>
              </a:rPr>
              <a:t>CONFIDENTIAL — FOR INSTITUTIONAL INVESTOR USE ONLY</a:t>
            </a:r>
          </a:p>
        </p:txBody>
      </p:sp>
      <p:sp>
        <p:nvSpPr>
          <p:cNvPr id="42" name="TextBox 41"/>
          <p:cNvSpPr txBox="1"/>
          <p:nvPr/>
        </p:nvSpPr>
        <p:spPr>
          <a:xfrm>
            <a:off x="9144000" y="6492240"/>
            <a:ext cx="2743200" cy="256032"/>
          </a:xfrm>
          <a:prstGeom prst="rect">
            <a:avLst/>
          </a:prstGeom>
          <a:noFill/>
        </p:spPr>
        <p:txBody>
          <a:bodyPr wrap="square">
            <a:normAutofit/>
          </a:bodyPr>
          <a:lstStyle/>
          <a:p>
            <a:pPr algn="r"/>
            <a:r>
              <a:rPr sz="850" b="0" i="0">
                <a:solidFill>
                  <a:srgbClr val="595959"/>
                </a:solidFill>
                <a:latin typeface="Garamond"/>
              </a:rP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Company Overview</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CapIQ, LSEG, Investor Presentations</a:t>
            </a:r>
          </a:p>
        </p:txBody>
      </p:sp>
      <p:sp>
        <p:nvSpPr>
          <p:cNvPr id="5" name="TextBox 4"/>
          <p:cNvSpPr txBox="1"/>
          <p:nvPr/>
        </p:nvSpPr>
        <p:spPr>
          <a:xfrm>
            <a:off x="640080" y="731520"/>
            <a:ext cx="5303520" cy="237744"/>
          </a:xfrm>
          <a:prstGeom prst="rect">
            <a:avLst/>
          </a:prstGeom>
          <a:noFill/>
        </p:spPr>
        <p:txBody>
          <a:bodyPr wrap="square">
            <a:normAutofit/>
          </a:bodyPr>
          <a:lstStyle/>
          <a:p>
            <a:pPr algn="l"/>
            <a:r>
              <a:rPr sz="1400" b="1" i="0">
                <a:solidFill>
                  <a:srgbClr val="1C2C39"/>
                </a:solidFill>
                <a:latin typeface="Garamond"/>
              </a:rPr>
              <a:t>Business Description</a:t>
            </a:r>
          </a:p>
        </p:txBody>
      </p:sp>
      <p:sp>
        <p:nvSpPr>
          <p:cNvPr id="6" name="Rectangle 5"/>
          <p:cNvSpPr/>
          <p:nvPr/>
        </p:nvSpPr>
        <p:spPr>
          <a:xfrm>
            <a:off x="640080" y="969264"/>
            <a:ext cx="5303520"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24128"/>
            <a:ext cx="5212080" cy="1737360"/>
          </a:xfrm>
          <a:prstGeom prst="rect">
            <a:avLst/>
          </a:prstGeom>
          <a:noFill/>
        </p:spPr>
        <p:txBody>
          <a:bodyPr wrap="square">
            <a:normAutofit/>
          </a:bodyPr>
          <a:lstStyle/>
          <a:p>
            <a:pPr algn="l"/>
            <a:r>
              <a:rPr sz="1050" b="0" i="0">
                <a:solidFill>
                  <a:srgbClr val="000000"/>
                </a:solidFill>
                <a:latin typeface="Garamond"/>
              </a:rPr>
              <a:t>SBA Communications (SBAC) owns and operates wireless tower infrastructure — tower structures, rooftops, and antenna-support sites — leasing antenna space to wireless carriers under long-term master lease agreements (MLAs). The company earns recurring revenue from site leasing (~97% of total) with annual escalators of ~3% domestically and CPI-linked internationally. A small services segment (~3%) provides construction and management services to carriers, predominantly driven by MLA commitments…
Revenue Drivers:
  • Site leasing: ~97% of total revenue. ~72% US domestic, ~10% Brazil, ~9% Central America…
  • Site development / services: ~3% of total revenue. Primarily carrier construction manag…
Model: Recurring Service</a:t>
            </a:r>
          </a:p>
        </p:txBody>
      </p:sp>
      <p:sp>
        <p:nvSpPr>
          <p:cNvPr id="8" name="TextBox 7"/>
          <p:cNvSpPr txBox="1"/>
          <p:nvPr/>
        </p:nvSpPr>
        <p:spPr>
          <a:xfrm>
            <a:off x="640080" y="2816352"/>
            <a:ext cx="5303520" cy="237744"/>
          </a:xfrm>
          <a:prstGeom prst="rect">
            <a:avLst/>
          </a:prstGeom>
          <a:noFill/>
        </p:spPr>
        <p:txBody>
          <a:bodyPr wrap="square">
            <a:normAutofit/>
          </a:bodyPr>
          <a:lstStyle/>
          <a:p>
            <a:pPr algn="l"/>
            <a:r>
              <a:rPr sz="1400" b="1" i="0">
                <a:solidFill>
                  <a:srgbClr val="1C2C39"/>
                </a:solidFill>
                <a:latin typeface="Garamond"/>
              </a:rPr>
              <a:t>Key Financials</a:t>
            </a:r>
          </a:p>
        </p:txBody>
      </p:sp>
      <p:sp>
        <p:nvSpPr>
          <p:cNvPr id="9" name="Rectangle 8"/>
          <p:cNvSpPr/>
          <p:nvPr/>
        </p:nvSpPr>
        <p:spPr>
          <a:xfrm>
            <a:off x="640080" y="3054096"/>
            <a:ext cx="5303520"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27248"/>
            <a:ext cx="2651760" cy="3840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3163824"/>
            <a:ext cx="1508760" cy="310896"/>
          </a:xfrm>
          <a:prstGeom prst="rect">
            <a:avLst/>
          </a:prstGeom>
          <a:noFill/>
        </p:spPr>
        <p:txBody>
          <a:bodyPr wrap="square">
            <a:normAutofit/>
          </a:bodyPr>
          <a:lstStyle/>
          <a:p>
            <a:pPr algn="l"/>
            <a:r>
              <a:rPr sz="1000" b="1" i="0">
                <a:solidFill>
                  <a:srgbClr val="1C2C3A"/>
                </a:solidFill>
                <a:latin typeface="Garamond"/>
              </a:rPr>
              <a:t>Current Price</a:t>
            </a:r>
          </a:p>
        </p:txBody>
      </p:sp>
      <p:sp>
        <p:nvSpPr>
          <p:cNvPr id="12" name="TextBox 11"/>
          <p:cNvSpPr txBox="1"/>
          <p:nvPr/>
        </p:nvSpPr>
        <p:spPr>
          <a:xfrm>
            <a:off x="2212848" y="3163824"/>
            <a:ext cx="1033271" cy="310896"/>
          </a:xfrm>
          <a:prstGeom prst="rect">
            <a:avLst/>
          </a:prstGeom>
          <a:noFill/>
        </p:spPr>
        <p:txBody>
          <a:bodyPr wrap="square">
            <a:normAutofit/>
          </a:bodyPr>
          <a:lstStyle/>
          <a:p>
            <a:pPr algn="r"/>
            <a:r>
              <a:rPr sz="1100" b="1" i="0">
                <a:solidFill>
                  <a:srgbClr val="1C2C3A"/>
                </a:solidFill>
                <a:latin typeface="Garamond"/>
              </a:rPr>
              <a:t>$190.00</a:t>
            </a:r>
          </a:p>
        </p:txBody>
      </p:sp>
      <p:sp>
        <p:nvSpPr>
          <p:cNvPr id="13" name="Rectangle 12"/>
          <p:cNvSpPr/>
          <p:nvPr/>
        </p:nvSpPr>
        <p:spPr>
          <a:xfrm>
            <a:off x="3337560" y="3127248"/>
            <a:ext cx="2651760" cy="3840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92424" y="3163824"/>
            <a:ext cx="1508760" cy="310896"/>
          </a:xfrm>
          <a:prstGeom prst="rect">
            <a:avLst/>
          </a:prstGeom>
          <a:noFill/>
        </p:spPr>
        <p:txBody>
          <a:bodyPr wrap="square">
            <a:normAutofit/>
          </a:bodyPr>
          <a:lstStyle/>
          <a:p>
            <a:pPr algn="l"/>
            <a:r>
              <a:rPr sz="1000" b="1" i="0">
                <a:solidFill>
                  <a:srgbClr val="1C2C3A"/>
                </a:solidFill>
                <a:latin typeface="Garamond"/>
              </a:rPr>
              <a:t>52-Wk Range</a:t>
            </a:r>
          </a:p>
        </p:txBody>
      </p:sp>
      <p:sp>
        <p:nvSpPr>
          <p:cNvPr id="15" name="TextBox 14"/>
          <p:cNvSpPr txBox="1"/>
          <p:nvPr/>
        </p:nvSpPr>
        <p:spPr>
          <a:xfrm>
            <a:off x="4910328" y="3163824"/>
            <a:ext cx="1033271" cy="310896"/>
          </a:xfrm>
          <a:prstGeom prst="rect">
            <a:avLst/>
          </a:prstGeom>
          <a:noFill/>
        </p:spPr>
        <p:txBody>
          <a:bodyPr wrap="square">
            <a:normAutofit/>
          </a:bodyPr>
          <a:lstStyle/>
          <a:p>
            <a:pPr algn="r"/>
            <a:r>
              <a:rPr sz="1100" b="1" i="0">
                <a:solidFill>
                  <a:srgbClr val="1C2C3A"/>
                </a:solidFill>
                <a:latin typeface="Garamond"/>
              </a:rPr>
              <a:t>N/A – N/A</a:t>
            </a:r>
          </a:p>
        </p:txBody>
      </p:sp>
      <p:sp>
        <p:nvSpPr>
          <p:cNvPr id="16" name="Rectangle 15"/>
          <p:cNvSpPr/>
          <p:nvPr/>
        </p:nvSpPr>
        <p:spPr>
          <a:xfrm>
            <a:off x="640080" y="3529584"/>
            <a:ext cx="2651760" cy="38404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566160"/>
            <a:ext cx="1508760" cy="310896"/>
          </a:xfrm>
          <a:prstGeom prst="rect">
            <a:avLst/>
          </a:prstGeom>
          <a:noFill/>
        </p:spPr>
        <p:txBody>
          <a:bodyPr wrap="square">
            <a:normAutofit/>
          </a:bodyPr>
          <a:lstStyle/>
          <a:p>
            <a:pPr algn="l"/>
            <a:r>
              <a:rPr sz="1000" b="1" i="0">
                <a:solidFill>
                  <a:srgbClr val="1C2C3A"/>
                </a:solidFill>
                <a:latin typeface="Garamond"/>
              </a:rPr>
              <a:t>Market Cap</a:t>
            </a:r>
          </a:p>
        </p:txBody>
      </p:sp>
      <p:sp>
        <p:nvSpPr>
          <p:cNvPr id="18" name="TextBox 17"/>
          <p:cNvSpPr txBox="1"/>
          <p:nvPr/>
        </p:nvSpPr>
        <p:spPr>
          <a:xfrm>
            <a:off x="2212848" y="3566160"/>
            <a:ext cx="1033271" cy="310896"/>
          </a:xfrm>
          <a:prstGeom prst="rect">
            <a:avLst/>
          </a:prstGeom>
          <a:noFill/>
        </p:spPr>
        <p:txBody>
          <a:bodyPr wrap="square">
            <a:normAutofit/>
          </a:bodyPr>
          <a:lstStyle/>
          <a:p>
            <a:pPr algn="r"/>
            <a:r>
              <a:rPr sz="1100" b="1" i="0">
                <a:solidFill>
                  <a:srgbClr val="1C2C3A"/>
                </a:solidFill>
                <a:latin typeface="Garamond"/>
              </a:rPr>
              <a:t>N/A</a:t>
            </a:r>
          </a:p>
        </p:txBody>
      </p:sp>
      <p:sp>
        <p:nvSpPr>
          <p:cNvPr id="19" name="Rectangle 18"/>
          <p:cNvSpPr/>
          <p:nvPr/>
        </p:nvSpPr>
        <p:spPr>
          <a:xfrm>
            <a:off x="3337560" y="3529584"/>
            <a:ext cx="2651760" cy="38404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92424" y="3566160"/>
            <a:ext cx="1508760" cy="310896"/>
          </a:xfrm>
          <a:prstGeom prst="rect">
            <a:avLst/>
          </a:prstGeom>
          <a:noFill/>
        </p:spPr>
        <p:txBody>
          <a:bodyPr wrap="square">
            <a:normAutofit/>
          </a:bodyPr>
          <a:lstStyle/>
          <a:p>
            <a:pPr algn="l"/>
            <a:r>
              <a:rPr sz="1000" b="1" i="0">
                <a:solidFill>
                  <a:srgbClr val="1C2C3A"/>
                </a:solidFill>
                <a:latin typeface="Garamond"/>
              </a:rPr>
              <a:t>Revenue (LTM)</a:t>
            </a:r>
          </a:p>
        </p:txBody>
      </p:sp>
      <p:sp>
        <p:nvSpPr>
          <p:cNvPr id="21" name="TextBox 20"/>
          <p:cNvSpPr txBox="1"/>
          <p:nvPr/>
        </p:nvSpPr>
        <p:spPr>
          <a:xfrm>
            <a:off x="4910328" y="3566160"/>
            <a:ext cx="1033271" cy="310896"/>
          </a:xfrm>
          <a:prstGeom prst="rect">
            <a:avLst/>
          </a:prstGeom>
          <a:noFill/>
        </p:spPr>
        <p:txBody>
          <a:bodyPr wrap="square">
            <a:normAutofit/>
          </a:bodyPr>
          <a:lstStyle/>
          <a:p>
            <a:pPr algn="r"/>
            <a:r>
              <a:rPr sz="1100" b="1" i="0">
                <a:solidFill>
                  <a:srgbClr val="1C2C3A"/>
                </a:solidFill>
                <a:latin typeface="Garamond"/>
              </a:rPr>
              <a:t>$2.3B (2026E (management guidance))</a:t>
            </a:r>
          </a:p>
        </p:txBody>
      </p:sp>
      <p:sp>
        <p:nvSpPr>
          <p:cNvPr id="22" name="Rectangle 21"/>
          <p:cNvSpPr/>
          <p:nvPr/>
        </p:nvSpPr>
        <p:spPr>
          <a:xfrm>
            <a:off x="640080" y="3931920"/>
            <a:ext cx="2651760" cy="3840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3968496"/>
            <a:ext cx="1508760" cy="310896"/>
          </a:xfrm>
          <a:prstGeom prst="rect">
            <a:avLst/>
          </a:prstGeom>
          <a:noFill/>
        </p:spPr>
        <p:txBody>
          <a:bodyPr wrap="square">
            <a:normAutofit/>
          </a:bodyPr>
          <a:lstStyle/>
          <a:p>
            <a:pPr algn="l"/>
            <a:r>
              <a:rPr sz="1000" b="1" i="0">
                <a:solidFill>
                  <a:srgbClr val="1C2C3A"/>
                </a:solidFill>
                <a:latin typeface="Garamond"/>
              </a:rPr>
              <a:t>EBIT Margin</a:t>
            </a:r>
          </a:p>
        </p:txBody>
      </p:sp>
      <p:sp>
        <p:nvSpPr>
          <p:cNvPr id="24" name="TextBox 23"/>
          <p:cNvSpPr txBox="1"/>
          <p:nvPr/>
        </p:nvSpPr>
        <p:spPr>
          <a:xfrm>
            <a:off x="2212848" y="3968496"/>
            <a:ext cx="1033271" cy="310896"/>
          </a:xfrm>
          <a:prstGeom prst="rect">
            <a:avLst/>
          </a:prstGeom>
          <a:noFill/>
        </p:spPr>
        <p:txBody>
          <a:bodyPr wrap="square">
            <a:normAutofit/>
          </a:bodyPr>
          <a:lstStyle/>
          <a:p>
            <a:pPr algn="r"/>
            <a:r>
              <a:rPr sz="1100" b="1" i="0">
                <a:solidFill>
                  <a:srgbClr val="1C2C3A"/>
                </a:solidFill>
                <a:latin typeface="Garamond"/>
              </a:rPr>
              <a:t>47.7%</a:t>
            </a:r>
          </a:p>
        </p:txBody>
      </p:sp>
      <p:sp>
        <p:nvSpPr>
          <p:cNvPr id="25" name="Rectangle 24"/>
          <p:cNvSpPr/>
          <p:nvPr/>
        </p:nvSpPr>
        <p:spPr>
          <a:xfrm>
            <a:off x="3337560" y="3931920"/>
            <a:ext cx="2651760" cy="3840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92424" y="3968496"/>
            <a:ext cx="1508760" cy="310896"/>
          </a:xfrm>
          <a:prstGeom prst="rect">
            <a:avLst/>
          </a:prstGeom>
          <a:noFill/>
        </p:spPr>
        <p:txBody>
          <a:bodyPr wrap="square">
            <a:normAutofit/>
          </a:bodyPr>
          <a:lstStyle/>
          <a:p>
            <a:pPr algn="l"/>
            <a:r>
              <a:rPr sz="1000" b="1" i="0">
                <a:solidFill>
                  <a:srgbClr val="1C2C3A"/>
                </a:solidFill>
                <a:latin typeface="Garamond"/>
              </a:rPr>
              <a:t>Gross Margin</a:t>
            </a:r>
          </a:p>
        </p:txBody>
      </p:sp>
      <p:sp>
        <p:nvSpPr>
          <p:cNvPr id="27" name="TextBox 26"/>
          <p:cNvSpPr txBox="1"/>
          <p:nvPr/>
        </p:nvSpPr>
        <p:spPr>
          <a:xfrm>
            <a:off x="4910328" y="3968496"/>
            <a:ext cx="1033271" cy="310896"/>
          </a:xfrm>
          <a:prstGeom prst="rect">
            <a:avLst/>
          </a:prstGeom>
          <a:noFill/>
        </p:spPr>
        <p:txBody>
          <a:bodyPr wrap="square">
            <a:normAutofit/>
          </a:bodyPr>
          <a:lstStyle/>
          <a:p>
            <a:pPr algn="r"/>
            <a:r>
              <a:rPr sz="1100" b="1" i="0">
                <a:solidFill>
                  <a:srgbClr val="1C2C3A"/>
                </a:solidFill>
                <a:latin typeface="Garamond"/>
              </a:rPr>
              <a:t>75.5%</a:t>
            </a:r>
          </a:p>
        </p:txBody>
      </p:sp>
      <p:sp>
        <p:nvSpPr>
          <p:cNvPr id="28" name="Rectangle 27"/>
          <p:cNvSpPr/>
          <p:nvPr/>
        </p:nvSpPr>
        <p:spPr>
          <a:xfrm>
            <a:off x="640080" y="4334256"/>
            <a:ext cx="2651760" cy="38404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 y="4370832"/>
            <a:ext cx="1508760" cy="310896"/>
          </a:xfrm>
          <a:prstGeom prst="rect">
            <a:avLst/>
          </a:prstGeom>
          <a:noFill/>
        </p:spPr>
        <p:txBody>
          <a:bodyPr wrap="square">
            <a:normAutofit/>
          </a:bodyPr>
          <a:lstStyle/>
          <a:p>
            <a:pPr algn="l"/>
            <a:r>
              <a:rPr sz="1000" b="1" i="0">
                <a:solidFill>
                  <a:srgbClr val="1C2C3A"/>
                </a:solidFill>
                <a:latin typeface="Garamond"/>
              </a:rPr>
              <a:t>Net Debt/EBITDA</a:t>
            </a:r>
          </a:p>
        </p:txBody>
      </p:sp>
      <p:sp>
        <p:nvSpPr>
          <p:cNvPr id="30" name="TextBox 29"/>
          <p:cNvSpPr txBox="1"/>
          <p:nvPr/>
        </p:nvSpPr>
        <p:spPr>
          <a:xfrm>
            <a:off x="2212848" y="4370832"/>
            <a:ext cx="1033271" cy="310896"/>
          </a:xfrm>
          <a:prstGeom prst="rect">
            <a:avLst/>
          </a:prstGeom>
          <a:noFill/>
        </p:spPr>
        <p:txBody>
          <a:bodyPr wrap="square">
            <a:normAutofit/>
          </a:bodyPr>
          <a:lstStyle/>
          <a:p>
            <a:pPr algn="r"/>
            <a:r>
              <a:rPr sz="1100" b="1" i="0">
                <a:solidFill>
                  <a:srgbClr val="1C2C3A"/>
                </a:solidFill>
                <a:latin typeface="Garamond"/>
              </a:rPr>
              <a:t>N/A</a:t>
            </a:r>
          </a:p>
        </p:txBody>
      </p:sp>
      <p:sp>
        <p:nvSpPr>
          <p:cNvPr id="31" name="Rectangle 30"/>
          <p:cNvSpPr/>
          <p:nvPr/>
        </p:nvSpPr>
        <p:spPr>
          <a:xfrm>
            <a:off x="3337560" y="4334256"/>
            <a:ext cx="2651760" cy="38404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92424" y="4370832"/>
            <a:ext cx="1508760" cy="310896"/>
          </a:xfrm>
          <a:prstGeom prst="rect">
            <a:avLst/>
          </a:prstGeom>
          <a:noFill/>
        </p:spPr>
        <p:txBody>
          <a:bodyPr wrap="square">
            <a:normAutofit/>
          </a:bodyPr>
          <a:lstStyle/>
          <a:p>
            <a:pPr algn="l"/>
            <a:r>
              <a:rPr sz="1000" b="1" i="0">
                <a:solidFill>
                  <a:srgbClr val="1C2C3A"/>
                </a:solidFill>
                <a:latin typeface="Garamond"/>
              </a:rPr>
              <a:t>FCF Conversion</a:t>
            </a:r>
          </a:p>
        </p:txBody>
      </p:sp>
      <p:sp>
        <p:nvSpPr>
          <p:cNvPr id="33" name="TextBox 32"/>
          <p:cNvSpPr txBox="1"/>
          <p:nvPr/>
        </p:nvSpPr>
        <p:spPr>
          <a:xfrm>
            <a:off x="4910328" y="4370832"/>
            <a:ext cx="1033271" cy="310896"/>
          </a:xfrm>
          <a:prstGeom prst="rect">
            <a:avLst/>
          </a:prstGeom>
          <a:noFill/>
        </p:spPr>
        <p:txBody>
          <a:bodyPr wrap="square">
            <a:normAutofit/>
          </a:bodyPr>
          <a:lstStyle/>
          <a:p>
            <a:pPr algn="r"/>
            <a:r>
              <a:rPr sz="1100" b="1" i="0">
                <a:solidFill>
                  <a:srgbClr val="1C2C3A"/>
                </a:solidFill>
                <a:latin typeface="Garamond"/>
              </a:rPr>
              <a:t>N/A</a:t>
            </a:r>
          </a:p>
        </p:txBody>
      </p:sp>
      <p:sp>
        <p:nvSpPr>
          <p:cNvPr id="34" name="Rectangle 33"/>
          <p:cNvSpPr/>
          <p:nvPr/>
        </p:nvSpPr>
        <p:spPr>
          <a:xfrm>
            <a:off x="640080" y="4736592"/>
            <a:ext cx="2651760" cy="3840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4773168"/>
            <a:ext cx="1508760" cy="310896"/>
          </a:xfrm>
          <a:prstGeom prst="rect">
            <a:avLst/>
          </a:prstGeom>
          <a:noFill/>
        </p:spPr>
        <p:txBody>
          <a:bodyPr wrap="square">
            <a:normAutofit/>
          </a:bodyPr>
          <a:lstStyle/>
          <a:p>
            <a:pPr algn="l"/>
            <a:r>
              <a:rPr sz="1000" b="1" i="0">
                <a:solidFill>
                  <a:srgbClr val="1C2C3A"/>
                </a:solidFill>
                <a:latin typeface="Garamond"/>
              </a:rPr>
              <a:t>ROIC</a:t>
            </a:r>
          </a:p>
        </p:txBody>
      </p:sp>
      <p:sp>
        <p:nvSpPr>
          <p:cNvPr id="36" name="TextBox 35"/>
          <p:cNvSpPr txBox="1"/>
          <p:nvPr/>
        </p:nvSpPr>
        <p:spPr>
          <a:xfrm>
            <a:off x="2212848" y="4773168"/>
            <a:ext cx="1033271" cy="310896"/>
          </a:xfrm>
          <a:prstGeom prst="rect">
            <a:avLst/>
          </a:prstGeom>
          <a:noFill/>
        </p:spPr>
        <p:txBody>
          <a:bodyPr wrap="square">
            <a:normAutofit/>
          </a:bodyPr>
          <a:lstStyle/>
          <a:p>
            <a:pPr algn="r"/>
            <a:r>
              <a:rPr sz="1100" b="1" i="0">
                <a:solidFill>
                  <a:srgbClr val="1C2C3A"/>
                </a:solidFill>
                <a:latin typeface="Garamond"/>
              </a:rPr>
              <a:t>N/A</a:t>
            </a:r>
          </a:p>
        </p:txBody>
      </p:sp>
      <p:sp>
        <p:nvSpPr>
          <p:cNvPr id="37" name="Rectangle 36"/>
          <p:cNvSpPr/>
          <p:nvPr/>
        </p:nvSpPr>
        <p:spPr>
          <a:xfrm>
            <a:off x="3337560" y="4736592"/>
            <a:ext cx="2651760" cy="3840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92424" y="4773168"/>
            <a:ext cx="1508760" cy="310896"/>
          </a:xfrm>
          <a:prstGeom prst="rect">
            <a:avLst/>
          </a:prstGeom>
          <a:noFill/>
        </p:spPr>
        <p:txBody>
          <a:bodyPr wrap="square">
            <a:normAutofit/>
          </a:bodyPr>
          <a:lstStyle/>
          <a:p>
            <a:pPr algn="l"/>
            <a:r>
              <a:rPr sz="1000" b="1" i="0">
                <a:solidFill>
                  <a:srgbClr val="1C2C3A"/>
                </a:solidFill>
                <a:latin typeface="Garamond"/>
              </a:rPr>
              <a:t>Rev CAGR 3Y</a:t>
            </a:r>
          </a:p>
        </p:txBody>
      </p:sp>
      <p:sp>
        <p:nvSpPr>
          <p:cNvPr id="39" name="TextBox 38"/>
          <p:cNvSpPr txBox="1"/>
          <p:nvPr/>
        </p:nvSpPr>
        <p:spPr>
          <a:xfrm>
            <a:off x="4910328" y="4773168"/>
            <a:ext cx="1033271" cy="310896"/>
          </a:xfrm>
          <a:prstGeom prst="rect">
            <a:avLst/>
          </a:prstGeom>
          <a:noFill/>
        </p:spPr>
        <p:txBody>
          <a:bodyPr wrap="square">
            <a:normAutofit/>
          </a:bodyPr>
          <a:lstStyle/>
          <a:p>
            <a:pPr algn="r"/>
            <a:r>
              <a:rPr sz="1100" b="1" i="0">
                <a:solidFill>
                  <a:srgbClr val="1C2C3A"/>
                </a:solidFill>
                <a:latin typeface="Garamond"/>
              </a:rPr>
              <a:t>Revenue growth has been pressured by churn headwinds. Core gross organic ex-churn running at 5.8% (2025A) — this is the clean underlying growth rate before churn impact.%</a:t>
            </a:r>
          </a:p>
        </p:txBody>
      </p:sp>
      <p:sp>
        <p:nvSpPr>
          <p:cNvPr id="40" name="Rectangle 39"/>
          <p:cNvSpPr/>
          <p:nvPr/>
        </p:nvSpPr>
        <p:spPr>
          <a:xfrm>
            <a:off x="640080" y="5138928"/>
            <a:ext cx="2651760" cy="38404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944" y="5175504"/>
            <a:ext cx="1508760" cy="310896"/>
          </a:xfrm>
          <a:prstGeom prst="rect">
            <a:avLst/>
          </a:prstGeom>
          <a:noFill/>
        </p:spPr>
        <p:txBody>
          <a:bodyPr wrap="square">
            <a:normAutofit/>
          </a:bodyPr>
          <a:lstStyle/>
          <a:p>
            <a:pPr algn="l"/>
            <a:r>
              <a:rPr sz="1000" b="1" i="0">
                <a:solidFill>
                  <a:srgbClr val="1C2C3A"/>
                </a:solidFill>
                <a:latin typeface="Garamond"/>
              </a:rPr>
              <a:t>Dividend Yield</a:t>
            </a:r>
          </a:p>
        </p:txBody>
      </p:sp>
      <p:sp>
        <p:nvSpPr>
          <p:cNvPr id="42" name="TextBox 41"/>
          <p:cNvSpPr txBox="1"/>
          <p:nvPr/>
        </p:nvSpPr>
        <p:spPr>
          <a:xfrm>
            <a:off x="2212848" y="5175504"/>
            <a:ext cx="1033271" cy="310896"/>
          </a:xfrm>
          <a:prstGeom prst="rect">
            <a:avLst/>
          </a:prstGeom>
          <a:noFill/>
        </p:spPr>
        <p:txBody>
          <a:bodyPr wrap="square">
            <a:normAutofit/>
          </a:bodyPr>
          <a:lstStyle/>
          <a:p>
            <a:pPr algn="r"/>
            <a:r>
              <a:rPr sz="1100" b="1" i="0">
                <a:solidFill>
                  <a:srgbClr val="1C2C3A"/>
                </a:solidFill>
                <a:latin typeface="Garamond"/>
              </a:rPr>
              <a:t>N/A</a:t>
            </a:r>
          </a:p>
        </p:txBody>
      </p:sp>
      <p:sp>
        <p:nvSpPr>
          <p:cNvPr id="43" name="Rectangle 42"/>
          <p:cNvSpPr/>
          <p:nvPr/>
        </p:nvSpPr>
        <p:spPr>
          <a:xfrm>
            <a:off x="3337560" y="5138928"/>
            <a:ext cx="2651760" cy="38404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92424" y="5175504"/>
            <a:ext cx="1508760" cy="310896"/>
          </a:xfrm>
          <a:prstGeom prst="rect">
            <a:avLst/>
          </a:prstGeom>
          <a:noFill/>
        </p:spPr>
        <p:txBody>
          <a:bodyPr wrap="square">
            <a:normAutofit/>
          </a:bodyPr>
          <a:lstStyle/>
          <a:p>
            <a:pPr algn="l"/>
            <a:r>
              <a:rPr sz="1000" b="1" i="0">
                <a:solidFill>
                  <a:srgbClr val="1C2C3A"/>
                </a:solidFill>
                <a:latin typeface="Garamond"/>
              </a:rPr>
              <a:t>Beta</a:t>
            </a:r>
          </a:p>
        </p:txBody>
      </p:sp>
      <p:sp>
        <p:nvSpPr>
          <p:cNvPr id="45" name="TextBox 44"/>
          <p:cNvSpPr txBox="1"/>
          <p:nvPr/>
        </p:nvSpPr>
        <p:spPr>
          <a:xfrm>
            <a:off x="4910328" y="5175504"/>
            <a:ext cx="1033271" cy="310896"/>
          </a:xfrm>
          <a:prstGeom prst="rect">
            <a:avLst/>
          </a:prstGeom>
          <a:noFill/>
        </p:spPr>
        <p:txBody>
          <a:bodyPr wrap="square">
            <a:normAutofit/>
          </a:bodyPr>
          <a:lstStyle/>
          <a:p>
            <a:pPr algn="r"/>
            <a:r>
              <a:rPr sz="1100" b="1" i="0">
                <a:solidFill>
                  <a:srgbClr val="1C2C3A"/>
                </a:solidFill>
                <a:latin typeface="Garamond"/>
              </a:rPr>
              <a:t>0.83</a:t>
            </a:r>
          </a:p>
        </p:txBody>
      </p:sp>
      <p:sp>
        <p:nvSpPr>
          <p:cNvPr id="46" name="TextBox 45"/>
          <p:cNvSpPr txBox="1"/>
          <p:nvPr/>
        </p:nvSpPr>
        <p:spPr>
          <a:xfrm>
            <a:off x="6263640" y="731520"/>
            <a:ext cx="5559552" cy="237744"/>
          </a:xfrm>
          <a:prstGeom prst="rect">
            <a:avLst/>
          </a:prstGeom>
          <a:noFill/>
        </p:spPr>
        <p:txBody>
          <a:bodyPr wrap="square">
            <a:normAutofit/>
          </a:bodyPr>
          <a:lstStyle/>
          <a:p>
            <a:pPr algn="l"/>
            <a:r>
              <a:rPr sz="1400" b="1" i="0">
                <a:solidFill>
                  <a:srgbClr val="1C2C39"/>
                </a:solidFill>
                <a:latin typeface="Garamond"/>
              </a:rPr>
              <a:t>Key Financials</a:t>
            </a:r>
          </a:p>
        </p:txBody>
      </p:sp>
      <p:sp>
        <p:nvSpPr>
          <p:cNvPr id="47" name="Rectangle 46"/>
          <p:cNvSpPr/>
          <p:nvPr/>
        </p:nvSpPr>
        <p:spPr>
          <a:xfrm>
            <a:off x="6263640" y="969264"/>
            <a:ext cx="5559552"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8" name="Table 47"/>
          <p:cNvGraphicFramePr>
            <a:graphicFrameLocks noGrp="1"/>
          </p:cNvGraphicFramePr>
          <p:nvPr/>
        </p:nvGraphicFramePr>
        <p:xfrm>
          <a:off x="6263640" y="1024128"/>
          <a:ext cx="5559551" cy="1572768"/>
        </p:xfrm>
        <a:graphic>
          <a:graphicData uri="http://schemas.openxmlformats.org/drawingml/2006/table">
            <a:tbl>
              <a:tblPr firstRow="1" bandRow="1">
                <a:tableStyleId>{5C22544A-7EE6-4342-B048-85BDC9FD1C3A}</a:tableStyleId>
              </a:tblPr>
              <a:tblGrid>
                <a:gridCol w="3017520"/>
                <a:gridCol w="2542031"/>
              </a:tblGrid>
              <a:tr h="262128">
                <a:tc>
                  <a:txBody>
                    <a:bodyPr/>
                    <a:lstStyle/>
                    <a:p>
                      <a:pPr algn="ctr"/>
                      <a:r>
                        <a:rPr sz="1000" b="1">
                          <a:solidFill>
                            <a:srgbClr val="FFFFFF"/>
                          </a:solidFill>
                          <a:latin typeface="Garamond"/>
                        </a:rPr>
                        <a:t>Metric</a:t>
                      </a:r>
                    </a:p>
                  </a:txBody>
                  <a:tcPr>
                    <a:solidFill>
                      <a:srgbClr val="1C2C39"/>
                    </a:solidFill>
                  </a:tcPr>
                </a:tc>
                <a:tc>
                  <a:txBody>
                    <a:bodyPr/>
                    <a:lstStyle/>
                    <a:p>
                      <a:pPr algn="ctr"/>
                      <a:r>
                        <a:rPr sz="1000" b="1">
                          <a:solidFill>
                            <a:srgbClr val="FFFFFF"/>
                          </a:solidFill>
                          <a:latin typeface="Garamond"/>
                        </a:rPr>
                        <a:t>Value</a:t>
                      </a:r>
                    </a:p>
                  </a:txBody>
                  <a:tcPr>
                    <a:solidFill>
                      <a:srgbClr val="1C2C39"/>
                    </a:solidFill>
                  </a:tcPr>
                </a:tc>
              </a:tr>
              <a:tr h="262128">
                <a:tc>
                  <a:txBody>
                    <a:bodyPr/>
                    <a:lstStyle/>
                    <a:p>
                      <a:pPr algn="l"/>
                      <a:r>
                        <a:rPr sz="1100" b="0">
                          <a:solidFill>
                            <a:srgbClr val="000000"/>
                          </a:solidFill>
                          <a:latin typeface="Garamond"/>
                        </a:rPr>
                        <a:t>Current Price</a:t>
                      </a:r>
                    </a:p>
                  </a:txBody>
                  <a:tcPr>
                    <a:solidFill>
                      <a:srgbClr val="FFFFFF"/>
                    </a:solidFill>
                  </a:tcPr>
                </a:tc>
                <a:tc>
                  <a:txBody>
                    <a:bodyPr/>
                    <a:lstStyle/>
                    <a:p>
                      <a:pPr algn="ctr"/>
                      <a:r>
                        <a:rPr sz="1100" b="0">
                          <a:solidFill>
                            <a:srgbClr val="000000"/>
                          </a:solidFill>
                          <a:latin typeface="Garamond"/>
                        </a:rPr>
                        <a:t>$190.00</a:t>
                      </a:r>
                    </a:p>
                  </a:txBody>
                  <a:tcPr>
                    <a:solidFill>
                      <a:srgbClr val="FFFFFF"/>
                    </a:solidFill>
                  </a:tcPr>
                </a:tc>
              </a:tr>
              <a:tr h="262128">
                <a:tc>
                  <a:txBody>
                    <a:bodyPr/>
                    <a:lstStyle/>
                    <a:p>
                      <a:pPr algn="l"/>
                      <a:r>
                        <a:rPr sz="1100" b="0">
                          <a:solidFill>
                            <a:srgbClr val="000000"/>
                          </a:solidFill>
                          <a:latin typeface="Garamond"/>
                        </a:rPr>
                        <a:t>52-Wk Range</a:t>
                      </a:r>
                    </a:p>
                  </a:txBody>
                  <a:tcPr>
                    <a:solidFill>
                      <a:srgbClr val="EFEFEF"/>
                    </a:solidFill>
                  </a:tcPr>
                </a:tc>
                <a:tc>
                  <a:txBody>
                    <a:bodyPr/>
                    <a:lstStyle/>
                    <a:p>
                      <a:pPr algn="ctr"/>
                      <a:r>
                        <a:rPr sz="1100" b="0">
                          <a:solidFill>
                            <a:srgbClr val="000000"/>
                          </a:solidFill>
                          <a:latin typeface="Garamond"/>
                        </a:rPr>
                        <a:t>N/A – N/A</a:t>
                      </a:r>
                    </a:p>
                  </a:txBody>
                  <a:tcPr>
                    <a:solidFill>
                      <a:srgbClr val="EFEFEF"/>
                    </a:solidFill>
                  </a:tcPr>
                </a:tc>
              </a:tr>
              <a:tr h="262128">
                <a:tc>
                  <a:txBody>
                    <a:bodyPr/>
                    <a:lstStyle/>
                    <a:p>
                      <a:pPr algn="l"/>
                      <a:r>
                        <a:rPr sz="1100" b="0">
                          <a:solidFill>
                            <a:srgbClr val="000000"/>
                          </a:solidFill>
                          <a:latin typeface="Garamond"/>
                        </a:rPr>
                        <a:t>Market Cap</a:t>
                      </a:r>
                    </a:p>
                  </a:txBody>
                  <a:tcPr>
                    <a:solidFill>
                      <a:srgbClr val="FFFFFF"/>
                    </a:solidFill>
                  </a:tcPr>
                </a:tc>
                <a:tc>
                  <a:txBody>
                    <a:bodyPr/>
                    <a:lstStyle/>
                    <a:p>
                      <a:pPr algn="ctr"/>
                      <a:r>
                        <a:rPr sz="1100" b="0">
                          <a:solidFill>
                            <a:srgbClr val="000000"/>
                          </a:solidFill>
                          <a:latin typeface="Garamond"/>
                        </a:rPr>
                        <a:t>N/A</a:t>
                      </a:r>
                    </a:p>
                  </a:txBody>
                  <a:tcPr>
                    <a:solidFill>
                      <a:srgbClr val="FFFFFF"/>
                    </a:solidFill>
                  </a:tcPr>
                </a:tc>
              </a:tr>
              <a:tr h="262128">
                <a:tc>
                  <a:txBody>
                    <a:bodyPr/>
                    <a:lstStyle/>
                    <a:p>
                      <a:pPr algn="l"/>
                      <a:r>
                        <a:rPr sz="1100" b="0">
                          <a:solidFill>
                            <a:srgbClr val="000000"/>
                          </a:solidFill>
                          <a:latin typeface="Garamond"/>
                        </a:rPr>
                        <a:t>Dividend Yield</a:t>
                      </a:r>
                    </a:p>
                  </a:txBody>
                  <a:tcPr>
                    <a:solidFill>
                      <a:srgbClr val="EFEFEF"/>
                    </a:solidFill>
                  </a:tcPr>
                </a:tc>
                <a:tc>
                  <a:txBody>
                    <a:bodyPr/>
                    <a:lstStyle/>
                    <a:p>
                      <a:pPr algn="ctr"/>
                      <a:r>
                        <a:rPr sz="1100" b="0">
                          <a:solidFill>
                            <a:srgbClr val="000000"/>
                          </a:solidFill>
                          <a:latin typeface="Garamond"/>
                        </a:rPr>
                        <a:t>N/A</a:t>
                      </a:r>
                    </a:p>
                  </a:txBody>
                  <a:tcPr>
                    <a:solidFill>
                      <a:srgbClr val="EFEFEF"/>
                    </a:solidFill>
                  </a:tcPr>
                </a:tc>
              </a:tr>
              <a:tr h="262128">
                <a:tc>
                  <a:txBody>
                    <a:bodyPr/>
                    <a:lstStyle/>
                    <a:p>
                      <a:pPr algn="l"/>
                      <a:r>
                        <a:rPr sz="1100" b="0">
                          <a:solidFill>
                            <a:srgbClr val="000000"/>
                          </a:solidFill>
                          <a:latin typeface="Garamond"/>
                        </a:rPr>
                        <a:t>Beta</a:t>
                      </a:r>
                    </a:p>
                  </a:txBody>
                  <a:tcPr>
                    <a:solidFill>
                      <a:srgbClr val="FFFFFF"/>
                    </a:solidFill>
                  </a:tcPr>
                </a:tc>
                <a:tc>
                  <a:txBody>
                    <a:bodyPr/>
                    <a:lstStyle/>
                    <a:p>
                      <a:pPr algn="ctr"/>
                      <a:r>
                        <a:rPr sz="1100" b="0">
                          <a:solidFill>
                            <a:srgbClr val="000000"/>
                          </a:solidFill>
                          <a:latin typeface="Garamond"/>
                        </a:rPr>
                        <a:t>0.83</a:t>
                      </a:r>
                    </a:p>
                  </a:txBody>
                  <a:tcPr>
                    <a:solidFill>
                      <a:srgbClr val="FFFFFF"/>
                    </a:solidFill>
                  </a:tcPr>
                </a:tc>
              </a:tr>
            </a:tbl>
          </a:graphicData>
        </a:graphic>
      </p:graphicFrame>
      <p:sp>
        <p:nvSpPr>
          <p:cNvPr id="49" name="TextBox 48"/>
          <p:cNvSpPr txBox="1"/>
          <p:nvPr/>
        </p:nvSpPr>
        <p:spPr>
          <a:xfrm>
            <a:off x="6263640" y="2724912"/>
            <a:ext cx="5559552" cy="237744"/>
          </a:xfrm>
          <a:prstGeom prst="rect">
            <a:avLst/>
          </a:prstGeom>
          <a:noFill/>
        </p:spPr>
        <p:txBody>
          <a:bodyPr wrap="square">
            <a:normAutofit/>
          </a:bodyPr>
          <a:lstStyle/>
          <a:p>
            <a:pPr algn="l"/>
            <a:r>
              <a:rPr sz="1400" b="1" i="0">
                <a:solidFill>
                  <a:srgbClr val="00ACB6"/>
                </a:solidFill>
                <a:latin typeface="Garamond"/>
              </a:rPr>
              <a:t>vs. Peers</a:t>
            </a:r>
          </a:p>
        </p:txBody>
      </p:sp>
      <p:sp>
        <p:nvSpPr>
          <p:cNvPr id="50" name="Rectangle 49"/>
          <p:cNvSpPr/>
          <p:nvPr/>
        </p:nvSpPr>
        <p:spPr>
          <a:xfrm>
            <a:off x="6263640" y="2962656"/>
            <a:ext cx="5559552"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1" name="Table 50"/>
          <p:cNvGraphicFramePr>
            <a:graphicFrameLocks noGrp="1"/>
          </p:cNvGraphicFramePr>
          <p:nvPr/>
        </p:nvGraphicFramePr>
        <p:xfrm>
          <a:off x="6263640" y="2999232"/>
          <a:ext cx="5559550" cy="1508760"/>
        </p:xfrm>
        <a:graphic>
          <a:graphicData uri="http://schemas.openxmlformats.org/drawingml/2006/table">
            <a:tbl>
              <a:tblPr firstRow="1" bandRow="1">
                <a:tableStyleId>{5C22544A-7EE6-4342-B048-85BDC9FD1C3A}</a:tableStyleId>
              </a:tblPr>
              <a:tblGrid>
                <a:gridCol w="2377440"/>
                <a:gridCol w="1591055"/>
                <a:gridCol w="1591055"/>
              </a:tblGrid>
              <a:tr h="251460">
                <a:tc>
                  <a:txBody>
                    <a:bodyPr/>
                    <a:lstStyle/>
                    <a:p>
                      <a:pPr algn="ctr"/>
                      <a:r>
                        <a:rPr sz="1000" b="1">
                          <a:solidFill>
                            <a:srgbClr val="FFFFFF"/>
                          </a:solidFill>
                          <a:latin typeface="Garamond"/>
                        </a:rPr>
                        <a:t>Metric</a:t>
                      </a:r>
                    </a:p>
                  </a:txBody>
                  <a:tcPr>
                    <a:solidFill>
                      <a:srgbClr val="1C2C39"/>
                    </a:solidFill>
                  </a:tcPr>
                </a:tc>
                <a:tc>
                  <a:txBody>
                    <a:bodyPr/>
                    <a:lstStyle/>
                    <a:p>
                      <a:pPr algn="ctr"/>
                      <a:r>
                        <a:rPr sz="1000" b="1">
                          <a:solidFill>
                            <a:srgbClr val="FFFFFF"/>
                          </a:solidFill>
                          <a:latin typeface="Garamond"/>
                        </a:rPr>
                        <a:t>SBAC</a:t>
                      </a:r>
                    </a:p>
                  </a:txBody>
                  <a:tcPr>
                    <a:solidFill>
                      <a:srgbClr val="1C2C39"/>
                    </a:solidFill>
                  </a:tcPr>
                </a:tc>
                <a:tc>
                  <a:txBody>
                    <a:bodyPr/>
                    <a:lstStyle/>
                    <a:p>
                      <a:pPr algn="ctr"/>
                      <a:r>
                        <a:rPr sz="1000" b="1">
                          <a:solidFill>
                            <a:srgbClr val="FFFFFF"/>
                          </a:solidFill>
                          <a:latin typeface="Garamond"/>
                        </a:rPr>
                        <a:t>Peer Median</a:t>
                      </a:r>
                    </a:p>
                  </a:txBody>
                  <a:tcPr>
                    <a:solidFill>
                      <a:srgbClr val="1C2C39"/>
                    </a:solidFill>
                  </a:tcPr>
                </a:tc>
              </a:tr>
              <a:tr h="251460">
                <a:tc>
                  <a:txBody>
                    <a:bodyPr/>
                    <a:lstStyle/>
                    <a:p>
                      <a:pPr algn="l"/>
                      <a:r>
                        <a:rPr sz="1100" b="0">
                          <a:solidFill>
                            <a:srgbClr val="000000"/>
                          </a:solidFill>
                          <a:latin typeface="Garamond"/>
                        </a:rPr>
                        <a:t>P/AFFO (Current)</a:t>
                      </a:r>
                    </a:p>
                  </a:txBody>
                  <a:tcPr>
                    <a:solidFill>
                      <a:srgbClr val="FFFFFF"/>
                    </a:solidFill>
                  </a:tcPr>
                </a:tc>
                <a:tc>
                  <a:txBody>
                    <a:bodyPr/>
                    <a:lstStyle/>
                    <a:p>
                      <a:pPr algn="ctr"/>
                      <a:r>
                        <a:rPr sz="1100" b="0">
                          <a:solidFill>
                            <a:srgbClr val="000000"/>
                          </a:solidFill>
                          <a:latin typeface="Garamond"/>
                        </a:rPr>
                        <a:t>14.0x</a:t>
                      </a:r>
                    </a:p>
                  </a:txBody>
                  <a:tcPr>
                    <a:solidFill>
                      <a:srgbClr val="FFFFFF"/>
                    </a:solidFill>
                  </a:tcPr>
                </a:tc>
                <a:tc>
                  <a:txBody>
                    <a:bodyPr/>
                    <a:lstStyle/>
                    <a:p>
                      <a:pPr algn="ctr"/>
                      <a:r>
                        <a:rPr sz="1100" b="0">
                          <a:solidFill>
                            <a:srgbClr val="000000"/>
                          </a:solidFill>
                          <a:latin typeface="Garamond"/>
                        </a:rPr>
                        <a:t>16.0x</a:t>
                      </a:r>
                    </a:p>
                  </a:txBody>
                  <a:tcPr>
                    <a:solidFill>
                      <a:srgbClr val="FFFFFF"/>
                    </a:solidFill>
                  </a:tcPr>
                </a:tc>
              </a:tr>
              <a:tr h="251460">
                <a:tc>
                  <a:txBody>
                    <a:bodyPr/>
                    <a:lstStyle/>
                    <a:p>
                      <a:pPr algn="l"/>
                      <a:r>
                        <a:rPr sz="1100" b="0">
                          <a:solidFill>
                            <a:srgbClr val="000000"/>
                          </a:solidFill>
                          <a:latin typeface="Garamond"/>
                        </a:rPr>
                        <a:t>EV/EBITDA</a:t>
                      </a:r>
                    </a:p>
                  </a:txBody>
                  <a:tcPr>
                    <a:solidFill>
                      <a:srgbClr val="EFEFEF"/>
                    </a:solidFill>
                  </a:tcPr>
                </a:tc>
                <a:tc>
                  <a:txBody>
                    <a:bodyPr/>
                    <a:lstStyle/>
                    <a:p>
                      <a:pPr algn="ctr"/>
                      <a:r>
                        <a:rPr sz="1100" b="0">
                          <a:solidFill>
                            <a:srgbClr val="000000"/>
                          </a:solidFill>
                          <a:latin typeface="Garamond"/>
                        </a:rPr>
                        <a:t>N/A</a:t>
                      </a:r>
                    </a:p>
                  </a:txBody>
                  <a:tcPr>
                    <a:solidFill>
                      <a:srgbClr val="EFEFEF"/>
                    </a:solidFill>
                  </a:tcPr>
                </a:tc>
                <a:tc>
                  <a:txBody>
                    <a:bodyPr/>
                    <a:lstStyle/>
                    <a:p>
                      <a:pPr algn="ctr"/>
                      <a:r>
                        <a:rPr sz="1100" b="0">
                          <a:solidFill>
                            <a:srgbClr val="000000"/>
                          </a:solidFill>
                          <a:latin typeface="Garamond"/>
                        </a:rPr>
                        <a:t>N/A</a:t>
                      </a:r>
                    </a:p>
                  </a:txBody>
                  <a:tcPr>
                    <a:solidFill>
                      <a:srgbClr val="EFEFEF"/>
                    </a:solidFill>
                  </a:tcPr>
                </a:tc>
              </a:tr>
              <a:tr h="251460">
                <a:tc>
                  <a:txBody>
                    <a:bodyPr/>
                    <a:lstStyle/>
                    <a:p>
                      <a:pPr algn="l"/>
                      <a:r>
                        <a:rPr sz="1100" b="0">
                          <a:solidFill>
                            <a:srgbClr val="000000"/>
                          </a:solidFill>
                          <a:latin typeface="Garamond"/>
                        </a:rPr>
                        <a:t>Rev Growth</a:t>
                      </a:r>
                    </a:p>
                  </a:txBody>
                  <a:tcPr>
                    <a:solidFill>
                      <a:srgbClr val="FFFFFF"/>
                    </a:solidFill>
                  </a:tcPr>
                </a:tc>
                <a:tc>
                  <a:txBody>
                    <a:bodyPr/>
                    <a:lstStyle/>
                    <a:p>
                      <a:pPr algn="ctr"/>
                      <a:r>
                        <a:rPr sz="1100" b="0">
                          <a:solidFill>
                            <a:srgbClr val="000000"/>
                          </a:solidFill>
                          <a:latin typeface="Garamond"/>
                        </a:rPr>
                        <a:t>N/A</a:t>
                      </a:r>
                    </a:p>
                  </a:txBody>
                  <a:tcPr>
                    <a:solidFill>
                      <a:srgbClr val="FFFFFF"/>
                    </a:solidFill>
                  </a:tcPr>
                </a:tc>
                <a:tc>
                  <a:txBody>
                    <a:bodyPr/>
                    <a:lstStyle/>
                    <a:p>
                      <a:pPr algn="ctr"/>
                      <a:r>
                        <a:rPr sz="1100" b="0">
                          <a:solidFill>
                            <a:srgbClr val="000000"/>
                          </a:solidFill>
                          <a:latin typeface="Garamond"/>
                        </a:rPr>
                        <a:t>N/A</a:t>
                      </a:r>
                    </a:p>
                  </a:txBody>
                  <a:tcPr>
                    <a:solidFill>
                      <a:srgbClr val="FFFFFF"/>
                    </a:solidFill>
                  </a:tcPr>
                </a:tc>
              </a:tr>
              <a:tr h="251460">
                <a:tc>
                  <a:txBody>
                    <a:bodyPr/>
                    <a:lstStyle/>
                    <a:p>
                      <a:pPr algn="l"/>
                      <a:r>
                        <a:rPr sz="1100" b="0">
                          <a:solidFill>
                            <a:srgbClr val="000000"/>
                          </a:solidFill>
                          <a:latin typeface="Garamond"/>
                        </a:rPr>
                        <a:t>EBITDA Margin</a:t>
                      </a:r>
                    </a:p>
                  </a:txBody>
                  <a:tcPr>
                    <a:solidFill>
                      <a:srgbClr val="EFEFEF"/>
                    </a:solidFill>
                  </a:tcPr>
                </a:tc>
                <a:tc>
                  <a:txBody>
                    <a:bodyPr/>
                    <a:lstStyle/>
                    <a:p>
                      <a:pPr algn="ctr"/>
                      <a:r>
                        <a:rPr sz="1100" b="0">
                          <a:solidFill>
                            <a:srgbClr val="000000"/>
                          </a:solidFill>
                          <a:latin typeface="Garamond"/>
                        </a:rPr>
                        <a:t>47.7%</a:t>
                      </a:r>
                    </a:p>
                  </a:txBody>
                  <a:tcPr>
                    <a:solidFill>
                      <a:srgbClr val="EFEFEF"/>
                    </a:solidFill>
                  </a:tcPr>
                </a:tc>
                <a:tc>
                  <a:txBody>
                    <a:bodyPr/>
                    <a:lstStyle/>
                    <a:p>
                      <a:pPr algn="ctr"/>
                      <a:r>
                        <a:rPr sz="1100" b="0">
                          <a:solidFill>
                            <a:srgbClr val="000000"/>
                          </a:solidFill>
                          <a:latin typeface="Garamond"/>
                        </a:rPr>
                        <a:t>N/A</a:t>
                      </a:r>
                    </a:p>
                  </a:txBody>
                  <a:tcPr>
                    <a:solidFill>
                      <a:srgbClr val="EFEFEF"/>
                    </a:solidFill>
                  </a:tcPr>
                </a:tc>
              </a:tr>
              <a:tr h="251460">
                <a:tc>
                  <a:txBody>
                    <a:bodyPr/>
                    <a:lstStyle/>
                    <a:p>
                      <a:pPr algn="l"/>
                      <a:r>
                        <a:rPr sz="1100" b="0">
                          <a:solidFill>
                            <a:srgbClr val="000000"/>
                          </a:solidFill>
                          <a:latin typeface="Garamond"/>
                        </a:rPr>
                        <a:t>Net Debt/EBITDA</a:t>
                      </a:r>
                    </a:p>
                  </a:txBody>
                  <a:tcPr>
                    <a:solidFill>
                      <a:srgbClr val="FFFFFF"/>
                    </a:solidFill>
                  </a:tcPr>
                </a:tc>
                <a:tc>
                  <a:txBody>
                    <a:bodyPr/>
                    <a:lstStyle/>
                    <a:p>
                      <a:pPr algn="ctr"/>
                      <a:r>
                        <a:rPr sz="1100" b="0">
                          <a:solidFill>
                            <a:srgbClr val="000000"/>
                          </a:solidFill>
                          <a:latin typeface="Garamond"/>
                        </a:rPr>
                        <a:t>-12.5x</a:t>
                      </a:r>
                    </a:p>
                  </a:txBody>
                  <a:tcPr>
                    <a:solidFill>
                      <a:srgbClr val="FFFFFF"/>
                    </a:solidFill>
                  </a:tcPr>
                </a:tc>
                <a:tc>
                  <a:txBody>
                    <a:bodyPr/>
                    <a:lstStyle/>
                    <a:p>
                      <a:pPr algn="ctr"/>
                      <a:r>
                        <a:rPr sz="1100" b="0">
                          <a:solidFill>
                            <a:srgbClr val="000000"/>
                          </a:solidFill>
                          <a:latin typeface="Garamond"/>
                        </a:rPr>
                        <a:t>2x below …</a:t>
                      </a:r>
                    </a:p>
                  </a:txBody>
                  <a:tcPr>
                    <a:solidFill>
                      <a:srgbClr val="FFFFFF"/>
                    </a:solidFill>
                  </a:tcPr>
                </a:tc>
              </a:tr>
            </a:tbl>
          </a:graphicData>
        </a:graphic>
      </p:graphicFrame>
      <p:graphicFrame>
        <p:nvGraphicFramePr>
          <p:cNvPr id="52" name="Chart 51"/>
          <p:cNvGraphicFramePr>
            <a:graphicFrameLocks noGrp="1"/>
          </p:cNvGraphicFramePr>
          <p:nvPr/>
        </p:nvGraphicFramePr>
        <p:xfrm>
          <a:off x="6263640" y="4626864"/>
          <a:ext cx="5559552" cy="1783080"/>
        </p:xfrm>
        <a:graphic>
          <a:graphicData uri="http://schemas.openxmlformats.org/drawingml/2006/chart">
            <c:chart xmlns:c="http://schemas.openxmlformats.org/drawingml/2006/chart" r:id="rId2"/>
          </a:graphicData>
        </a:graphic>
      </p:graphicFrame>
      <p:sp>
        <p:nvSpPr>
          <p:cNvPr id="53" name="Rectangle 52"/>
          <p:cNvSpPr/>
          <p:nvPr/>
        </p:nvSpPr>
        <p:spPr>
          <a:xfrm>
            <a:off x="640080" y="6492240"/>
            <a:ext cx="11183112" cy="1828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Annotated Price Chart</a:t>
            </a:r>
          </a:p>
        </p:txBody>
      </p:sp>
      <p:sp>
        <p:nvSpPr>
          <p:cNvPr id="3" name="TextBox 2"/>
          <p:cNvSpPr txBox="1"/>
          <p:nvPr/>
        </p:nvSpPr>
        <p:spPr>
          <a:xfrm>
            <a:off x="640080" y="621792"/>
            <a:ext cx="10515600" cy="228600"/>
          </a:xfrm>
          <a:prstGeom prst="rect">
            <a:avLst/>
          </a:prstGeom>
          <a:noFill/>
        </p:spPr>
        <p:txBody>
          <a:bodyPr wrap="square">
            <a:normAutofit/>
          </a:bodyPr>
          <a:lstStyle/>
          <a:p>
            <a:pPr algn="l"/>
            <a:r>
              <a:rPr sz="900" b="0" i="1">
                <a:solidFill>
                  <a:srgbClr val="595959"/>
                </a:solidFill>
                <a:latin typeface="Garamond"/>
              </a:rPr>
              <a:t>SBAC vs. Benchmark — Key Events &amp; Catalysts</a:t>
            </a:r>
          </a:p>
        </p:txBody>
      </p:sp>
      <p:sp>
        <p:nvSpPr>
          <p:cNvPr id="4" name="Rectangle 3"/>
          <p:cNvSpPr/>
          <p:nvPr/>
        </p:nvSpPr>
        <p:spPr>
          <a:xfrm>
            <a:off x="640080" y="859536"/>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LSEG Refinitiv, Bloomberg, Analyst Research</a:t>
            </a:r>
          </a:p>
        </p:txBody>
      </p:sp>
      <p:sp>
        <p:nvSpPr>
          <p:cNvPr id="6" name="Rectangle 5"/>
          <p:cNvSpPr/>
          <p:nvPr/>
        </p:nvSpPr>
        <p:spPr>
          <a:xfrm>
            <a:off x="822960" y="3749039"/>
            <a:ext cx="10698480" cy="64008"/>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72768" y="3685031"/>
            <a:ext cx="128016" cy="192024"/>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3538728"/>
            <a:ext cx="18288" cy="210311"/>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423160"/>
            <a:ext cx="1810512"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423160"/>
            <a:ext cx="1810512" cy="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59736"/>
            <a:ext cx="365760" cy="320040"/>
          </a:xfrm>
          <a:prstGeom prst="rect">
            <a:avLst/>
          </a:prstGeom>
          <a:noFill/>
        </p:spPr>
        <p:txBody>
          <a:bodyPr wrap="square">
            <a:normAutofit/>
          </a:bodyPr>
          <a:lstStyle/>
          <a:p>
            <a:pPr algn="ctr"/>
            <a:r>
              <a:rPr sz="1800" b="1" i="0">
                <a:solidFill>
                  <a:srgbClr val="1C2C39"/>
                </a:solidFill>
                <a:latin typeface="Garamond"/>
              </a:rPr>
              <a:t>1</a:t>
            </a:r>
          </a:p>
        </p:txBody>
      </p:sp>
      <p:sp>
        <p:nvSpPr>
          <p:cNvPr id="12" name="TextBox 11"/>
          <p:cNvSpPr txBox="1"/>
          <p:nvPr/>
        </p:nvSpPr>
        <p:spPr>
          <a:xfrm>
            <a:off x="1115568" y="2478024"/>
            <a:ext cx="1371600" cy="256032"/>
          </a:xfrm>
          <a:prstGeom prst="rect">
            <a:avLst/>
          </a:prstGeom>
          <a:noFill/>
        </p:spPr>
        <p:txBody>
          <a:bodyPr wrap="square">
            <a:normAutofit/>
          </a:bodyPr>
          <a:lstStyle/>
          <a:p>
            <a:pPr algn="l"/>
            <a:r>
              <a:rPr sz="1100" b="1" i="0">
                <a:solidFill>
                  <a:srgbClr val="1C2C3A"/>
                </a:solidFill>
                <a:latin typeface="Garamond"/>
              </a:rPr>
              <a:t>— H2 2026</a:t>
            </a:r>
          </a:p>
        </p:txBody>
      </p:sp>
      <p:sp>
        <p:nvSpPr>
          <p:cNvPr id="13" name="TextBox 12"/>
          <p:cNvSpPr txBox="1"/>
          <p:nvPr/>
        </p:nvSpPr>
        <p:spPr>
          <a:xfrm>
            <a:off x="786384" y="2770632"/>
            <a:ext cx="1700784" cy="713232"/>
          </a:xfrm>
          <a:prstGeom prst="rect">
            <a:avLst/>
          </a:prstGeom>
          <a:noFill/>
        </p:spPr>
        <p:txBody>
          <a:bodyPr wrap="square">
            <a:normAutofit/>
          </a:bodyPr>
          <a:lstStyle/>
          <a:p>
            <a:pPr algn="l"/>
            <a:r>
              <a:rPr sz="1100" b="0" i="0">
                <a:solidFill>
                  <a:srgbClr val="000000"/>
                </a:solidFill>
                <a:latin typeface="Garamond"/>
              </a:rPr>
              <a:t>Verizon MLA services revenue inflection — $190-210M full-year guidance achievability co…</a:t>
            </a:r>
          </a:p>
        </p:txBody>
      </p:sp>
      <p:sp>
        <p:nvSpPr>
          <p:cNvPr id="14" name="Rectangle 13"/>
          <p:cNvSpPr/>
          <p:nvPr/>
        </p:nvSpPr>
        <p:spPr>
          <a:xfrm>
            <a:off x="4325112" y="3685031"/>
            <a:ext cx="128016" cy="192024"/>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3863" y="3913631"/>
            <a:ext cx="1810512"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83863" y="3913631"/>
            <a:ext cx="1810512" cy="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83863" y="3950207"/>
            <a:ext cx="365760" cy="320040"/>
          </a:xfrm>
          <a:prstGeom prst="rect">
            <a:avLst/>
          </a:prstGeom>
          <a:noFill/>
        </p:spPr>
        <p:txBody>
          <a:bodyPr wrap="square">
            <a:normAutofit/>
          </a:bodyPr>
          <a:lstStyle/>
          <a:p>
            <a:pPr algn="ctr"/>
            <a:r>
              <a:rPr sz="1800" b="1" i="0">
                <a:solidFill>
                  <a:srgbClr val="1C2C39"/>
                </a:solidFill>
                <a:latin typeface="Garamond"/>
              </a:rPr>
              <a:t>2</a:t>
            </a:r>
          </a:p>
        </p:txBody>
      </p:sp>
      <p:sp>
        <p:nvSpPr>
          <p:cNvPr id="18" name="TextBox 17"/>
          <p:cNvSpPr txBox="1"/>
          <p:nvPr/>
        </p:nvSpPr>
        <p:spPr>
          <a:xfrm>
            <a:off x="3867911" y="3968495"/>
            <a:ext cx="1371600" cy="256032"/>
          </a:xfrm>
          <a:prstGeom prst="rect">
            <a:avLst/>
          </a:prstGeom>
          <a:noFill/>
        </p:spPr>
        <p:txBody>
          <a:bodyPr wrap="square">
            <a:normAutofit/>
          </a:bodyPr>
          <a:lstStyle/>
          <a:p>
            <a:pPr algn="l"/>
            <a:r>
              <a:rPr sz="1100" b="1" i="0">
                <a:solidFill>
                  <a:srgbClr val="1C2C3A"/>
                </a:solidFill>
                <a:latin typeface="Garamond"/>
              </a:rPr>
              <a:t>— July 2026</a:t>
            </a:r>
          </a:p>
        </p:txBody>
      </p:sp>
      <p:sp>
        <p:nvSpPr>
          <p:cNvPr id="19" name="TextBox 18"/>
          <p:cNvSpPr txBox="1"/>
          <p:nvPr/>
        </p:nvSpPr>
        <p:spPr>
          <a:xfrm>
            <a:off x="3538727" y="4261103"/>
            <a:ext cx="1700784" cy="713232"/>
          </a:xfrm>
          <a:prstGeom prst="rect">
            <a:avLst/>
          </a:prstGeom>
          <a:noFill/>
        </p:spPr>
        <p:txBody>
          <a:bodyPr wrap="square">
            <a:normAutofit/>
          </a:bodyPr>
          <a:lstStyle/>
          <a:p>
            <a:pPr algn="l"/>
            <a:r>
              <a:rPr sz="1100" b="0" i="0">
                <a:solidFill>
                  <a:srgbClr val="000000"/>
                </a:solidFill>
                <a:latin typeface="Garamond"/>
              </a:rPr>
              <a:t>Brazil mandatory 5G build deadline (200K+ population cities)</a:t>
            </a:r>
          </a:p>
        </p:txBody>
      </p:sp>
      <p:sp>
        <p:nvSpPr>
          <p:cNvPr id="20" name="Rectangle 19"/>
          <p:cNvSpPr/>
          <p:nvPr/>
        </p:nvSpPr>
        <p:spPr>
          <a:xfrm>
            <a:off x="7891271" y="3685031"/>
            <a:ext cx="128016" cy="192024"/>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6136" y="3538728"/>
            <a:ext cx="18288" cy="210311"/>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050023" y="2423160"/>
            <a:ext cx="1810512"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0023" y="2423160"/>
            <a:ext cx="1810512" cy="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50023" y="2459736"/>
            <a:ext cx="365760" cy="320040"/>
          </a:xfrm>
          <a:prstGeom prst="rect">
            <a:avLst/>
          </a:prstGeom>
          <a:noFill/>
        </p:spPr>
        <p:txBody>
          <a:bodyPr wrap="square">
            <a:normAutofit/>
          </a:bodyPr>
          <a:lstStyle/>
          <a:p>
            <a:pPr algn="ctr"/>
            <a:r>
              <a:rPr sz="1800" b="1" i="0">
                <a:solidFill>
                  <a:srgbClr val="1C2C39"/>
                </a:solidFill>
                <a:latin typeface="Garamond"/>
              </a:rPr>
              <a:t>3</a:t>
            </a:r>
          </a:p>
        </p:txBody>
      </p:sp>
      <p:sp>
        <p:nvSpPr>
          <p:cNvPr id="25" name="TextBox 24"/>
          <p:cNvSpPr txBox="1"/>
          <p:nvPr/>
        </p:nvSpPr>
        <p:spPr>
          <a:xfrm>
            <a:off x="7434071" y="2478024"/>
            <a:ext cx="1371600" cy="256032"/>
          </a:xfrm>
          <a:prstGeom prst="rect">
            <a:avLst/>
          </a:prstGeom>
          <a:noFill/>
        </p:spPr>
        <p:txBody>
          <a:bodyPr wrap="square">
            <a:normAutofit/>
          </a:bodyPr>
          <a:lstStyle/>
          <a:p>
            <a:pPr algn="l"/>
            <a:r>
              <a:rPr sz="1100" b="1" i="0">
                <a:solidFill>
                  <a:srgbClr val="1C2C3A"/>
                </a:solidFill>
                <a:latin typeface="Garamond"/>
              </a:rPr>
              <a:t>— Q4 2026</a:t>
            </a:r>
          </a:p>
        </p:txBody>
      </p:sp>
      <p:sp>
        <p:nvSpPr>
          <p:cNvPr id="26" name="TextBox 25"/>
          <p:cNvSpPr txBox="1"/>
          <p:nvPr/>
        </p:nvSpPr>
        <p:spPr>
          <a:xfrm>
            <a:off x="7104887" y="2770632"/>
            <a:ext cx="1700784" cy="713232"/>
          </a:xfrm>
          <a:prstGeom prst="rect">
            <a:avLst/>
          </a:prstGeom>
          <a:noFill/>
        </p:spPr>
        <p:txBody>
          <a:bodyPr wrap="square">
            <a:normAutofit/>
          </a:bodyPr>
          <a:lstStyle/>
          <a:p>
            <a:pPr algn="l"/>
            <a:r>
              <a:rPr sz="1100" b="0" i="0">
                <a:solidFill>
                  <a:srgbClr val="000000"/>
                </a:solidFill>
                <a:latin typeface="Garamond"/>
              </a:rPr>
              <a:t>T-Mobile MLA renegotiation outcome</a:t>
            </a:r>
          </a:p>
        </p:txBody>
      </p:sp>
      <p:sp>
        <p:nvSpPr>
          <p:cNvPr id="27" name="Rectangle 26"/>
          <p:cNvSpPr/>
          <p:nvPr/>
        </p:nvSpPr>
        <p:spPr>
          <a:xfrm>
            <a:off x="10643615" y="3685031"/>
            <a:ext cx="128016" cy="192024"/>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02367" y="3913631"/>
            <a:ext cx="1810512"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802367" y="3913631"/>
            <a:ext cx="1810512" cy="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02367" y="3950207"/>
            <a:ext cx="365760" cy="320040"/>
          </a:xfrm>
          <a:prstGeom prst="rect">
            <a:avLst/>
          </a:prstGeom>
          <a:noFill/>
        </p:spPr>
        <p:txBody>
          <a:bodyPr wrap="square">
            <a:normAutofit/>
          </a:bodyPr>
          <a:lstStyle/>
          <a:p>
            <a:pPr algn="ctr"/>
            <a:r>
              <a:rPr sz="1800" b="1" i="0">
                <a:solidFill>
                  <a:srgbClr val="1C2C39"/>
                </a:solidFill>
                <a:latin typeface="Garamond"/>
              </a:rPr>
              <a:t>4</a:t>
            </a:r>
          </a:p>
        </p:txBody>
      </p:sp>
      <p:sp>
        <p:nvSpPr>
          <p:cNvPr id="31" name="TextBox 30"/>
          <p:cNvSpPr txBox="1"/>
          <p:nvPr/>
        </p:nvSpPr>
        <p:spPr>
          <a:xfrm>
            <a:off x="10186415" y="3968495"/>
            <a:ext cx="1371600" cy="256032"/>
          </a:xfrm>
          <a:prstGeom prst="rect">
            <a:avLst/>
          </a:prstGeom>
          <a:noFill/>
        </p:spPr>
        <p:txBody>
          <a:bodyPr wrap="square">
            <a:normAutofit/>
          </a:bodyPr>
          <a:lstStyle/>
          <a:p>
            <a:pPr algn="l"/>
            <a:r>
              <a:rPr sz="1100" b="1" i="0">
                <a:solidFill>
                  <a:srgbClr val="1C2C3A"/>
                </a:solidFill>
                <a:latin typeface="Garamond"/>
              </a:rPr>
              <a:t>— Q4 2026 / Q1 2027</a:t>
            </a:r>
          </a:p>
        </p:txBody>
      </p:sp>
      <p:sp>
        <p:nvSpPr>
          <p:cNvPr id="32" name="TextBox 31"/>
          <p:cNvSpPr txBox="1"/>
          <p:nvPr/>
        </p:nvSpPr>
        <p:spPr>
          <a:xfrm>
            <a:off x="9857232" y="4261103"/>
            <a:ext cx="1700784" cy="713232"/>
          </a:xfrm>
          <a:prstGeom prst="rect">
            <a:avLst/>
          </a:prstGeom>
          <a:noFill/>
        </p:spPr>
        <p:txBody>
          <a:bodyPr wrap="square">
            <a:normAutofit/>
          </a:bodyPr>
          <a:lstStyle/>
          <a:p>
            <a:pPr algn="l"/>
            <a:r>
              <a:rPr sz="1100" b="0" i="0">
                <a:solidFill>
                  <a:srgbClr val="000000"/>
                </a:solidFill>
                <a:latin typeface="Garamond"/>
              </a:rPr>
              <a:t>2027 guidance issued showing Sprint churn drops to $18M from $55M — net organic acceler…</a:t>
            </a:r>
          </a:p>
        </p:txBody>
      </p:sp>
      <p:sp>
        <p:nvSpPr>
          <p:cNvPr id="33" name="Rectangle 32"/>
          <p:cNvSpPr/>
          <p:nvPr/>
        </p:nvSpPr>
        <p:spPr>
          <a:xfrm>
            <a:off x="640080" y="5376672"/>
            <a:ext cx="11183112" cy="3657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440680"/>
            <a:ext cx="1371600" cy="256032"/>
          </a:xfrm>
          <a:prstGeom prst="rect">
            <a:avLst/>
          </a:prstGeom>
          <a:noFill/>
        </p:spPr>
        <p:txBody>
          <a:bodyPr wrap="square">
            <a:normAutofit/>
          </a:bodyPr>
          <a:lstStyle/>
          <a:p>
            <a:pPr algn="l"/>
            <a:r>
              <a:rPr sz="1100" b="1" i="0">
                <a:solidFill>
                  <a:srgbClr val="FFFFFF"/>
                </a:solidFill>
                <a:latin typeface="Garamond"/>
              </a:rPr>
              <a:t>Takeaway:</a:t>
            </a:r>
          </a:p>
        </p:txBody>
      </p:sp>
      <p:sp>
        <p:nvSpPr>
          <p:cNvPr id="35" name="TextBox 34"/>
          <p:cNvSpPr txBox="1"/>
          <p:nvPr/>
        </p:nvSpPr>
        <p:spPr>
          <a:xfrm>
            <a:off x="2194560" y="5440680"/>
            <a:ext cx="9509760" cy="256032"/>
          </a:xfrm>
          <a:prstGeom prst="rect">
            <a:avLst/>
          </a:prstGeom>
          <a:noFill/>
        </p:spPr>
        <p:txBody>
          <a:bodyPr wrap="none">
            <a:normAutofit/>
          </a:bodyPr>
          <a:lstStyle/>
          <a:p>
            <a:pPr algn="l"/>
            <a:r>
              <a:rPr sz="1200" b="0" i="1">
                <a:solidFill>
                  <a:srgbClr val="FFFFFF"/>
                </a:solidFill>
                <a:latin typeface="Garamond"/>
              </a:rPr>
              <a:t>The market is pricing SBAC as if Sprint/DISH churn is structural impairment. It is finite, declining, and nearly over. As churn sunsets in 2027 and Brazil's mandatory 5G deadlines force carrier spending, SBAC's pure-play tower model will re-rate from 14x to…</a:t>
            </a:r>
          </a:p>
        </p:txBody>
      </p:sp>
      <p:sp>
        <p:nvSpPr>
          <p:cNvPr id="36" name="Rectangle 35"/>
          <p:cNvSpPr/>
          <p:nvPr/>
        </p:nvSpPr>
        <p:spPr>
          <a:xfrm>
            <a:off x="640080" y="5852160"/>
            <a:ext cx="137160" cy="1371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833872"/>
            <a:ext cx="2286000" cy="182880"/>
          </a:xfrm>
          <a:prstGeom prst="rect">
            <a:avLst/>
          </a:prstGeom>
          <a:noFill/>
        </p:spPr>
        <p:txBody>
          <a:bodyPr wrap="square">
            <a:normAutofit/>
          </a:bodyPr>
          <a:lstStyle/>
          <a:p>
            <a:pPr algn="l"/>
            <a:r>
              <a:rPr sz="830" b="0" i="0">
                <a:solidFill>
                  <a:srgbClr val="595959"/>
                </a:solidFill>
                <a:latin typeface="Garamond"/>
              </a:rPr>
              <a:t>SBAC events</a:t>
            </a:r>
          </a:p>
        </p:txBody>
      </p:sp>
      <p:sp>
        <p:nvSpPr>
          <p:cNvPr id="38" name="Rectangle 37"/>
          <p:cNvSpPr/>
          <p:nvPr/>
        </p:nvSpPr>
        <p:spPr>
          <a:xfrm>
            <a:off x="3200400" y="5852160"/>
            <a:ext cx="137160" cy="1371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3280" y="5833872"/>
            <a:ext cx="2286000" cy="182880"/>
          </a:xfrm>
          <a:prstGeom prst="rect">
            <a:avLst/>
          </a:prstGeom>
          <a:noFill/>
        </p:spPr>
        <p:txBody>
          <a:bodyPr wrap="square">
            <a:normAutofit/>
          </a:bodyPr>
          <a:lstStyle/>
          <a:p>
            <a:pPr algn="l"/>
            <a:r>
              <a:rPr sz="830" b="0" i="0">
                <a:solidFill>
                  <a:srgbClr val="595959"/>
                </a:solidFill>
                <a:latin typeface="Garamond"/>
              </a:rPr>
              <a:t>Analyst actions</a:t>
            </a:r>
          </a:p>
        </p:txBody>
      </p:sp>
      <p:sp>
        <p:nvSpPr>
          <p:cNvPr id="40" name="TextBox 39"/>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Industry Dynamics &amp; Competitive Landscape</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CapIQ, Bloomberg, Industry Reports</a:t>
            </a:r>
          </a:p>
        </p:txBody>
      </p:sp>
      <p:sp>
        <p:nvSpPr>
          <p:cNvPr id="5" name="Rectangle 4"/>
          <p:cNvSpPr/>
          <p:nvPr/>
        </p:nvSpPr>
        <p:spPr>
          <a:xfrm>
            <a:off x="640080" y="749808"/>
            <a:ext cx="2788920"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749808"/>
            <a:ext cx="2788920"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804671"/>
            <a:ext cx="2788920" cy="553212"/>
          </a:xfrm>
          <a:prstGeom prst="rect">
            <a:avLst/>
          </a:prstGeom>
          <a:noFill/>
        </p:spPr>
        <p:txBody>
          <a:bodyPr wrap="square">
            <a:normAutofit/>
          </a:bodyPr>
          <a:lstStyle/>
          <a:p>
            <a:pPr algn="ctr"/>
            <a:r>
              <a:rPr sz="2600" b="1" i="0">
                <a:solidFill>
                  <a:srgbClr val="1C2C3A"/>
                </a:solidFill>
                <a:latin typeface="Garamond"/>
              </a:rPr>
              <a:t>N/A</a:t>
            </a:r>
          </a:p>
        </p:txBody>
      </p:sp>
      <p:sp>
        <p:nvSpPr>
          <p:cNvPr id="8" name="TextBox 7"/>
          <p:cNvSpPr txBox="1"/>
          <p:nvPr/>
        </p:nvSpPr>
        <p:spPr>
          <a:xfrm>
            <a:off x="640080" y="1339596"/>
            <a:ext cx="2788920" cy="382219"/>
          </a:xfrm>
          <a:prstGeom prst="rect">
            <a:avLst/>
          </a:prstGeom>
          <a:noFill/>
        </p:spPr>
        <p:txBody>
          <a:bodyPr wrap="square">
            <a:normAutofit/>
          </a:bodyPr>
          <a:lstStyle/>
          <a:p>
            <a:pPr algn="ctr"/>
            <a:r>
              <a:rPr sz="800" b="0" i="0">
                <a:solidFill>
                  <a:srgbClr val="595959"/>
                </a:solidFill>
                <a:latin typeface="Garamond"/>
              </a:rPr>
              <a:t>Total Addressable Market
~5.8% CAGR</a:t>
            </a:r>
          </a:p>
        </p:txBody>
      </p:sp>
      <p:sp>
        <p:nvSpPr>
          <p:cNvPr id="9" name="Rectangle 8"/>
          <p:cNvSpPr/>
          <p:nvPr/>
        </p:nvSpPr>
        <p:spPr>
          <a:xfrm>
            <a:off x="3547872" y="749808"/>
            <a:ext cx="2788920"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47872" y="749808"/>
            <a:ext cx="2788920"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804671"/>
            <a:ext cx="2788920" cy="553212"/>
          </a:xfrm>
          <a:prstGeom prst="rect">
            <a:avLst/>
          </a:prstGeom>
          <a:noFill/>
        </p:spPr>
        <p:txBody>
          <a:bodyPr wrap="square">
            <a:normAutofit/>
          </a:bodyPr>
          <a:lstStyle/>
          <a:p>
            <a:pPr algn="ctr"/>
            <a:r>
              <a:rPr sz="2600" b="1" i="0">
                <a:solidFill>
                  <a:srgbClr val="1C2C3A"/>
                </a:solidFill>
                <a:latin typeface="Garamond"/>
              </a:rPr>
              <a:t>Below mid-cy…</a:t>
            </a:r>
          </a:p>
        </p:txBody>
      </p:sp>
      <p:sp>
        <p:nvSpPr>
          <p:cNvPr id="12" name="TextBox 11"/>
          <p:cNvSpPr txBox="1"/>
          <p:nvPr/>
        </p:nvSpPr>
        <p:spPr>
          <a:xfrm>
            <a:off x="3547872" y="1339596"/>
            <a:ext cx="2788920" cy="382219"/>
          </a:xfrm>
          <a:prstGeom prst="rect">
            <a:avLst/>
          </a:prstGeom>
          <a:noFill/>
        </p:spPr>
        <p:txBody>
          <a:bodyPr wrap="square">
            <a:normAutofit/>
          </a:bodyPr>
          <a:lstStyle/>
          <a:p>
            <a:pPr algn="ctr"/>
            <a:r>
              <a:rPr sz="800" b="0" i="0">
                <a:solidFill>
                  <a:srgbClr val="595959"/>
                </a:solidFill>
                <a:latin typeface="Garamond"/>
              </a:rPr>
              <a:t>Cycle Position
structural</a:t>
            </a:r>
          </a:p>
        </p:txBody>
      </p:sp>
      <p:sp>
        <p:nvSpPr>
          <p:cNvPr id="13" name="Rectangle 12"/>
          <p:cNvSpPr/>
          <p:nvPr/>
        </p:nvSpPr>
        <p:spPr>
          <a:xfrm>
            <a:off x="6455664" y="749808"/>
            <a:ext cx="2788920"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749808"/>
            <a:ext cx="2788920"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804671"/>
            <a:ext cx="2788920" cy="553212"/>
          </a:xfrm>
          <a:prstGeom prst="rect">
            <a:avLst/>
          </a:prstGeom>
          <a:noFill/>
        </p:spPr>
        <p:txBody>
          <a:bodyPr wrap="square">
            <a:normAutofit/>
          </a:bodyPr>
          <a:lstStyle/>
          <a:p>
            <a:pPr algn="ctr"/>
            <a:r>
              <a:rPr sz="2600" b="1" i="0">
                <a:solidFill>
                  <a:srgbClr val="1C2C3A"/>
                </a:solidFill>
                <a:latin typeface="Garamond"/>
              </a:rPr>
              <a:t>Stable to gr…</a:t>
            </a:r>
          </a:p>
        </p:txBody>
      </p:sp>
      <p:sp>
        <p:nvSpPr>
          <p:cNvPr id="16" name="TextBox 15"/>
          <p:cNvSpPr txBox="1"/>
          <p:nvPr/>
        </p:nvSpPr>
        <p:spPr>
          <a:xfrm>
            <a:off x="6455664" y="1339596"/>
            <a:ext cx="2788920" cy="382219"/>
          </a:xfrm>
          <a:prstGeom prst="rect">
            <a:avLst/>
          </a:prstGeom>
          <a:noFill/>
        </p:spPr>
        <p:txBody>
          <a:bodyPr wrap="square">
            <a:normAutofit/>
          </a:bodyPr>
          <a:lstStyle/>
          <a:p>
            <a:pPr algn="ctr"/>
            <a:r>
              <a:rPr sz="800" b="0" i="0">
                <a:solidFill>
                  <a:srgbClr val="595959"/>
                </a:solidFill>
                <a:latin typeface="Garamond"/>
              </a:rPr>
              <a:t>Market Share Trend</a:t>
            </a:r>
          </a:p>
        </p:txBody>
      </p:sp>
      <p:sp>
        <p:nvSpPr>
          <p:cNvPr id="17" name="Rectangle 16"/>
          <p:cNvSpPr/>
          <p:nvPr/>
        </p:nvSpPr>
        <p:spPr>
          <a:xfrm>
            <a:off x="9363455" y="749808"/>
            <a:ext cx="2788920"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363455" y="749808"/>
            <a:ext cx="2788920"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804671"/>
            <a:ext cx="2788920" cy="553212"/>
          </a:xfrm>
          <a:prstGeom prst="rect">
            <a:avLst/>
          </a:prstGeom>
          <a:noFill/>
        </p:spPr>
        <p:txBody>
          <a:bodyPr wrap="square">
            <a:normAutofit/>
          </a:bodyPr>
          <a:lstStyle/>
          <a:p>
            <a:pPr algn="ctr"/>
            <a:r>
              <a:rPr sz="2600" b="1" i="0">
                <a:solidFill>
                  <a:srgbClr val="00AF50"/>
                </a:solidFill>
                <a:latin typeface="Garamond"/>
              </a:rPr>
              <a:t>LOW</a:t>
            </a:r>
          </a:p>
        </p:txBody>
      </p:sp>
      <p:sp>
        <p:nvSpPr>
          <p:cNvPr id="20" name="TextBox 19"/>
          <p:cNvSpPr txBox="1"/>
          <p:nvPr/>
        </p:nvSpPr>
        <p:spPr>
          <a:xfrm>
            <a:off x="9363455" y="1339596"/>
            <a:ext cx="2788920" cy="382219"/>
          </a:xfrm>
          <a:prstGeom prst="rect">
            <a:avLst/>
          </a:prstGeom>
          <a:noFill/>
        </p:spPr>
        <p:txBody>
          <a:bodyPr wrap="square">
            <a:normAutofit/>
          </a:bodyPr>
          <a:lstStyle/>
          <a:p>
            <a:pPr algn="ctr"/>
            <a:r>
              <a:rPr sz="800" b="0" i="0">
                <a:solidFill>
                  <a:srgbClr val="595959"/>
                </a:solidFill>
                <a:latin typeface="Garamond"/>
              </a:rPr>
              <a:t>Disruption Risk</a:t>
            </a:r>
          </a:p>
        </p:txBody>
      </p:sp>
      <p:sp>
        <p:nvSpPr>
          <p:cNvPr id="21" name="Rectangle 20"/>
          <p:cNvSpPr/>
          <p:nvPr/>
        </p:nvSpPr>
        <p:spPr>
          <a:xfrm>
            <a:off x="640080" y="1819656"/>
            <a:ext cx="11183112" cy="27432"/>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1883664"/>
            <a:ext cx="5486400" cy="237744"/>
          </a:xfrm>
          <a:prstGeom prst="rect">
            <a:avLst/>
          </a:prstGeom>
          <a:noFill/>
        </p:spPr>
        <p:txBody>
          <a:bodyPr wrap="square">
            <a:normAutofit/>
          </a:bodyPr>
          <a:lstStyle/>
          <a:p>
            <a:pPr algn="l"/>
            <a:r>
              <a:rPr sz="1400" b="1" i="0">
                <a:solidFill>
                  <a:srgbClr val="1C2C39"/>
                </a:solidFill>
                <a:latin typeface="Garamond"/>
              </a:rPr>
              <a:t>Structural Tailwinds</a:t>
            </a:r>
          </a:p>
        </p:txBody>
      </p:sp>
      <p:sp>
        <p:nvSpPr>
          <p:cNvPr id="23" name="Rectangle 22"/>
          <p:cNvSpPr/>
          <p:nvPr/>
        </p:nvSpPr>
        <p:spPr>
          <a:xfrm>
            <a:off x="640080" y="2121408"/>
            <a:ext cx="5486400"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2176272"/>
            <a:ext cx="5486400" cy="42062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221991"/>
            <a:ext cx="5303520" cy="365760"/>
          </a:xfrm>
          <a:prstGeom prst="rect">
            <a:avLst/>
          </a:prstGeom>
          <a:noFill/>
        </p:spPr>
        <p:txBody>
          <a:bodyPr wrap="square">
            <a:normAutofit/>
          </a:bodyPr>
          <a:lstStyle/>
          <a:p>
            <a:pPr algn="l"/>
            <a:r>
              <a:rPr sz="1100" b="0" i="0">
                <a:solidFill>
                  <a:srgbClr val="000000"/>
                </a:solidFill>
                <a:latin typeface="Garamond"/>
              </a:rPr>
              <a:t>• 5G densification: US carriers are past the coverage phase and entering the densification phase — more sites per square mile as …</a:t>
            </a:r>
          </a:p>
        </p:txBody>
      </p:sp>
      <p:sp>
        <p:nvSpPr>
          <p:cNvPr id="26" name="Rectangle 25"/>
          <p:cNvSpPr/>
          <p:nvPr/>
        </p:nvSpPr>
        <p:spPr>
          <a:xfrm>
            <a:off x="640080" y="2633472"/>
            <a:ext cx="5486400" cy="420624"/>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2679191"/>
            <a:ext cx="5303520" cy="365760"/>
          </a:xfrm>
          <a:prstGeom prst="rect">
            <a:avLst/>
          </a:prstGeom>
          <a:noFill/>
        </p:spPr>
        <p:txBody>
          <a:bodyPr wrap="square">
            <a:normAutofit/>
          </a:bodyPr>
          <a:lstStyle/>
          <a:p>
            <a:pPr algn="l"/>
            <a:r>
              <a:rPr sz="1100" b="0" i="0">
                <a:solidFill>
                  <a:srgbClr val="000000"/>
                </a:solidFill>
                <a:latin typeface="Garamond"/>
              </a:rPr>
              <a:t>• Brazil mandatory 5G build: 35 towers/100K vs. 160/100K in US creates a 65K-75K tower deficit. Legally binding deadlines (July 2…</a:t>
            </a:r>
          </a:p>
        </p:txBody>
      </p:sp>
      <p:sp>
        <p:nvSpPr>
          <p:cNvPr id="28" name="Rectangle 27"/>
          <p:cNvSpPr/>
          <p:nvPr/>
        </p:nvSpPr>
        <p:spPr>
          <a:xfrm>
            <a:off x="640080" y="3090672"/>
            <a:ext cx="5486400" cy="42062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136391"/>
            <a:ext cx="5303520" cy="365760"/>
          </a:xfrm>
          <a:prstGeom prst="rect">
            <a:avLst/>
          </a:prstGeom>
          <a:noFill/>
        </p:spPr>
        <p:txBody>
          <a:bodyPr wrap="square">
            <a:normAutofit/>
          </a:bodyPr>
          <a:lstStyle/>
          <a:p>
            <a:pPr algn="l"/>
            <a:r>
              <a:rPr sz="1100" b="0" i="0">
                <a:solidFill>
                  <a:srgbClr val="000000"/>
                </a:solidFill>
                <a:latin typeface="Garamond"/>
              </a:rPr>
              <a:t>• T-Mobile FWA subscriber growth: T-Mobile's goal to reach 15M fixed wireless access subscribers requires significant network den…</a:t>
            </a:r>
          </a:p>
        </p:txBody>
      </p:sp>
      <p:sp>
        <p:nvSpPr>
          <p:cNvPr id="30" name="Rectangle 29"/>
          <p:cNvSpPr/>
          <p:nvPr/>
        </p:nvSpPr>
        <p:spPr>
          <a:xfrm>
            <a:off x="640080" y="3547872"/>
            <a:ext cx="5486400" cy="420624"/>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593591"/>
            <a:ext cx="5303520" cy="365760"/>
          </a:xfrm>
          <a:prstGeom prst="rect">
            <a:avLst/>
          </a:prstGeom>
          <a:noFill/>
        </p:spPr>
        <p:txBody>
          <a:bodyPr wrap="square">
            <a:normAutofit/>
          </a:bodyPr>
          <a:lstStyle/>
          <a:p>
            <a:pPr algn="l"/>
            <a:r>
              <a:rPr sz="1100" b="0" i="0">
                <a:solidFill>
                  <a:srgbClr val="000000"/>
                </a:solidFill>
                <a:latin typeface="Garamond"/>
              </a:rPr>
              <a:t>• Carrier ARPU growth driving ongoing network investment: US wireless ARPU growth creates carrier cash flow to fund tower amendme…</a:t>
            </a:r>
          </a:p>
        </p:txBody>
      </p:sp>
      <p:sp>
        <p:nvSpPr>
          <p:cNvPr id="32" name="Rectangle 31"/>
          <p:cNvSpPr/>
          <p:nvPr/>
        </p:nvSpPr>
        <p:spPr>
          <a:xfrm>
            <a:off x="640080" y="4005072"/>
            <a:ext cx="5486400" cy="42062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050791"/>
            <a:ext cx="5303520" cy="365760"/>
          </a:xfrm>
          <a:prstGeom prst="rect">
            <a:avLst/>
          </a:prstGeom>
          <a:noFill/>
        </p:spPr>
        <p:txBody>
          <a:bodyPr wrap="square">
            <a:normAutofit/>
          </a:bodyPr>
          <a:lstStyle/>
          <a:p>
            <a:pPr algn="l"/>
            <a:r>
              <a:rPr sz="1100" b="0" i="0">
                <a:solidFill>
                  <a:srgbClr val="000000"/>
                </a:solidFill>
                <a:latin typeface="Garamond"/>
              </a:rPr>
              <a:t>• Central America (Millicom acquisition): ~7,000 USD-denominated towers in markets with lower existing tower density and growing …</a:t>
            </a:r>
          </a:p>
        </p:txBody>
      </p:sp>
      <p:sp>
        <p:nvSpPr>
          <p:cNvPr id="34" name="TextBox 33"/>
          <p:cNvSpPr txBox="1"/>
          <p:nvPr/>
        </p:nvSpPr>
        <p:spPr>
          <a:xfrm>
            <a:off x="6263640" y="1883664"/>
            <a:ext cx="6199632" cy="237744"/>
          </a:xfrm>
          <a:prstGeom prst="rect">
            <a:avLst/>
          </a:prstGeom>
          <a:noFill/>
        </p:spPr>
        <p:txBody>
          <a:bodyPr wrap="square">
            <a:normAutofit/>
          </a:bodyPr>
          <a:lstStyle/>
          <a:p>
            <a:pPr algn="l"/>
            <a:r>
              <a:rPr sz="1400" b="1" i="0">
                <a:solidFill>
                  <a:srgbClr val="00ACB6"/>
                </a:solidFill>
                <a:latin typeface="Garamond"/>
              </a:rPr>
              <a:t>Structural Headwinds</a:t>
            </a:r>
          </a:p>
        </p:txBody>
      </p:sp>
      <p:sp>
        <p:nvSpPr>
          <p:cNvPr id="35" name="Rectangle 34"/>
          <p:cNvSpPr/>
          <p:nvPr/>
        </p:nvSpPr>
        <p:spPr>
          <a:xfrm>
            <a:off x="6263640" y="2121408"/>
            <a:ext cx="6199632"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63640" y="2176272"/>
            <a:ext cx="6199632" cy="42062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73368" y="2221991"/>
            <a:ext cx="5980176" cy="365760"/>
          </a:xfrm>
          <a:prstGeom prst="rect">
            <a:avLst/>
          </a:prstGeom>
          <a:noFill/>
        </p:spPr>
        <p:txBody>
          <a:bodyPr wrap="square">
            <a:normAutofit/>
          </a:bodyPr>
          <a:lstStyle/>
          <a:p>
            <a:pPr algn="l"/>
            <a:r>
              <a:rPr sz="1100" b="0" i="0">
                <a:solidFill>
                  <a:srgbClr val="000000"/>
                </a:solidFill>
                <a:latin typeface="Garamond"/>
              </a:rPr>
              <a:t>• Sprint/T-Mobile integration churn: contractually scheduled and declining ($51M 2025 → $8M 2029). Finite.</a:t>
            </a:r>
          </a:p>
        </p:txBody>
      </p:sp>
      <p:sp>
        <p:nvSpPr>
          <p:cNvPr id="38" name="Rectangle 37"/>
          <p:cNvSpPr/>
          <p:nvPr/>
        </p:nvSpPr>
        <p:spPr>
          <a:xfrm>
            <a:off x="6263640" y="2633472"/>
            <a:ext cx="6199632" cy="420624"/>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73368" y="2679191"/>
            <a:ext cx="5980176" cy="365760"/>
          </a:xfrm>
          <a:prstGeom prst="rect">
            <a:avLst/>
          </a:prstGeom>
          <a:noFill/>
        </p:spPr>
        <p:txBody>
          <a:bodyPr wrap="square">
            <a:normAutofit/>
          </a:bodyPr>
          <a:lstStyle/>
          <a:p>
            <a:pPr algn="l"/>
            <a:r>
              <a:rPr sz="1100" b="0" i="0">
                <a:solidFill>
                  <a:srgbClr val="000000"/>
                </a:solidFill>
                <a:latin typeface="Garamond"/>
              </a:rPr>
              <a:t>• DISH/EchoStar default: $55M revenue removed from 2026 guidance. Litigation recovery possible but not guaranteed.</a:t>
            </a:r>
          </a:p>
        </p:txBody>
      </p:sp>
      <p:sp>
        <p:nvSpPr>
          <p:cNvPr id="40" name="Rectangle 39"/>
          <p:cNvSpPr/>
          <p:nvPr/>
        </p:nvSpPr>
        <p:spPr>
          <a:xfrm>
            <a:off x="6263640" y="3090672"/>
            <a:ext cx="6199632" cy="42062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3368" y="3136391"/>
            <a:ext cx="5980176" cy="365760"/>
          </a:xfrm>
          <a:prstGeom prst="rect">
            <a:avLst/>
          </a:prstGeom>
          <a:noFill/>
        </p:spPr>
        <p:txBody>
          <a:bodyPr wrap="square">
            <a:normAutofit/>
          </a:bodyPr>
          <a:lstStyle/>
          <a:p>
            <a:pPr algn="l"/>
            <a:r>
              <a:rPr sz="1100" b="0" i="0">
                <a:solidFill>
                  <a:srgbClr val="000000"/>
                </a:solidFill>
                <a:latin typeface="Garamond"/>
              </a:rPr>
              <a:t>• T-Mobile MLA expiry Q4 2026: renegotiation uncertainty, though T-Mobile's strategic dependence on tower infrastructure for FWA …</a:t>
            </a:r>
          </a:p>
        </p:txBody>
      </p:sp>
      <p:sp>
        <p:nvSpPr>
          <p:cNvPr id="42" name="Rectangle 41"/>
          <p:cNvSpPr/>
          <p:nvPr/>
        </p:nvSpPr>
        <p:spPr>
          <a:xfrm>
            <a:off x="6263640" y="3547872"/>
            <a:ext cx="6199632" cy="420624"/>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73368" y="3593591"/>
            <a:ext cx="5980176" cy="365760"/>
          </a:xfrm>
          <a:prstGeom prst="rect">
            <a:avLst/>
          </a:prstGeom>
          <a:noFill/>
        </p:spPr>
        <p:txBody>
          <a:bodyPr wrap="square">
            <a:normAutofit/>
          </a:bodyPr>
          <a:lstStyle/>
          <a:p>
            <a:pPr algn="l"/>
            <a:r>
              <a:rPr sz="1100" b="0" i="0">
                <a:solidFill>
                  <a:srgbClr val="000000"/>
                </a:solidFill>
                <a:latin typeface="Garamond"/>
              </a:rPr>
              <a:t>• BRL/USD volatility: Brazil ~10% of revenue, unhedged. Selic at 14.75% provides currency support but EM FX can be volatile.</a:t>
            </a:r>
          </a:p>
        </p:txBody>
      </p:sp>
      <p:sp>
        <p:nvSpPr>
          <p:cNvPr id="44" name="Rectangle 43"/>
          <p:cNvSpPr/>
          <p:nvPr/>
        </p:nvSpPr>
        <p:spPr>
          <a:xfrm>
            <a:off x="6263640" y="4005072"/>
            <a:ext cx="6199632" cy="42062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4050791"/>
            <a:ext cx="5980176" cy="365760"/>
          </a:xfrm>
          <a:prstGeom prst="rect">
            <a:avLst/>
          </a:prstGeom>
          <a:noFill/>
        </p:spPr>
        <p:txBody>
          <a:bodyPr wrap="square">
            <a:normAutofit/>
          </a:bodyPr>
          <a:lstStyle/>
          <a:p>
            <a:pPr algn="l"/>
            <a:r>
              <a:rPr sz="1100" b="0" i="0">
                <a:solidFill>
                  <a:srgbClr val="000000"/>
                </a:solidFill>
                <a:latin typeface="Garamond"/>
              </a:rPr>
              <a:t>• Small cell competition for urban densification capex: carriers allocate some 5G densification spend to small cells in ultra-den…</a:t>
            </a:r>
          </a:p>
        </p:txBody>
      </p:sp>
      <p:sp>
        <p:nvSpPr>
          <p:cNvPr id="46" name="Rectangle 45"/>
          <p:cNvSpPr/>
          <p:nvPr/>
        </p:nvSpPr>
        <p:spPr>
          <a:xfrm>
            <a:off x="640080" y="4507992"/>
            <a:ext cx="11183112"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4572000"/>
            <a:ext cx="9144000" cy="256032"/>
          </a:xfrm>
          <a:prstGeom prst="rect">
            <a:avLst/>
          </a:prstGeom>
          <a:noFill/>
        </p:spPr>
        <p:txBody>
          <a:bodyPr wrap="square">
            <a:normAutofit/>
          </a:bodyPr>
          <a:lstStyle/>
          <a:p>
            <a:pPr algn="l"/>
            <a:r>
              <a:rPr sz="1000" b="1" i="0">
                <a:solidFill>
                  <a:srgbClr val="1C2C3A"/>
                </a:solidFill>
                <a:latin typeface="Garamond"/>
              </a:rPr>
              <a:t>Porter's Five Forces   (1 = favorable for incumbents  ·  5 = unfavorable)</a:t>
            </a:r>
          </a:p>
        </p:txBody>
      </p:sp>
      <p:sp>
        <p:nvSpPr>
          <p:cNvPr id="48" name="Rectangle 47"/>
          <p:cNvSpPr/>
          <p:nvPr/>
        </p:nvSpPr>
        <p:spPr>
          <a:xfrm>
            <a:off x="640080" y="4864608"/>
            <a:ext cx="2240280" cy="73152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 y="4892040"/>
            <a:ext cx="2240280" cy="219456"/>
          </a:xfrm>
          <a:prstGeom prst="rect">
            <a:avLst/>
          </a:prstGeom>
          <a:noFill/>
        </p:spPr>
        <p:txBody>
          <a:bodyPr wrap="square">
            <a:normAutofit/>
          </a:bodyPr>
          <a:lstStyle/>
          <a:p>
            <a:pPr algn="ctr"/>
            <a:r>
              <a:rPr sz="900" b="1" i="0">
                <a:solidFill>
                  <a:srgbClr val="595959"/>
                </a:solidFill>
                <a:latin typeface="Garamond"/>
              </a:rPr>
              <a:t>Rivalry</a:t>
            </a:r>
          </a:p>
        </p:txBody>
      </p:sp>
      <p:sp>
        <p:nvSpPr>
          <p:cNvPr id="50" name="Rectangle 49"/>
          <p:cNvSpPr/>
          <p:nvPr/>
        </p:nvSpPr>
        <p:spPr>
          <a:xfrm>
            <a:off x="1417319" y="5120640"/>
            <a:ext cx="658368" cy="274320"/>
          </a:xfrm>
          <a:prstGeom prst="rect">
            <a:avLst/>
          </a:prstGeom>
          <a:solidFill>
            <a:srgbClr val="00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17319" y="5138928"/>
            <a:ext cx="658368" cy="256032"/>
          </a:xfrm>
          <a:prstGeom prst="rect">
            <a:avLst/>
          </a:prstGeom>
          <a:noFill/>
        </p:spPr>
        <p:txBody>
          <a:bodyPr wrap="square">
            <a:normAutofit/>
          </a:bodyPr>
          <a:lstStyle/>
          <a:p>
            <a:pPr algn="ctr"/>
            <a:r>
              <a:rPr sz="1200" b="1" i="0">
                <a:solidFill>
                  <a:srgbClr val="FFFFFF"/>
                </a:solidFill>
                <a:latin typeface="Garamond"/>
              </a:rPr>
              <a:t>2</a:t>
            </a:r>
          </a:p>
        </p:txBody>
      </p:sp>
      <p:sp>
        <p:nvSpPr>
          <p:cNvPr id="52" name="Rectangle 51"/>
          <p:cNvSpPr/>
          <p:nvPr/>
        </p:nvSpPr>
        <p:spPr>
          <a:xfrm>
            <a:off x="2953512" y="4864608"/>
            <a:ext cx="2240280" cy="73152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953512" y="4892040"/>
            <a:ext cx="2240280" cy="219456"/>
          </a:xfrm>
          <a:prstGeom prst="rect">
            <a:avLst/>
          </a:prstGeom>
          <a:noFill/>
        </p:spPr>
        <p:txBody>
          <a:bodyPr wrap="square">
            <a:normAutofit/>
          </a:bodyPr>
          <a:lstStyle/>
          <a:p>
            <a:pPr algn="ctr"/>
            <a:r>
              <a:rPr sz="900" b="1" i="0">
                <a:solidFill>
                  <a:srgbClr val="595959"/>
                </a:solidFill>
                <a:latin typeface="Garamond"/>
              </a:rPr>
              <a:t>New Entrants</a:t>
            </a:r>
          </a:p>
        </p:txBody>
      </p:sp>
      <p:sp>
        <p:nvSpPr>
          <p:cNvPr id="54" name="Rectangle 53"/>
          <p:cNvSpPr/>
          <p:nvPr/>
        </p:nvSpPr>
        <p:spPr>
          <a:xfrm>
            <a:off x="3730752" y="5120640"/>
            <a:ext cx="658368" cy="274320"/>
          </a:xfrm>
          <a:prstGeom prst="rect">
            <a:avLst/>
          </a:prstGeom>
          <a:solidFill>
            <a:srgbClr val="00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730752" y="5138928"/>
            <a:ext cx="658368" cy="256032"/>
          </a:xfrm>
          <a:prstGeom prst="rect">
            <a:avLst/>
          </a:prstGeom>
          <a:noFill/>
        </p:spPr>
        <p:txBody>
          <a:bodyPr wrap="square">
            <a:normAutofit/>
          </a:bodyPr>
          <a:lstStyle/>
          <a:p>
            <a:pPr algn="ctr"/>
            <a:r>
              <a:rPr sz="1200" b="1" i="0">
                <a:solidFill>
                  <a:srgbClr val="FFFFFF"/>
                </a:solidFill>
                <a:latin typeface="Garamond"/>
              </a:rPr>
              <a:t>1</a:t>
            </a:r>
          </a:p>
        </p:txBody>
      </p:sp>
      <p:sp>
        <p:nvSpPr>
          <p:cNvPr id="56" name="Rectangle 55"/>
          <p:cNvSpPr/>
          <p:nvPr/>
        </p:nvSpPr>
        <p:spPr>
          <a:xfrm>
            <a:off x="5266944" y="4864608"/>
            <a:ext cx="2240280" cy="73152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266944" y="4892040"/>
            <a:ext cx="2240280" cy="219456"/>
          </a:xfrm>
          <a:prstGeom prst="rect">
            <a:avLst/>
          </a:prstGeom>
          <a:noFill/>
        </p:spPr>
        <p:txBody>
          <a:bodyPr wrap="square">
            <a:normAutofit/>
          </a:bodyPr>
          <a:lstStyle/>
          <a:p>
            <a:pPr algn="ctr"/>
            <a:r>
              <a:rPr sz="900" b="1" i="0">
                <a:solidFill>
                  <a:srgbClr val="595959"/>
                </a:solidFill>
                <a:latin typeface="Garamond"/>
              </a:rPr>
              <a:t>Buyer Power</a:t>
            </a:r>
          </a:p>
        </p:txBody>
      </p:sp>
      <p:sp>
        <p:nvSpPr>
          <p:cNvPr id="58" name="Rectangle 57"/>
          <p:cNvSpPr/>
          <p:nvPr/>
        </p:nvSpPr>
        <p:spPr>
          <a:xfrm>
            <a:off x="6044184" y="5120640"/>
            <a:ext cx="658368" cy="27432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044184" y="5138928"/>
            <a:ext cx="658368" cy="256032"/>
          </a:xfrm>
          <a:prstGeom prst="rect">
            <a:avLst/>
          </a:prstGeom>
          <a:noFill/>
        </p:spPr>
        <p:txBody>
          <a:bodyPr wrap="square">
            <a:normAutofit/>
          </a:bodyPr>
          <a:lstStyle/>
          <a:p>
            <a:pPr algn="ctr"/>
            <a:r>
              <a:rPr sz="1200" b="1" i="0">
                <a:solidFill>
                  <a:srgbClr val="FFFFFF"/>
                </a:solidFill>
                <a:latin typeface="Garamond"/>
              </a:rPr>
              <a:t>3</a:t>
            </a:r>
          </a:p>
        </p:txBody>
      </p:sp>
      <p:sp>
        <p:nvSpPr>
          <p:cNvPr id="60" name="Rectangle 59"/>
          <p:cNvSpPr/>
          <p:nvPr/>
        </p:nvSpPr>
        <p:spPr>
          <a:xfrm>
            <a:off x="7580376" y="4864608"/>
            <a:ext cx="2240280" cy="73152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0376" y="4892040"/>
            <a:ext cx="2240280" cy="219456"/>
          </a:xfrm>
          <a:prstGeom prst="rect">
            <a:avLst/>
          </a:prstGeom>
          <a:noFill/>
        </p:spPr>
        <p:txBody>
          <a:bodyPr wrap="square">
            <a:normAutofit/>
          </a:bodyPr>
          <a:lstStyle/>
          <a:p>
            <a:pPr algn="ctr"/>
            <a:r>
              <a:rPr sz="900" b="1" i="0">
                <a:solidFill>
                  <a:srgbClr val="595959"/>
                </a:solidFill>
                <a:latin typeface="Garamond"/>
              </a:rPr>
              <a:t>Supplier Power</a:t>
            </a:r>
          </a:p>
        </p:txBody>
      </p:sp>
      <p:sp>
        <p:nvSpPr>
          <p:cNvPr id="62" name="Rectangle 61"/>
          <p:cNvSpPr/>
          <p:nvPr/>
        </p:nvSpPr>
        <p:spPr>
          <a:xfrm>
            <a:off x="8357616" y="5120640"/>
            <a:ext cx="658368" cy="274320"/>
          </a:xfrm>
          <a:prstGeom prst="rect">
            <a:avLst/>
          </a:prstGeom>
          <a:solidFill>
            <a:srgbClr val="00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57616" y="5138928"/>
            <a:ext cx="658368" cy="256032"/>
          </a:xfrm>
          <a:prstGeom prst="rect">
            <a:avLst/>
          </a:prstGeom>
          <a:noFill/>
        </p:spPr>
        <p:txBody>
          <a:bodyPr wrap="square">
            <a:normAutofit/>
          </a:bodyPr>
          <a:lstStyle/>
          <a:p>
            <a:pPr algn="ctr"/>
            <a:r>
              <a:rPr sz="1200" b="1" i="0">
                <a:solidFill>
                  <a:srgbClr val="FFFFFF"/>
                </a:solidFill>
                <a:latin typeface="Garamond"/>
              </a:rPr>
              <a:t>2</a:t>
            </a:r>
          </a:p>
        </p:txBody>
      </p:sp>
      <p:sp>
        <p:nvSpPr>
          <p:cNvPr id="64" name="Rectangle 63"/>
          <p:cNvSpPr/>
          <p:nvPr/>
        </p:nvSpPr>
        <p:spPr>
          <a:xfrm>
            <a:off x="9893808" y="4864608"/>
            <a:ext cx="2240280" cy="73152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893808" y="4892040"/>
            <a:ext cx="2240280" cy="219456"/>
          </a:xfrm>
          <a:prstGeom prst="rect">
            <a:avLst/>
          </a:prstGeom>
          <a:noFill/>
        </p:spPr>
        <p:txBody>
          <a:bodyPr wrap="square">
            <a:normAutofit/>
          </a:bodyPr>
          <a:lstStyle/>
          <a:p>
            <a:pPr algn="ctr"/>
            <a:r>
              <a:rPr sz="900" b="1" i="0">
                <a:solidFill>
                  <a:srgbClr val="595959"/>
                </a:solidFill>
                <a:latin typeface="Garamond"/>
              </a:rPr>
              <a:t>Substitutes</a:t>
            </a:r>
          </a:p>
        </p:txBody>
      </p:sp>
      <p:sp>
        <p:nvSpPr>
          <p:cNvPr id="66" name="Rectangle 65"/>
          <p:cNvSpPr/>
          <p:nvPr/>
        </p:nvSpPr>
        <p:spPr>
          <a:xfrm>
            <a:off x="10671048" y="5120640"/>
            <a:ext cx="658368" cy="27432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71048" y="5138928"/>
            <a:ext cx="658368" cy="256032"/>
          </a:xfrm>
          <a:prstGeom prst="rect">
            <a:avLst/>
          </a:prstGeom>
          <a:noFill/>
        </p:spPr>
        <p:txBody>
          <a:bodyPr wrap="square">
            <a:normAutofit/>
          </a:bodyPr>
          <a:lstStyle/>
          <a:p>
            <a:pPr algn="ctr"/>
            <a:r>
              <a:rPr sz="1200" b="1" i="0">
                <a:solidFill>
                  <a:srgbClr val="FFFFFF"/>
                </a:solidFill>
                <a:latin typeface="Garamond"/>
              </a:rPr>
              <a:t>3</a:t>
            </a:r>
          </a:p>
        </p:txBody>
      </p:sp>
      <p:sp>
        <p:nvSpPr>
          <p:cNvPr id="68" name="TextBox 67"/>
          <p:cNvSpPr txBox="1"/>
          <p:nvPr/>
        </p:nvSpPr>
        <p:spPr>
          <a:xfrm>
            <a:off x="640080" y="5669280"/>
            <a:ext cx="11183112" cy="475488"/>
          </a:xfrm>
          <a:prstGeom prst="rect">
            <a:avLst/>
          </a:prstGeom>
          <a:noFill/>
        </p:spPr>
        <p:txBody>
          <a:bodyPr wrap="square">
            <a:normAutofit/>
          </a:bodyPr>
          <a:lstStyle/>
          <a:p>
            <a:pPr algn="l"/>
            <a:r>
              <a:rPr sz="900" b="0" i="1">
                <a:solidFill>
                  <a:srgbClr val="595959"/>
                </a:solidFill>
                <a:latin typeface="Garamond"/>
              </a:rPr>
              <a:t>Wireless tower leasing is a structurally wide-moat industry with near-impenetrable entry barriers, rational oligopoly pricing, 10-year contracted revenue streams, and legally-mandated demand catalysts (Brazil 5G) crea…</a:t>
            </a:r>
          </a:p>
        </p:txBody>
      </p:sp>
      <p:sp>
        <p:nvSpPr>
          <p:cNvPr id="69" name="TextBox 68"/>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Market View vs. Our View</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CapIQ, Analyst Research, Bloomberg, SEC Filings</a:t>
            </a:r>
          </a:p>
        </p:txBody>
      </p:sp>
      <p:sp>
        <p:nvSpPr>
          <p:cNvPr id="5" name="Rectangle 4"/>
          <p:cNvSpPr/>
          <p:nvPr/>
        </p:nvSpPr>
        <p:spPr>
          <a:xfrm>
            <a:off x="640080" y="749808"/>
            <a:ext cx="11183112" cy="365760"/>
          </a:xfrm>
          <a:prstGeom prst="rect">
            <a:avLst/>
          </a:prstGeom>
          <a:solidFill>
            <a:srgbClr val="EA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04672"/>
            <a:ext cx="10972800" cy="274320"/>
          </a:xfrm>
          <a:prstGeom prst="rect">
            <a:avLst/>
          </a:prstGeom>
          <a:noFill/>
        </p:spPr>
        <p:txBody>
          <a:bodyPr wrap="square">
            <a:normAutofit/>
          </a:bodyPr>
          <a:lstStyle/>
          <a:p>
            <a:pPr algn="ctr"/>
            <a:r>
              <a:rPr sz="1100" b="1" i="0">
                <a:solidFill>
                  <a:srgbClr val="1C2C3A"/>
                </a:solidFill>
                <a:latin typeface="Garamond"/>
              </a:rPr>
              <a:t>The market misprices this name by applying the wrong analogy — our thesis exploits that gap.</a:t>
            </a:r>
          </a:p>
        </p:txBody>
      </p:sp>
      <p:sp>
        <p:nvSpPr>
          <p:cNvPr id="7" name="TextBox 6"/>
          <p:cNvSpPr txBox="1"/>
          <p:nvPr/>
        </p:nvSpPr>
        <p:spPr>
          <a:xfrm>
            <a:off x="640080" y="1133856"/>
            <a:ext cx="5504688" cy="274320"/>
          </a:xfrm>
          <a:prstGeom prst="rect">
            <a:avLst/>
          </a:prstGeom>
          <a:noFill/>
        </p:spPr>
        <p:txBody>
          <a:bodyPr wrap="square">
            <a:normAutofit/>
          </a:bodyPr>
          <a:lstStyle/>
          <a:p>
            <a:pPr algn="l"/>
            <a:r>
              <a:rPr sz="1400" b="1" i="0">
                <a:solidFill>
                  <a:srgbClr val="1C2C39"/>
                </a:solidFill>
                <a:latin typeface="Garamond"/>
              </a:rPr>
              <a:t>Market View / Street Concern</a:t>
            </a:r>
          </a:p>
        </p:txBody>
      </p:sp>
      <p:sp>
        <p:nvSpPr>
          <p:cNvPr id="8" name="Rectangle 7"/>
          <p:cNvSpPr/>
          <p:nvPr/>
        </p:nvSpPr>
        <p:spPr>
          <a:xfrm>
            <a:off x="640080" y="1389888"/>
            <a:ext cx="5504688"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1133856"/>
            <a:ext cx="5504688" cy="274320"/>
          </a:xfrm>
          <a:prstGeom prst="rect">
            <a:avLst/>
          </a:prstGeom>
          <a:noFill/>
        </p:spPr>
        <p:txBody>
          <a:bodyPr wrap="square">
            <a:normAutofit/>
          </a:bodyPr>
          <a:lstStyle/>
          <a:p>
            <a:pPr algn="l"/>
            <a:r>
              <a:rPr sz="1400" b="1" i="0">
                <a:solidFill>
                  <a:srgbClr val="00ACB6"/>
                </a:solidFill>
                <a:latin typeface="Garamond"/>
              </a:rPr>
              <a:t>Our View</a:t>
            </a:r>
          </a:p>
        </p:txBody>
      </p:sp>
      <p:sp>
        <p:nvSpPr>
          <p:cNvPr id="10" name="Rectangle 9"/>
          <p:cNvSpPr/>
          <p:nvPr/>
        </p:nvSpPr>
        <p:spPr>
          <a:xfrm>
            <a:off x="6382512" y="1389888"/>
            <a:ext cx="5504688"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481328"/>
            <a:ext cx="5504688" cy="2180844"/>
          </a:xfrm>
          <a:prstGeom prst="rect">
            <a:avLst/>
          </a:prstGeom>
          <a:solidFill>
            <a:srgbClr val="FA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481328"/>
            <a:ext cx="54864" cy="2180844"/>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536192"/>
            <a:ext cx="5321807" cy="237744"/>
          </a:xfrm>
          <a:prstGeom prst="rect">
            <a:avLst/>
          </a:prstGeom>
          <a:noFill/>
        </p:spPr>
        <p:txBody>
          <a:bodyPr wrap="square">
            <a:normAutofit/>
          </a:bodyPr>
          <a:lstStyle/>
          <a:p>
            <a:pPr algn="l"/>
            <a:r>
              <a:rPr sz="1000" b="1" i="0">
                <a:solidFill>
                  <a:srgbClr val="1C2C3A"/>
                </a:solidFill>
                <a:latin typeface="Garamond"/>
              </a:rPr>
              <a:t>Barclays / sell-side consensus:</a:t>
            </a:r>
          </a:p>
        </p:txBody>
      </p:sp>
      <p:sp>
        <p:nvSpPr>
          <p:cNvPr id="14" name="TextBox 13"/>
          <p:cNvSpPr txBox="1"/>
          <p:nvPr/>
        </p:nvSpPr>
        <p:spPr>
          <a:xfrm>
            <a:off x="749808" y="1792224"/>
            <a:ext cx="5303520" cy="1815084"/>
          </a:xfrm>
          <a:prstGeom prst="rect">
            <a:avLst/>
          </a:prstGeom>
          <a:noFill/>
        </p:spPr>
        <p:txBody>
          <a:bodyPr wrap="square">
            <a:normAutofit/>
          </a:bodyPr>
          <a:lstStyle/>
          <a:p>
            <a:pPr algn="l"/>
            <a:r>
              <a:rPr sz="1100" b="0" i="1">
                <a:solidFill>
                  <a:srgbClr val="000000"/>
                </a:solidFill>
                <a:latin typeface="Garamond"/>
              </a:rPr>
              <a:t>2026 is the AFFO/share trough (~6% decline YoY). DISH churn of $55M stripped from guidance represents a permanent revenue loss with no recovery path. Sprint churn extends well beyond 2027. Brazil 5G is a multi-year story with limited near-term cash flow impact.</a:t>
            </a:r>
          </a:p>
        </p:txBody>
      </p:sp>
      <p:sp>
        <p:nvSpPr>
          <p:cNvPr id="15" name="Rectangle 14"/>
          <p:cNvSpPr/>
          <p:nvPr/>
        </p:nvSpPr>
        <p:spPr>
          <a:xfrm>
            <a:off x="6382512" y="1481328"/>
            <a:ext cx="5504688" cy="2180844"/>
          </a:xfrm>
          <a:prstGeom prst="rect">
            <a:avLst/>
          </a:prstGeom>
          <a:solidFill>
            <a:srgbClr val="F0FB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82512" y="1481328"/>
            <a:ext cx="54864" cy="2180844"/>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536192"/>
            <a:ext cx="5321807" cy="237744"/>
          </a:xfrm>
          <a:prstGeom prst="rect">
            <a:avLst/>
          </a:prstGeom>
          <a:noFill/>
        </p:spPr>
        <p:txBody>
          <a:bodyPr wrap="square">
            <a:normAutofit/>
          </a:bodyPr>
          <a:lstStyle/>
          <a:p>
            <a:pPr algn="l"/>
            <a:r>
              <a:rPr sz="1000" b="1" i="0">
                <a:solidFill>
                  <a:srgbClr val="00ACB6"/>
                </a:solidFill>
                <a:latin typeface="Garamond"/>
              </a:rPr>
              <a:t>Our View:</a:t>
            </a:r>
          </a:p>
        </p:txBody>
      </p:sp>
      <p:sp>
        <p:nvSpPr>
          <p:cNvPr id="18" name="TextBox 17"/>
          <p:cNvSpPr txBox="1"/>
          <p:nvPr/>
        </p:nvSpPr>
        <p:spPr>
          <a:xfrm>
            <a:off x="6492240" y="1792224"/>
            <a:ext cx="5303520" cy="1815084"/>
          </a:xfrm>
          <a:prstGeom prst="rect">
            <a:avLst/>
          </a:prstGeom>
          <a:noFill/>
        </p:spPr>
        <p:txBody>
          <a:bodyPr wrap="square">
            <a:normAutofit/>
          </a:bodyPr>
          <a:lstStyle/>
          <a:p>
            <a:pPr algn="l"/>
            <a:r>
              <a:rPr sz="1100" b="0" i="0">
                <a:solidFill>
                  <a:srgbClr val="000000"/>
                </a:solidFill>
                <a:latin typeface="Garamond"/>
              </a:rPr>
              <a:t>Sprint churn is explicitly contracted and declining: $55M (2026E) → $18M (2027E) → $8M (2029E). This is not an estimate — it is a disclosed schedule. DISH litigation creates asymmetric upside not in any model. Brazil mandatory build deadlines are legally binding — July 2026 cities alone represent…</a:t>
            </a:r>
          </a:p>
        </p:txBody>
      </p:sp>
      <p:sp>
        <p:nvSpPr>
          <p:cNvPr id="19" name="Rectangle 18"/>
          <p:cNvSpPr/>
          <p:nvPr/>
        </p:nvSpPr>
        <p:spPr>
          <a:xfrm>
            <a:off x="640080" y="3735324"/>
            <a:ext cx="5504688" cy="2180844"/>
          </a:xfrm>
          <a:prstGeom prst="rect">
            <a:avLst/>
          </a:prstGeom>
          <a:solidFill>
            <a:srgbClr val="F5F1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735324"/>
            <a:ext cx="54864" cy="2180844"/>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3790187"/>
            <a:ext cx="5321807" cy="237744"/>
          </a:xfrm>
          <a:prstGeom prst="rect">
            <a:avLst/>
          </a:prstGeom>
          <a:noFill/>
        </p:spPr>
        <p:txBody>
          <a:bodyPr wrap="square">
            <a:normAutofit/>
          </a:bodyPr>
          <a:lstStyle/>
          <a:p>
            <a:pPr algn="l"/>
            <a:r>
              <a:rPr sz="1000" b="1" i="0">
                <a:solidFill>
                  <a:srgbClr val="1C2C3A"/>
                </a:solidFill>
                <a:latin typeface="Garamond"/>
              </a:rPr>
              <a:t>Implied market pricing at 14x P/AFFO:</a:t>
            </a:r>
          </a:p>
        </p:txBody>
      </p:sp>
      <p:sp>
        <p:nvSpPr>
          <p:cNvPr id="22" name="TextBox 21"/>
          <p:cNvSpPr txBox="1"/>
          <p:nvPr/>
        </p:nvSpPr>
        <p:spPr>
          <a:xfrm>
            <a:off x="749808" y="4046220"/>
            <a:ext cx="5303520" cy="1815084"/>
          </a:xfrm>
          <a:prstGeom prst="rect">
            <a:avLst/>
          </a:prstGeom>
          <a:noFill/>
        </p:spPr>
        <p:txBody>
          <a:bodyPr wrap="square">
            <a:normAutofit/>
          </a:bodyPr>
          <a:lstStyle/>
          <a:p>
            <a:pPr algn="l"/>
            <a:r>
              <a:rPr sz="1100" b="0" i="1">
                <a:solidFill>
                  <a:srgbClr val="000000"/>
                </a:solidFill>
                <a:latin typeface="Garamond"/>
              </a:rPr>
              <a:t>At 14x 2025 P/AFFO, the market is pricing near the bottom of SBAC's 13-23x historical range, implying ongoing growth concerns and no premium for the AFFO compounding track record.</a:t>
            </a:r>
          </a:p>
        </p:txBody>
      </p:sp>
      <p:sp>
        <p:nvSpPr>
          <p:cNvPr id="23" name="Rectangle 22"/>
          <p:cNvSpPr/>
          <p:nvPr/>
        </p:nvSpPr>
        <p:spPr>
          <a:xfrm>
            <a:off x="6382512" y="3735324"/>
            <a:ext cx="5504688" cy="2180844"/>
          </a:xfrm>
          <a:prstGeom prst="rect">
            <a:avLst/>
          </a:prstGeom>
          <a:solidFill>
            <a:srgbClr val="E8F8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82512" y="3735324"/>
            <a:ext cx="54864" cy="2180844"/>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3790187"/>
            <a:ext cx="5321807" cy="237744"/>
          </a:xfrm>
          <a:prstGeom prst="rect">
            <a:avLst/>
          </a:prstGeom>
          <a:noFill/>
        </p:spPr>
        <p:txBody>
          <a:bodyPr wrap="square">
            <a:normAutofit/>
          </a:bodyPr>
          <a:lstStyle/>
          <a:p>
            <a:pPr algn="l"/>
            <a:r>
              <a:rPr sz="1000" b="1" i="0">
                <a:solidFill>
                  <a:srgbClr val="00ACB6"/>
                </a:solidFill>
                <a:latin typeface="Garamond"/>
              </a:rPr>
              <a:t>Our View:</a:t>
            </a:r>
          </a:p>
        </p:txBody>
      </p:sp>
      <p:sp>
        <p:nvSpPr>
          <p:cNvPr id="26" name="TextBox 25"/>
          <p:cNvSpPr txBox="1"/>
          <p:nvPr/>
        </p:nvSpPr>
        <p:spPr>
          <a:xfrm>
            <a:off x="6492240" y="4046220"/>
            <a:ext cx="5303520" cy="1815084"/>
          </a:xfrm>
          <a:prstGeom prst="rect">
            <a:avLst/>
          </a:prstGeom>
          <a:noFill/>
        </p:spPr>
        <p:txBody>
          <a:bodyPr wrap="square">
            <a:normAutofit/>
          </a:bodyPr>
          <a:lstStyle/>
          <a:p>
            <a:pPr algn="l"/>
            <a:r>
              <a:rPr sz="1100" b="0" i="0">
                <a:solidFill>
                  <a:srgbClr val="000000"/>
                </a:solidFill>
                <a:latin typeface="Garamond"/>
              </a:rPr>
              <a:t>14x is appropriate for a business in structural decline. SBAC's core gross organic is running at 5.8% — this is not a declining business. The churn headwind is finite. A business with a 7-8% AFFO/share CAGR over 7 years and a mandatory 5G growth catalyst in its largest international market deserv…</a:t>
            </a:r>
          </a:p>
        </p:txBody>
      </p:sp>
      <p:sp>
        <p:nvSpPr>
          <p:cNvPr id="27" name="Rectangle 26"/>
          <p:cNvSpPr/>
          <p:nvPr/>
        </p:nvSpPr>
        <p:spPr>
          <a:xfrm>
            <a:off x="640080" y="6035040"/>
            <a:ext cx="11183112" cy="45720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71616"/>
            <a:ext cx="10972800" cy="365760"/>
          </a:xfrm>
          <a:prstGeom prst="rect">
            <a:avLst/>
          </a:prstGeom>
          <a:noFill/>
        </p:spPr>
        <p:txBody>
          <a:bodyPr wrap="square">
            <a:normAutofit/>
          </a:bodyPr>
          <a:lstStyle/>
          <a:p>
            <a:pPr algn="ctr"/>
            <a:r>
              <a:rPr sz="1100" b="1" i="0">
                <a:solidFill>
                  <a:srgbClr val="FFFFFF"/>
                </a:solidFill>
                <a:latin typeface="Garamond"/>
              </a:rPr>
              <a:t>The market is pricing SBAC as if Sprint/DISH churn is structural impairment. It is finite, declining, and nearly over. As churn sunsets in 2027 and Brazil's mandatory 5G deadlines force carrier spending, SBAC's pure-play tower …</a:t>
            </a:r>
          </a:p>
        </p:txBody>
      </p:sp>
      <p:sp>
        <p:nvSpPr>
          <p:cNvPr id="29" name="TextBox 28"/>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Valuation</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CapIQ, LSEG, DCF Analysis, Comparable Company Analysis</a:t>
            </a:r>
          </a:p>
        </p:txBody>
      </p:sp>
      <p:sp>
        <p:nvSpPr>
          <p:cNvPr id="5" name="Rectangle 4"/>
          <p:cNvSpPr/>
          <p:nvPr/>
        </p:nvSpPr>
        <p:spPr>
          <a:xfrm>
            <a:off x="640080" y="749808"/>
            <a:ext cx="3566160" cy="310896"/>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786384"/>
            <a:ext cx="3566160" cy="237744"/>
          </a:xfrm>
          <a:prstGeom prst="rect">
            <a:avLst/>
          </a:prstGeom>
          <a:noFill/>
        </p:spPr>
        <p:txBody>
          <a:bodyPr wrap="square">
            <a:normAutofit/>
          </a:bodyPr>
          <a:lstStyle/>
          <a:p>
            <a:pPr algn="ctr"/>
            <a:r>
              <a:rPr sz="1100" b="1" i="0">
                <a:solidFill>
                  <a:srgbClr val="FFFFFF"/>
                </a:solidFill>
                <a:latin typeface="Garamond"/>
              </a:rPr>
              <a:t>BEAR  (20%)</a:t>
            </a:r>
          </a:p>
        </p:txBody>
      </p:sp>
      <p:sp>
        <p:nvSpPr>
          <p:cNvPr id="7" name="Rectangle 6"/>
          <p:cNvSpPr/>
          <p:nvPr/>
        </p:nvSpPr>
        <p:spPr>
          <a:xfrm>
            <a:off x="640080" y="1078992"/>
            <a:ext cx="3566160" cy="8046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15568"/>
            <a:ext cx="3566160" cy="493776"/>
          </a:xfrm>
          <a:prstGeom prst="rect">
            <a:avLst/>
          </a:prstGeom>
          <a:noFill/>
        </p:spPr>
        <p:txBody>
          <a:bodyPr wrap="square">
            <a:normAutofit/>
          </a:bodyPr>
          <a:lstStyle/>
          <a:p>
            <a:pPr algn="ctr"/>
            <a:r>
              <a:rPr sz="2800" b="1" i="0">
                <a:solidFill>
                  <a:srgbClr val="C00000"/>
                </a:solidFill>
                <a:latin typeface="Garamond"/>
              </a:rPr>
              <a:t>See Note</a:t>
            </a:r>
          </a:p>
        </p:txBody>
      </p:sp>
      <p:sp>
        <p:nvSpPr>
          <p:cNvPr id="9" name="TextBox 8"/>
          <p:cNvSpPr txBox="1"/>
          <p:nvPr/>
        </p:nvSpPr>
        <p:spPr>
          <a:xfrm>
            <a:off x="640080" y="1572768"/>
            <a:ext cx="3566160" cy="201168"/>
          </a:xfrm>
          <a:prstGeom prst="rect">
            <a:avLst/>
          </a:prstGeom>
          <a:noFill/>
        </p:spPr>
        <p:txBody>
          <a:bodyPr wrap="square">
            <a:normAutofit/>
          </a:bodyPr>
          <a:lstStyle/>
          <a:p>
            <a:pPr algn="ctr"/>
            <a:r>
              <a:rPr sz="900" b="0" i="0">
                <a:solidFill>
                  <a:srgbClr val="595959"/>
                </a:solidFill>
                <a:latin typeface="Garamond"/>
              </a:rPr>
              <a:t/>
            </a:r>
          </a:p>
        </p:txBody>
      </p:sp>
      <p:sp>
        <p:nvSpPr>
          <p:cNvPr id="10" name="Rectangle 9"/>
          <p:cNvSpPr/>
          <p:nvPr/>
        </p:nvSpPr>
        <p:spPr>
          <a:xfrm>
            <a:off x="4352544" y="749808"/>
            <a:ext cx="3566160" cy="31089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52544" y="786384"/>
            <a:ext cx="3566160" cy="237744"/>
          </a:xfrm>
          <a:prstGeom prst="rect">
            <a:avLst/>
          </a:prstGeom>
          <a:noFill/>
        </p:spPr>
        <p:txBody>
          <a:bodyPr wrap="square">
            <a:normAutofit/>
          </a:bodyPr>
          <a:lstStyle/>
          <a:p>
            <a:pPr algn="ctr"/>
            <a:r>
              <a:rPr sz="1100" b="1" i="0">
                <a:solidFill>
                  <a:srgbClr val="FFFFFF"/>
                </a:solidFill>
                <a:latin typeface="Garamond"/>
              </a:rPr>
              <a:t>BASE  (50%)</a:t>
            </a:r>
          </a:p>
        </p:txBody>
      </p:sp>
      <p:sp>
        <p:nvSpPr>
          <p:cNvPr id="12" name="Rectangle 11"/>
          <p:cNvSpPr/>
          <p:nvPr/>
        </p:nvSpPr>
        <p:spPr>
          <a:xfrm>
            <a:off x="4352544" y="1078992"/>
            <a:ext cx="3566160" cy="8046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115568"/>
            <a:ext cx="3566160" cy="493776"/>
          </a:xfrm>
          <a:prstGeom prst="rect">
            <a:avLst/>
          </a:prstGeom>
          <a:noFill/>
        </p:spPr>
        <p:txBody>
          <a:bodyPr wrap="square">
            <a:normAutofit/>
          </a:bodyPr>
          <a:lstStyle/>
          <a:p>
            <a:pPr algn="ctr"/>
            <a:r>
              <a:rPr sz="2800" b="1" i="0">
                <a:solidFill>
                  <a:srgbClr val="1C2C39"/>
                </a:solidFill>
                <a:latin typeface="Garamond"/>
              </a:rPr>
              <a:t>$191.81</a:t>
            </a:r>
          </a:p>
        </p:txBody>
      </p:sp>
      <p:sp>
        <p:nvSpPr>
          <p:cNvPr id="14" name="TextBox 13"/>
          <p:cNvSpPr txBox="1"/>
          <p:nvPr/>
        </p:nvSpPr>
        <p:spPr>
          <a:xfrm>
            <a:off x="4352544" y="1572768"/>
            <a:ext cx="3566160" cy="201168"/>
          </a:xfrm>
          <a:prstGeom prst="rect">
            <a:avLst/>
          </a:prstGeom>
          <a:noFill/>
        </p:spPr>
        <p:txBody>
          <a:bodyPr wrap="square">
            <a:normAutofit/>
          </a:bodyPr>
          <a:lstStyle/>
          <a:p>
            <a:pPr algn="ctr"/>
            <a:r>
              <a:rPr sz="900" b="0" i="0">
                <a:solidFill>
                  <a:srgbClr val="595959"/>
                </a:solidFill>
                <a:latin typeface="Garamond"/>
              </a:rPr>
              <a:t>TV: 83% of EV  |  EV: $32.5B</a:t>
            </a:r>
          </a:p>
        </p:txBody>
      </p:sp>
      <p:sp>
        <p:nvSpPr>
          <p:cNvPr id="15" name="Rectangle 14"/>
          <p:cNvSpPr/>
          <p:nvPr/>
        </p:nvSpPr>
        <p:spPr>
          <a:xfrm>
            <a:off x="8065008" y="749808"/>
            <a:ext cx="3566160" cy="310896"/>
          </a:xfrm>
          <a:prstGeom prst="rect">
            <a:avLst/>
          </a:prstGeom>
          <a:solidFill>
            <a:srgbClr val="00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65008" y="786384"/>
            <a:ext cx="3566160" cy="237744"/>
          </a:xfrm>
          <a:prstGeom prst="rect">
            <a:avLst/>
          </a:prstGeom>
          <a:noFill/>
        </p:spPr>
        <p:txBody>
          <a:bodyPr wrap="square">
            <a:normAutofit/>
          </a:bodyPr>
          <a:lstStyle/>
          <a:p>
            <a:pPr algn="ctr"/>
            <a:r>
              <a:rPr sz="1100" b="1" i="0">
                <a:solidFill>
                  <a:srgbClr val="FFFFFF"/>
                </a:solidFill>
                <a:latin typeface="Garamond"/>
              </a:rPr>
              <a:t>BULL  (30%)</a:t>
            </a:r>
          </a:p>
        </p:txBody>
      </p:sp>
      <p:sp>
        <p:nvSpPr>
          <p:cNvPr id="17" name="Rectangle 16"/>
          <p:cNvSpPr/>
          <p:nvPr/>
        </p:nvSpPr>
        <p:spPr>
          <a:xfrm>
            <a:off x="8065008" y="1078992"/>
            <a:ext cx="3566160" cy="8046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65008" y="1115568"/>
            <a:ext cx="3566160" cy="493776"/>
          </a:xfrm>
          <a:prstGeom prst="rect">
            <a:avLst/>
          </a:prstGeom>
          <a:noFill/>
        </p:spPr>
        <p:txBody>
          <a:bodyPr wrap="square">
            <a:normAutofit/>
          </a:bodyPr>
          <a:lstStyle/>
          <a:p>
            <a:pPr algn="ctr"/>
            <a:r>
              <a:rPr sz="2800" b="1" i="0">
                <a:solidFill>
                  <a:srgbClr val="00AF50"/>
                </a:solidFill>
                <a:latin typeface="Garamond"/>
              </a:rPr>
              <a:t>See Note</a:t>
            </a:r>
          </a:p>
        </p:txBody>
      </p:sp>
      <p:sp>
        <p:nvSpPr>
          <p:cNvPr id="19" name="TextBox 18"/>
          <p:cNvSpPr txBox="1"/>
          <p:nvPr/>
        </p:nvSpPr>
        <p:spPr>
          <a:xfrm>
            <a:off x="8065008" y="1572768"/>
            <a:ext cx="3566160" cy="201168"/>
          </a:xfrm>
          <a:prstGeom prst="rect">
            <a:avLst/>
          </a:prstGeom>
          <a:noFill/>
        </p:spPr>
        <p:txBody>
          <a:bodyPr wrap="square">
            <a:normAutofit/>
          </a:bodyPr>
          <a:lstStyle/>
          <a:p>
            <a:pPr algn="ctr"/>
            <a:r>
              <a:rPr sz="900" b="0" i="0">
                <a:solidFill>
                  <a:srgbClr val="595959"/>
                </a:solidFill>
                <a:latin typeface="Garamond"/>
              </a:rPr>
              <a:t/>
            </a:r>
          </a:p>
        </p:txBody>
      </p:sp>
      <p:sp>
        <p:nvSpPr>
          <p:cNvPr id="20" name="TextBox 19"/>
          <p:cNvSpPr txBox="1"/>
          <p:nvPr/>
        </p:nvSpPr>
        <p:spPr>
          <a:xfrm>
            <a:off x="640080" y="1810512"/>
            <a:ext cx="11183112" cy="201168"/>
          </a:xfrm>
          <a:prstGeom prst="rect">
            <a:avLst/>
          </a:prstGeom>
          <a:noFill/>
        </p:spPr>
        <p:txBody>
          <a:bodyPr wrap="square">
            <a:normAutofit/>
          </a:bodyPr>
          <a:lstStyle/>
          <a:p>
            <a:pPr algn="ctr"/>
            <a:r>
              <a:rPr sz="900" b="0" i="0">
                <a:solidFill>
                  <a:srgbClr val="595959"/>
                </a:solidFill>
                <a:latin typeface="Garamond"/>
              </a:rPr>
              <a:t>WACC: 6.7%  ·  Rf: 4.25%  ·  β: 0.83</a:t>
            </a:r>
          </a:p>
        </p:txBody>
      </p:sp>
      <p:sp>
        <p:nvSpPr>
          <p:cNvPr id="21" name="Rectangle 20"/>
          <p:cNvSpPr/>
          <p:nvPr/>
        </p:nvSpPr>
        <p:spPr>
          <a:xfrm>
            <a:off x="640080" y="2048256"/>
            <a:ext cx="11183112"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103120"/>
            <a:ext cx="6858000" cy="237744"/>
          </a:xfrm>
          <a:prstGeom prst="rect">
            <a:avLst/>
          </a:prstGeom>
          <a:noFill/>
        </p:spPr>
        <p:txBody>
          <a:bodyPr wrap="square">
            <a:normAutofit/>
          </a:bodyPr>
          <a:lstStyle/>
          <a:p>
            <a:pPr algn="l"/>
            <a:r>
              <a:rPr sz="1400" b="1" i="0">
                <a:solidFill>
                  <a:srgbClr val="1C2C39"/>
                </a:solidFill>
                <a:latin typeface="Garamond"/>
              </a:rPr>
              <a:t>DCF Model — Year-by-Year  (Base Case)</a:t>
            </a:r>
          </a:p>
        </p:txBody>
      </p:sp>
      <p:sp>
        <p:nvSpPr>
          <p:cNvPr id="23" name="Rectangle 22"/>
          <p:cNvSpPr/>
          <p:nvPr/>
        </p:nvSpPr>
        <p:spPr>
          <a:xfrm>
            <a:off x="640080" y="2340863"/>
            <a:ext cx="6858000"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4" name="Table 23"/>
          <p:cNvGraphicFramePr>
            <a:graphicFrameLocks noGrp="1"/>
          </p:cNvGraphicFramePr>
          <p:nvPr/>
        </p:nvGraphicFramePr>
        <p:xfrm>
          <a:off x="640080" y="2377440"/>
          <a:ext cx="6857997" cy="2194560"/>
        </p:xfrm>
        <a:graphic>
          <a:graphicData uri="http://schemas.openxmlformats.org/drawingml/2006/table">
            <a:tbl>
              <a:tblPr firstRow="1" bandRow="1">
                <a:tableStyleId>{5C22544A-7EE6-4342-B048-85BDC9FD1C3A}</a:tableStyleId>
              </a:tblPr>
              <a:tblGrid>
                <a:gridCol w="738553"/>
                <a:gridCol w="1371600"/>
                <a:gridCol w="1160584"/>
                <a:gridCol w="1371600"/>
                <a:gridCol w="1160584"/>
                <a:gridCol w="1055076"/>
              </a:tblGrid>
              <a:tr h="313508">
                <a:tc>
                  <a:txBody>
                    <a:bodyPr/>
                    <a:lstStyle/>
                    <a:p>
                      <a:pPr algn="ctr"/>
                      <a:r>
                        <a:rPr sz="900" b="1">
                          <a:solidFill>
                            <a:srgbClr val="FFFFFF"/>
                          </a:solidFill>
                          <a:latin typeface="Garamond"/>
                        </a:rPr>
                        <a:t>Year</a:t>
                      </a:r>
                    </a:p>
                  </a:txBody>
                  <a:tcPr>
                    <a:solidFill>
                      <a:srgbClr val="1C2C39"/>
                    </a:solidFill>
                  </a:tcPr>
                </a:tc>
                <a:tc>
                  <a:txBody>
                    <a:bodyPr/>
                    <a:lstStyle/>
                    <a:p>
                      <a:pPr algn="ctr"/>
                      <a:r>
                        <a:rPr sz="900" b="1">
                          <a:solidFill>
                            <a:srgbClr val="FFFFFF"/>
                          </a:solidFill>
                          <a:latin typeface="Garamond"/>
                        </a:rPr>
                        <a:t>Revenue ($M)</a:t>
                      </a:r>
                    </a:p>
                  </a:txBody>
                  <a:tcPr>
                    <a:solidFill>
                      <a:srgbClr val="1C2C39"/>
                    </a:solidFill>
                  </a:tcPr>
                </a:tc>
                <a:tc>
                  <a:txBody>
                    <a:bodyPr/>
                    <a:lstStyle/>
                    <a:p>
                      <a:pPr algn="ctr"/>
                      <a:r>
                        <a:rPr sz="900" b="1">
                          <a:solidFill>
                            <a:srgbClr val="FFFFFF"/>
                          </a:solidFill>
                          <a:latin typeface="Garamond"/>
                        </a:rPr>
                        <a:t>EBITDA Mgn</a:t>
                      </a:r>
                    </a:p>
                  </a:txBody>
                  <a:tcPr>
                    <a:solidFill>
                      <a:srgbClr val="1C2C39"/>
                    </a:solidFill>
                  </a:tcPr>
                </a:tc>
                <a:tc>
                  <a:txBody>
                    <a:bodyPr/>
                    <a:lstStyle/>
                    <a:p>
                      <a:pPr algn="ctr"/>
                      <a:r>
                        <a:rPr sz="900" b="1">
                          <a:solidFill>
                            <a:srgbClr val="FFFFFF"/>
                          </a:solidFill>
                          <a:latin typeface="Garamond"/>
                        </a:rPr>
                        <a:t>EBITDA ($M)</a:t>
                      </a:r>
                    </a:p>
                  </a:txBody>
                  <a:tcPr>
                    <a:solidFill>
                      <a:srgbClr val="1C2C39"/>
                    </a:solidFill>
                  </a:tcPr>
                </a:tc>
                <a:tc>
                  <a:txBody>
                    <a:bodyPr/>
                    <a:lstStyle/>
                    <a:p>
                      <a:pPr algn="ctr"/>
                      <a:r>
                        <a:rPr sz="900" b="1">
                          <a:solidFill>
                            <a:srgbClr val="FFFFFF"/>
                          </a:solidFill>
                          <a:latin typeface="Garamond"/>
                        </a:rPr>
                        <a:t>FCF ($M)</a:t>
                      </a:r>
                    </a:p>
                  </a:txBody>
                  <a:tcPr>
                    <a:solidFill>
                      <a:srgbClr val="1C2C39"/>
                    </a:solidFill>
                  </a:tcPr>
                </a:tc>
                <a:tc>
                  <a:txBody>
                    <a:bodyPr/>
                    <a:lstStyle/>
                    <a:p>
                      <a:pPr algn="ctr"/>
                      <a:r>
                        <a:rPr sz="900" b="1">
                          <a:solidFill>
                            <a:srgbClr val="FFFFFF"/>
                          </a:solidFill>
                          <a:latin typeface="Garamond"/>
                        </a:rPr>
                        <a:t>PV FCF ($M)</a:t>
                      </a:r>
                    </a:p>
                  </a:txBody>
                  <a:tcPr>
                    <a:solidFill>
                      <a:srgbClr val="1C2C39"/>
                    </a:solidFill>
                  </a:tcPr>
                </a:tc>
              </a:tr>
              <a:tr h="313508">
                <a:tc>
                  <a:txBody>
                    <a:bodyPr/>
                    <a:lstStyle/>
                    <a:p>
                      <a:pPr algn="ctr"/>
                      <a:r>
                        <a:rPr sz="900" b="0">
                          <a:solidFill>
                            <a:srgbClr val="000000"/>
                          </a:solidFill>
                          <a:latin typeface="Garamond"/>
                        </a:rPr>
                        <a:t>Yr 1</a:t>
                      </a:r>
                    </a:p>
                  </a:txBody>
                  <a:tcPr>
                    <a:solidFill>
                      <a:srgbClr val="FFFFFF"/>
                    </a:solidFill>
                  </a:tcPr>
                </a:tc>
                <a:tc>
                  <a:txBody>
                    <a:bodyPr/>
                    <a:lstStyle/>
                    <a:p>
                      <a:pPr algn="r"/>
                      <a:r>
                        <a:rPr sz="900" b="0">
                          <a:solidFill>
                            <a:srgbClr val="000000"/>
                          </a:solidFill>
                          <a:latin typeface="Garamond"/>
                        </a:rPr>
                        <a:t>$2,760</a:t>
                      </a:r>
                    </a:p>
                  </a:txBody>
                  <a:tcPr>
                    <a:solidFill>
                      <a:srgbClr val="FFFFFF"/>
                    </a:solidFill>
                  </a:tcPr>
                </a:tc>
                <a:tc>
                  <a:txBody>
                    <a:bodyPr/>
                    <a:lstStyle/>
                    <a:p>
                      <a:pPr algn="ctr"/>
                      <a:r>
                        <a:rPr sz="900" b="0">
                          <a:solidFill>
                            <a:srgbClr val="000000"/>
                          </a:solidFill>
                          <a:latin typeface="Garamond"/>
                        </a:rPr>
                        <a:t>45.5%</a:t>
                      </a:r>
                    </a:p>
                  </a:txBody>
                  <a:tcPr>
                    <a:solidFill>
                      <a:srgbClr val="FFFFFF"/>
                    </a:solidFill>
                  </a:tcPr>
                </a:tc>
                <a:tc>
                  <a:txBody>
                    <a:bodyPr/>
                    <a:lstStyle/>
                    <a:p>
                      <a:pPr algn="r"/>
                      <a:r>
                        <a:rPr sz="900" b="0">
                          <a:solidFill>
                            <a:srgbClr val="000000"/>
                          </a:solidFill>
                          <a:latin typeface="Garamond"/>
                        </a:rPr>
                        <a:t>$1,874</a:t>
                      </a:r>
                    </a:p>
                  </a:txBody>
                  <a:tcPr>
                    <a:solidFill>
                      <a:srgbClr val="FFFFFF"/>
                    </a:solidFill>
                  </a:tcPr>
                </a:tc>
                <a:tc>
                  <a:txBody>
                    <a:bodyPr/>
                    <a:lstStyle/>
                    <a:p>
                      <a:pPr algn="r"/>
                      <a:r>
                        <a:rPr sz="900" b="0">
                          <a:solidFill>
                            <a:srgbClr val="000000"/>
                          </a:solidFill>
                          <a:latin typeface="Garamond"/>
                        </a:rPr>
                        <a:t>$1,223</a:t>
                      </a:r>
                    </a:p>
                  </a:txBody>
                  <a:tcPr>
                    <a:solidFill>
                      <a:srgbClr val="FFFFFF"/>
                    </a:solidFill>
                  </a:tcPr>
                </a:tc>
                <a:tc>
                  <a:txBody>
                    <a:bodyPr/>
                    <a:lstStyle/>
                    <a:p>
                      <a:pPr algn="r"/>
                      <a:r>
                        <a:rPr sz="900" b="0">
                          <a:solidFill>
                            <a:srgbClr val="000000"/>
                          </a:solidFill>
                          <a:latin typeface="Garamond"/>
                        </a:rPr>
                        <a:t>$1,145</a:t>
                      </a:r>
                    </a:p>
                  </a:txBody>
                  <a:tcPr>
                    <a:solidFill>
                      <a:srgbClr val="FFFFFF"/>
                    </a:solidFill>
                  </a:tcPr>
                </a:tc>
              </a:tr>
              <a:tr h="313508">
                <a:tc>
                  <a:txBody>
                    <a:bodyPr/>
                    <a:lstStyle/>
                    <a:p>
                      <a:pPr algn="ctr"/>
                      <a:r>
                        <a:rPr sz="900" b="0">
                          <a:solidFill>
                            <a:srgbClr val="000000"/>
                          </a:solidFill>
                          <a:latin typeface="Garamond"/>
                        </a:rPr>
                        <a:t>Yr 2</a:t>
                      </a:r>
                    </a:p>
                  </a:txBody>
                  <a:tcPr>
                    <a:solidFill>
                      <a:srgbClr val="EFEFEF"/>
                    </a:solidFill>
                  </a:tcPr>
                </a:tc>
                <a:tc>
                  <a:txBody>
                    <a:bodyPr/>
                    <a:lstStyle/>
                    <a:p>
                      <a:pPr algn="r"/>
                      <a:r>
                        <a:rPr sz="900" b="0">
                          <a:solidFill>
                            <a:srgbClr val="000000"/>
                          </a:solidFill>
                          <a:latin typeface="Garamond"/>
                        </a:rPr>
                        <a:t>$2,898</a:t>
                      </a:r>
                    </a:p>
                  </a:txBody>
                  <a:tcPr>
                    <a:solidFill>
                      <a:srgbClr val="EFEFEF"/>
                    </a:solidFill>
                  </a:tcPr>
                </a:tc>
                <a:tc>
                  <a:txBody>
                    <a:bodyPr/>
                    <a:lstStyle/>
                    <a:p>
                      <a:pPr algn="ctr"/>
                      <a:r>
                        <a:rPr sz="900" b="0">
                          <a:solidFill>
                            <a:srgbClr val="000000"/>
                          </a:solidFill>
                          <a:latin typeface="Garamond"/>
                        </a:rPr>
                        <a:t>47.5%</a:t>
                      </a:r>
                    </a:p>
                  </a:txBody>
                  <a:tcPr>
                    <a:solidFill>
                      <a:srgbClr val="EFEFEF"/>
                    </a:solidFill>
                  </a:tcPr>
                </a:tc>
                <a:tc>
                  <a:txBody>
                    <a:bodyPr/>
                    <a:lstStyle/>
                    <a:p>
                      <a:pPr algn="r"/>
                      <a:r>
                        <a:rPr sz="900" b="0">
                          <a:solidFill>
                            <a:srgbClr val="000000"/>
                          </a:solidFill>
                          <a:latin typeface="Garamond"/>
                        </a:rPr>
                        <a:t>$1,950</a:t>
                      </a:r>
                    </a:p>
                  </a:txBody>
                  <a:tcPr>
                    <a:solidFill>
                      <a:srgbClr val="EFEFEF"/>
                    </a:solidFill>
                  </a:tcPr>
                </a:tc>
                <a:tc>
                  <a:txBody>
                    <a:bodyPr/>
                    <a:lstStyle/>
                    <a:p>
                      <a:pPr algn="r"/>
                      <a:r>
                        <a:rPr sz="900" b="0">
                          <a:solidFill>
                            <a:srgbClr val="000000"/>
                          </a:solidFill>
                          <a:latin typeface="Garamond"/>
                        </a:rPr>
                        <a:t>$1,288</a:t>
                      </a:r>
                    </a:p>
                  </a:txBody>
                  <a:tcPr>
                    <a:solidFill>
                      <a:srgbClr val="EFEFEF"/>
                    </a:solidFill>
                  </a:tcPr>
                </a:tc>
                <a:tc>
                  <a:txBody>
                    <a:bodyPr/>
                    <a:lstStyle/>
                    <a:p>
                      <a:pPr algn="r"/>
                      <a:r>
                        <a:rPr sz="900" b="0">
                          <a:solidFill>
                            <a:srgbClr val="000000"/>
                          </a:solidFill>
                          <a:latin typeface="Garamond"/>
                        </a:rPr>
                        <a:t>$1,128</a:t>
                      </a:r>
                    </a:p>
                  </a:txBody>
                  <a:tcPr>
                    <a:solidFill>
                      <a:srgbClr val="EFEFEF"/>
                    </a:solidFill>
                  </a:tcPr>
                </a:tc>
              </a:tr>
              <a:tr h="313508">
                <a:tc>
                  <a:txBody>
                    <a:bodyPr/>
                    <a:lstStyle/>
                    <a:p>
                      <a:pPr algn="ctr"/>
                      <a:r>
                        <a:rPr sz="900" b="0">
                          <a:solidFill>
                            <a:srgbClr val="000000"/>
                          </a:solidFill>
                          <a:latin typeface="Garamond"/>
                        </a:rPr>
                        <a:t>Yr 3</a:t>
                      </a:r>
                    </a:p>
                  </a:txBody>
                  <a:tcPr>
                    <a:solidFill>
                      <a:srgbClr val="FFFFFF"/>
                    </a:solidFill>
                  </a:tcPr>
                </a:tc>
                <a:tc>
                  <a:txBody>
                    <a:bodyPr/>
                    <a:lstStyle/>
                    <a:p>
                      <a:pPr algn="r"/>
                      <a:r>
                        <a:rPr sz="900" b="0">
                          <a:solidFill>
                            <a:srgbClr val="000000"/>
                          </a:solidFill>
                          <a:latin typeface="Garamond"/>
                        </a:rPr>
                        <a:t>$3,058</a:t>
                      </a:r>
                    </a:p>
                  </a:txBody>
                  <a:tcPr>
                    <a:solidFill>
                      <a:srgbClr val="FFFFFF"/>
                    </a:solidFill>
                  </a:tcPr>
                </a:tc>
                <a:tc>
                  <a:txBody>
                    <a:bodyPr/>
                    <a:lstStyle/>
                    <a:p>
                      <a:pPr algn="ctr"/>
                      <a:r>
                        <a:rPr sz="900" b="0">
                          <a:solidFill>
                            <a:srgbClr val="000000"/>
                          </a:solidFill>
                          <a:latin typeface="Garamond"/>
                        </a:rPr>
                        <a:t>48.2%</a:t>
                      </a:r>
                    </a:p>
                  </a:txBody>
                  <a:tcPr>
                    <a:solidFill>
                      <a:srgbClr val="FFFFFF"/>
                    </a:solidFill>
                  </a:tcPr>
                </a:tc>
                <a:tc>
                  <a:txBody>
                    <a:bodyPr/>
                    <a:lstStyle/>
                    <a:p>
                      <a:pPr algn="r"/>
                      <a:r>
                        <a:rPr sz="900" b="0">
                          <a:solidFill>
                            <a:srgbClr val="000000"/>
                          </a:solidFill>
                          <a:latin typeface="Garamond"/>
                        </a:rPr>
                        <a:t>$2,069</a:t>
                      </a:r>
                    </a:p>
                  </a:txBody>
                  <a:tcPr>
                    <a:solidFill>
                      <a:srgbClr val="FFFFFF"/>
                    </a:solidFill>
                  </a:tcPr>
                </a:tc>
                <a:tc>
                  <a:txBody>
                    <a:bodyPr/>
                    <a:lstStyle/>
                    <a:p>
                      <a:pPr algn="r"/>
                      <a:r>
                        <a:rPr sz="900" b="0">
                          <a:solidFill>
                            <a:srgbClr val="000000"/>
                          </a:solidFill>
                          <a:latin typeface="Garamond"/>
                        </a:rPr>
                        <a:t>$1,375</a:t>
                      </a:r>
                    </a:p>
                  </a:txBody>
                  <a:tcPr>
                    <a:solidFill>
                      <a:srgbClr val="FFFFFF"/>
                    </a:solidFill>
                  </a:tcPr>
                </a:tc>
                <a:tc>
                  <a:txBody>
                    <a:bodyPr/>
                    <a:lstStyle/>
                    <a:p>
                      <a:pPr algn="r"/>
                      <a:r>
                        <a:rPr sz="900" b="0">
                          <a:solidFill>
                            <a:srgbClr val="000000"/>
                          </a:solidFill>
                          <a:latin typeface="Garamond"/>
                        </a:rPr>
                        <a:t>$1,124</a:t>
                      </a:r>
                    </a:p>
                  </a:txBody>
                  <a:tcPr>
                    <a:solidFill>
                      <a:srgbClr val="FFFFFF"/>
                    </a:solidFill>
                  </a:tcPr>
                </a:tc>
              </a:tr>
              <a:tr h="313508">
                <a:tc>
                  <a:txBody>
                    <a:bodyPr/>
                    <a:lstStyle/>
                    <a:p>
                      <a:pPr algn="ctr"/>
                      <a:r>
                        <a:rPr sz="900" b="0">
                          <a:solidFill>
                            <a:srgbClr val="000000"/>
                          </a:solidFill>
                          <a:latin typeface="Garamond"/>
                        </a:rPr>
                        <a:t>Yr 4</a:t>
                      </a:r>
                    </a:p>
                  </a:txBody>
                  <a:tcPr>
                    <a:solidFill>
                      <a:srgbClr val="EFEFEF"/>
                    </a:solidFill>
                  </a:tcPr>
                </a:tc>
                <a:tc>
                  <a:txBody>
                    <a:bodyPr/>
                    <a:lstStyle/>
                    <a:p>
                      <a:pPr algn="r"/>
                      <a:r>
                        <a:rPr sz="900" b="0">
                          <a:solidFill>
                            <a:srgbClr val="000000"/>
                          </a:solidFill>
                          <a:latin typeface="Garamond"/>
                        </a:rPr>
                        <a:t>$3,231</a:t>
                      </a:r>
                    </a:p>
                  </a:txBody>
                  <a:tcPr>
                    <a:solidFill>
                      <a:srgbClr val="EFEFEF"/>
                    </a:solidFill>
                  </a:tcPr>
                </a:tc>
                <a:tc>
                  <a:txBody>
                    <a:bodyPr/>
                    <a:lstStyle/>
                    <a:p>
                      <a:pPr algn="ctr"/>
                      <a:r>
                        <a:rPr sz="900" b="0">
                          <a:solidFill>
                            <a:srgbClr val="000000"/>
                          </a:solidFill>
                          <a:latin typeface="Garamond"/>
                        </a:rPr>
                        <a:t>48.8%</a:t>
                      </a:r>
                    </a:p>
                  </a:txBody>
                  <a:tcPr>
                    <a:solidFill>
                      <a:srgbClr val="EFEFEF"/>
                    </a:solidFill>
                  </a:tcPr>
                </a:tc>
                <a:tc>
                  <a:txBody>
                    <a:bodyPr/>
                    <a:lstStyle/>
                    <a:p>
                      <a:pPr algn="r"/>
                      <a:r>
                        <a:rPr sz="900" b="0">
                          <a:solidFill>
                            <a:srgbClr val="000000"/>
                          </a:solidFill>
                          <a:latin typeface="Garamond"/>
                        </a:rPr>
                        <a:t>$2,206</a:t>
                      </a:r>
                    </a:p>
                  </a:txBody>
                  <a:tcPr>
                    <a:solidFill>
                      <a:srgbClr val="EFEFEF"/>
                    </a:solidFill>
                  </a:tcPr>
                </a:tc>
                <a:tc>
                  <a:txBody>
                    <a:bodyPr/>
                    <a:lstStyle/>
                    <a:p>
                      <a:pPr algn="r"/>
                      <a:r>
                        <a:rPr sz="900" b="0">
                          <a:solidFill>
                            <a:srgbClr val="000000"/>
                          </a:solidFill>
                          <a:latin typeface="Garamond"/>
                        </a:rPr>
                        <a:t>$1,468</a:t>
                      </a:r>
                    </a:p>
                  </a:txBody>
                  <a:tcPr>
                    <a:solidFill>
                      <a:srgbClr val="EFEFEF"/>
                    </a:solidFill>
                  </a:tcPr>
                </a:tc>
                <a:tc>
                  <a:txBody>
                    <a:bodyPr/>
                    <a:lstStyle/>
                    <a:p>
                      <a:pPr algn="r"/>
                      <a:r>
                        <a:rPr sz="900" b="0">
                          <a:solidFill>
                            <a:srgbClr val="000000"/>
                          </a:solidFill>
                          <a:latin typeface="Garamond"/>
                        </a:rPr>
                        <a:t>$1,120</a:t>
                      </a:r>
                    </a:p>
                  </a:txBody>
                  <a:tcPr>
                    <a:solidFill>
                      <a:srgbClr val="EFEFEF"/>
                    </a:solidFill>
                  </a:tcPr>
                </a:tc>
              </a:tr>
              <a:tr h="313508">
                <a:tc>
                  <a:txBody>
                    <a:bodyPr/>
                    <a:lstStyle/>
                    <a:p>
                      <a:pPr algn="ctr"/>
                      <a:r>
                        <a:rPr sz="900" b="0">
                          <a:solidFill>
                            <a:srgbClr val="000000"/>
                          </a:solidFill>
                          <a:latin typeface="Garamond"/>
                        </a:rPr>
                        <a:t>Yr 5</a:t>
                      </a:r>
                    </a:p>
                  </a:txBody>
                  <a:tcPr>
                    <a:solidFill>
                      <a:srgbClr val="FFFFFF"/>
                    </a:solidFill>
                  </a:tcPr>
                </a:tc>
                <a:tc>
                  <a:txBody>
                    <a:bodyPr/>
                    <a:lstStyle/>
                    <a:p>
                      <a:pPr algn="r"/>
                      <a:r>
                        <a:rPr sz="900" b="0">
                          <a:solidFill>
                            <a:srgbClr val="000000"/>
                          </a:solidFill>
                          <a:latin typeface="Garamond"/>
                        </a:rPr>
                        <a:t>$3,393</a:t>
                      </a:r>
                    </a:p>
                  </a:txBody>
                  <a:tcPr>
                    <a:solidFill>
                      <a:srgbClr val="FFFFFF"/>
                    </a:solidFill>
                  </a:tcPr>
                </a:tc>
                <a:tc>
                  <a:txBody>
                    <a:bodyPr/>
                    <a:lstStyle/>
                    <a:p>
                      <a:pPr algn="ctr"/>
                      <a:r>
                        <a:rPr sz="900" b="0">
                          <a:solidFill>
                            <a:srgbClr val="000000"/>
                          </a:solidFill>
                          <a:latin typeface="Garamond"/>
                        </a:rPr>
                        <a:t>49.0%</a:t>
                      </a:r>
                    </a:p>
                  </a:txBody>
                  <a:tcPr>
                    <a:solidFill>
                      <a:srgbClr val="FFFFFF"/>
                    </a:solidFill>
                  </a:tcPr>
                </a:tc>
                <a:tc>
                  <a:txBody>
                    <a:bodyPr/>
                    <a:lstStyle/>
                    <a:p>
                      <a:pPr algn="r"/>
                      <a:r>
                        <a:rPr sz="900" b="0">
                          <a:solidFill>
                            <a:srgbClr val="000000"/>
                          </a:solidFill>
                          <a:latin typeface="Garamond"/>
                        </a:rPr>
                        <a:t>$2,320</a:t>
                      </a:r>
                    </a:p>
                  </a:txBody>
                  <a:tcPr>
                    <a:solidFill>
                      <a:srgbClr val="FFFFFF"/>
                    </a:solidFill>
                  </a:tcPr>
                </a:tc>
                <a:tc>
                  <a:txBody>
                    <a:bodyPr/>
                    <a:lstStyle/>
                    <a:p>
                      <a:pPr algn="r"/>
                      <a:r>
                        <a:rPr sz="900" b="0">
                          <a:solidFill>
                            <a:srgbClr val="000000"/>
                          </a:solidFill>
                          <a:latin typeface="Garamond"/>
                        </a:rPr>
                        <a:t>$1,544</a:t>
                      </a:r>
                    </a:p>
                  </a:txBody>
                  <a:tcPr>
                    <a:solidFill>
                      <a:srgbClr val="FFFFFF"/>
                    </a:solidFill>
                  </a:tcPr>
                </a:tc>
                <a:tc>
                  <a:txBody>
                    <a:bodyPr/>
                    <a:lstStyle/>
                    <a:p>
                      <a:pPr algn="r"/>
                      <a:r>
                        <a:rPr sz="900" b="0">
                          <a:solidFill>
                            <a:srgbClr val="000000"/>
                          </a:solidFill>
                          <a:latin typeface="Garamond"/>
                        </a:rPr>
                        <a:t>$1,098</a:t>
                      </a:r>
                    </a:p>
                  </a:txBody>
                  <a:tcPr>
                    <a:solidFill>
                      <a:srgbClr val="FFFFFF"/>
                    </a:solidFill>
                  </a:tcPr>
                </a:tc>
              </a:tr>
              <a:tr h="313512">
                <a:tc>
                  <a:txBody>
                    <a:bodyPr/>
                    <a:lstStyle/>
                    <a:p>
                      <a:pPr algn="ctr"/>
                      <a:r>
                        <a:rPr sz="900" b="1">
                          <a:solidFill>
                            <a:srgbClr val="000000"/>
                          </a:solidFill>
                          <a:latin typeface="Garamond"/>
                        </a:rPr>
                        <a:t>TOTAL</a:t>
                      </a:r>
                    </a:p>
                  </a:txBody>
                  <a:tcPr>
                    <a:solidFill>
                      <a:srgbClr val="EFEFEF"/>
                    </a:solidFill>
                  </a:tcPr>
                </a:tc>
                <a:tc>
                  <a:txBody>
                    <a:bodyPr/>
                    <a:lstStyle/>
                    <a:p>
                      <a:pPr algn="r"/>
                      <a:r>
                        <a:rPr sz="900" b="1">
                          <a:solidFill>
                            <a:srgbClr val="000000"/>
                          </a:solidFill>
                          <a:latin typeface="Garamond"/>
                        </a:rPr>
                        <a:t/>
                      </a:r>
                    </a:p>
                  </a:txBody>
                  <a:tcPr>
                    <a:solidFill>
                      <a:srgbClr val="EFEFEF"/>
                    </a:solidFill>
                  </a:tcPr>
                </a:tc>
                <a:tc>
                  <a:txBody>
                    <a:bodyPr/>
                    <a:lstStyle/>
                    <a:p>
                      <a:pPr algn="ctr"/>
                      <a:r>
                        <a:rPr sz="900" b="1">
                          <a:solidFill>
                            <a:srgbClr val="000000"/>
                          </a:solidFill>
                          <a:latin typeface="Garamond"/>
                        </a:rPr>
                        <a:t/>
                      </a:r>
                    </a:p>
                  </a:txBody>
                  <a:tcPr>
                    <a:solidFill>
                      <a:srgbClr val="EFEFEF"/>
                    </a:solidFill>
                  </a:tcPr>
                </a:tc>
                <a:tc>
                  <a:txBody>
                    <a:bodyPr/>
                    <a:lstStyle/>
                    <a:p>
                      <a:pPr algn="r"/>
                      <a:r>
                        <a:rPr sz="900" b="1">
                          <a:solidFill>
                            <a:srgbClr val="000000"/>
                          </a:solidFill>
                          <a:latin typeface="Garamond"/>
                        </a:rPr>
                        <a:t/>
                      </a:r>
                    </a:p>
                  </a:txBody>
                  <a:tcPr>
                    <a:solidFill>
                      <a:srgbClr val="EFEFEF"/>
                    </a:solidFill>
                  </a:tcPr>
                </a:tc>
                <a:tc>
                  <a:txBody>
                    <a:bodyPr/>
                    <a:lstStyle/>
                    <a:p>
                      <a:pPr algn="r"/>
                      <a:r>
                        <a:rPr sz="900" b="1">
                          <a:solidFill>
                            <a:srgbClr val="000000"/>
                          </a:solidFill>
                          <a:latin typeface="Garamond"/>
                        </a:rPr>
                        <a:t>$5,616</a:t>
                      </a:r>
                    </a:p>
                  </a:txBody>
                  <a:tcPr>
                    <a:solidFill>
                      <a:srgbClr val="EFEFEF"/>
                    </a:solidFill>
                  </a:tcPr>
                </a:tc>
                <a:tc>
                  <a:txBody>
                    <a:bodyPr/>
                    <a:lstStyle/>
                    <a:p>
                      <a:pPr algn="r"/>
                      <a:r>
                        <a:rPr sz="900" b="1">
                          <a:solidFill>
                            <a:srgbClr val="000000"/>
                          </a:solidFill>
                          <a:latin typeface="Garamond"/>
                        </a:rPr>
                        <a:t>PV TV: $26,900</a:t>
                      </a:r>
                    </a:p>
                  </a:txBody>
                  <a:tcPr>
                    <a:solidFill>
                      <a:srgbClr val="EFEFEF"/>
                    </a:solidFill>
                  </a:tcPr>
                </a:tc>
              </a:tr>
            </a:tbl>
          </a:graphicData>
        </a:graphic>
      </p:graphicFrame>
      <p:sp>
        <p:nvSpPr>
          <p:cNvPr id="25" name="TextBox 24"/>
          <p:cNvSpPr txBox="1"/>
          <p:nvPr/>
        </p:nvSpPr>
        <p:spPr>
          <a:xfrm>
            <a:off x="640080" y="4626864"/>
            <a:ext cx="6858000" cy="237744"/>
          </a:xfrm>
          <a:prstGeom prst="rect">
            <a:avLst/>
          </a:prstGeom>
          <a:noFill/>
        </p:spPr>
        <p:txBody>
          <a:bodyPr wrap="square">
            <a:normAutofit/>
          </a:bodyPr>
          <a:lstStyle/>
          <a:p>
            <a:pPr algn="l"/>
            <a:r>
              <a:rPr sz="900" b="0" i="0">
                <a:solidFill>
                  <a:srgbClr val="595959"/>
                </a:solidFill>
                <a:latin typeface="Garamond"/>
              </a:rPr>
              <a:t>EV: $32.5B  →  Net Debt: ($11.8B)  →  Equity Value: $20.7B  →  Shares: 108M  →  Implied Price: $191.81</a:t>
            </a:r>
          </a:p>
        </p:txBody>
      </p:sp>
      <p:graphicFrame>
        <p:nvGraphicFramePr>
          <p:cNvPr id="26" name="Table 25"/>
          <p:cNvGraphicFramePr>
            <a:graphicFrameLocks noGrp="1"/>
          </p:cNvGraphicFramePr>
          <p:nvPr/>
        </p:nvGraphicFramePr>
        <p:xfrm>
          <a:off x="640080" y="4901184"/>
          <a:ext cx="6857997" cy="1051560"/>
        </p:xfrm>
        <a:graphic>
          <a:graphicData uri="http://schemas.openxmlformats.org/drawingml/2006/table">
            <a:tbl>
              <a:tblPr firstRow="1" bandRow="1">
                <a:tableStyleId>{5C22544A-7EE6-4342-B048-85BDC9FD1C3A}</a:tableStyleId>
              </a:tblPr>
              <a:tblGrid>
                <a:gridCol w="1055076"/>
                <a:gridCol w="1582615"/>
                <a:gridCol w="1582615"/>
                <a:gridCol w="1582615"/>
                <a:gridCol w="1055076"/>
              </a:tblGrid>
              <a:tr h="262890">
                <a:tc>
                  <a:txBody>
                    <a:bodyPr/>
                    <a:lstStyle/>
                    <a:p>
                      <a:pPr algn="ctr"/>
                      <a:r>
                        <a:rPr sz="900" b="1">
                          <a:solidFill>
                            <a:srgbClr val="FFFFFF"/>
                          </a:solidFill>
                          <a:latin typeface="Garamond"/>
                        </a:rPr>
                        <a:t>Scenario</a:t>
                      </a:r>
                    </a:p>
                  </a:txBody>
                  <a:tcPr>
                    <a:solidFill>
                      <a:srgbClr val="1C2C39"/>
                    </a:solidFill>
                  </a:tcPr>
                </a:tc>
                <a:tc>
                  <a:txBody>
                    <a:bodyPr/>
                    <a:lstStyle/>
                    <a:p>
                      <a:pPr algn="ctr"/>
                      <a:r>
                        <a:rPr sz="900" b="1">
                          <a:solidFill>
                            <a:srgbClr val="FFFFFF"/>
                          </a:solidFill>
                          <a:latin typeface="Garamond"/>
                        </a:rPr>
                        <a:t>EV</a:t>
                      </a:r>
                    </a:p>
                  </a:txBody>
                  <a:tcPr>
                    <a:solidFill>
                      <a:srgbClr val="1C2C39"/>
                    </a:solidFill>
                  </a:tcPr>
                </a:tc>
                <a:tc>
                  <a:txBody>
                    <a:bodyPr/>
                    <a:lstStyle/>
                    <a:p>
                      <a:pPr algn="ctr"/>
                      <a:r>
                        <a:rPr sz="900" b="1">
                          <a:solidFill>
                            <a:srgbClr val="FFFFFF"/>
                          </a:solidFill>
                          <a:latin typeface="Garamond"/>
                        </a:rPr>
                        <a:t>Implied Price</a:t>
                      </a:r>
                    </a:p>
                  </a:txBody>
                  <a:tcPr>
                    <a:solidFill>
                      <a:srgbClr val="1C2C39"/>
                    </a:solidFill>
                  </a:tcPr>
                </a:tc>
                <a:tc>
                  <a:txBody>
                    <a:bodyPr/>
                    <a:lstStyle/>
                    <a:p>
                      <a:pPr algn="ctr"/>
                      <a:r>
                        <a:rPr sz="900" b="1">
                          <a:solidFill>
                            <a:srgbClr val="FFFFFF"/>
                          </a:solidFill>
                          <a:latin typeface="Garamond"/>
                        </a:rPr>
                        <a:t>Upside/Down</a:t>
                      </a:r>
                    </a:p>
                  </a:txBody>
                  <a:tcPr>
                    <a:solidFill>
                      <a:srgbClr val="1C2C39"/>
                    </a:solidFill>
                  </a:tcPr>
                </a:tc>
                <a:tc>
                  <a:txBody>
                    <a:bodyPr/>
                    <a:lstStyle/>
                    <a:p>
                      <a:pPr algn="ctr"/>
                      <a:r>
                        <a:rPr sz="900" b="1">
                          <a:solidFill>
                            <a:srgbClr val="FFFFFF"/>
                          </a:solidFill>
                          <a:latin typeface="Garamond"/>
                        </a:rPr>
                        <a:t>TV % of EV</a:t>
                      </a:r>
                    </a:p>
                  </a:txBody>
                  <a:tcPr>
                    <a:solidFill>
                      <a:srgbClr val="1C2C39"/>
                    </a:solidFill>
                  </a:tcPr>
                </a:tc>
              </a:tr>
              <a:tr h="262890">
                <a:tc>
                  <a:txBody>
                    <a:bodyPr/>
                    <a:lstStyle/>
                    <a:p>
                      <a:pPr algn="ctr"/>
                      <a:r>
                        <a:rPr sz="900" b="0">
                          <a:solidFill>
                            <a:srgbClr val="000000"/>
                          </a:solidFill>
                          <a:latin typeface="Garamond"/>
                        </a:rPr>
                        <a:t>Bear</a:t>
                      </a:r>
                    </a:p>
                  </a:txBody>
                  <a:tcPr>
                    <a:solidFill>
                      <a:srgbClr val="FFFFFF"/>
                    </a:solidFill>
                  </a:tcPr>
                </a:tc>
                <a:tc>
                  <a:txBody>
                    <a:bodyPr/>
                    <a:lstStyle/>
                    <a:p>
                      <a:pPr algn="r"/>
                      <a:r>
                        <a:rPr sz="900" b="0">
                          <a:solidFill>
                            <a:srgbClr val="000000"/>
                          </a:solidFill>
                          <a:latin typeface="Garamond"/>
                        </a:rPr>
                        <a:t>N/A</a:t>
                      </a:r>
                    </a:p>
                  </a:txBody>
                  <a:tcPr>
                    <a:solidFill>
                      <a:srgbClr val="FFFFFF"/>
                    </a:solidFill>
                  </a:tcPr>
                </a:tc>
                <a:tc>
                  <a:txBody>
                    <a:bodyPr/>
                    <a:lstStyle/>
                    <a:p>
                      <a:pPr algn="ctr"/>
                      <a:r>
                        <a:rPr sz="900" b="0">
                          <a:solidFill>
                            <a:srgbClr val="000000"/>
                          </a:solidFill>
                          <a:latin typeface="Garamond"/>
                        </a:rPr>
                        <a:t>$161.00</a:t>
                      </a:r>
                    </a:p>
                  </a:txBody>
                  <a:tcPr>
                    <a:solidFill>
                      <a:srgbClr val="FFFFFF"/>
                    </a:solidFill>
                  </a:tcPr>
                </a:tc>
                <a:tc>
                  <a:txBody>
                    <a:bodyPr/>
                    <a:lstStyle/>
                    <a:p>
                      <a:pPr algn="ctr"/>
                      <a:r>
                        <a:rPr sz="900" b="0">
                          <a:solidFill>
                            <a:srgbClr val="000000"/>
                          </a:solidFill>
                          <a:latin typeface="Garamond"/>
                        </a:rPr>
                        <a:t>-15.0%</a:t>
                      </a:r>
                    </a:p>
                  </a:txBody>
                  <a:tcPr>
                    <a:solidFill>
                      <a:srgbClr val="FFFFFF"/>
                    </a:solidFill>
                  </a:tcPr>
                </a:tc>
                <a:tc>
                  <a:txBody>
                    <a:bodyPr/>
                    <a:lstStyle/>
                    <a:p>
                      <a:pPr algn="ctr"/>
                      <a:r>
                        <a:rPr sz="900" b="0">
                          <a:solidFill>
                            <a:srgbClr val="000000"/>
                          </a:solidFill>
                          <a:latin typeface="Garamond"/>
                        </a:rPr>
                        <a:t>N/A</a:t>
                      </a:r>
                    </a:p>
                  </a:txBody>
                  <a:tcPr>
                    <a:solidFill>
                      <a:srgbClr val="FFFFFF"/>
                    </a:solidFill>
                  </a:tcPr>
                </a:tc>
              </a:tr>
              <a:tr h="262890">
                <a:tc>
                  <a:txBody>
                    <a:bodyPr/>
                    <a:lstStyle/>
                    <a:p>
                      <a:pPr algn="ctr"/>
                      <a:r>
                        <a:rPr sz="900" b="0">
                          <a:solidFill>
                            <a:srgbClr val="000000"/>
                          </a:solidFill>
                          <a:latin typeface="Garamond"/>
                        </a:rPr>
                        <a:t>Base</a:t>
                      </a:r>
                    </a:p>
                  </a:txBody>
                  <a:tcPr>
                    <a:solidFill>
                      <a:srgbClr val="FFFFFF"/>
                    </a:solidFill>
                  </a:tcPr>
                </a:tc>
                <a:tc>
                  <a:txBody>
                    <a:bodyPr/>
                    <a:lstStyle/>
                    <a:p>
                      <a:pPr algn="r"/>
                      <a:r>
                        <a:rPr sz="900" b="0">
                          <a:solidFill>
                            <a:srgbClr val="000000"/>
                          </a:solidFill>
                          <a:latin typeface="Garamond"/>
                        </a:rPr>
                        <a:t>$32.5B</a:t>
                      </a:r>
                    </a:p>
                  </a:txBody>
                  <a:tcPr>
                    <a:solidFill>
                      <a:srgbClr val="FFFFFF"/>
                    </a:solidFill>
                  </a:tcPr>
                </a:tc>
                <a:tc>
                  <a:txBody>
                    <a:bodyPr/>
                    <a:lstStyle/>
                    <a:p>
                      <a:pPr algn="ctr"/>
                      <a:r>
                        <a:rPr sz="900" b="0">
                          <a:solidFill>
                            <a:srgbClr val="000000"/>
                          </a:solidFill>
                          <a:latin typeface="Garamond"/>
                        </a:rPr>
                        <a:t>$191.81</a:t>
                      </a:r>
                    </a:p>
                  </a:txBody>
                  <a:tcPr>
                    <a:solidFill>
                      <a:srgbClr val="FFFFFF"/>
                    </a:solidFill>
                  </a:tcPr>
                </a:tc>
                <a:tc>
                  <a:txBody>
                    <a:bodyPr/>
                    <a:lstStyle/>
                    <a:p>
                      <a:pPr algn="ctr"/>
                      <a:r>
                        <a:rPr sz="900" b="0">
                          <a:solidFill>
                            <a:srgbClr val="000000"/>
                          </a:solidFill>
                          <a:latin typeface="Garamond"/>
                        </a:rPr>
                        <a:t>+0.0%</a:t>
                      </a:r>
                    </a:p>
                  </a:txBody>
                  <a:tcPr>
                    <a:solidFill>
                      <a:srgbClr val="FFFFFF"/>
                    </a:solidFill>
                  </a:tcPr>
                </a:tc>
                <a:tc>
                  <a:txBody>
                    <a:bodyPr/>
                    <a:lstStyle/>
                    <a:p>
                      <a:pPr algn="ctr"/>
                      <a:r>
                        <a:rPr sz="900" b="0">
                          <a:solidFill>
                            <a:srgbClr val="000000"/>
                          </a:solidFill>
                          <a:latin typeface="Garamond"/>
                        </a:rPr>
                        <a:t>83%</a:t>
                      </a:r>
                    </a:p>
                  </a:txBody>
                  <a:tcPr>
                    <a:solidFill>
                      <a:srgbClr val="FFFFFF"/>
                    </a:solidFill>
                  </a:tcPr>
                </a:tc>
              </a:tr>
              <a:tr h="262890">
                <a:tc>
                  <a:txBody>
                    <a:bodyPr/>
                    <a:lstStyle/>
                    <a:p>
                      <a:pPr algn="ctr"/>
                      <a:r>
                        <a:rPr sz="900" b="0">
                          <a:solidFill>
                            <a:srgbClr val="000000"/>
                          </a:solidFill>
                          <a:latin typeface="Garamond"/>
                        </a:rPr>
                        <a:t>Bull</a:t>
                      </a:r>
                    </a:p>
                  </a:txBody>
                  <a:tcPr>
                    <a:solidFill>
                      <a:srgbClr val="FFFFFF"/>
                    </a:solidFill>
                  </a:tcPr>
                </a:tc>
                <a:tc>
                  <a:txBody>
                    <a:bodyPr/>
                    <a:lstStyle/>
                    <a:p>
                      <a:pPr algn="r"/>
                      <a:r>
                        <a:rPr sz="900" b="0">
                          <a:solidFill>
                            <a:srgbClr val="000000"/>
                          </a:solidFill>
                          <a:latin typeface="Garamond"/>
                        </a:rPr>
                        <a:t>N/A</a:t>
                      </a:r>
                    </a:p>
                  </a:txBody>
                  <a:tcPr>
                    <a:solidFill>
                      <a:srgbClr val="FFFFFF"/>
                    </a:solidFill>
                  </a:tcPr>
                </a:tc>
                <a:tc>
                  <a:txBody>
                    <a:bodyPr/>
                    <a:lstStyle/>
                    <a:p>
                      <a:pPr algn="ctr"/>
                      <a:r>
                        <a:rPr sz="900" b="0">
                          <a:solidFill>
                            <a:srgbClr val="000000"/>
                          </a:solidFill>
                          <a:latin typeface="Garamond"/>
                        </a:rPr>
                        <a:t>$280.00</a:t>
                      </a:r>
                    </a:p>
                  </a:txBody>
                  <a:tcPr>
                    <a:solidFill>
                      <a:srgbClr val="FFFFFF"/>
                    </a:solidFill>
                  </a:tcPr>
                </a:tc>
                <a:tc>
                  <a:txBody>
                    <a:bodyPr/>
                    <a:lstStyle/>
                    <a:p>
                      <a:pPr algn="ctr"/>
                      <a:r>
                        <a:rPr sz="900" b="0">
                          <a:solidFill>
                            <a:srgbClr val="000000"/>
                          </a:solidFill>
                          <a:latin typeface="Garamond"/>
                        </a:rPr>
                        <a:t>+47.0%</a:t>
                      </a:r>
                    </a:p>
                  </a:txBody>
                  <a:tcPr>
                    <a:solidFill>
                      <a:srgbClr val="FFFFFF"/>
                    </a:solidFill>
                  </a:tcPr>
                </a:tc>
                <a:tc>
                  <a:txBody>
                    <a:bodyPr/>
                    <a:lstStyle/>
                    <a:p>
                      <a:pPr algn="ctr"/>
                      <a:r>
                        <a:rPr sz="900" b="0">
                          <a:solidFill>
                            <a:srgbClr val="000000"/>
                          </a:solidFill>
                          <a:latin typeface="Garamond"/>
                        </a:rPr>
                        <a:t>N/A</a:t>
                      </a:r>
                    </a:p>
                  </a:txBody>
                  <a:tcPr>
                    <a:solidFill>
                      <a:srgbClr val="FFFFFF"/>
                    </a:solidFill>
                  </a:tcPr>
                </a:tc>
              </a:tr>
            </a:tbl>
          </a:graphicData>
        </a:graphic>
      </p:graphicFrame>
      <p:sp>
        <p:nvSpPr>
          <p:cNvPr id="27" name="TextBox 26"/>
          <p:cNvSpPr txBox="1"/>
          <p:nvPr/>
        </p:nvSpPr>
        <p:spPr>
          <a:xfrm>
            <a:off x="7680960" y="2103120"/>
            <a:ext cx="4325112" cy="237744"/>
          </a:xfrm>
          <a:prstGeom prst="rect">
            <a:avLst/>
          </a:prstGeom>
          <a:noFill/>
        </p:spPr>
        <p:txBody>
          <a:bodyPr wrap="square">
            <a:normAutofit/>
          </a:bodyPr>
          <a:lstStyle/>
          <a:p>
            <a:pPr algn="l"/>
            <a:r>
              <a:rPr sz="1400" b="1" i="0">
                <a:solidFill>
                  <a:srgbClr val="1C2C39"/>
                </a:solidFill>
                <a:latin typeface="Garamond"/>
              </a:rPr>
              <a:t>Sensitivity: Implied Price</a:t>
            </a:r>
          </a:p>
        </p:txBody>
      </p:sp>
      <p:sp>
        <p:nvSpPr>
          <p:cNvPr id="28" name="Rectangle 27"/>
          <p:cNvSpPr/>
          <p:nvPr/>
        </p:nvSpPr>
        <p:spPr>
          <a:xfrm>
            <a:off x="7680960" y="2340863"/>
            <a:ext cx="4325112"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2121408"/>
            <a:ext cx="4142232" cy="201168"/>
          </a:xfrm>
          <a:prstGeom prst="rect">
            <a:avLst/>
          </a:prstGeom>
          <a:noFill/>
        </p:spPr>
        <p:txBody>
          <a:bodyPr wrap="square">
            <a:normAutofit/>
          </a:bodyPr>
          <a:lstStyle/>
          <a:p>
            <a:pPr algn="l"/>
            <a:r>
              <a:rPr sz="750" b="0" i="0">
                <a:solidFill>
                  <a:srgbClr val="FFFFFF"/>
                </a:solidFill>
                <a:latin typeface="Garamond"/>
              </a:rPr>
              <a:t>(P/AFFO Multiple vs 2027E AFFO/Share)</a:t>
            </a:r>
          </a:p>
        </p:txBody>
      </p:sp>
      <p:graphicFrame>
        <p:nvGraphicFramePr>
          <p:cNvPr id="30" name="Table 29"/>
          <p:cNvGraphicFramePr>
            <a:graphicFrameLocks noGrp="1"/>
          </p:cNvGraphicFramePr>
          <p:nvPr/>
        </p:nvGraphicFramePr>
        <p:xfrm>
          <a:off x="7680960" y="2377440"/>
          <a:ext cx="4325110" cy="2240280"/>
        </p:xfrm>
        <a:graphic>
          <a:graphicData uri="http://schemas.openxmlformats.org/drawingml/2006/table">
            <a:tbl>
              <a:tblPr firstRow="1" bandRow="1">
                <a:tableStyleId>{5C22544A-7EE6-4342-B048-85BDC9FD1C3A}</a:tableStyleId>
              </a:tblPr>
              <a:tblGrid>
                <a:gridCol w="865022"/>
                <a:gridCol w="865022"/>
                <a:gridCol w="865022"/>
                <a:gridCol w="865022"/>
                <a:gridCol w="865022"/>
              </a:tblGrid>
              <a:tr h="373380">
                <a:tc>
                  <a:txBody>
                    <a:bodyPr/>
                    <a:lstStyle/>
                    <a:p>
                      <a:pPr algn="ctr"/>
                      <a:r>
                        <a:rPr sz="800" b="1">
                          <a:solidFill>
                            <a:srgbClr val="FFFFFF"/>
                          </a:solidFill>
                          <a:latin typeface="Garamond"/>
                        </a:rPr>
                        <a:t>WACC \ </a:t>
                      </a:r>
                    </a:p>
                  </a:txBody>
                  <a:tcPr>
                    <a:solidFill>
                      <a:srgbClr val="1C2C39"/>
                    </a:solidFill>
                  </a:tcPr>
                </a:tc>
                <a:tc>
                  <a:txBody>
                    <a:bodyPr/>
                    <a:lstStyle/>
                    <a:p>
                      <a:pPr algn="ctr"/>
                      <a:r>
                        <a:rPr sz="800" b="1">
                          <a:solidFill>
                            <a:srgbClr val="FFFFFF"/>
                          </a:solidFill>
                          <a:latin typeface="Garamond"/>
                        </a:rPr>
                        <a:t>affo 12.50x</a:t>
                      </a:r>
                    </a:p>
                  </a:txBody>
                  <a:tcPr>
                    <a:solidFill>
                      <a:srgbClr val="1C2C39"/>
                    </a:solidFill>
                  </a:tcPr>
                </a:tc>
                <a:tc>
                  <a:txBody>
                    <a:bodyPr/>
                    <a:lstStyle/>
                    <a:p>
                      <a:pPr algn="ctr"/>
                      <a:r>
                        <a:rPr sz="800" b="1">
                          <a:solidFill>
                            <a:srgbClr val="FFFFFF"/>
                          </a:solidFill>
                          <a:latin typeface="Garamond"/>
                        </a:rPr>
                        <a:t>affo 13.00x</a:t>
                      </a:r>
                    </a:p>
                  </a:txBody>
                  <a:tcPr>
                    <a:solidFill>
                      <a:srgbClr val="1C2C39"/>
                    </a:solidFill>
                  </a:tcPr>
                </a:tc>
                <a:tc>
                  <a:txBody>
                    <a:bodyPr/>
                    <a:lstStyle/>
                    <a:p>
                      <a:pPr algn="ctr"/>
                      <a:r>
                        <a:rPr sz="800" b="1">
                          <a:solidFill>
                            <a:srgbClr val="FFFFFF"/>
                          </a:solidFill>
                          <a:latin typeface="Garamond"/>
                        </a:rPr>
                        <a:t>affo 13.30x</a:t>
                      </a:r>
                    </a:p>
                  </a:txBody>
                  <a:tcPr>
                    <a:solidFill>
                      <a:srgbClr val="1C2C39"/>
                    </a:solidFill>
                  </a:tcPr>
                </a:tc>
                <a:tc>
                  <a:txBody>
                    <a:bodyPr/>
                    <a:lstStyle/>
                    <a:p>
                      <a:pPr algn="ctr"/>
                      <a:r>
                        <a:rPr sz="800" b="1">
                          <a:solidFill>
                            <a:srgbClr val="FFFFFF"/>
                          </a:solidFill>
                          <a:latin typeface="Garamond"/>
                        </a:rPr>
                        <a:t>affo 14.00x</a:t>
                      </a:r>
                    </a:p>
                  </a:txBody>
                  <a:tcPr>
                    <a:solidFill>
                      <a:srgbClr val="1C2C39"/>
                    </a:solidFill>
                  </a:tcPr>
                </a:tc>
              </a:tr>
              <a:tr h="373380">
                <a:tc>
                  <a:txBody>
                    <a:bodyPr/>
                    <a:lstStyle/>
                    <a:p>
                      <a:pPr algn="ctr"/>
                      <a:r>
                        <a:rPr sz="800" b="0">
                          <a:solidFill>
                            <a:srgbClr val="000000"/>
                          </a:solidFill>
                          <a:latin typeface="Garamond"/>
                        </a:rPr>
                        <a:t>multiple 12x</a:t>
                      </a:r>
                    </a:p>
                  </a:txBody>
                  <a:tcPr>
                    <a:solidFill>
                      <a:srgbClr val="EFEFEF"/>
                    </a:solidFill>
                  </a:tcPr>
                </a:tc>
                <a:tc>
                  <a:txBody>
                    <a:bodyPr/>
                    <a:lstStyle/>
                    <a:p>
                      <a:pPr algn="ctr"/>
                      <a:r>
                        <a:rPr sz="800" b="0">
                          <a:solidFill>
                            <a:srgbClr val="000000"/>
                          </a:solidFill>
                          <a:latin typeface="Garamond"/>
                        </a:rPr>
                        <a:t>$150</a:t>
                      </a:r>
                    </a:p>
                  </a:txBody>
                  <a:tcPr>
                    <a:solidFill>
                      <a:srgbClr val="FFCCCC"/>
                    </a:solidFill>
                  </a:tcPr>
                </a:tc>
                <a:tc>
                  <a:txBody>
                    <a:bodyPr/>
                    <a:lstStyle/>
                    <a:p>
                      <a:pPr algn="ctr"/>
                      <a:r>
                        <a:rPr sz="800" b="0">
                          <a:solidFill>
                            <a:srgbClr val="000000"/>
                          </a:solidFill>
                          <a:latin typeface="Garamond"/>
                        </a:rPr>
                        <a:t>$156</a:t>
                      </a:r>
                    </a:p>
                  </a:txBody>
                  <a:tcPr>
                    <a:solidFill>
                      <a:srgbClr val="FFCCCC"/>
                    </a:solidFill>
                  </a:tcPr>
                </a:tc>
                <a:tc>
                  <a:txBody>
                    <a:bodyPr/>
                    <a:lstStyle/>
                    <a:p>
                      <a:pPr algn="ctr"/>
                      <a:r>
                        <a:rPr sz="800" b="0">
                          <a:solidFill>
                            <a:srgbClr val="000000"/>
                          </a:solidFill>
                          <a:latin typeface="Garamond"/>
                        </a:rPr>
                        <a:t>$160</a:t>
                      </a:r>
                    </a:p>
                  </a:txBody>
                  <a:tcPr>
                    <a:solidFill>
                      <a:srgbClr val="FFCCCC"/>
                    </a:solidFill>
                  </a:tcPr>
                </a:tc>
                <a:tc>
                  <a:txBody>
                    <a:bodyPr/>
                    <a:lstStyle/>
                    <a:p>
                      <a:pPr algn="ctr"/>
                      <a:r>
                        <a:rPr sz="800" b="0">
                          <a:solidFill>
                            <a:srgbClr val="000000"/>
                          </a:solidFill>
                          <a:latin typeface="Garamond"/>
                        </a:rPr>
                        <a:t>$168</a:t>
                      </a:r>
                    </a:p>
                  </a:txBody>
                  <a:tcPr>
                    <a:solidFill>
                      <a:srgbClr val="FFCCCC"/>
                    </a:solidFill>
                  </a:tcPr>
                </a:tc>
              </a:tr>
              <a:tr h="373380">
                <a:tc>
                  <a:txBody>
                    <a:bodyPr/>
                    <a:lstStyle/>
                    <a:p>
                      <a:pPr algn="ctr"/>
                      <a:r>
                        <a:rPr sz="800" b="0">
                          <a:solidFill>
                            <a:srgbClr val="000000"/>
                          </a:solidFill>
                          <a:latin typeface="Garamond"/>
                        </a:rPr>
                        <a:t>multiple 14x</a:t>
                      </a:r>
                    </a:p>
                  </a:txBody>
                  <a:tcPr>
                    <a:solidFill>
                      <a:srgbClr val="FFFFFF"/>
                    </a:solidFill>
                  </a:tcPr>
                </a:tc>
                <a:tc>
                  <a:txBody>
                    <a:bodyPr/>
                    <a:lstStyle/>
                    <a:p>
                      <a:pPr algn="ctr"/>
                      <a:r>
                        <a:rPr sz="800" b="0">
                          <a:solidFill>
                            <a:srgbClr val="000000"/>
                          </a:solidFill>
                          <a:latin typeface="Garamond"/>
                        </a:rPr>
                        <a:t>$175</a:t>
                      </a:r>
                    </a:p>
                  </a:txBody>
                  <a:tcPr>
                    <a:solidFill>
                      <a:srgbClr val="FFCCCC"/>
                    </a:solidFill>
                  </a:tcPr>
                </a:tc>
                <a:tc>
                  <a:txBody>
                    <a:bodyPr/>
                    <a:lstStyle/>
                    <a:p>
                      <a:pPr algn="ctr"/>
                      <a:r>
                        <a:rPr sz="800" b="0">
                          <a:solidFill>
                            <a:srgbClr val="000000"/>
                          </a:solidFill>
                          <a:latin typeface="Garamond"/>
                        </a:rPr>
                        <a:t>$182</a:t>
                      </a:r>
                    </a:p>
                  </a:txBody>
                  <a:tcPr>
                    <a:solidFill>
                      <a:srgbClr val="FFCCCC"/>
                    </a:solidFill>
                  </a:tcPr>
                </a:tc>
                <a:tc>
                  <a:txBody>
                    <a:bodyPr/>
                    <a:lstStyle/>
                    <a:p>
                      <a:pPr algn="ctr"/>
                      <a:r>
                        <a:rPr sz="800" b="0">
                          <a:solidFill>
                            <a:srgbClr val="000000"/>
                          </a:solidFill>
                          <a:latin typeface="Garamond"/>
                        </a:rPr>
                        <a:t>$186</a:t>
                      </a:r>
                    </a:p>
                  </a:txBody>
                  <a:tcPr>
                    <a:solidFill>
                      <a:srgbClr val="FFCCCC"/>
                    </a:solidFill>
                  </a:tcPr>
                </a:tc>
                <a:tc>
                  <a:txBody>
                    <a:bodyPr/>
                    <a:lstStyle/>
                    <a:p>
                      <a:pPr algn="ctr"/>
                      <a:r>
                        <a:rPr sz="800" b="0">
                          <a:solidFill>
                            <a:srgbClr val="000000"/>
                          </a:solidFill>
                          <a:latin typeface="Garamond"/>
                        </a:rPr>
                        <a:t>$196</a:t>
                      </a:r>
                    </a:p>
                  </a:txBody>
                  <a:tcPr>
                    <a:solidFill>
                      <a:srgbClr val="FFCCCC"/>
                    </a:solidFill>
                  </a:tcPr>
                </a:tc>
              </a:tr>
              <a:tr h="373380">
                <a:tc>
                  <a:txBody>
                    <a:bodyPr/>
                    <a:lstStyle/>
                    <a:p>
                      <a:pPr algn="ctr"/>
                      <a:r>
                        <a:rPr sz="800" b="0">
                          <a:solidFill>
                            <a:srgbClr val="000000"/>
                          </a:solidFill>
                          <a:latin typeface="Garamond"/>
                        </a:rPr>
                        <a:t>multiple 16x</a:t>
                      </a:r>
                    </a:p>
                  </a:txBody>
                  <a:tcPr>
                    <a:solidFill>
                      <a:srgbClr val="EFEFEF"/>
                    </a:solidFill>
                  </a:tcPr>
                </a:tc>
                <a:tc>
                  <a:txBody>
                    <a:bodyPr/>
                    <a:lstStyle/>
                    <a:p>
                      <a:pPr algn="ctr"/>
                      <a:r>
                        <a:rPr sz="800" b="1">
                          <a:solidFill>
                            <a:srgbClr val="000000"/>
                          </a:solidFill>
                          <a:latin typeface="Garamond"/>
                        </a:rPr>
                        <a:t>$200</a:t>
                      </a:r>
                    </a:p>
                  </a:txBody>
                  <a:tcPr>
                    <a:solidFill>
                      <a:srgbClr val="FFCCCC"/>
                    </a:solidFill>
                  </a:tcPr>
                </a:tc>
                <a:tc>
                  <a:txBody>
                    <a:bodyPr/>
                    <a:lstStyle/>
                    <a:p>
                      <a:pPr algn="ctr"/>
                      <a:r>
                        <a:rPr sz="800" b="1">
                          <a:solidFill>
                            <a:srgbClr val="000000"/>
                          </a:solidFill>
                          <a:latin typeface="Garamond"/>
                        </a:rPr>
                        <a:t>$208</a:t>
                      </a:r>
                    </a:p>
                  </a:txBody>
                  <a:tcPr>
                    <a:solidFill>
                      <a:srgbClr val="FFFFCC"/>
                    </a:solidFill>
                  </a:tcPr>
                </a:tc>
                <a:tc>
                  <a:txBody>
                    <a:bodyPr/>
                    <a:lstStyle/>
                    <a:p>
                      <a:pPr algn="ctr"/>
                      <a:r>
                        <a:rPr sz="900" b="1">
                          <a:solidFill>
                            <a:srgbClr val="000000"/>
                          </a:solidFill>
                          <a:latin typeface="Garamond"/>
                        </a:rPr>
                        <a:t>$213</a:t>
                      </a:r>
                    </a:p>
                  </a:txBody>
                  <a:tcPr>
                    <a:solidFill>
                      <a:srgbClr val="FFFFCC"/>
                    </a:solidFill>
                  </a:tcPr>
                </a:tc>
                <a:tc>
                  <a:txBody>
                    <a:bodyPr/>
                    <a:lstStyle/>
                    <a:p>
                      <a:pPr algn="ctr"/>
                      <a:r>
                        <a:rPr sz="800" b="1">
                          <a:solidFill>
                            <a:srgbClr val="000000"/>
                          </a:solidFill>
                          <a:latin typeface="Garamond"/>
                        </a:rPr>
                        <a:t>$224</a:t>
                      </a:r>
                    </a:p>
                  </a:txBody>
                  <a:tcPr>
                    <a:solidFill>
                      <a:srgbClr val="FFFFCC"/>
                    </a:solidFill>
                  </a:tcPr>
                </a:tc>
              </a:tr>
              <a:tr h="373380">
                <a:tc>
                  <a:txBody>
                    <a:bodyPr/>
                    <a:lstStyle/>
                    <a:p>
                      <a:pPr algn="ctr"/>
                      <a:r>
                        <a:rPr sz="800" b="0">
                          <a:solidFill>
                            <a:srgbClr val="000000"/>
                          </a:solidFill>
                          <a:latin typeface="Garamond"/>
                        </a:rPr>
                        <a:t>multiple 18x</a:t>
                      </a:r>
                    </a:p>
                  </a:txBody>
                  <a:tcPr>
                    <a:solidFill>
                      <a:srgbClr val="FFFFFF"/>
                    </a:solidFill>
                  </a:tcPr>
                </a:tc>
                <a:tc>
                  <a:txBody>
                    <a:bodyPr/>
                    <a:lstStyle/>
                    <a:p>
                      <a:pPr algn="ctr"/>
                      <a:r>
                        <a:rPr sz="800" b="0">
                          <a:solidFill>
                            <a:srgbClr val="000000"/>
                          </a:solidFill>
                          <a:latin typeface="Garamond"/>
                        </a:rPr>
                        <a:t>$225</a:t>
                      </a:r>
                    </a:p>
                  </a:txBody>
                  <a:tcPr>
                    <a:solidFill>
                      <a:srgbClr val="FFFFCC"/>
                    </a:solidFill>
                  </a:tcPr>
                </a:tc>
                <a:tc>
                  <a:txBody>
                    <a:bodyPr/>
                    <a:lstStyle/>
                    <a:p>
                      <a:pPr algn="ctr"/>
                      <a:r>
                        <a:rPr sz="800" b="0">
                          <a:solidFill>
                            <a:srgbClr val="000000"/>
                          </a:solidFill>
                          <a:latin typeface="Garamond"/>
                        </a:rPr>
                        <a:t>$234</a:t>
                      </a:r>
                    </a:p>
                  </a:txBody>
                  <a:tcPr>
                    <a:solidFill>
                      <a:srgbClr val="CCFFCC"/>
                    </a:solidFill>
                  </a:tcPr>
                </a:tc>
                <a:tc>
                  <a:txBody>
                    <a:bodyPr/>
                    <a:lstStyle/>
                    <a:p>
                      <a:pPr algn="ctr"/>
                      <a:r>
                        <a:rPr sz="800" b="0">
                          <a:solidFill>
                            <a:srgbClr val="000000"/>
                          </a:solidFill>
                          <a:latin typeface="Garamond"/>
                        </a:rPr>
                        <a:t>$239</a:t>
                      </a:r>
                    </a:p>
                  </a:txBody>
                  <a:tcPr>
                    <a:solidFill>
                      <a:srgbClr val="CCFFCC"/>
                    </a:solidFill>
                  </a:tcPr>
                </a:tc>
                <a:tc>
                  <a:txBody>
                    <a:bodyPr/>
                    <a:lstStyle/>
                    <a:p>
                      <a:pPr algn="ctr"/>
                      <a:r>
                        <a:rPr sz="800" b="0">
                          <a:solidFill>
                            <a:srgbClr val="000000"/>
                          </a:solidFill>
                          <a:latin typeface="Garamond"/>
                        </a:rPr>
                        <a:t>$252</a:t>
                      </a:r>
                    </a:p>
                  </a:txBody>
                  <a:tcPr>
                    <a:solidFill>
                      <a:srgbClr val="CCFFCC"/>
                    </a:solidFill>
                  </a:tcPr>
                </a:tc>
              </a:tr>
              <a:tr h="373380">
                <a:tc>
                  <a:txBody>
                    <a:bodyPr/>
                    <a:lstStyle/>
                    <a:p>
                      <a:pPr algn="ctr"/>
                      <a:r>
                        <a:rPr sz="800" b="0">
                          <a:solidFill>
                            <a:srgbClr val="000000"/>
                          </a:solidFill>
                          <a:latin typeface="Garamond"/>
                        </a:rPr>
                        <a:t>multiple 20x</a:t>
                      </a:r>
                    </a:p>
                  </a:txBody>
                  <a:tcPr>
                    <a:solidFill>
                      <a:srgbClr val="EFEFEF"/>
                    </a:solidFill>
                  </a:tcPr>
                </a:tc>
                <a:tc>
                  <a:txBody>
                    <a:bodyPr/>
                    <a:lstStyle/>
                    <a:p>
                      <a:pPr algn="ctr"/>
                      <a:r>
                        <a:rPr sz="800" b="0">
                          <a:solidFill>
                            <a:srgbClr val="000000"/>
                          </a:solidFill>
                          <a:latin typeface="Garamond"/>
                        </a:rPr>
                        <a:t>$250</a:t>
                      </a:r>
                    </a:p>
                  </a:txBody>
                  <a:tcPr>
                    <a:solidFill>
                      <a:srgbClr val="CCFFCC"/>
                    </a:solidFill>
                  </a:tcPr>
                </a:tc>
                <a:tc>
                  <a:txBody>
                    <a:bodyPr/>
                    <a:lstStyle/>
                    <a:p>
                      <a:pPr algn="ctr"/>
                      <a:r>
                        <a:rPr sz="800" b="0">
                          <a:solidFill>
                            <a:srgbClr val="000000"/>
                          </a:solidFill>
                          <a:latin typeface="Garamond"/>
                        </a:rPr>
                        <a:t>$260</a:t>
                      </a:r>
                    </a:p>
                  </a:txBody>
                  <a:tcPr>
                    <a:solidFill>
                      <a:srgbClr val="CCFFCC"/>
                    </a:solidFill>
                  </a:tcPr>
                </a:tc>
                <a:tc>
                  <a:txBody>
                    <a:bodyPr/>
                    <a:lstStyle/>
                    <a:p>
                      <a:pPr algn="ctr"/>
                      <a:r>
                        <a:rPr sz="800" b="0">
                          <a:solidFill>
                            <a:srgbClr val="000000"/>
                          </a:solidFill>
                          <a:latin typeface="Garamond"/>
                        </a:rPr>
                        <a:t>$266</a:t>
                      </a:r>
                    </a:p>
                  </a:txBody>
                  <a:tcPr>
                    <a:solidFill>
                      <a:srgbClr val="CCFFCC"/>
                    </a:solidFill>
                  </a:tcPr>
                </a:tc>
                <a:tc>
                  <a:txBody>
                    <a:bodyPr/>
                    <a:lstStyle/>
                    <a:p>
                      <a:pPr algn="ctr"/>
                      <a:r>
                        <a:rPr sz="800" b="0">
                          <a:solidFill>
                            <a:srgbClr val="000000"/>
                          </a:solidFill>
                          <a:latin typeface="Garamond"/>
                        </a:rPr>
                        <a:t>$280</a:t>
                      </a:r>
                    </a:p>
                  </a:txBody>
                  <a:tcPr>
                    <a:solidFill>
                      <a:srgbClr val="CCFFCC"/>
                    </a:solidFill>
                  </a:tcPr>
                </a:tc>
              </a:tr>
            </a:tbl>
          </a:graphicData>
        </a:graphic>
      </p:graphicFrame>
      <p:sp>
        <p:nvSpPr>
          <p:cNvPr id="31" name="Rectangle 30"/>
          <p:cNvSpPr/>
          <p:nvPr/>
        </p:nvSpPr>
        <p:spPr>
          <a:xfrm>
            <a:off x="7726680" y="4663440"/>
            <a:ext cx="164592" cy="146304"/>
          </a:xfrm>
          <a:prstGeom prst="rect">
            <a:avLst/>
          </a:prstGeom>
          <a:solidFill>
            <a:srgbClr val="FF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8704" y="4663440"/>
            <a:ext cx="1097280" cy="146304"/>
          </a:xfrm>
          <a:prstGeom prst="rect">
            <a:avLst/>
          </a:prstGeom>
          <a:noFill/>
        </p:spPr>
        <p:txBody>
          <a:bodyPr wrap="square">
            <a:normAutofit/>
          </a:bodyPr>
          <a:lstStyle/>
          <a:p>
            <a:pPr algn="l"/>
            <a:r>
              <a:rPr sz="700" b="0" i="0">
                <a:solidFill>
                  <a:srgbClr val="595959"/>
                </a:solidFill>
                <a:latin typeface="Garamond"/>
              </a:rPr>
              <a:t>Low</a:t>
            </a:r>
          </a:p>
        </p:txBody>
      </p:sp>
      <p:sp>
        <p:nvSpPr>
          <p:cNvPr id="33" name="Rectangle 32"/>
          <p:cNvSpPr/>
          <p:nvPr/>
        </p:nvSpPr>
        <p:spPr>
          <a:xfrm>
            <a:off x="9189720" y="4663440"/>
            <a:ext cx="164592" cy="146304"/>
          </a:xfrm>
          <a:prstGeom prst="rect">
            <a:avLst/>
          </a:prstGeom>
          <a:solidFill>
            <a:srgbClr val="FFF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81744" y="4663440"/>
            <a:ext cx="1097280" cy="146304"/>
          </a:xfrm>
          <a:prstGeom prst="rect">
            <a:avLst/>
          </a:prstGeom>
          <a:noFill/>
        </p:spPr>
        <p:txBody>
          <a:bodyPr wrap="square">
            <a:normAutofit/>
          </a:bodyPr>
          <a:lstStyle/>
          <a:p>
            <a:pPr algn="l"/>
            <a:r>
              <a:rPr sz="700" b="0" i="0">
                <a:solidFill>
                  <a:srgbClr val="595959"/>
                </a:solidFill>
                <a:latin typeface="Garamond"/>
              </a:rPr>
              <a:t>Mid</a:t>
            </a:r>
          </a:p>
        </p:txBody>
      </p:sp>
      <p:sp>
        <p:nvSpPr>
          <p:cNvPr id="35" name="Rectangle 34"/>
          <p:cNvSpPr/>
          <p:nvPr/>
        </p:nvSpPr>
        <p:spPr>
          <a:xfrm>
            <a:off x="10652760" y="4663440"/>
            <a:ext cx="164592" cy="146304"/>
          </a:xfrm>
          <a:prstGeom prst="rect">
            <a:avLst/>
          </a:prstGeom>
          <a:solidFill>
            <a:srgbClr val="CCF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844784" y="4663440"/>
            <a:ext cx="1097280" cy="146304"/>
          </a:xfrm>
          <a:prstGeom prst="rect">
            <a:avLst/>
          </a:prstGeom>
          <a:noFill/>
        </p:spPr>
        <p:txBody>
          <a:bodyPr wrap="square">
            <a:normAutofit/>
          </a:bodyPr>
          <a:lstStyle/>
          <a:p>
            <a:pPr algn="l"/>
            <a:r>
              <a:rPr sz="700" b="0" i="0">
                <a:solidFill>
                  <a:srgbClr val="595959"/>
                </a:solidFill>
                <a:latin typeface="Garamond"/>
              </a:rPr>
              <a:t>High</a:t>
            </a:r>
          </a:p>
        </p:txBody>
      </p:sp>
      <p:sp>
        <p:nvSpPr>
          <p:cNvPr id="37" name="TextBox 36"/>
          <p:cNvSpPr txBox="1"/>
          <p:nvPr/>
        </p:nvSpPr>
        <p:spPr>
          <a:xfrm>
            <a:off x="7680960" y="4873752"/>
            <a:ext cx="4325112" cy="237744"/>
          </a:xfrm>
          <a:prstGeom prst="rect">
            <a:avLst/>
          </a:prstGeom>
          <a:noFill/>
        </p:spPr>
        <p:txBody>
          <a:bodyPr wrap="square">
            <a:normAutofit/>
          </a:bodyPr>
          <a:lstStyle/>
          <a:p>
            <a:pPr algn="l"/>
            <a:r>
              <a:rPr sz="1400" b="1" i="0">
                <a:solidFill>
                  <a:srgbClr val="00ACB6"/>
                </a:solidFill>
                <a:latin typeface="Garamond"/>
              </a:rPr>
              <a:t>Comparable Company Analysis</a:t>
            </a:r>
          </a:p>
        </p:txBody>
      </p:sp>
      <p:sp>
        <p:nvSpPr>
          <p:cNvPr id="38" name="Rectangle 37"/>
          <p:cNvSpPr/>
          <p:nvPr/>
        </p:nvSpPr>
        <p:spPr>
          <a:xfrm>
            <a:off x="7680960" y="5111496"/>
            <a:ext cx="4325112"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39" name="Table 38"/>
          <p:cNvGraphicFramePr>
            <a:graphicFrameLocks noGrp="1"/>
          </p:cNvGraphicFramePr>
          <p:nvPr/>
        </p:nvGraphicFramePr>
        <p:xfrm>
          <a:off x="7680960" y="5148072"/>
          <a:ext cx="4325109" cy="1280160"/>
        </p:xfrm>
        <a:graphic>
          <a:graphicData uri="http://schemas.openxmlformats.org/drawingml/2006/table">
            <a:tbl>
              <a:tblPr firstRow="1" bandRow="1">
                <a:tableStyleId>{5C22544A-7EE6-4342-B048-85BDC9FD1C3A}</a:tableStyleId>
              </a:tblPr>
              <a:tblGrid>
                <a:gridCol w="644897"/>
                <a:gridCol w="1246801"/>
                <a:gridCol w="902856"/>
                <a:gridCol w="756679"/>
                <a:gridCol w="773876"/>
              </a:tblGrid>
              <a:tr h="320040">
                <a:tc>
                  <a:txBody>
                    <a:bodyPr/>
                    <a:lstStyle/>
                    <a:p>
                      <a:pPr algn="ctr"/>
                      <a:r>
                        <a:rPr sz="750" b="1">
                          <a:solidFill>
                            <a:srgbClr val="FFFFFF"/>
                          </a:solidFill>
                          <a:latin typeface="Garamond"/>
                        </a:rPr>
                        <a:t>Ticker</a:t>
                      </a:r>
                    </a:p>
                  </a:txBody>
                  <a:tcPr>
                    <a:solidFill>
                      <a:srgbClr val="1C2C39"/>
                    </a:solidFill>
                  </a:tcPr>
                </a:tc>
                <a:tc>
                  <a:txBody>
                    <a:bodyPr/>
                    <a:lstStyle/>
                    <a:p>
                      <a:pPr algn="ctr"/>
                      <a:r>
                        <a:rPr sz="750" b="1">
                          <a:solidFill>
                            <a:srgbClr val="FFFFFF"/>
                          </a:solidFill>
                          <a:latin typeface="Garamond"/>
                        </a:rPr>
                        <a:t>Company</a:t>
                      </a:r>
                    </a:p>
                  </a:txBody>
                  <a:tcPr>
                    <a:solidFill>
                      <a:srgbClr val="1C2C39"/>
                    </a:solidFill>
                  </a:tcPr>
                </a:tc>
                <a:tc>
                  <a:txBody>
                    <a:bodyPr/>
                    <a:lstStyle/>
                    <a:p>
                      <a:pPr algn="ctr"/>
                      <a:r>
                        <a:rPr sz="750" b="1">
                          <a:solidFill>
                            <a:srgbClr val="FFFFFF"/>
                          </a:solidFill>
                          <a:latin typeface="Garamond"/>
                        </a:rPr>
                        <a:t>P/AFFO NTM</a:t>
                      </a:r>
                    </a:p>
                  </a:txBody>
                  <a:tcPr>
                    <a:solidFill>
                      <a:srgbClr val="1C2C39"/>
                    </a:solidFill>
                  </a:tcPr>
                </a:tc>
                <a:tc>
                  <a:txBody>
                    <a:bodyPr/>
                    <a:lstStyle/>
                    <a:p>
                      <a:pPr algn="ctr"/>
                      <a:r>
                        <a:rPr sz="750" b="1">
                          <a:solidFill>
                            <a:srgbClr val="FFFFFF"/>
                          </a:solidFill>
                          <a:latin typeface="Garamond"/>
                        </a:rPr>
                        <a:t>P/AFFO Hist.</a:t>
                      </a:r>
                    </a:p>
                  </a:txBody>
                  <a:tcPr>
                    <a:solidFill>
                      <a:srgbClr val="1C2C39"/>
                    </a:solidFill>
                  </a:tcPr>
                </a:tc>
                <a:tc>
                  <a:txBody>
                    <a:bodyPr/>
                    <a:lstStyle/>
                    <a:p>
                      <a:pPr algn="ctr"/>
                      <a:r>
                        <a:rPr sz="750" b="1">
                          <a:solidFill>
                            <a:srgbClr val="FFFFFF"/>
                          </a:solidFill>
                          <a:latin typeface="Garamond"/>
                        </a:rPr>
                        <a:t>Implied PT</a:t>
                      </a:r>
                    </a:p>
                  </a:txBody>
                  <a:tcPr>
                    <a:solidFill>
                      <a:srgbClr val="1C2C39"/>
                    </a:solidFill>
                  </a:tcPr>
                </a:tc>
              </a:tr>
              <a:tr h="320040">
                <a:tc>
                  <a:txBody>
                    <a:bodyPr/>
                    <a:lstStyle/>
                    <a:p>
                      <a:pPr algn="ctr"/>
                      <a:r>
                        <a:rPr sz="750" b="0">
                          <a:solidFill>
                            <a:srgbClr val="000000"/>
                          </a:solidFill>
                          <a:latin typeface="Garamond"/>
                        </a:rPr>
                        <a:t>AMT</a:t>
                      </a:r>
                    </a:p>
                  </a:txBody>
                  <a:tcPr>
                    <a:solidFill>
                      <a:srgbClr val="FFFFFF"/>
                    </a:solidFill>
                  </a:tcPr>
                </a:tc>
                <a:tc>
                  <a:txBody>
                    <a:bodyPr/>
                    <a:lstStyle/>
                    <a:p>
                      <a:pPr algn="l"/>
                      <a:r>
                        <a:rPr sz="750" b="0">
                          <a:solidFill>
                            <a:srgbClr val="000000"/>
                          </a:solidFill>
                          <a:latin typeface="Garamond"/>
                        </a:rPr>
                        <a:t>American Tower Corp…</a:t>
                      </a:r>
                    </a:p>
                  </a:txBody>
                  <a:tcPr>
                    <a:solidFill>
                      <a:srgbClr val="FFFFFF"/>
                    </a:solidFill>
                  </a:tcPr>
                </a:tc>
                <a:tc>
                  <a:txBody>
                    <a:bodyPr/>
                    <a:lstStyle/>
                    <a:p>
                      <a:pPr algn="ctr"/>
                      <a:r>
                        <a:rPr sz="750" b="0">
                          <a:solidFill>
                            <a:srgbClr val="000000"/>
                          </a:solidFill>
                          <a:latin typeface="Garamond"/>
                        </a:rPr>
                        <a:t>16.0x</a:t>
                      </a:r>
                    </a:p>
                  </a:txBody>
                  <a:tcPr>
                    <a:solidFill>
                      <a:srgbClr val="FFFFFF"/>
                    </a:solidFill>
                  </a:tcPr>
                </a:tc>
                <a:tc>
                  <a:txBody>
                    <a:bodyPr/>
                    <a:lstStyle/>
                    <a:p>
                      <a:pPr algn="ctr"/>
                      <a:r>
                        <a:rPr sz="750" b="0">
                          <a:solidFill>
                            <a:srgbClr val="000000"/>
                          </a:solidFill>
                          <a:latin typeface="Garamond"/>
                        </a:rPr>
                        <a:t>N/A</a:t>
                      </a:r>
                    </a:p>
                  </a:txBody>
                  <a:tcPr>
                    <a:solidFill>
                      <a:srgbClr val="FFFFFF"/>
                    </a:solidFill>
                  </a:tcPr>
                </a:tc>
                <a:tc>
                  <a:txBody>
                    <a:bodyPr/>
                    <a:lstStyle/>
                    <a:p>
                      <a:pPr algn="ctr"/>
                      <a:r>
                        <a:rPr sz="750" b="0">
                          <a:solidFill>
                            <a:srgbClr val="000000"/>
                          </a:solidFill>
                          <a:latin typeface="Garamond"/>
                        </a:rPr>
                        <a:t>N/A</a:t>
                      </a:r>
                    </a:p>
                  </a:txBody>
                  <a:tcPr>
                    <a:solidFill>
                      <a:srgbClr val="FFFFFF"/>
                    </a:solidFill>
                  </a:tcPr>
                </a:tc>
              </a:tr>
              <a:tr h="320040">
                <a:tc>
                  <a:txBody>
                    <a:bodyPr/>
                    <a:lstStyle/>
                    <a:p>
                      <a:pPr algn="ctr"/>
                      <a:r>
                        <a:rPr sz="750" b="0">
                          <a:solidFill>
                            <a:srgbClr val="000000"/>
                          </a:solidFill>
                          <a:latin typeface="Garamond"/>
                        </a:rPr>
                        <a:t>CCI</a:t>
                      </a:r>
                    </a:p>
                  </a:txBody>
                  <a:tcPr>
                    <a:solidFill>
                      <a:srgbClr val="EFEFEF"/>
                    </a:solidFill>
                  </a:tcPr>
                </a:tc>
                <a:tc>
                  <a:txBody>
                    <a:bodyPr/>
                    <a:lstStyle/>
                    <a:p>
                      <a:pPr algn="l"/>
                      <a:r>
                        <a:rPr sz="750" b="0">
                          <a:solidFill>
                            <a:srgbClr val="000000"/>
                          </a:solidFill>
                          <a:latin typeface="Garamond"/>
                        </a:rPr>
                        <a:t>Crown Castle Inc.</a:t>
                      </a:r>
                    </a:p>
                  </a:txBody>
                  <a:tcPr>
                    <a:solidFill>
                      <a:srgbClr val="EFEFEF"/>
                    </a:solidFill>
                  </a:tcPr>
                </a:tc>
                <a:tc>
                  <a:txBody>
                    <a:bodyPr/>
                    <a:lstStyle/>
                    <a:p>
                      <a:pPr algn="ctr"/>
                      <a:r>
                        <a:rPr sz="750" b="0">
                          <a:solidFill>
                            <a:srgbClr val="000000"/>
                          </a:solidFill>
                          <a:latin typeface="Garamond"/>
                        </a:rPr>
                        <a:t>19.0x</a:t>
                      </a:r>
                    </a:p>
                  </a:txBody>
                  <a:tcPr>
                    <a:solidFill>
                      <a:srgbClr val="EFEFEF"/>
                    </a:solidFill>
                  </a:tcPr>
                </a:tc>
                <a:tc>
                  <a:txBody>
                    <a:bodyPr/>
                    <a:lstStyle/>
                    <a:p>
                      <a:pPr algn="ctr"/>
                      <a:r>
                        <a:rPr sz="750" b="0">
                          <a:solidFill>
                            <a:srgbClr val="000000"/>
                          </a:solidFill>
                          <a:latin typeface="Garamond"/>
                        </a:rPr>
                        <a:t>N/A</a:t>
                      </a:r>
                    </a:p>
                  </a:txBody>
                  <a:tcPr>
                    <a:solidFill>
                      <a:srgbClr val="EFEFEF"/>
                    </a:solidFill>
                  </a:tcPr>
                </a:tc>
                <a:tc>
                  <a:txBody>
                    <a:bodyPr/>
                    <a:lstStyle/>
                    <a:p>
                      <a:pPr algn="ctr"/>
                      <a:r>
                        <a:rPr sz="750" b="0">
                          <a:solidFill>
                            <a:srgbClr val="000000"/>
                          </a:solidFill>
                          <a:latin typeface="Garamond"/>
                        </a:rPr>
                        <a:t>N/A</a:t>
                      </a:r>
                    </a:p>
                  </a:txBody>
                  <a:tcPr>
                    <a:solidFill>
                      <a:srgbClr val="EFEFEF"/>
                    </a:solidFill>
                  </a:tcPr>
                </a:tc>
              </a:tr>
              <a:tr h="320040">
                <a:tc>
                  <a:txBody>
                    <a:bodyPr/>
                    <a:lstStyle/>
                    <a:p>
                      <a:pPr algn="ctr"/>
                      <a:r>
                        <a:rPr sz="750" b="0">
                          <a:solidFill>
                            <a:srgbClr val="000000"/>
                          </a:solidFill>
                          <a:latin typeface="Garamond"/>
                        </a:rPr>
                        <a:t>IHS</a:t>
                      </a:r>
                    </a:p>
                  </a:txBody>
                  <a:tcPr>
                    <a:solidFill>
                      <a:srgbClr val="FFFFFF"/>
                    </a:solidFill>
                  </a:tcPr>
                </a:tc>
                <a:tc>
                  <a:txBody>
                    <a:bodyPr/>
                    <a:lstStyle/>
                    <a:p>
                      <a:pPr algn="l"/>
                      <a:r>
                        <a:rPr sz="750" b="0">
                          <a:solidFill>
                            <a:srgbClr val="000000"/>
                          </a:solidFill>
                          <a:latin typeface="Garamond"/>
                        </a:rPr>
                        <a:t>IHS Holding Limited</a:t>
                      </a:r>
                    </a:p>
                  </a:txBody>
                  <a:tcPr>
                    <a:solidFill>
                      <a:srgbClr val="FFFFFF"/>
                    </a:solidFill>
                  </a:tcPr>
                </a:tc>
                <a:tc>
                  <a:txBody>
                    <a:bodyPr/>
                    <a:lstStyle/>
                    <a:p>
                      <a:pPr algn="ctr"/>
                      <a:r>
                        <a:rPr sz="750" b="0">
                          <a:solidFill>
                            <a:srgbClr val="000000"/>
                          </a:solidFill>
                          <a:latin typeface="Garamond"/>
                        </a:rPr>
                        <a:t>N/A</a:t>
                      </a:r>
                    </a:p>
                  </a:txBody>
                  <a:tcPr>
                    <a:solidFill>
                      <a:srgbClr val="FFFFFF"/>
                    </a:solidFill>
                  </a:tcPr>
                </a:tc>
                <a:tc>
                  <a:txBody>
                    <a:bodyPr/>
                    <a:lstStyle/>
                    <a:p>
                      <a:pPr algn="ctr"/>
                      <a:r>
                        <a:rPr sz="750" b="0">
                          <a:solidFill>
                            <a:srgbClr val="000000"/>
                          </a:solidFill>
                          <a:latin typeface="Garamond"/>
                        </a:rPr>
                        <a:t>N/A</a:t>
                      </a:r>
                    </a:p>
                  </a:txBody>
                  <a:tcPr>
                    <a:solidFill>
                      <a:srgbClr val="FFFFFF"/>
                    </a:solidFill>
                  </a:tcPr>
                </a:tc>
                <a:tc>
                  <a:txBody>
                    <a:bodyPr/>
                    <a:lstStyle/>
                    <a:p>
                      <a:pPr algn="ctr"/>
                      <a:r>
                        <a:rPr sz="750" b="0">
                          <a:solidFill>
                            <a:srgbClr val="000000"/>
                          </a:solidFill>
                          <a:latin typeface="Garamond"/>
                        </a:rPr>
                        <a:t>N/A</a:t>
                      </a:r>
                    </a:p>
                  </a:txBody>
                  <a:tcPr>
                    <a:solidFill>
                      <a:srgbClr val="FFFFFF"/>
                    </a:solidFill>
                  </a:tcPr>
                </a:tc>
              </a:tr>
            </a:tbl>
          </a:graphicData>
        </a:graphic>
      </p:graphicFrame>
      <p:sp>
        <p:nvSpPr>
          <p:cNvPr id="40" name="TextBox 39"/>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Thesis I — Mispriced Digital Monopoly — Churn Noise is Finite</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CapIQ, Bloomberg, Investor Presentations</a:t>
            </a:r>
          </a:p>
        </p:txBody>
      </p:sp>
      <p:sp>
        <p:nvSpPr>
          <p:cNvPr id="5" name="Rectangle 4"/>
          <p:cNvSpPr/>
          <p:nvPr/>
        </p:nvSpPr>
        <p:spPr>
          <a:xfrm>
            <a:off x="640080" y="749808"/>
            <a:ext cx="11183112" cy="292608"/>
          </a:xfrm>
          <a:prstGeom prst="rect">
            <a:avLst/>
          </a:prstGeom>
          <a:solidFill>
            <a:srgbClr val="EA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795528"/>
            <a:ext cx="10972800" cy="219456"/>
          </a:xfrm>
          <a:prstGeom prst="rect">
            <a:avLst/>
          </a:prstGeom>
          <a:noFill/>
        </p:spPr>
        <p:txBody>
          <a:bodyPr wrap="square">
            <a:normAutofit/>
          </a:bodyPr>
          <a:lstStyle/>
          <a:p>
            <a:pPr algn="l"/>
            <a:r>
              <a:rPr sz="1000" b="0" i="1">
                <a:solidFill>
                  <a:srgbClr val="1C2C3A"/>
                </a:solidFill>
                <a:latin typeface="Garamond"/>
              </a:rPr>
              <a:t>The market is pricing SBAC as if Sprint/DISH churn is structural impairment. It is finite, declining, and nearly over. As churn sunsets in 2027 and Brazil's mandatory 5G deadlines force carrier spending, SBAC's pure-play tower model will…</a:t>
            </a:r>
          </a:p>
        </p:txBody>
      </p:sp>
      <p:sp>
        <p:nvSpPr>
          <p:cNvPr id="7" name="Rectangle 6"/>
          <p:cNvSpPr/>
          <p:nvPr/>
        </p:nvSpPr>
        <p:spPr>
          <a:xfrm>
            <a:off x="640080" y="1115568"/>
            <a:ext cx="11183112" cy="384048"/>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70432"/>
            <a:ext cx="10972800" cy="292608"/>
          </a:xfrm>
          <a:prstGeom prst="rect">
            <a:avLst/>
          </a:prstGeom>
          <a:noFill/>
        </p:spPr>
        <p:txBody>
          <a:bodyPr wrap="square">
            <a:normAutofit/>
          </a:bodyPr>
          <a:lstStyle/>
          <a:p>
            <a:pPr algn="l"/>
            <a:r>
              <a:rPr sz="1600" b="1" i="0">
                <a:solidFill>
                  <a:srgbClr val="FFFFFF"/>
                </a:solidFill>
                <a:latin typeface="Garamond"/>
              </a:rPr>
              <a:t>Mispriced Digital Monopoly — Churn Noise is Finite</a:t>
            </a:r>
          </a:p>
        </p:txBody>
      </p:sp>
      <p:sp>
        <p:nvSpPr>
          <p:cNvPr id="9" name="TextBox 8"/>
          <p:cNvSpPr txBox="1"/>
          <p:nvPr/>
        </p:nvSpPr>
        <p:spPr>
          <a:xfrm>
            <a:off x="640080" y="1554480"/>
            <a:ext cx="6675120" cy="237744"/>
          </a:xfrm>
          <a:prstGeom prst="rect">
            <a:avLst/>
          </a:prstGeom>
          <a:noFill/>
        </p:spPr>
        <p:txBody>
          <a:bodyPr wrap="square">
            <a:normAutofit/>
          </a:bodyPr>
          <a:lstStyle/>
          <a:p>
            <a:pPr algn="l"/>
            <a:r>
              <a:rPr sz="1400" b="1" i="0">
                <a:solidFill>
                  <a:srgbClr val="1C2C39"/>
                </a:solidFill>
                <a:latin typeface="Garamond"/>
              </a:rPr>
              <a:t>The Investment Case</a:t>
            </a:r>
          </a:p>
        </p:txBody>
      </p:sp>
      <p:sp>
        <p:nvSpPr>
          <p:cNvPr id="10" name="Rectangle 9"/>
          <p:cNvSpPr/>
          <p:nvPr/>
        </p:nvSpPr>
        <p:spPr>
          <a:xfrm>
            <a:off x="640080" y="1792224"/>
            <a:ext cx="6675120"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883664"/>
            <a:ext cx="6492240" cy="1417320"/>
          </a:xfrm>
          <a:prstGeom prst="rect">
            <a:avLst/>
          </a:prstGeom>
          <a:noFill/>
        </p:spPr>
        <p:txBody>
          <a:bodyPr wrap="square">
            <a:normAutofit/>
          </a:bodyPr>
          <a:lstStyle/>
          <a:p>
            <a:pPr algn="l"/>
            <a:r>
              <a:rPr sz="1050" b="0" i="0">
                <a:solidFill>
                  <a:srgbClr val="000000"/>
                </a:solidFill>
                <a:latin typeface="Garamond"/>
              </a:rPr>
              <a:t>The street is pricing SBAC as if Sprint/DISH churn is a permanent impairment of the business. It is not. Sprint churn is contractually scheduled to decline from $55M in 2026 to $8M by 2029. DISH defaulted entirely and SBAC has a lawsuit pending — potential recovery is not in any sell-side model. 63% of earnings Q&amp;A in the past four quarters has focused on churn, which is a classic contrarian signal. Meanwhile, gross organic ex-churn runs at 5.8% — the core business is compounding just fine. Once churn rolls off in 2027, net organic re-accele…</a:t>
            </a:r>
          </a:p>
        </p:txBody>
      </p:sp>
      <p:sp>
        <p:nvSpPr>
          <p:cNvPr id="12" name="Rectangle 11"/>
          <p:cNvSpPr/>
          <p:nvPr/>
        </p:nvSpPr>
        <p:spPr>
          <a:xfrm>
            <a:off x="640080" y="3392424"/>
            <a:ext cx="66751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3465576"/>
            <a:ext cx="6492240" cy="2313432"/>
          </a:xfrm>
          <a:prstGeom prst="rect">
            <a:avLst/>
          </a:prstGeom>
          <a:noFill/>
        </p:spPr>
        <p:txBody>
          <a:bodyPr wrap="square">
            <a:normAutofit/>
          </a:bodyPr>
          <a:lstStyle/>
          <a:p>
            <a:pPr algn="l"/>
            <a:r>
              <a:rPr sz="1000" b="0" i="0">
                <a:solidFill>
                  <a:srgbClr val="000000"/>
                </a:solidFill>
                <a:latin typeface="Garamond"/>
              </a:rPr>
              <a:t>• Sprint churn schedule: $51M (2025A), $55M (2026E peak), $18M (2027E), $12M (2028E), $8M (2029E)
• DISH/EchoStar contract terminated, lawsuit filed — $55M/yr stripped from guidance, potential upside not priced in
• Gross organic ex-churn: 5.8% (2025A), 5.8% (2026E), 6.3% (2028E)
• Net organic ex-Sprint: 3.2% (2025A) accelerating to 4.6% (2029E)
• Verizon 10-year MLA signed; T-Mobile MLA expiry Q4 2026 = renegotiation catalyst not risk</a:t>
            </a:r>
          </a:p>
        </p:txBody>
      </p:sp>
      <p:sp>
        <p:nvSpPr>
          <p:cNvPr id="14" name="TextBox 13"/>
          <p:cNvSpPr txBox="1"/>
          <p:nvPr/>
        </p:nvSpPr>
        <p:spPr>
          <a:xfrm>
            <a:off x="7498079" y="1554480"/>
            <a:ext cx="4325112" cy="237744"/>
          </a:xfrm>
          <a:prstGeom prst="rect">
            <a:avLst/>
          </a:prstGeom>
          <a:noFill/>
        </p:spPr>
        <p:txBody>
          <a:bodyPr wrap="square">
            <a:normAutofit/>
          </a:bodyPr>
          <a:lstStyle/>
          <a:p>
            <a:pPr algn="l"/>
            <a:r>
              <a:rPr sz="1400" b="1" i="0">
                <a:solidFill>
                  <a:srgbClr val="1C2C39"/>
                </a:solidFill>
                <a:latin typeface="Garamond"/>
              </a:rPr>
              <a:t>Key Data Points</a:t>
            </a:r>
          </a:p>
        </p:txBody>
      </p:sp>
      <p:sp>
        <p:nvSpPr>
          <p:cNvPr id="15" name="Rectangle 14"/>
          <p:cNvSpPr/>
          <p:nvPr/>
        </p:nvSpPr>
        <p:spPr>
          <a:xfrm>
            <a:off x="7498079" y="1792224"/>
            <a:ext cx="4325112"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79" y="1883664"/>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1883664"/>
            <a:ext cx="36576" cy="100584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1938528"/>
            <a:ext cx="4187952" cy="914400"/>
          </a:xfrm>
          <a:prstGeom prst="rect">
            <a:avLst/>
          </a:prstGeom>
          <a:noFill/>
        </p:spPr>
        <p:txBody>
          <a:bodyPr wrap="square">
            <a:normAutofit/>
          </a:bodyPr>
          <a:lstStyle/>
          <a:p>
            <a:pPr algn="l"/>
            <a:r>
              <a:rPr sz="950" b="0" i="0">
                <a:solidFill>
                  <a:srgbClr val="1C2C3A"/>
                </a:solidFill>
                <a:latin typeface="Garamond"/>
              </a:rPr>
              <a:t>Sprint churn schedule: $51M (2025A), $55M (2026E peak), $18M (2027E), $12M (2028E), $8M (2029E)</a:t>
            </a:r>
          </a:p>
        </p:txBody>
      </p:sp>
      <p:sp>
        <p:nvSpPr>
          <p:cNvPr id="19" name="Rectangle 18"/>
          <p:cNvSpPr/>
          <p:nvPr/>
        </p:nvSpPr>
        <p:spPr>
          <a:xfrm>
            <a:off x="7498079" y="2944368"/>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79" y="2944368"/>
            <a:ext cx="36576" cy="100584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19" y="2999232"/>
            <a:ext cx="4187952" cy="914400"/>
          </a:xfrm>
          <a:prstGeom prst="rect">
            <a:avLst/>
          </a:prstGeom>
          <a:noFill/>
        </p:spPr>
        <p:txBody>
          <a:bodyPr wrap="square">
            <a:normAutofit/>
          </a:bodyPr>
          <a:lstStyle/>
          <a:p>
            <a:pPr algn="l"/>
            <a:r>
              <a:rPr sz="950" b="0" i="0">
                <a:solidFill>
                  <a:srgbClr val="1C2C3A"/>
                </a:solidFill>
                <a:latin typeface="Garamond"/>
              </a:rPr>
              <a:t>DISH/EchoStar contract terminated, lawsuit filed — $55M/yr stripped from guidance, potential upside not priced in</a:t>
            </a:r>
          </a:p>
        </p:txBody>
      </p:sp>
      <p:sp>
        <p:nvSpPr>
          <p:cNvPr id="22" name="Rectangle 21"/>
          <p:cNvSpPr/>
          <p:nvPr/>
        </p:nvSpPr>
        <p:spPr>
          <a:xfrm>
            <a:off x="7498079" y="4005072"/>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4005072"/>
            <a:ext cx="36576" cy="100584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19" y="4059936"/>
            <a:ext cx="4187952" cy="914400"/>
          </a:xfrm>
          <a:prstGeom prst="rect">
            <a:avLst/>
          </a:prstGeom>
          <a:noFill/>
        </p:spPr>
        <p:txBody>
          <a:bodyPr wrap="square">
            <a:normAutofit/>
          </a:bodyPr>
          <a:lstStyle/>
          <a:p>
            <a:pPr algn="l"/>
            <a:r>
              <a:rPr sz="950" b="0" i="0">
                <a:solidFill>
                  <a:srgbClr val="1C2C3A"/>
                </a:solidFill>
                <a:latin typeface="Garamond"/>
              </a:rPr>
              <a:t>Gross organic ex-churn: 5.8% (2025A), 5.8% (2026E), 6.3% (2028E)</a:t>
            </a:r>
          </a:p>
        </p:txBody>
      </p:sp>
      <p:sp>
        <p:nvSpPr>
          <p:cNvPr id="25" name="Rectangle 24"/>
          <p:cNvSpPr/>
          <p:nvPr/>
        </p:nvSpPr>
        <p:spPr>
          <a:xfrm>
            <a:off x="640080" y="5852160"/>
            <a:ext cx="11183112" cy="438912"/>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925312"/>
            <a:ext cx="1371600" cy="292608"/>
          </a:xfrm>
          <a:prstGeom prst="rect">
            <a:avLst/>
          </a:prstGeom>
          <a:noFill/>
        </p:spPr>
        <p:txBody>
          <a:bodyPr wrap="square">
            <a:normAutofit/>
          </a:bodyPr>
          <a:lstStyle/>
          <a:p>
            <a:pPr algn="l"/>
            <a:r>
              <a:rPr sz="1100" b="1" i="0">
                <a:solidFill>
                  <a:srgbClr val="FFFFFF"/>
                </a:solidFill>
                <a:latin typeface="Garamond"/>
              </a:rPr>
              <a:t>Takeaway:</a:t>
            </a:r>
          </a:p>
        </p:txBody>
      </p:sp>
      <p:sp>
        <p:nvSpPr>
          <p:cNvPr id="27" name="TextBox 26"/>
          <p:cNvSpPr txBox="1"/>
          <p:nvPr/>
        </p:nvSpPr>
        <p:spPr>
          <a:xfrm>
            <a:off x="2194560" y="5925312"/>
            <a:ext cx="9509760" cy="292608"/>
          </a:xfrm>
          <a:prstGeom prst="rect">
            <a:avLst/>
          </a:prstGeom>
          <a:noFill/>
        </p:spPr>
        <p:txBody>
          <a:bodyPr wrap="square">
            <a:normAutofit/>
          </a:bodyPr>
          <a:lstStyle/>
          <a:p>
            <a:pPr algn="l"/>
            <a:r>
              <a:rPr sz="1200" b="0" i="1">
                <a:solidFill>
                  <a:srgbClr val="FFFFFF"/>
                </a:solidFill>
                <a:latin typeface="Garamond"/>
              </a:rPr>
              <a:t>The street is pricing SBAC as if Sprint/DISH churn is a permanent impairment of the business.</a:t>
            </a:r>
          </a:p>
        </p:txBody>
      </p:sp>
      <p:sp>
        <p:nvSpPr>
          <p:cNvPr id="28" name="TextBox 27"/>
          <p:cNvSpPr txBox="1"/>
          <p:nvPr/>
        </p:nvSpPr>
        <p:spPr>
          <a:xfrm>
            <a:off x="640080" y="6327648"/>
            <a:ext cx="11183112" cy="201168"/>
          </a:xfrm>
          <a:prstGeom prst="rect">
            <a:avLst/>
          </a:prstGeom>
          <a:noFill/>
        </p:spPr>
        <p:txBody>
          <a:bodyPr wrap="square">
            <a:normAutofit/>
          </a:bodyPr>
          <a:lstStyle/>
          <a:p>
            <a:pPr algn="r"/>
            <a:r>
              <a:rPr sz="800" b="0" i="0">
                <a:solidFill>
                  <a:srgbClr val="999999"/>
                </a:solidFill>
                <a:latin typeface="Garamond"/>
              </a:rPr>
              <a:t>PT: $240.00  |  EV Return: +26.0%  |  Slide 1 of 3</a:t>
            </a:r>
          </a:p>
        </p:txBody>
      </p:sp>
      <p:sp>
        <p:nvSpPr>
          <p:cNvPr id="29" name="TextBox 28"/>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Thesis II — Brazil / LatAm Structural Growth Underappreciated</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CapIQ, Bloomberg, Investor Presentations</a:t>
            </a:r>
          </a:p>
        </p:txBody>
      </p:sp>
      <p:sp>
        <p:nvSpPr>
          <p:cNvPr id="5" name="Rectangle 4"/>
          <p:cNvSpPr/>
          <p:nvPr/>
        </p:nvSpPr>
        <p:spPr>
          <a:xfrm>
            <a:off x="640080" y="749808"/>
            <a:ext cx="11183112" cy="292608"/>
          </a:xfrm>
          <a:prstGeom prst="rect">
            <a:avLst/>
          </a:prstGeom>
          <a:solidFill>
            <a:srgbClr val="EA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795528"/>
            <a:ext cx="10972800" cy="219456"/>
          </a:xfrm>
          <a:prstGeom prst="rect">
            <a:avLst/>
          </a:prstGeom>
          <a:noFill/>
        </p:spPr>
        <p:txBody>
          <a:bodyPr wrap="square">
            <a:normAutofit/>
          </a:bodyPr>
          <a:lstStyle/>
          <a:p>
            <a:pPr algn="l"/>
            <a:r>
              <a:rPr sz="1000" b="0" i="1">
                <a:solidFill>
                  <a:srgbClr val="1C2C3A"/>
                </a:solidFill>
                <a:latin typeface="Garamond"/>
              </a:rPr>
              <a:t>The market is pricing SBAC as if Sprint/DISH churn is structural impairment. It is finite, declining, and nearly over. As churn sunsets in 2027 and Brazil's mandatory 5G deadlines force carrier spending, SBAC's pure-play tower model will…</a:t>
            </a:r>
          </a:p>
        </p:txBody>
      </p:sp>
      <p:sp>
        <p:nvSpPr>
          <p:cNvPr id="7" name="Rectangle 6"/>
          <p:cNvSpPr/>
          <p:nvPr/>
        </p:nvSpPr>
        <p:spPr>
          <a:xfrm>
            <a:off x="640080" y="1115568"/>
            <a:ext cx="11183112" cy="384048"/>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70432"/>
            <a:ext cx="10972800" cy="292608"/>
          </a:xfrm>
          <a:prstGeom prst="rect">
            <a:avLst/>
          </a:prstGeom>
          <a:noFill/>
        </p:spPr>
        <p:txBody>
          <a:bodyPr wrap="square">
            <a:normAutofit/>
          </a:bodyPr>
          <a:lstStyle/>
          <a:p>
            <a:pPr algn="l"/>
            <a:r>
              <a:rPr sz="1600" b="1" i="0">
                <a:solidFill>
                  <a:srgbClr val="FFFFFF"/>
                </a:solidFill>
                <a:latin typeface="Garamond"/>
              </a:rPr>
              <a:t>Brazil / LatAm Structural Growth Underappreciated</a:t>
            </a:r>
          </a:p>
        </p:txBody>
      </p:sp>
      <p:sp>
        <p:nvSpPr>
          <p:cNvPr id="9" name="TextBox 8"/>
          <p:cNvSpPr txBox="1"/>
          <p:nvPr/>
        </p:nvSpPr>
        <p:spPr>
          <a:xfrm>
            <a:off x="640080" y="1554480"/>
            <a:ext cx="6675120" cy="237744"/>
          </a:xfrm>
          <a:prstGeom prst="rect">
            <a:avLst/>
          </a:prstGeom>
          <a:noFill/>
        </p:spPr>
        <p:txBody>
          <a:bodyPr wrap="square">
            <a:normAutofit/>
          </a:bodyPr>
          <a:lstStyle/>
          <a:p>
            <a:pPr algn="l"/>
            <a:r>
              <a:rPr sz="1400" b="1" i="0">
                <a:solidFill>
                  <a:srgbClr val="00ACB6"/>
                </a:solidFill>
                <a:latin typeface="Garamond"/>
              </a:rPr>
              <a:t>The Investment Case</a:t>
            </a:r>
          </a:p>
        </p:txBody>
      </p:sp>
      <p:sp>
        <p:nvSpPr>
          <p:cNvPr id="10" name="Rectangle 9"/>
          <p:cNvSpPr/>
          <p:nvPr/>
        </p:nvSpPr>
        <p:spPr>
          <a:xfrm>
            <a:off x="640080" y="1792224"/>
            <a:ext cx="6675120"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883664"/>
            <a:ext cx="6492240" cy="1417320"/>
          </a:xfrm>
          <a:prstGeom prst="rect">
            <a:avLst/>
          </a:prstGeom>
          <a:noFill/>
        </p:spPr>
        <p:txBody>
          <a:bodyPr wrap="square">
            <a:normAutofit/>
          </a:bodyPr>
          <a:lstStyle/>
          <a:p>
            <a:pPr algn="l"/>
            <a:r>
              <a:rPr sz="1050" b="0" i="0">
                <a:solidFill>
                  <a:srgbClr val="000000"/>
                </a:solidFill>
                <a:latin typeface="Garamond"/>
              </a:rPr>
              <a:t>Brazil is a secular growth story the street is not modeling correctly. At 35 towers per 100K people vs. 160 in the US, Brazil has a 65K-75K tower deficit. 5G penetration is only 16% (36M subscribers) against GSMA forecasts of 179M by 2030. Critically, Brazilian 5G deployment is not optional — it is legally mandated. July 2026 (200K+ population cities), July 2027 (100K+ population cities), and December 2029 (all cities) are hard regulatory deadlines. Millicom acquisition adds ~7K Central American towers denominated in USD. BRL strengthening f…</a:t>
            </a:r>
          </a:p>
        </p:txBody>
      </p:sp>
      <p:sp>
        <p:nvSpPr>
          <p:cNvPr id="12" name="Rectangle 11"/>
          <p:cNvSpPr/>
          <p:nvPr/>
        </p:nvSpPr>
        <p:spPr>
          <a:xfrm>
            <a:off x="640080" y="3392424"/>
            <a:ext cx="66751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3465576"/>
            <a:ext cx="6492240" cy="2313432"/>
          </a:xfrm>
          <a:prstGeom prst="rect">
            <a:avLst/>
          </a:prstGeom>
          <a:noFill/>
        </p:spPr>
        <p:txBody>
          <a:bodyPr wrap="square">
            <a:normAutofit/>
          </a:bodyPr>
          <a:lstStyle/>
          <a:p>
            <a:pPr algn="l"/>
            <a:r>
              <a:rPr sz="1000" b="0" i="0">
                <a:solidFill>
                  <a:srgbClr val="000000"/>
                </a:solidFill>
                <a:latin typeface="Garamond"/>
              </a:rPr>
              <a:t>• Brazil tower density: 35/100K vs. 160/100K in US — 65K-75K tower deficit
• 5G penetration: 16% (36M subscribers) vs. GSMA 2030 forecast of 179M subscribers
• Mandatory 5G build deadlines: July 2026 (200K+ cities), July 2027 (100K+ cities), Dec 2029 (all cities) — legally binding
• Millicom acquisition: ~7K Central American towers, USD-denominated leases
• BRL strengthening: 5.59 → 5.25 vs. USD = FX tailwind reversing prior headwinds</a:t>
            </a:r>
          </a:p>
        </p:txBody>
      </p:sp>
      <p:sp>
        <p:nvSpPr>
          <p:cNvPr id="14" name="TextBox 13"/>
          <p:cNvSpPr txBox="1"/>
          <p:nvPr/>
        </p:nvSpPr>
        <p:spPr>
          <a:xfrm>
            <a:off x="7498079" y="1554480"/>
            <a:ext cx="4325112" cy="237744"/>
          </a:xfrm>
          <a:prstGeom prst="rect">
            <a:avLst/>
          </a:prstGeom>
          <a:noFill/>
        </p:spPr>
        <p:txBody>
          <a:bodyPr wrap="square">
            <a:normAutofit/>
          </a:bodyPr>
          <a:lstStyle/>
          <a:p>
            <a:pPr algn="l"/>
            <a:r>
              <a:rPr sz="1400" b="1" i="0">
                <a:solidFill>
                  <a:srgbClr val="00ACB6"/>
                </a:solidFill>
                <a:latin typeface="Garamond"/>
              </a:rPr>
              <a:t>Key Data Points</a:t>
            </a:r>
          </a:p>
        </p:txBody>
      </p:sp>
      <p:sp>
        <p:nvSpPr>
          <p:cNvPr id="15" name="Rectangle 14"/>
          <p:cNvSpPr/>
          <p:nvPr/>
        </p:nvSpPr>
        <p:spPr>
          <a:xfrm>
            <a:off x="7498079" y="1792224"/>
            <a:ext cx="4325112"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79" y="1883664"/>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1883664"/>
            <a:ext cx="36576" cy="100584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1938528"/>
            <a:ext cx="4187952" cy="914400"/>
          </a:xfrm>
          <a:prstGeom prst="rect">
            <a:avLst/>
          </a:prstGeom>
          <a:noFill/>
        </p:spPr>
        <p:txBody>
          <a:bodyPr wrap="square">
            <a:normAutofit/>
          </a:bodyPr>
          <a:lstStyle/>
          <a:p>
            <a:pPr algn="l"/>
            <a:r>
              <a:rPr sz="950" b="0" i="0">
                <a:solidFill>
                  <a:srgbClr val="1C2C3A"/>
                </a:solidFill>
                <a:latin typeface="Garamond"/>
              </a:rPr>
              <a:t>Brazil tower density: 35/100K vs. 160/100K in US — 65K-75K tower deficit</a:t>
            </a:r>
          </a:p>
        </p:txBody>
      </p:sp>
      <p:sp>
        <p:nvSpPr>
          <p:cNvPr id="19" name="Rectangle 18"/>
          <p:cNvSpPr/>
          <p:nvPr/>
        </p:nvSpPr>
        <p:spPr>
          <a:xfrm>
            <a:off x="7498079" y="2944368"/>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79" y="2944368"/>
            <a:ext cx="36576" cy="100584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19" y="2999232"/>
            <a:ext cx="4187952" cy="914400"/>
          </a:xfrm>
          <a:prstGeom prst="rect">
            <a:avLst/>
          </a:prstGeom>
          <a:noFill/>
        </p:spPr>
        <p:txBody>
          <a:bodyPr wrap="square">
            <a:normAutofit/>
          </a:bodyPr>
          <a:lstStyle/>
          <a:p>
            <a:pPr algn="l"/>
            <a:r>
              <a:rPr sz="950" b="0" i="0">
                <a:solidFill>
                  <a:srgbClr val="1C2C3A"/>
                </a:solidFill>
                <a:latin typeface="Garamond"/>
              </a:rPr>
              <a:t>5G penetration: 16% (36M subscribers) vs. GSMA 2030 forecast of 179M subscribers</a:t>
            </a:r>
          </a:p>
        </p:txBody>
      </p:sp>
      <p:sp>
        <p:nvSpPr>
          <p:cNvPr id="22" name="Rectangle 21"/>
          <p:cNvSpPr/>
          <p:nvPr/>
        </p:nvSpPr>
        <p:spPr>
          <a:xfrm>
            <a:off x="7498079" y="4005072"/>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4005072"/>
            <a:ext cx="36576" cy="100584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19" y="4059936"/>
            <a:ext cx="4187952" cy="914400"/>
          </a:xfrm>
          <a:prstGeom prst="rect">
            <a:avLst/>
          </a:prstGeom>
          <a:noFill/>
        </p:spPr>
        <p:txBody>
          <a:bodyPr wrap="square">
            <a:normAutofit/>
          </a:bodyPr>
          <a:lstStyle/>
          <a:p>
            <a:pPr algn="l"/>
            <a:r>
              <a:rPr sz="950" b="0" i="0">
                <a:solidFill>
                  <a:srgbClr val="1C2C3A"/>
                </a:solidFill>
                <a:latin typeface="Garamond"/>
              </a:rPr>
              <a:t>Mandatory 5G build deadlines: July 2026 (200K+ cities), July 2027 (100K+ cities), Dec 2029 (all cities) — legally binding</a:t>
            </a:r>
          </a:p>
        </p:txBody>
      </p:sp>
      <p:sp>
        <p:nvSpPr>
          <p:cNvPr id="25" name="Rectangle 24"/>
          <p:cNvSpPr/>
          <p:nvPr/>
        </p:nvSpPr>
        <p:spPr>
          <a:xfrm>
            <a:off x="640080" y="5852160"/>
            <a:ext cx="11183112" cy="438912"/>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925312"/>
            <a:ext cx="1371600" cy="292608"/>
          </a:xfrm>
          <a:prstGeom prst="rect">
            <a:avLst/>
          </a:prstGeom>
          <a:noFill/>
        </p:spPr>
        <p:txBody>
          <a:bodyPr wrap="square">
            <a:normAutofit/>
          </a:bodyPr>
          <a:lstStyle/>
          <a:p>
            <a:pPr algn="l"/>
            <a:r>
              <a:rPr sz="1100" b="1" i="0">
                <a:solidFill>
                  <a:srgbClr val="FFFFFF"/>
                </a:solidFill>
                <a:latin typeface="Garamond"/>
              </a:rPr>
              <a:t>Takeaway:</a:t>
            </a:r>
          </a:p>
        </p:txBody>
      </p:sp>
      <p:sp>
        <p:nvSpPr>
          <p:cNvPr id="27" name="TextBox 26"/>
          <p:cNvSpPr txBox="1"/>
          <p:nvPr/>
        </p:nvSpPr>
        <p:spPr>
          <a:xfrm>
            <a:off x="2194560" y="5925312"/>
            <a:ext cx="9509760" cy="292608"/>
          </a:xfrm>
          <a:prstGeom prst="rect">
            <a:avLst/>
          </a:prstGeom>
          <a:noFill/>
        </p:spPr>
        <p:txBody>
          <a:bodyPr wrap="square">
            <a:normAutofit/>
          </a:bodyPr>
          <a:lstStyle/>
          <a:p>
            <a:pPr algn="l"/>
            <a:r>
              <a:rPr sz="1200" b="0" i="1">
                <a:solidFill>
                  <a:srgbClr val="FFFFFF"/>
                </a:solidFill>
                <a:latin typeface="Garamond"/>
              </a:rPr>
              <a:t>Brazil is a secular growth story the street is not modeling correctly.</a:t>
            </a:r>
          </a:p>
        </p:txBody>
      </p:sp>
      <p:sp>
        <p:nvSpPr>
          <p:cNvPr id="28" name="TextBox 27"/>
          <p:cNvSpPr txBox="1"/>
          <p:nvPr/>
        </p:nvSpPr>
        <p:spPr>
          <a:xfrm>
            <a:off x="640080" y="6327648"/>
            <a:ext cx="11183112" cy="201168"/>
          </a:xfrm>
          <a:prstGeom prst="rect">
            <a:avLst/>
          </a:prstGeom>
          <a:noFill/>
        </p:spPr>
        <p:txBody>
          <a:bodyPr wrap="square">
            <a:normAutofit/>
          </a:bodyPr>
          <a:lstStyle/>
          <a:p>
            <a:pPr algn="r"/>
            <a:r>
              <a:rPr sz="800" b="0" i="0">
                <a:solidFill>
                  <a:srgbClr val="999999"/>
                </a:solidFill>
                <a:latin typeface="Garamond"/>
              </a:rPr>
              <a:t>PT: $240.00  |  EV Return: +26.0%  |  Slide 2 of 3</a:t>
            </a:r>
          </a:p>
        </p:txBody>
      </p:sp>
      <p:sp>
        <p:nvSpPr>
          <p:cNvPr id="29" name="TextBox 28"/>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Thesis III — Capital Allocation Superiority</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CapIQ, Bloomberg, Investor Presentations</a:t>
            </a:r>
          </a:p>
        </p:txBody>
      </p:sp>
      <p:sp>
        <p:nvSpPr>
          <p:cNvPr id="5" name="Rectangle 4"/>
          <p:cNvSpPr/>
          <p:nvPr/>
        </p:nvSpPr>
        <p:spPr>
          <a:xfrm>
            <a:off x="640080" y="749808"/>
            <a:ext cx="11183112" cy="292608"/>
          </a:xfrm>
          <a:prstGeom prst="rect">
            <a:avLst/>
          </a:prstGeom>
          <a:solidFill>
            <a:srgbClr val="EA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795528"/>
            <a:ext cx="10972800" cy="219456"/>
          </a:xfrm>
          <a:prstGeom prst="rect">
            <a:avLst/>
          </a:prstGeom>
          <a:noFill/>
        </p:spPr>
        <p:txBody>
          <a:bodyPr wrap="square">
            <a:normAutofit/>
          </a:bodyPr>
          <a:lstStyle/>
          <a:p>
            <a:pPr algn="l"/>
            <a:r>
              <a:rPr sz="1000" b="0" i="1">
                <a:solidFill>
                  <a:srgbClr val="1C2C3A"/>
                </a:solidFill>
                <a:latin typeface="Garamond"/>
              </a:rPr>
              <a:t>The market is pricing SBAC as if Sprint/DISH churn is structural impairment. It is finite, declining, and nearly over. As churn sunsets in 2027 and Brazil's mandatory 5G deadlines force carrier spending, SBAC's pure-play tower model will…</a:t>
            </a:r>
          </a:p>
        </p:txBody>
      </p:sp>
      <p:sp>
        <p:nvSpPr>
          <p:cNvPr id="7" name="Rectangle 6"/>
          <p:cNvSpPr/>
          <p:nvPr/>
        </p:nvSpPr>
        <p:spPr>
          <a:xfrm>
            <a:off x="640080" y="1115568"/>
            <a:ext cx="11183112" cy="384048"/>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70432"/>
            <a:ext cx="10972800" cy="292608"/>
          </a:xfrm>
          <a:prstGeom prst="rect">
            <a:avLst/>
          </a:prstGeom>
          <a:noFill/>
        </p:spPr>
        <p:txBody>
          <a:bodyPr wrap="square">
            <a:normAutofit/>
          </a:bodyPr>
          <a:lstStyle/>
          <a:p>
            <a:pPr algn="l"/>
            <a:r>
              <a:rPr sz="1600" b="1" i="0">
                <a:solidFill>
                  <a:srgbClr val="FFFFFF"/>
                </a:solidFill>
                <a:latin typeface="Garamond"/>
              </a:rPr>
              <a:t>Capital Allocation Superiority</a:t>
            </a:r>
          </a:p>
        </p:txBody>
      </p:sp>
      <p:sp>
        <p:nvSpPr>
          <p:cNvPr id="9" name="TextBox 8"/>
          <p:cNvSpPr txBox="1"/>
          <p:nvPr/>
        </p:nvSpPr>
        <p:spPr>
          <a:xfrm>
            <a:off x="640080" y="1554480"/>
            <a:ext cx="6675120" cy="237744"/>
          </a:xfrm>
          <a:prstGeom prst="rect">
            <a:avLst/>
          </a:prstGeom>
          <a:noFill/>
        </p:spPr>
        <p:txBody>
          <a:bodyPr wrap="square">
            <a:normAutofit/>
          </a:bodyPr>
          <a:lstStyle/>
          <a:p>
            <a:pPr algn="l"/>
            <a:r>
              <a:rPr sz="1400" b="1" i="0">
                <a:solidFill>
                  <a:srgbClr val="FFC03B"/>
                </a:solidFill>
                <a:latin typeface="Garamond"/>
              </a:rPr>
              <a:t>The Investment Case</a:t>
            </a:r>
          </a:p>
        </p:txBody>
      </p:sp>
      <p:sp>
        <p:nvSpPr>
          <p:cNvPr id="10" name="Rectangle 9"/>
          <p:cNvSpPr/>
          <p:nvPr/>
        </p:nvSpPr>
        <p:spPr>
          <a:xfrm>
            <a:off x="640080" y="1792224"/>
            <a:ext cx="6675120" cy="2286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883664"/>
            <a:ext cx="6492240" cy="1417320"/>
          </a:xfrm>
          <a:prstGeom prst="rect">
            <a:avLst/>
          </a:prstGeom>
          <a:noFill/>
        </p:spPr>
        <p:txBody>
          <a:bodyPr wrap="square">
            <a:normAutofit/>
          </a:bodyPr>
          <a:lstStyle/>
          <a:p>
            <a:pPr algn="l"/>
            <a:r>
              <a:rPr sz="1050" b="0" i="0">
                <a:solidFill>
                  <a:srgbClr val="000000"/>
                </a:solidFill>
                <a:latin typeface="Garamond"/>
              </a:rPr>
              <a:t>SBAC's capital allocation track record is best-in-class among tower peers. $1.5B buyback authorization with $500M executed in 2025 at an average of $210/share. 35% payout ratio vs. CCI at 156% — SBAC retains earnings to compound, rather than paying out capital it doesn't generate. 13% annual dividend growth track record. Management (CEO Cavanagh: 27 years at SBAC, former CFO) has delivered on every major commitment: Millicom acquisition closed, Canada sold, Verizon MLA signed. At 14x P/AFFO, buybacks at these prices are highly accretive.</a:t>
            </a:r>
          </a:p>
        </p:txBody>
      </p:sp>
      <p:sp>
        <p:nvSpPr>
          <p:cNvPr id="12" name="Rectangle 11"/>
          <p:cNvSpPr/>
          <p:nvPr/>
        </p:nvSpPr>
        <p:spPr>
          <a:xfrm>
            <a:off x="640080" y="3392424"/>
            <a:ext cx="66751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3465576"/>
            <a:ext cx="6492240" cy="2313432"/>
          </a:xfrm>
          <a:prstGeom prst="rect">
            <a:avLst/>
          </a:prstGeom>
          <a:noFill/>
        </p:spPr>
        <p:txBody>
          <a:bodyPr wrap="square">
            <a:normAutofit/>
          </a:bodyPr>
          <a:lstStyle/>
          <a:p>
            <a:pPr algn="l"/>
            <a:r>
              <a:rPr sz="1000" b="0" i="0">
                <a:solidFill>
                  <a:srgbClr val="000000"/>
                </a:solidFill>
                <a:latin typeface="Garamond"/>
              </a:rPr>
              <a:t>• $1.5B buyback authorization; $500M executed in 2025 at avg $210/share (above current price = accretive at current levels)
• 35% payout ratio vs. CCI 156% — SBAC does not pay out capital it doesn't generate
• 13% annual dividend growth track record; $1.25/share Q1 2026 (+13% YoY)
• AFFO/share: $7.60 (2018) → $12.84 (2025A) — 7-8% CAGR, no down years except 2025/2026 trough
• CEO Brendan Cavanagh: 27 years at SBAC, former CFO, took over Jan 2024 — deep institutional knowledge</a:t>
            </a:r>
          </a:p>
        </p:txBody>
      </p:sp>
      <p:sp>
        <p:nvSpPr>
          <p:cNvPr id="14" name="TextBox 13"/>
          <p:cNvSpPr txBox="1"/>
          <p:nvPr/>
        </p:nvSpPr>
        <p:spPr>
          <a:xfrm>
            <a:off x="7498079" y="1554480"/>
            <a:ext cx="4325112" cy="237744"/>
          </a:xfrm>
          <a:prstGeom prst="rect">
            <a:avLst/>
          </a:prstGeom>
          <a:noFill/>
        </p:spPr>
        <p:txBody>
          <a:bodyPr wrap="square">
            <a:normAutofit/>
          </a:bodyPr>
          <a:lstStyle/>
          <a:p>
            <a:pPr algn="l"/>
            <a:r>
              <a:rPr sz="1400" b="1" i="0">
                <a:solidFill>
                  <a:srgbClr val="FFC03B"/>
                </a:solidFill>
                <a:latin typeface="Garamond"/>
              </a:rPr>
              <a:t>Key Data Points</a:t>
            </a:r>
          </a:p>
        </p:txBody>
      </p:sp>
      <p:sp>
        <p:nvSpPr>
          <p:cNvPr id="15" name="Rectangle 14"/>
          <p:cNvSpPr/>
          <p:nvPr/>
        </p:nvSpPr>
        <p:spPr>
          <a:xfrm>
            <a:off x="7498079" y="1792224"/>
            <a:ext cx="4325112" cy="2286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79" y="1883664"/>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79" y="1883664"/>
            <a:ext cx="36576" cy="100584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1938528"/>
            <a:ext cx="4187952" cy="914400"/>
          </a:xfrm>
          <a:prstGeom prst="rect">
            <a:avLst/>
          </a:prstGeom>
          <a:noFill/>
        </p:spPr>
        <p:txBody>
          <a:bodyPr wrap="square">
            <a:normAutofit/>
          </a:bodyPr>
          <a:lstStyle/>
          <a:p>
            <a:pPr algn="l"/>
            <a:r>
              <a:rPr sz="950" b="0" i="0">
                <a:solidFill>
                  <a:srgbClr val="1C2C3A"/>
                </a:solidFill>
                <a:latin typeface="Garamond"/>
              </a:rPr>
              <a:t>$1.5B buyback authorization; $500M executed in 2025 at avg $210/share (above current price = accretive at current levels)</a:t>
            </a:r>
          </a:p>
        </p:txBody>
      </p:sp>
      <p:sp>
        <p:nvSpPr>
          <p:cNvPr id="19" name="Rectangle 18"/>
          <p:cNvSpPr/>
          <p:nvPr/>
        </p:nvSpPr>
        <p:spPr>
          <a:xfrm>
            <a:off x="7498079" y="2944368"/>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79" y="2944368"/>
            <a:ext cx="36576" cy="100584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19" y="2999232"/>
            <a:ext cx="4187952" cy="914400"/>
          </a:xfrm>
          <a:prstGeom prst="rect">
            <a:avLst/>
          </a:prstGeom>
          <a:noFill/>
        </p:spPr>
        <p:txBody>
          <a:bodyPr wrap="square">
            <a:normAutofit/>
          </a:bodyPr>
          <a:lstStyle/>
          <a:p>
            <a:pPr algn="l"/>
            <a:r>
              <a:rPr sz="950" b="0" i="0">
                <a:solidFill>
                  <a:srgbClr val="1C2C3A"/>
                </a:solidFill>
                <a:latin typeface="Garamond"/>
              </a:rPr>
              <a:t>35% payout ratio vs. CCI 156% — SBAC does not pay out capital it doesn't generate</a:t>
            </a:r>
          </a:p>
        </p:txBody>
      </p:sp>
      <p:sp>
        <p:nvSpPr>
          <p:cNvPr id="22" name="Rectangle 21"/>
          <p:cNvSpPr/>
          <p:nvPr/>
        </p:nvSpPr>
        <p:spPr>
          <a:xfrm>
            <a:off x="7498079" y="4005072"/>
            <a:ext cx="4325112" cy="10058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4005072"/>
            <a:ext cx="36576" cy="1005840"/>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19" y="4059936"/>
            <a:ext cx="4187952" cy="914400"/>
          </a:xfrm>
          <a:prstGeom prst="rect">
            <a:avLst/>
          </a:prstGeom>
          <a:noFill/>
        </p:spPr>
        <p:txBody>
          <a:bodyPr wrap="square">
            <a:normAutofit/>
          </a:bodyPr>
          <a:lstStyle/>
          <a:p>
            <a:pPr algn="l"/>
            <a:r>
              <a:rPr sz="950" b="0" i="0">
                <a:solidFill>
                  <a:srgbClr val="1C2C3A"/>
                </a:solidFill>
                <a:latin typeface="Garamond"/>
              </a:rPr>
              <a:t>13% annual dividend growth track record; $1.25/share Q1 2026 (+13% YoY)</a:t>
            </a:r>
          </a:p>
        </p:txBody>
      </p:sp>
      <p:sp>
        <p:nvSpPr>
          <p:cNvPr id="25" name="Rectangle 24"/>
          <p:cNvSpPr/>
          <p:nvPr/>
        </p:nvSpPr>
        <p:spPr>
          <a:xfrm>
            <a:off x="640080" y="5852160"/>
            <a:ext cx="11183112" cy="438912"/>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925312"/>
            <a:ext cx="1371600" cy="292608"/>
          </a:xfrm>
          <a:prstGeom prst="rect">
            <a:avLst/>
          </a:prstGeom>
          <a:noFill/>
        </p:spPr>
        <p:txBody>
          <a:bodyPr wrap="square">
            <a:normAutofit/>
          </a:bodyPr>
          <a:lstStyle/>
          <a:p>
            <a:pPr algn="l"/>
            <a:r>
              <a:rPr sz="1100" b="1" i="0">
                <a:solidFill>
                  <a:srgbClr val="FFFFFF"/>
                </a:solidFill>
                <a:latin typeface="Garamond"/>
              </a:rPr>
              <a:t>Takeaway:</a:t>
            </a:r>
          </a:p>
        </p:txBody>
      </p:sp>
      <p:sp>
        <p:nvSpPr>
          <p:cNvPr id="27" name="TextBox 26"/>
          <p:cNvSpPr txBox="1"/>
          <p:nvPr/>
        </p:nvSpPr>
        <p:spPr>
          <a:xfrm>
            <a:off x="2194560" y="5925312"/>
            <a:ext cx="9509760" cy="292608"/>
          </a:xfrm>
          <a:prstGeom prst="rect">
            <a:avLst/>
          </a:prstGeom>
          <a:noFill/>
        </p:spPr>
        <p:txBody>
          <a:bodyPr wrap="square">
            <a:normAutofit/>
          </a:bodyPr>
          <a:lstStyle/>
          <a:p>
            <a:pPr algn="l"/>
            <a:r>
              <a:rPr sz="1200" b="0" i="1">
                <a:solidFill>
                  <a:srgbClr val="FFFFFF"/>
                </a:solidFill>
                <a:latin typeface="Garamond"/>
              </a:rPr>
              <a:t>SBAC's capital allocation track record is best-in-class among tower peers.</a:t>
            </a:r>
          </a:p>
        </p:txBody>
      </p:sp>
      <p:sp>
        <p:nvSpPr>
          <p:cNvPr id="28" name="TextBox 27"/>
          <p:cNvSpPr txBox="1"/>
          <p:nvPr/>
        </p:nvSpPr>
        <p:spPr>
          <a:xfrm>
            <a:off x="640080" y="6327648"/>
            <a:ext cx="11183112" cy="201168"/>
          </a:xfrm>
          <a:prstGeom prst="rect">
            <a:avLst/>
          </a:prstGeom>
          <a:noFill/>
        </p:spPr>
        <p:txBody>
          <a:bodyPr wrap="square">
            <a:normAutofit/>
          </a:bodyPr>
          <a:lstStyle/>
          <a:p>
            <a:pPr algn="r"/>
            <a:r>
              <a:rPr sz="800" b="0" i="0">
                <a:solidFill>
                  <a:srgbClr val="999999"/>
                </a:solidFill>
                <a:latin typeface="Garamond"/>
              </a:rPr>
              <a:t>PT: $240.00  |  EV Return: +26.0%  |  Slide 3 of 3</a:t>
            </a:r>
          </a:p>
        </p:txBody>
      </p:sp>
      <p:sp>
        <p:nvSpPr>
          <p:cNvPr id="29" name="TextBox 28"/>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Scenario Analysis  |  PT: $240.00  |  EV Return: +26.0%</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CapIQ, LSEG, DCF Analysis, Comparable Company Analysis</a:t>
            </a:r>
          </a:p>
        </p:txBody>
      </p:sp>
      <p:sp>
        <p:nvSpPr>
          <p:cNvPr id="5" name="Rectangle 4"/>
          <p:cNvSpPr/>
          <p:nvPr/>
        </p:nvSpPr>
        <p:spPr>
          <a:xfrm>
            <a:off x="640080" y="749808"/>
            <a:ext cx="11183112" cy="347472"/>
          </a:xfrm>
          <a:prstGeom prst="rect">
            <a:avLst/>
          </a:prstGeom>
          <a:solidFill>
            <a:srgbClr val="EA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04672"/>
            <a:ext cx="10972800" cy="256032"/>
          </a:xfrm>
          <a:prstGeom prst="rect">
            <a:avLst/>
          </a:prstGeom>
          <a:noFill/>
        </p:spPr>
        <p:txBody>
          <a:bodyPr wrap="square">
            <a:normAutofit/>
          </a:bodyPr>
          <a:lstStyle/>
          <a:p>
            <a:pPr algn="l"/>
            <a:r>
              <a:rPr sz="1000" b="0" i="1">
                <a:solidFill>
                  <a:srgbClr val="1C2C3A"/>
                </a:solidFill>
                <a:latin typeface="Garamond"/>
              </a:rPr>
              <a:t>The market is pricing SBAC as if Sprint/DISH churn is structural impairment. It is finite, declining, and nearly over. As churn sunsets in 2027 and Brazil's mandatory 5G deadlines force carrier spending, SBAC's pure-play tower model will re-rate from 14x to…</a:t>
            </a:r>
          </a:p>
        </p:txBody>
      </p:sp>
      <p:sp>
        <p:nvSpPr>
          <p:cNvPr id="7" name="TextBox 6"/>
          <p:cNvSpPr txBox="1"/>
          <p:nvPr/>
        </p:nvSpPr>
        <p:spPr>
          <a:xfrm>
            <a:off x="640080" y="1170432"/>
            <a:ext cx="11183112" cy="256032"/>
          </a:xfrm>
          <a:prstGeom prst="rect">
            <a:avLst/>
          </a:prstGeom>
          <a:noFill/>
        </p:spPr>
        <p:txBody>
          <a:bodyPr wrap="square">
            <a:normAutofit/>
          </a:bodyPr>
          <a:lstStyle/>
          <a:p>
            <a:pPr algn="l"/>
            <a:r>
              <a:rPr sz="900" b="0" i="1">
                <a:solidFill>
                  <a:srgbClr val="595959"/>
                </a:solidFill>
                <a:latin typeface="Garamond"/>
              </a:rPr>
              <a:t>Bull (30% × 45%) + Base (50% × 26%) + Bear (20% × -15%) = 13.5% + 13.0% - 3.0% = 23.5% probability-weighted. Spot return to $240 target from $190 = 26.3%. Time horizon 12-18 mon…</a:t>
            </a:r>
          </a:p>
        </p:txBody>
      </p:sp>
      <p:sp>
        <p:nvSpPr>
          <p:cNvPr id="8" name="Rectangle 7"/>
          <p:cNvSpPr/>
          <p:nvPr/>
        </p:nvSpPr>
        <p:spPr>
          <a:xfrm>
            <a:off x="640080" y="1517904"/>
            <a:ext cx="3721608" cy="329184"/>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63624"/>
            <a:ext cx="3721608" cy="256032"/>
          </a:xfrm>
          <a:prstGeom prst="rect">
            <a:avLst/>
          </a:prstGeom>
          <a:noFill/>
        </p:spPr>
        <p:txBody>
          <a:bodyPr wrap="square">
            <a:normAutofit/>
          </a:bodyPr>
          <a:lstStyle/>
          <a:p>
            <a:pPr algn="ctr"/>
            <a:r>
              <a:rPr sz="1100" b="1" i="0">
                <a:solidFill>
                  <a:srgbClr val="FFFFFF"/>
                </a:solidFill>
                <a:latin typeface="Garamond"/>
              </a:rPr>
              <a:t>BEAR  |  20%  |  PT: $161.00  |  -15.0%</a:t>
            </a:r>
          </a:p>
        </p:txBody>
      </p:sp>
      <p:sp>
        <p:nvSpPr>
          <p:cNvPr id="10" name="Rectangle 9"/>
          <p:cNvSpPr/>
          <p:nvPr/>
        </p:nvSpPr>
        <p:spPr>
          <a:xfrm>
            <a:off x="640080" y="1865376"/>
            <a:ext cx="3721608" cy="4297680"/>
          </a:xfrm>
          <a:prstGeom prst="rect">
            <a:avLst/>
          </a:prstGeom>
          <a:solidFill>
            <a:srgbClr val="FF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938528"/>
            <a:ext cx="3502152" cy="4187952"/>
          </a:xfrm>
          <a:prstGeom prst="rect">
            <a:avLst/>
          </a:prstGeom>
          <a:noFill/>
        </p:spPr>
        <p:txBody>
          <a:bodyPr wrap="square">
            <a:normAutofit/>
          </a:bodyPr>
          <a:lstStyle/>
          <a:p>
            <a:pPr algn="l"/>
            <a:r>
              <a:rPr sz="1100" b="0" i="0">
                <a:solidFill>
                  <a:srgbClr val="000000"/>
                </a:solidFill>
                <a:latin typeface="Garamond"/>
              </a:rPr>
              <a:t>T-Mobile MLA renewal fails or is renegotiated at materially lower escalator rates. Brazil 5G deadlines slip by 12+ months due to regulatory changes or carrier financial stress. Interest rates rise …
• T-Mobile MLA renegotiation results in step-down in escalator rates from ~3% to ~2%
• Brazil 5G deadline enforcement delayed by 1+ years, pushing organic re-acceleration out to 2029
• Multiple compresses to 12x P/AFFO on rate sensitivity and delayed recovery narrative
• Services revenue remains near 2025 levels (~$110M) as Verizon MLA services work is slower than gu…</a:t>
            </a:r>
          </a:p>
        </p:txBody>
      </p:sp>
      <p:sp>
        <p:nvSpPr>
          <p:cNvPr id="12" name="Rectangle 11"/>
          <p:cNvSpPr/>
          <p:nvPr/>
        </p:nvSpPr>
        <p:spPr>
          <a:xfrm>
            <a:off x="4498848" y="1517904"/>
            <a:ext cx="3721608" cy="329184"/>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63624"/>
            <a:ext cx="3721608" cy="256032"/>
          </a:xfrm>
          <a:prstGeom prst="rect">
            <a:avLst/>
          </a:prstGeom>
          <a:noFill/>
        </p:spPr>
        <p:txBody>
          <a:bodyPr wrap="square">
            <a:normAutofit/>
          </a:bodyPr>
          <a:lstStyle/>
          <a:p>
            <a:pPr algn="ctr"/>
            <a:r>
              <a:rPr sz="1100" b="1" i="0">
                <a:solidFill>
                  <a:srgbClr val="FFFFFF"/>
                </a:solidFill>
                <a:latin typeface="Garamond"/>
              </a:rPr>
              <a:t>BASE  |  50%  |  PT: $240.00  |  +26.0%</a:t>
            </a:r>
          </a:p>
        </p:txBody>
      </p:sp>
      <p:sp>
        <p:nvSpPr>
          <p:cNvPr id="14" name="Rectangle 13"/>
          <p:cNvSpPr/>
          <p:nvPr/>
        </p:nvSpPr>
        <p:spPr>
          <a:xfrm>
            <a:off x="4498848" y="1865376"/>
            <a:ext cx="3721608" cy="429768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938528"/>
            <a:ext cx="3502152" cy="4187952"/>
          </a:xfrm>
          <a:prstGeom prst="rect">
            <a:avLst/>
          </a:prstGeom>
          <a:noFill/>
        </p:spPr>
        <p:txBody>
          <a:bodyPr wrap="square">
            <a:normAutofit/>
          </a:bodyPr>
          <a:lstStyle/>
          <a:p>
            <a:pPr algn="l"/>
            <a:r>
              <a:rPr sz="1100" b="0" i="0">
                <a:solidFill>
                  <a:srgbClr val="000000"/>
                </a:solidFill>
                <a:latin typeface="Garamond"/>
              </a:rPr>
              <a:t>Sprint churn rolls off per schedule. T-Mobile MLA renews at comparable rates. Brazil 5G deadlines drive incremental leasing activity. AFFO/share bottoms in 2026 and rebounds 6-8% in 2027. Multiple …
• AFFO/share: ~$12.10 (2026E trough), recovering to ~$13.30+ (2027E) as Sprint churn rolls off
• P/AFFO multiple expands from 14x to 18x over 12-18 months as churn clears
• Services revenue reaches $190-210M in H2 2026 (~80% YoY increase) driven by Verizon MLA
• Net organic ex-Sprint improves from 3.2% (2025A) toward 4%+ (2027E)</a:t>
            </a:r>
          </a:p>
        </p:txBody>
      </p:sp>
      <p:sp>
        <p:nvSpPr>
          <p:cNvPr id="16" name="Rectangle 15"/>
          <p:cNvSpPr/>
          <p:nvPr/>
        </p:nvSpPr>
        <p:spPr>
          <a:xfrm>
            <a:off x="8357616" y="1517904"/>
            <a:ext cx="3721608" cy="329184"/>
          </a:xfrm>
          <a:prstGeom prst="rect">
            <a:avLst/>
          </a:prstGeom>
          <a:solidFill>
            <a:srgbClr val="00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7616" y="1563624"/>
            <a:ext cx="3721608" cy="256032"/>
          </a:xfrm>
          <a:prstGeom prst="rect">
            <a:avLst/>
          </a:prstGeom>
          <a:noFill/>
        </p:spPr>
        <p:txBody>
          <a:bodyPr wrap="square">
            <a:normAutofit/>
          </a:bodyPr>
          <a:lstStyle/>
          <a:p>
            <a:pPr algn="ctr"/>
            <a:r>
              <a:rPr sz="1100" b="1" i="0">
                <a:solidFill>
                  <a:srgbClr val="FFFFFF"/>
                </a:solidFill>
                <a:latin typeface="Garamond"/>
              </a:rPr>
              <a:t>BULL  |  30%  |  PT: $280.00  |  +47.0%</a:t>
            </a:r>
          </a:p>
        </p:txBody>
      </p:sp>
      <p:sp>
        <p:nvSpPr>
          <p:cNvPr id="18" name="Rectangle 17"/>
          <p:cNvSpPr/>
          <p:nvPr/>
        </p:nvSpPr>
        <p:spPr>
          <a:xfrm>
            <a:off x="8357616" y="1865376"/>
            <a:ext cx="3721608" cy="4297680"/>
          </a:xfrm>
          <a:prstGeom prst="rect">
            <a:avLst/>
          </a:prstGeom>
          <a:solidFill>
            <a:srgbClr val="F0FB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67344" y="1938528"/>
            <a:ext cx="3502152" cy="4187952"/>
          </a:xfrm>
          <a:prstGeom prst="rect">
            <a:avLst/>
          </a:prstGeom>
          <a:noFill/>
        </p:spPr>
        <p:txBody>
          <a:bodyPr wrap="square">
            <a:normAutofit/>
          </a:bodyPr>
          <a:lstStyle/>
          <a:p>
            <a:pPr algn="l"/>
            <a:r>
              <a:rPr sz="1100" b="0" i="0">
                <a:solidFill>
                  <a:srgbClr val="000000"/>
                </a:solidFill>
                <a:latin typeface="Garamond"/>
              </a:rPr>
              <a:t>Sprint churn clears faster than schedule, T-Mobile MLA renegotiation closes at favorable terms in Q4 2026, Brazil mandatory 5G deadlines drive a step-up in new leasing activity in H2 2026, and DISH…
• T-Mobile MLA renewal closes at or above current escalator rates — transforms headline risk into m…
• Brazil gross organic accelerates to 7%+ in 2027 as mandatory build deadlines are enforced
• DISH litigation recovery of $50M+ recognized, triggering upward revision to 2027 guidance
• Services segment reaches $210M+ (top of guidance range) driven by Verizon 10-year MLA services work</a:t>
            </a:r>
          </a:p>
        </p:txBody>
      </p:sp>
      <p:sp>
        <p:nvSpPr>
          <p:cNvPr id="20" name="Rectangle 19"/>
          <p:cNvSpPr/>
          <p:nvPr/>
        </p:nvSpPr>
        <p:spPr>
          <a:xfrm>
            <a:off x="640080" y="6236208"/>
            <a:ext cx="11183112" cy="292608"/>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281928"/>
            <a:ext cx="10972800" cy="219456"/>
          </a:xfrm>
          <a:prstGeom prst="rect">
            <a:avLst/>
          </a:prstGeom>
          <a:noFill/>
        </p:spPr>
        <p:txBody>
          <a:bodyPr wrap="square">
            <a:normAutofit/>
          </a:bodyPr>
          <a:lstStyle/>
          <a:p>
            <a:pPr algn="ctr"/>
            <a:r>
              <a:rPr sz="900" b="1" i="0">
                <a:solidFill>
                  <a:srgbClr val="FFFFFF"/>
                </a:solidFill>
                <a:latin typeface="Garamond"/>
              </a:rPr>
              <a:t>Bear: 20%×-15.0%=-3.0%  +  Base: 50%×+26.0%=+13.0%  +  Bull: 30%×+47.0%=+14.1%  |  → EV Return: +26.0%</a:t>
            </a:r>
          </a:p>
        </p:txBody>
      </p:sp>
      <p:sp>
        <p:nvSpPr>
          <p:cNvPr id="22" name="TextBox 21"/>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Risks &amp; Mitigants</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Earnings Calls, CapIQ, Bloomberg</a:t>
            </a:r>
          </a:p>
        </p:txBody>
      </p:sp>
      <p:sp>
        <p:nvSpPr>
          <p:cNvPr id="5" name="Rectangle 4"/>
          <p:cNvSpPr/>
          <p:nvPr/>
        </p:nvSpPr>
        <p:spPr>
          <a:xfrm>
            <a:off x="640080" y="749808"/>
            <a:ext cx="11183112" cy="292608"/>
          </a:xfrm>
          <a:prstGeom prst="rect">
            <a:avLst/>
          </a:prstGeom>
          <a:solidFill>
            <a:srgbClr val="EA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04672"/>
            <a:ext cx="10972800" cy="219456"/>
          </a:xfrm>
          <a:prstGeom prst="rect">
            <a:avLst/>
          </a:prstGeom>
          <a:noFill/>
        </p:spPr>
        <p:txBody>
          <a:bodyPr wrap="square">
            <a:normAutofit/>
          </a:bodyPr>
          <a:lstStyle/>
          <a:p>
            <a:pPr algn="ctr"/>
            <a:r>
              <a:rPr sz="1100" b="1" i="1">
                <a:solidFill>
                  <a:srgbClr val="1C2C3A"/>
                </a:solidFill>
                <a:latin typeface="Garamond"/>
              </a:rPr>
              <a:t>Market prices these risks at a higher probability than the underlying data supports</a:t>
            </a:r>
          </a:p>
        </p:txBody>
      </p:sp>
      <p:sp>
        <p:nvSpPr>
          <p:cNvPr id="7" name="Rectangle 6"/>
          <p:cNvSpPr/>
          <p:nvPr/>
        </p:nvSpPr>
        <p:spPr>
          <a:xfrm>
            <a:off x="640080" y="1097280"/>
            <a:ext cx="1508760" cy="27432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194560" y="1097280"/>
            <a:ext cx="6400800" cy="27432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50224" y="1097280"/>
            <a:ext cx="1508760" cy="274320"/>
          </a:xfrm>
          <a:prstGeom prst="rect">
            <a:avLst/>
          </a:prstGeom>
          <a:solidFill>
            <a:srgbClr val="505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213848" y="1097280"/>
            <a:ext cx="1609344" cy="27432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1133856"/>
            <a:ext cx="1399031" cy="219456"/>
          </a:xfrm>
          <a:prstGeom prst="rect">
            <a:avLst/>
          </a:prstGeom>
          <a:noFill/>
        </p:spPr>
        <p:txBody>
          <a:bodyPr wrap="square">
            <a:normAutofit/>
          </a:bodyPr>
          <a:lstStyle/>
          <a:p>
            <a:pPr algn="ctr"/>
            <a:r>
              <a:rPr sz="1000" b="1" i="0">
                <a:solidFill>
                  <a:srgbClr val="FFFFFF"/>
                </a:solidFill>
                <a:latin typeface="Garamond"/>
              </a:rPr>
              <a:t>#</a:t>
            </a:r>
          </a:p>
        </p:txBody>
      </p:sp>
      <p:sp>
        <p:nvSpPr>
          <p:cNvPr id="12" name="TextBox 11"/>
          <p:cNvSpPr txBox="1"/>
          <p:nvPr/>
        </p:nvSpPr>
        <p:spPr>
          <a:xfrm>
            <a:off x="2249424" y="1133856"/>
            <a:ext cx="6291072" cy="219456"/>
          </a:xfrm>
          <a:prstGeom prst="rect">
            <a:avLst/>
          </a:prstGeom>
          <a:noFill/>
        </p:spPr>
        <p:txBody>
          <a:bodyPr wrap="square">
            <a:normAutofit/>
          </a:bodyPr>
          <a:lstStyle/>
          <a:p>
            <a:pPr algn="ctr"/>
            <a:r>
              <a:rPr sz="1000" b="1" i="0">
                <a:solidFill>
                  <a:srgbClr val="FFFFFF"/>
                </a:solidFill>
                <a:latin typeface="Garamond"/>
              </a:rPr>
              <a:t>Risk Description</a:t>
            </a:r>
          </a:p>
        </p:txBody>
      </p:sp>
      <p:sp>
        <p:nvSpPr>
          <p:cNvPr id="13" name="TextBox 12"/>
          <p:cNvSpPr txBox="1"/>
          <p:nvPr/>
        </p:nvSpPr>
        <p:spPr>
          <a:xfrm>
            <a:off x="8705088" y="1133856"/>
            <a:ext cx="1399031" cy="219456"/>
          </a:xfrm>
          <a:prstGeom prst="rect">
            <a:avLst/>
          </a:prstGeom>
          <a:noFill/>
        </p:spPr>
        <p:txBody>
          <a:bodyPr wrap="square">
            <a:normAutofit/>
          </a:bodyPr>
          <a:lstStyle/>
          <a:p>
            <a:pPr algn="ctr"/>
            <a:r>
              <a:rPr sz="1000" b="1" i="0">
                <a:solidFill>
                  <a:srgbClr val="FFFFFF"/>
                </a:solidFill>
                <a:latin typeface="Garamond"/>
              </a:rPr>
              <a:t>Prob / Impact</a:t>
            </a:r>
          </a:p>
        </p:txBody>
      </p:sp>
      <p:sp>
        <p:nvSpPr>
          <p:cNvPr id="14" name="TextBox 13"/>
          <p:cNvSpPr txBox="1"/>
          <p:nvPr/>
        </p:nvSpPr>
        <p:spPr>
          <a:xfrm>
            <a:off x="10268712" y="1133856"/>
            <a:ext cx="1499616" cy="219456"/>
          </a:xfrm>
          <a:prstGeom prst="rect">
            <a:avLst/>
          </a:prstGeom>
          <a:noFill/>
        </p:spPr>
        <p:txBody>
          <a:bodyPr wrap="square">
            <a:normAutofit/>
          </a:bodyPr>
          <a:lstStyle/>
          <a:p>
            <a:pPr algn="ctr"/>
            <a:r>
              <a:rPr sz="1000" b="1" i="0">
                <a:solidFill>
                  <a:srgbClr val="FFFFFF"/>
                </a:solidFill>
                <a:latin typeface="Garamond"/>
              </a:rPr>
              <a:t>Mitigants</a:t>
            </a:r>
          </a:p>
        </p:txBody>
      </p:sp>
      <p:sp>
        <p:nvSpPr>
          <p:cNvPr id="15" name="Rectangle 14"/>
          <p:cNvSpPr/>
          <p:nvPr/>
        </p:nvSpPr>
        <p:spPr>
          <a:xfrm>
            <a:off x="640080" y="1408176"/>
            <a:ext cx="1508760" cy="1572768"/>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481328"/>
            <a:ext cx="1508760" cy="502920"/>
          </a:xfrm>
          <a:prstGeom prst="rect">
            <a:avLst/>
          </a:prstGeom>
          <a:noFill/>
        </p:spPr>
        <p:txBody>
          <a:bodyPr wrap="square">
            <a:normAutofit/>
          </a:bodyPr>
          <a:lstStyle/>
          <a:p>
            <a:pPr algn="ctr"/>
            <a:r>
              <a:rPr sz="2600" b="1" i="0">
                <a:solidFill>
                  <a:srgbClr val="FFFFFF"/>
                </a:solidFill>
                <a:latin typeface="Garamond"/>
              </a:rPr>
              <a:t>1</a:t>
            </a:r>
          </a:p>
        </p:txBody>
      </p:sp>
      <p:sp>
        <p:nvSpPr>
          <p:cNvPr id="17" name="TextBox 16"/>
          <p:cNvSpPr txBox="1"/>
          <p:nvPr/>
        </p:nvSpPr>
        <p:spPr>
          <a:xfrm>
            <a:off x="640080" y="1993392"/>
            <a:ext cx="1508760" cy="987552"/>
          </a:xfrm>
          <a:prstGeom prst="rect">
            <a:avLst/>
          </a:prstGeom>
          <a:noFill/>
        </p:spPr>
        <p:txBody>
          <a:bodyPr wrap="square">
            <a:normAutofit/>
          </a:bodyPr>
          <a:lstStyle/>
          <a:p>
            <a:pPr algn="ctr"/>
            <a:r>
              <a:rPr sz="900" b="1" i="0">
                <a:solidFill>
                  <a:srgbClr val="FFFFFF"/>
                </a:solidFill>
                <a:latin typeface="Garamond"/>
              </a:rPr>
              <a:t>BRL/USD Volatility — Brazil FX Risk</a:t>
            </a:r>
          </a:p>
        </p:txBody>
      </p:sp>
      <p:sp>
        <p:nvSpPr>
          <p:cNvPr id="18" name="Rectangle 17"/>
          <p:cNvSpPr/>
          <p:nvPr/>
        </p:nvSpPr>
        <p:spPr>
          <a:xfrm>
            <a:off x="2194560" y="1408176"/>
            <a:ext cx="6400800" cy="157276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04288" y="1463040"/>
            <a:ext cx="914400" cy="219456"/>
          </a:xfrm>
          <a:prstGeom prst="rect">
            <a:avLst/>
          </a:prstGeom>
          <a:noFill/>
        </p:spPr>
        <p:txBody>
          <a:bodyPr wrap="square">
            <a:normAutofit/>
          </a:bodyPr>
          <a:lstStyle/>
          <a:p>
            <a:pPr algn="l"/>
            <a:r>
              <a:rPr sz="1000" b="1" i="0">
                <a:solidFill>
                  <a:srgbClr val="C00000"/>
                </a:solidFill>
                <a:latin typeface="Garamond"/>
              </a:rPr>
              <a:t>Risk:</a:t>
            </a:r>
          </a:p>
        </p:txBody>
      </p:sp>
      <p:sp>
        <p:nvSpPr>
          <p:cNvPr id="20" name="TextBox 19"/>
          <p:cNvSpPr txBox="1"/>
          <p:nvPr/>
        </p:nvSpPr>
        <p:spPr>
          <a:xfrm>
            <a:off x="2304288" y="1700784"/>
            <a:ext cx="6181344" cy="1225295"/>
          </a:xfrm>
          <a:prstGeom prst="rect">
            <a:avLst/>
          </a:prstGeom>
          <a:noFill/>
        </p:spPr>
        <p:txBody>
          <a:bodyPr wrap="square">
            <a:normAutofit/>
          </a:bodyPr>
          <a:lstStyle/>
          <a:p>
            <a:pPr algn="l"/>
            <a:r>
              <a:rPr sz="1050" b="0" i="0">
                <a:solidFill>
                  <a:srgbClr val="000000"/>
                </a:solidFill>
                <a:latin typeface="Garamond"/>
              </a:rPr>
              <a:t>Brazil represents approximately 10% of SBAC's total revenue, and the BRL/USD exchange rate has historically been highly volatile. A meaningful BRL weakening (e.g., from current ~5.25 back toward 6.00+) would directly impair USD-reported revenue and AFFO/share from the Brazil segment without any operational deterioration in local-curren…</a:t>
            </a:r>
          </a:p>
        </p:txBody>
      </p:sp>
      <p:sp>
        <p:nvSpPr>
          <p:cNvPr id="21" name="Rectangle 20"/>
          <p:cNvSpPr/>
          <p:nvPr/>
        </p:nvSpPr>
        <p:spPr>
          <a:xfrm>
            <a:off x="8650224" y="1408176"/>
            <a:ext cx="1508760" cy="1572768"/>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0" y="1517904"/>
            <a:ext cx="1417320" cy="274320"/>
          </a:xfrm>
          <a:prstGeom prst="rect">
            <a:avLst/>
          </a:prstGeom>
          <a:noFill/>
        </p:spPr>
        <p:txBody>
          <a:bodyPr wrap="square">
            <a:normAutofit/>
          </a:bodyPr>
          <a:lstStyle/>
          <a:p>
            <a:pPr algn="ctr"/>
            <a:r>
              <a:rPr sz="1000" b="1" i="0">
                <a:solidFill>
                  <a:srgbClr val="1C2C3A"/>
                </a:solidFill>
                <a:latin typeface="Garamond"/>
              </a:rPr>
              <a:t>Prob: M</a:t>
            </a:r>
          </a:p>
        </p:txBody>
      </p:sp>
      <p:sp>
        <p:nvSpPr>
          <p:cNvPr id="23" name="TextBox 22"/>
          <p:cNvSpPr txBox="1"/>
          <p:nvPr/>
        </p:nvSpPr>
        <p:spPr>
          <a:xfrm>
            <a:off x="8686800" y="1828800"/>
            <a:ext cx="1417320" cy="274320"/>
          </a:xfrm>
          <a:prstGeom prst="rect">
            <a:avLst/>
          </a:prstGeom>
          <a:noFill/>
        </p:spPr>
        <p:txBody>
          <a:bodyPr wrap="square">
            <a:normAutofit/>
          </a:bodyPr>
          <a:lstStyle/>
          <a:p>
            <a:pPr algn="ctr"/>
            <a:r>
              <a:rPr sz="1000" b="0" i="0">
                <a:solidFill>
                  <a:srgbClr val="1C2C3A"/>
                </a:solidFill>
                <a:latin typeface="Garamond"/>
              </a:rPr>
              <a:t>Impact: M</a:t>
            </a:r>
          </a:p>
        </p:txBody>
      </p:sp>
      <p:sp>
        <p:nvSpPr>
          <p:cNvPr id="24" name="TextBox 23"/>
          <p:cNvSpPr txBox="1"/>
          <p:nvPr/>
        </p:nvSpPr>
        <p:spPr>
          <a:xfrm>
            <a:off x="8686800" y="2157984"/>
            <a:ext cx="1417320" cy="384048"/>
          </a:xfrm>
          <a:prstGeom prst="rect">
            <a:avLst/>
          </a:prstGeom>
          <a:noFill/>
        </p:spPr>
        <p:txBody>
          <a:bodyPr wrap="square">
            <a:normAutofit/>
          </a:bodyPr>
          <a:lstStyle/>
          <a:p>
            <a:pPr algn="ctr"/>
            <a:r>
              <a:rPr sz="1600" b="1" i="0">
                <a:solidFill>
                  <a:srgbClr val="C00000"/>
                </a:solidFill>
                <a:latin typeface="Garamond"/>
              </a:rPr>
              <a:t>-6%</a:t>
            </a:r>
          </a:p>
        </p:txBody>
      </p:sp>
      <p:sp>
        <p:nvSpPr>
          <p:cNvPr id="25" name="Rectangle 24"/>
          <p:cNvSpPr/>
          <p:nvPr/>
        </p:nvSpPr>
        <p:spPr>
          <a:xfrm>
            <a:off x="10213848" y="1408176"/>
            <a:ext cx="1609344" cy="1572768"/>
          </a:xfrm>
          <a:prstGeom prst="rect">
            <a:avLst/>
          </a:prstGeom>
          <a:solidFill>
            <a:srgbClr val="F0FB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9568" y="1463040"/>
            <a:ext cx="1481328" cy="219456"/>
          </a:xfrm>
          <a:prstGeom prst="rect">
            <a:avLst/>
          </a:prstGeom>
          <a:noFill/>
        </p:spPr>
        <p:txBody>
          <a:bodyPr wrap="square">
            <a:normAutofit/>
          </a:bodyPr>
          <a:lstStyle/>
          <a:p>
            <a:pPr algn="l"/>
            <a:r>
              <a:rPr sz="1000" b="1" i="0">
                <a:solidFill>
                  <a:srgbClr val="00B050"/>
                </a:solidFill>
                <a:latin typeface="Garamond"/>
              </a:rPr>
              <a:t>Mitigant:</a:t>
            </a:r>
          </a:p>
        </p:txBody>
      </p:sp>
      <p:sp>
        <p:nvSpPr>
          <p:cNvPr id="27" name="TextBox 26"/>
          <p:cNvSpPr txBox="1"/>
          <p:nvPr/>
        </p:nvSpPr>
        <p:spPr>
          <a:xfrm>
            <a:off x="10259568" y="1700784"/>
            <a:ext cx="1481328" cy="1225295"/>
          </a:xfrm>
          <a:prstGeom prst="rect">
            <a:avLst/>
          </a:prstGeom>
          <a:noFill/>
        </p:spPr>
        <p:txBody>
          <a:bodyPr wrap="square">
            <a:normAutofit/>
          </a:bodyPr>
          <a:lstStyle/>
          <a:p>
            <a:pPr algn="l"/>
            <a:r>
              <a:rPr sz="1000" b="0" i="0">
                <a:solidFill>
                  <a:srgbClr val="000000"/>
                </a:solidFill>
                <a:latin typeface="Garamond"/>
              </a:rPr>
              <a:t>Selic rate at 14.75% provides a strong carry-trade floor — international investors holding BRL-denominated assets earn a substantial real yield, which supports demand for BRL in non-risk-off environments. Brazil's $68…
Monitor: BRL/USD moving above 5.80 and sustaining for more th…</a:t>
            </a:r>
          </a:p>
        </p:txBody>
      </p:sp>
      <p:sp>
        <p:nvSpPr>
          <p:cNvPr id="28" name="Rectangle 27"/>
          <p:cNvSpPr/>
          <p:nvPr/>
        </p:nvSpPr>
        <p:spPr>
          <a:xfrm>
            <a:off x="640080" y="2980944"/>
            <a:ext cx="1508760" cy="1572768"/>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054096"/>
            <a:ext cx="1508760" cy="502920"/>
          </a:xfrm>
          <a:prstGeom prst="rect">
            <a:avLst/>
          </a:prstGeom>
          <a:noFill/>
        </p:spPr>
        <p:txBody>
          <a:bodyPr wrap="square">
            <a:normAutofit/>
          </a:bodyPr>
          <a:lstStyle/>
          <a:p>
            <a:pPr algn="ctr"/>
            <a:r>
              <a:rPr sz="2600" b="1" i="0">
                <a:solidFill>
                  <a:srgbClr val="FFFFFF"/>
                </a:solidFill>
                <a:latin typeface="Garamond"/>
              </a:rPr>
              <a:t>2</a:t>
            </a:r>
          </a:p>
        </p:txBody>
      </p:sp>
      <p:sp>
        <p:nvSpPr>
          <p:cNvPr id="30" name="TextBox 29"/>
          <p:cNvSpPr txBox="1"/>
          <p:nvPr/>
        </p:nvSpPr>
        <p:spPr>
          <a:xfrm>
            <a:off x="640080" y="3566160"/>
            <a:ext cx="1508760" cy="987552"/>
          </a:xfrm>
          <a:prstGeom prst="rect">
            <a:avLst/>
          </a:prstGeom>
          <a:noFill/>
        </p:spPr>
        <p:txBody>
          <a:bodyPr wrap="square">
            <a:normAutofit/>
          </a:bodyPr>
          <a:lstStyle/>
          <a:p>
            <a:pPr algn="ctr"/>
            <a:r>
              <a:rPr sz="900" b="1" i="0">
                <a:solidFill>
                  <a:srgbClr val="FFFFFF"/>
                </a:solidFill>
                <a:latin typeface="Garamond"/>
              </a:rPr>
              <a:t>Interest Rate Sensitivity — Braz…</a:t>
            </a:r>
          </a:p>
        </p:txBody>
      </p:sp>
      <p:sp>
        <p:nvSpPr>
          <p:cNvPr id="31" name="Rectangle 30"/>
          <p:cNvSpPr/>
          <p:nvPr/>
        </p:nvSpPr>
        <p:spPr>
          <a:xfrm>
            <a:off x="2194560" y="2980944"/>
            <a:ext cx="6400800" cy="1572768"/>
          </a:xfrm>
          <a:prstGeom prst="rect">
            <a:avLst/>
          </a:prstGeom>
          <a:solidFill>
            <a:srgbClr val="EFEF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04288" y="3035808"/>
            <a:ext cx="914400" cy="219456"/>
          </a:xfrm>
          <a:prstGeom prst="rect">
            <a:avLst/>
          </a:prstGeom>
          <a:noFill/>
        </p:spPr>
        <p:txBody>
          <a:bodyPr wrap="square">
            <a:normAutofit/>
          </a:bodyPr>
          <a:lstStyle/>
          <a:p>
            <a:pPr algn="l"/>
            <a:r>
              <a:rPr sz="1000" b="1" i="0">
                <a:solidFill>
                  <a:srgbClr val="C00000"/>
                </a:solidFill>
                <a:latin typeface="Garamond"/>
              </a:rPr>
              <a:t>Risk:</a:t>
            </a:r>
          </a:p>
        </p:txBody>
      </p:sp>
      <p:sp>
        <p:nvSpPr>
          <p:cNvPr id="33" name="TextBox 32"/>
          <p:cNvSpPr txBox="1"/>
          <p:nvPr/>
        </p:nvSpPr>
        <p:spPr>
          <a:xfrm>
            <a:off x="2304288" y="3273551"/>
            <a:ext cx="6181344" cy="1225295"/>
          </a:xfrm>
          <a:prstGeom prst="rect">
            <a:avLst/>
          </a:prstGeom>
          <a:noFill/>
        </p:spPr>
        <p:txBody>
          <a:bodyPr wrap="square">
            <a:normAutofit/>
          </a:bodyPr>
          <a:lstStyle/>
          <a:p>
            <a:pPr algn="l"/>
            <a:r>
              <a:rPr sz="1050" b="0" i="0">
                <a:solidFill>
                  <a:srgbClr val="000000"/>
                </a:solidFill>
                <a:latin typeface="Garamond"/>
              </a:rPr>
              <a:t>Higher interest rates impact SBAC through two channels: (1) In Brazil, elevated domestic rates increase carrier cost of capital, potentially slowing discretionary tower amendment activity above the mandatory 5G build requirements. (2) In the US, higher rates suppress tower REIT valuations as investors compare infrastructure yield to ri…</a:t>
            </a:r>
          </a:p>
        </p:txBody>
      </p:sp>
      <p:sp>
        <p:nvSpPr>
          <p:cNvPr id="34" name="Rectangle 33"/>
          <p:cNvSpPr/>
          <p:nvPr/>
        </p:nvSpPr>
        <p:spPr>
          <a:xfrm>
            <a:off x="8650224" y="2980944"/>
            <a:ext cx="1508760" cy="1572768"/>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0" y="3090672"/>
            <a:ext cx="1417320" cy="274320"/>
          </a:xfrm>
          <a:prstGeom prst="rect">
            <a:avLst/>
          </a:prstGeom>
          <a:noFill/>
        </p:spPr>
        <p:txBody>
          <a:bodyPr wrap="square">
            <a:normAutofit/>
          </a:bodyPr>
          <a:lstStyle/>
          <a:p>
            <a:pPr algn="ctr"/>
            <a:r>
              <a:rPr sz="1000" b="1" i="0">
                <a:solidFill>
                  <a:srgbClr val="1C2C3A"/>
                </a:solidFill>
                <a:latin typeface="Garamond"/>
              </a:rPr>
              <a:t>Prob: M</a:t>
            </a:r>
          </a:p>
        </p:txBody>
      </p:sp>
      <p:sp>
        <p:nvSpPr>
          <p:cNvPr id="36" name="TextBox 35"/>
          <p:cNvSpPr txBox="1"/>
          <p:nvPr/>
        </p:nvSpPr>
        <p:spPr>
          <a:xfrm>
            <a:off x="8686800" y="3401568"/>
            <a:ext cx="1417320" cy="274320"/>
          </a:xfrm>
          <a:prstGeom prst="rect">
            <a:avLst/>
          </a:prstGeom>
          <a:noFill/>
        </p:spPr>
        <p:txBody>
          <a:bodyPr wrap="square">
            <a:normAutofit/>
          </a:bodyPr>
          <a:lstStyle/>
          <a:p>
            <a:pPr algn="ctr"/>
            <a:r>
              <a:rPr sz="1000" b="0" i="0">
                <a:solidFill>
                  <a:srgbClr val="1C2C3A"/>
                </a:solidFill>
                <a:latin typeface="Garamond"/>
              </a:rPr>
              <a:t>Impact: M</a:t>
            </a:r>
          </a:p>
        </p:txBody>
      </p:sp>
      <p:sp>
        <p:nvSpPr>
          <p:cNvPr id="37" name="TextBox 36"/>
          <p:cNvSpPr txBox="1"/>
          <p:nvPr/>
        </p:nvSpPr>
        <p:spPr>
          <a:xfrm>
            <a:off x="8686800" y="3730752"/>
            <a:ext cx="1417320" cy="384048"/>
          </a:xfrm>
          <a:prstGeom prst="rect">
            <a:avLst/>
          </a:prstGeom>
          <a:noFill/>
        </p:spPr>
        <p:txBody>
          <a:bodyPr wrap="square">
            <a:normAutofit/>
          </a:bodyPr>
          <a:lstStyle/>
          <a:p>
            <a:pPr algn="ctr"/>
            <a:r>
              <a:rPr sz="1600" b="1" i="0">
                <a:solidFill>
                  <a:srgbClr val="C00000"/>
                </a:solidFill>
                <a:latin typeface="Garamond"/>
              </a:rPr>
              <a:t>-12%</a:t>
            </a:r>
          </a:p>
        </p:txBody>
      </p:sp>
      <p:sp>
        <p:nvSpPr>
          <p:cNvPr id="38" name="Rectangle 37"/>
          <p:cNvSpPr/>
          <p:nvPr/>
        </p:nvSpPr>
        <p:spPr>
          <a:xfrm>
            <a:off x="10213848" y="2980944"/>
            <a:ext cx="1609344" cy="1572768"/>
          </a:xfrm>
          <a:prstGeom prst="rect">
            <a:avLst/>
          </a:prstGeom>
          <a:solidFill>
            <a:srgbClr val="F0FB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59568" y="3035808"/>
            <a:ext cx="1481328" cy="219456"/>
          </a:xfrm>
          <a:prstGeom prst="rect">
            <a:avLst/>
          </a:prstGeom>
          <a:noFill/>
        </p:spPr>
        <p:txBody>
          <a:bodyPr wrap="square">
            <a:normAutofit/>
          </a:bodyPr>
          <a:lstStyle/>
          <a:p>
            <a:pPr algn="l"/>
            <a:r>
              <a:rPr sz="1000" b="1" i="0">
                <a:solidFill>
                  <a:srgbClr val="00B050"/>
                </a:solidFill>
                <a:latin typeface="Garamond"/>
              </a:rPr>
              <a:t>Mitigant:</a:t>
            </a:r>
          </a:p>
        </p:txBody>
      </p:sp>
      <p:sp>
        <p:nvSpPr>
          <p:cNvPr id="40" name="TextBox 39"/>
          <p:cNvSpPr txBox="1"/>
          <p:nvPr/>
        </p:nvSpPr>
        <p:spPr>
          <a:xfrm>
            <a:off x="10259568" y="3273551"/>
            <a:ext cx="1481328" cy="1225295"/>
          </a:xfrm>
          <a:prstGeom prst="rect">
            <a:avLst/>
          </a:prstGeom>
          <a:noFill/>
        </p:spPr>
        <p:txBody>
          <a:bodyPr wrap="square">
            <a:normAutofit/>
          </a:bodyPr>
          <a:lstStyle/>
          <a:p>
            <a:pPr algn="l"/>
            <a:r>
              <a:rPr sz="1000" b="0" i="0">
                <a:solidFill>
                  <a:srgbClr val="000000"/>
                </a:solidFill>
                <a:latin typeface="Garamond"/>
              </a:rPr>
              <a:t>97% of SBAC's debt is fixed-rate at 3.7% weighted average coupon — this is the critical mitigant. Unlike most leveraged real estate, SBAC is effectively insulated from interest expense increases on its existing debt s…
Monitor: 10-year UST sustaining above 5.0% for more than 2 co…</a:t>
            </a:r>
          </a:p>
        </p:txBody>
      </p:sp>
      <p:sp>
        <p:nvSpPr>
          <p:cNvPr id="41" name="Rectangle 40"/>
          <p:cNvSpPr/>
          <p:nvPr/>
        </p:nvSpPr>
        <p:spPr>
          <a:xfrm>
            <a:off x="640080" y="4553712"/>
            <a:ext cx="1508760" cy="1572768"/>
          </a:xfrm>
          <a:prstGeom prst="rect">
            <a:avLst/>
          </a:prstGeom>
          <a:solidFill>
            <a:srgbClr val="FFC0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626864"/>
            <a:ext cx="1508760" cy="502920"/>
          </a:xfrm>
          <a:prstGeom prst="rect">
            <a:avLst/>
          </a:prstGeom>
          <a:noFill/>
        </p:spPr>
        <p:txBody>
          <a:bodyPr wrap="square">
            <a:normAutofit/>
          </a:bodyPr>
          <a:lstStyle/>
          <a:p>
            <a:pPr algn="ctr"/>
            <a:r>
              <a:rPr sz="2600" b="1" i="0">
                <a:solidFill>
                  <a:srgbClr val="FFFFFF"/>
                </a:solidFill>
                <a:latin typeface="Garamond"/>
              </a:rPr>
              <a:t>3</a:t>
            </a:r>
          </a:p>
        </p:txBody>
      </p:sp>
      <p:sp>
        <p:nvSpPr>
          <p:cNvPr id="43" name="TextBox 42"/>
          <p:cNvSpPr txBox="1"/>
          <p:nvPr/>
        </p:nvSpPr>
        <p:spPr>
          <a:xfrm>
            <a:off x="640080" y="5138928"/>
            <a:ext cx="1508760" cy="987552"/>
          </a:xfrm>
          <a:prstGeom prst="rect">
            <a:avLst/>
          </a:prstGeom>
          <a:noFill/>
        </p:spPr>
        <p:txBody>
          <a:bodyPr wrap="square">
            <a:normAutofit/>
          </a:bodyPr>
          <a:lstStyle/>
          <a:p>
            <a:pPr algn="ctr"/>
            <a:r>
              <a:rPr sz="900" b="1" i="0">
                <a:solidFill>
                  <a:srgbClr val="FFFFFF"/>
                </a:solidFill>
                <a:latin typeface="Garamond"/>
              </a:rPr>
              <a:t>Tenant Concentration — T-Mobile …</a:t>
            </a:r>
          </a:p>
        </p:txBody>
      </p:sp>
      <p:sp>
        <p:nvSpPr>
          <p:cNvPr id="44" name="TextBox 43"/>
          <p:cNvSpPr txBox="1"/>
          <p:nvPr/>
        </p:nvSpPr>
        <p:spPr>
          <a:xfrm>
            <a:off x="640080" y="5623560"/>
            <a:ext cx="1508760" cy="438912"/>
          </a:xfrm>
          <a:prstGeom prst="rect">
            <a:avLst/>
          </a:prstGeom>
          <a:noFill/>
        </p:spPr>
        <p:txBody>
          <a:bodyPr wrap="square">
            <a:normAutofit/>
          </a:bodyPr>
          <a:lstStyle/>
          <a:p>
            <a:pPr algn="ctr"/>
            <a:r>
              <a:rPr sz="800" b="1" i="0">
                <a:solidFill>
                  <a:srgbClr val="FFFF80"/>
                </a:solidFill>
                <a:latin typeface="Garamond"/>
              </a:rPr>
              <a:t>THESIS
KILLER</a:t>
            </a:r>
          </a:p>
        </p:txBody>
      </p:sp>
      <p:sp>
        <p:nvSpPr>
          <p:cNvPr id="45" name="Rectangle 44"/>
          <p:cNvSpPr/>
          <p:nvPr/>
        </p:nvSpPr>
        <p:spPr>
          <a:xfrm>
            <a:off x="2194560" y="4553712"/>
            <a:ext cx="6400800" cy="157276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304288" y="4608576"/>
            <a:ext cx="914400" cy="219456"/>
          </a:xfrm>
          <a:prstGeom prst="rect">
            <a:avLst/>
          </a:prstGeom>
          <a:noFill/>
        </p:spPr>
        <p:txBody>
          <a:bodyPr wrap="square">
            <a:normAutofit/>
          </a:bodyPr>
          <a:lstStyle/>
          <a:p>
            <a:pPr algn="l"/>
            <a:r>
              <a:rPr sz="1000" b="1" i="0">
                <a:solidFill>
                  <a:srgbClr val="C00000"/>
                </a:solidFill>
                <a:latin typeface="Garamond"/>
              </a:rPr>
              <a:t>Risk:</a:t>
            </a:r>
          </a:p>
        </p:txBody>
      </p:sp>
      <p:sp>
        <p:nvSpPr>
          <p:cNvPr id="47" name="TextBox 46"/>
          <p:cNvSpPr txBox="1"/>
          <p:nvPr/>
        </p:nvSpPr>
        <p:spPr>
          <a:xfrm>
            <a:off x="2304288" y="4846320"/>
            <a:ext cx="6181344" cy="1225295"/>
          </a:xfrm>
          <a:prstGeom prst="rect">
            <a:avLst/>
          </a:prstGeom>
          <a:noFill/>
        </p:spPr>
        <p:txBody>
          <a:bodyPr wrap="square">
            <a:normAutofit/>
          </a:bodyPr>
          <a:lstStyle/>
          <a:p>
            <a:pPr algn="l"/>
            <a:r>
              <a:rPr sz="1050" b="0" i="0">
                <a:solidFill>
                  <a:srgbClr val="000000"/>
                </a:solidFill>
                <a:latin typeface="Garamond"/>
              </a:rPr>
              <a:t>T-Mobile represents approximately 23% of SBAC's revenue (AT&amp;T ~27%, Verizon ~22%). T-Mobile's current MLA expires in Q4 2026, creating a renegotiation event that could result in: (1) a step-down in escalator rates from the current ~3% to a lower rate, (2) a reduction in the number of leased tower sites, or (3) in the extreme scenario, …</a:t>
            </a:r>
          </a:p>
        </p:txBody>
      </p:sp>
      <p:sp>
        <p:nvSpPr>
          <p:cNvPr id="48" name="Rectangle 47"/>
          <p:cNvSpPr/>
          <p:nvPr/>
        </p:nvSpPr>
        <p:spPr>
          <a:xfrm>
            <a:off x="8650224" y="4553712"/>
            <a:ext cx="1508760" cy="1572768"/>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0" y="4663440"/>
            <a:ext cx="1417320" cy="274320"/>
          </a:xfrm>
          <a:prstGeom prst="rect">
            <a:avLst/>
          </a:prstGeom>
          <a:noFill/>
        </p:spPr>
        <p:txBody>
          <a:bodyPr wrap="square">
            <a:normAutofit/>
          </a:bodyPr>
          <a:lstStyle/>
          <a:p>
            <a:pPr algn="ctr"/>
            <a:r>
              <a:rPr sz="1000" b="1" i="0">
                <a:solidFill>
                  <a:srgbClr val="1C2C3A"/>
                </a:solidFill>
                <a:latin typeface="Garamond"/>
              </a:rPr>
              <a:t>Prob: M</a:t>
            </a:r>
          </a:p>
        </p:txBody>
      </p:sp>
      <p:sp>
        <p:nvSpPr>
          <p:cNvPr id="50" name="TextBox 49"/>
          <p:cNvSpPr txBox="1"/>
          <p:nvPr/>
        </p:nvSpPr>
        <p:spPr>
          <a:xfrm>
            <a:off x="8686800" y="4974336"/>
            <a:ext cx="1417320" cy="274320"/>
          </a:xfrm>
          <a:prstGeom prst="rect">
            <a:avLst/>
          </a:prstGeom>
          <a:noFill/>
        </p:spPr>
        <p:txBody>
          <a:bodyPr wrap="square">
            <a:normAutofit/>
          </a:bodyPr>
          <a:lstStyle/>
          <a:p>
            <a:pPr algn="ctr"/>
            <a:r>
              <a:rPr sz="1000" b="0" i="0">
                <a:solidFill>
                  <a:srgbClr val="1C2C3A"/>
                </a:solidFill>
                <a:latin typeface="Garamond"/>
              </a:rPr>
              <a:t>Impact: M</a:t>
            </a:r>
          </a:p>
        </p:txBody>
      </p:sp>
      <p:sp>
        <p:nvSpPr>
          <p:cNvPr id="51" name="TextBox 50"/>
          <p:cNvSpPr txBox="1"/>
          <p:nvPr/>
        </p:nvSpPr>
        <p:spPr>
          <a:xfrm>
            <a:off x="8686800" y="5303520"/>
            <a:ext cx="1417320" cy="384048"/>
          </a:xfrm>
          <a:prstGeom prst="rect">
            <a:avLst/>
          </a:prstGeom>
          <a:noFill/>
        </p:spPr>
        <p:txBody>
          <a:bodyPr wrap="square">
            <a:normAutofit/>
          </a:bodyPr>
          <a:lstStyle/>
          <a:p>
            <a:pPr algn="ctr"/>
            <a:r>
              <a:rPr sz="1600" b="1" i="0">
                <a:solidFill>
                  <a:srgbClr val="C00000"/>
                </a:solidFill>
                <a:latin typeface="Garamond"/>
              </a:rPr>
              <a:t>-15%</a:t>
            </a:r>
          </a:p>
        </p:txBody>
      </p:sp>
      <p:sp>
        <p:nvSpPr>
          <p:cNvPr id="52" name="Rectangle 51"/>
          <p:cNvSpPr/>
          <p:nvPr/>
        </p:nvSpPr>
        <p:spPr>
          <a:xfrm>
            <a:off x="10213848" y="4553712"/>
            <a:ext cx="1609344" cy="1572768"/>
          </a:xfrm>
          <a:prstGeom prst="rect">
            <a:avLst/>
          </a:prstGeom>
          <a:solidFill>
            <a:srgbClr val="F0FB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59568" y="4608576"/>
            <a:ext cx="1481328" cy="219456"/>
          </a:xfrm>
          <a:prstGeom prst="rect">
            <a:avLst/>
          </a:prstGeom>
          <a:noFill/>
        </p:spPr>
        <p:txBody>
          <a:bodyPr wrap="square">
            <a:normAutofit/>
          </a:bodyPr>
          <a:lstStyle/>
          <a:p>
            <a:pPr algn="l"/>
            <a:r>
              <a:rPr sz="1000" b="1" i="0">
                <a:solidFill>
                  <a:srgbClr val="00B050"/>
                </a:solidFill>
                <a:latin typeface="Garamond"/>
              </a:rPr>
              <a:t>Mitigant:</a:t>
            </a:r>
          </a:p>
        </p:txBody>
      </p:sp>
      <p:sp>
        <p:nvSpPr>
          <p:cNvPr id="54" name="TextBox 53"/>
          <p:cNvSpPr txBox="1"/>
          <p:nvPr/>
        </p:nvSpPr>
        <p:spPr>
          <a:xfrm>
            <a:off x="10259568" y="4846320"/>
            <a:ext cx="1481328" cy="1225295"/>
          </a:xfrm>
          <a:prstGeom prst="rect">
            <a:avLst/>
          </a:prstGeom>
          <a:noFill/>
        </p:spPr>
        <p:txBody>
          <a:bodyPr wrap="square">
            <a:normAutofit/>
          </a:bodyPr>
          <a:lstStyle/>
          <a:p>
            <a:pPr algn="l"/>
            <a:r>
              <a:rPr sz="1000" b="0" i="0">
                <a:solidFill>
                  <a:srgbClr val="000000"/>
                </a:solidFill>
                <a:latin typeface="Garamond"/>
              </a:rPr>
              <a:t>T-Mobile's FWA (Fixed Wireless Access) strategy targets 15M subscribers — a goal that requires extensive macro tower densification that cannot be achieved without SBAC's established tower network. Migrating equipment …
Monitor: Any public disclosure from T-Mobile or SBAC about ML…</a:t>
            </a:r>
          </a:p>
        </p:txBody>
      </p:sp>
      <p:sp>
        <p:nvSpPr>
          <p:cNvPr id="55" name="TextBox 54"/>
          <p:cNvSpPr txBox="1"/>
          <p:nvPr/>
        </p:nvSpPr>
        <p:spPr>
          <a:xfrm>
            <a:off x="640080" y="6035040"/>
            <a:ext cx="11183112" cy="292608"/>
          </a:xfrm>
          <a:prstGeom prst="rect">
            <a:avLst/>
          </a:prstGeom>
          <a:noFill/>
        </p:spPr>
        <p:txBody>
          <a:bodyPr wrap="square">
            <a:normAutofit/>
          </a:bodyPr>
          <a:lstStyle/>
          <a:p>
            <a:pPr algn="l"/>
            <a:r>
              <a:rPr sz="850" b="0" i="1">
                <a:solidFill>
                  <a:srgbClr val="595959"/>
                </a:solidFill>
                <a:latin typeface="Garamond"/>
              </a:rPr>
              <a:t>What would make us wrong:  T-Mobile formally announces MLA renewal with materially lower escalator rates…  |  Brazil 5G mandatory build deadlines are formally suspended, significantly del…  |  Sprint churn schedule is extended beyond disclosed amounts — new T-Mobile con…</a:t>
            </a:r>
          </a:p>
        </p:txBody>
      </p:sp>
      <p:sp>
        <p:nvSpPr>
          <p:cNvPr id="56" name="TextBox 55"/>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What You Need to Believe</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CapIQ, Bloomberg, Investor Presentations</a:t>
            </a:r>
          </a:p>
        </p:txBody>
      </p:sp>
      <p:sp>
        <p:nvSpPr>
          <p:cNvPr id="5" name="TextBox 4"/>
          <p:cNvSpPr txBox="1"/>
          <p:nvPr/>
        </p:nvSpPr>
        <p:spPr>
          <a:xfrm>
            <a:off x="640080" y="749808"/>
            <a:ext cx="11183112" cy="292608"/>
          </a:xfrm>
          <a:prstGeom prst="rect">
            <a:avLst/>
          </a:prstGeom>
          <a:noFill/>
        </p:spPr>
        <p:txBody>
          <a:bodyPr wrap="square">
            <a:normAutofit/>
          </a:bodyPr>
          <a:lstStyle/>
          <a:p>
            <a:pPr algn="ctr"/>
            <a:r>
              <a:rPr sz="1200" b="1" i="1">
                <a:solidFill>
                  <a:srgbClr val="1C2C3A"/>
                </a:solidFill>
                <a:latin typeface="Garamond"/>
              </a:rPr>
              <a:t>We believe our investment theses position us to get into an excellent name at the right time</a:t>
            </a:r>
          </a:p>
        </p:txBody>
      </p:sp>
      <p:sp>
        <p:nvSpPr>
          <p:cNvPr id="6" name="Rectangle 5"/>
          <p:cNvSpPr/>
          <p:nvPr/>
        </p:nvSpPr>
        <p:spPr>
          <a:xfrm>
            <a:off x="640080" y="1097280"/>
            <a:ext cx="3108960" cy="31089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 y="1124712"/>
            <a:ext cx="2999232" cy="256032"/>
          </a:xfrm>
          <a:prstGeom prst="rect">
            <a:avLst/>
          </a:prstGeom>
          <a:noFill/>
        </p:spPr>
        <p:txBody>
          <a:bodyPr wrap="square">
            <a:normAutofit/>
          </a:bodyPr>
          <a:lstStyle/>
          <a:p>
            <a:pPr algn="ctr"/>
            <a:r>
              <a:rPr sz="1200" b="1" i="0">
                <a:solidFill>
                  <a:srgbClr val="FFFFFF"/>
                </a:solidFill>
                <a:latin typeface="Garamond"/>
              </a:rPr>
              <a:t>Key Debate</a:t>
            </a:r>
          </a:p>
        </p:txBody>
      </p:sp>
      <p:sp>
        <p:nvSpPr>
          <p:cNvPr id="8" name="Rectangle 7"/>
          <p:cNvSpPr/>
          <p:nvPr/>
        </p:nvSpPr>
        <p:spPr>
          <a:xfrm>
            <a:off x="3858768" y="1097280"/>
            <a:ext cx="4041648" cy="310896"/>
          </a:xfrm>
          <a:prstGeom prst="rect">
            <a:avLst/>
          </a:prstGeom>
          <a:solidFill>
            <a:srgbClr val="A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13631" y="1124712"/>
            <a:ext cx="3931920" cy="256032"/>
          </a:xfrm>
          <a:prstGeom prst="rect">
            <a:avLst/>
          </a:prstGeom>
          <a:noFill/>
        </p:spPr>
        <p:txBody>
          <a:bodyPr wrap="square">
            <a:normAutofit/>
          </a:bodyPr>
          <a:lstStyle/>
          <a:p>
            <a:pPr algn="ctr"/>
            <a:r>
              <a:rPr sz="1200" b="1" i="0">
                <a:solidFill>
                  <a:srgbClr val="FFFFFF"/>
                </a:solidFill>
                <a:latin typeface="Garamond"/>
              </a:rPr>
              <a:t>Street View</a:t>
            </a:r>
          </a:p>
        </p:txBody>
      </p:sp>
      <p:sp>
        <p:nvSpPr>
          <p:cNvPr id="10" name="Rectangle 9"/>
          <p:cNvSpPr/>
          <p:nvPr/>
        </p:nvSpPr>
        <p:spPr>
          <a:xfrm>
            <a:off x="8010144" y="1097280"/>
            <a:ext cx="4032504" cy="310896"/>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1124712"/>
            <a:ext cx="3922776" cy="256032"/>
          </a:xfrm>
          <a:prstGeom prst="rect">
            <a:avLst/>
          </a:prstGeom>
          <a:noFill/>
        </p:spPr>
        <p:txBody>
          <a:bodyPr wrap="square">
            <a:normAutofit/>
          </a:bodyPr>
          <a:lstStyle/>
          <a:p>
            <a:pPr algn="ctr"/>
            <a:r>
              <a:rPr sz="1200" b="1" i="0">
                <a:solidFill>
                  <a:srgbClr val="FFFFFF"/>
                </a:solidFill>
                <a:latin typeface="Garamond"/>
              </a:rPr>
              <a:t>Our View</a:t>
            </a:r>
          </a:p>
        </p:txBody>
      </p:sp>
      <p:sp>
        <p:nvSpPr>
          <p:cNvPr id="12" name="Rectangle 11"/>
          <p:cNvSpPr/>
          <p:nvPr/>
        </p:nvSpPr>
        <p:spPr>
          <a:xfrm>
            <a:off x="640080" y="1435608"/>
            <a:ext cx="3108960" cy="14173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1435608"/>
            <a:ext cx="54864" cy="141732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1527048"/>
            <a:ext cx="2926079" cy="1271016"/>
          </a:xfrm>
          <a:prstGeom prst="rect">
            <a:avLst/>
          </a:prstGeom>
          <a:noFill/>
        </p:spPr>
        <p:txBody>
          <a:bodyPr wrap="square">
            <a:normAutofit/>
          </a:bodyPr>
          <a:lstStyle/>
          <a:p>
            <a:pPr algn="l"/>
            <a:r>
              <a:rPr sz="1050" b="0" i="0">
                <a:solidFill>
                  <a:srgbClr val="000000"/>
                </a:solidFill>
                <a:latin typeface="Garamond"/>
              </a:rPr>
              <a:t>Whether Sprint/DISH churn is finite (as we argue) or an indicator of structurally lower carrier demand for SBAC's towers</a:t>
            </a:r>
          </a:p>
        </p:txBody>
      </p:sp>
      <p:sp>
        <p:nvSpPr>
          <p:cNvPr id="15" name="Rectangle 14"/>
          <p:cNvSpPr/>
          <p:nvPr/>
        </p:nvSpPr>
        <p:spPr>
          <a:xfrm>
            <a:off x="3858768" y="1435608"/>
            <a:ext cx="4041648" cy="1417320"/>
          </a:xfrm>
          <a:prstGeom prst="rect">
            <a:avLst/>
          </a:prstGeom>
          <a:solidFill>
            <a:srgbClr val="FFD2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58768" y="1435608"/>
            <a:ext cx="54864" cy="1417320"/>
          </a:xfrm>
          <a:prstGeom prst="rect">
            <a:avLst/>
          </a:prstGeom>
          <a:solidFill>
            <a:srgbClr val="A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8496" y="1527048"/>
            <a:ext cx="3858768" cy="1271016"/>
          </a:xfrm>
          <a:prstGeom prst="rect">
            <a:avLst/>
          </a:prstGeom>
          <a:noFill/>
        </p:spPr>
        <p:txBody>
          <a:bodyPr wrap="square">
            <a:normAutofit/>
          </a:bodyPr>
          <a:lstStyle/>
          <a:p>
            <a:pPr algn="l"/>
            <a:r>
              <a:rPr sz="1050" b="0" i="0">
                <a:solidFill>
                  <a:srgbClr val="000000"/>
                </a:solidFill>
                <a:latin typeface="Garamond"/>
              </a:rPr>
              <a:t>The DISH default and Sprint churn represent carriers finding ways to reduce tower exposure. Future MLAs may be renegotiated at lower rates. Churn could exceed the disclosed schedule if T-Mobile continues consolidating network assets.</a:t>
            </a:r>
          </a:p>
        </p:txBody>
      </p:sp>
      <p:sp>
        <p:nvSpPr>
          <p:cNvPr id="18" name="Rectangle 17"/>
          <p:cNvSpPr/>
          <p:nvPr/>
        </p:nvSpPr>
        <p:spPr>
          <a:xfrm>
            <a:off x="8010144" y="1435608"/>
            <a:ext cx="4032504" cy="1417320"/>
          </a:xfrm>
          <a:prstGeom prst="rect">
            <a:avLst/>
          </a:prstGeom>
          <a:solidFill>
            <a:srgbClr val="C5F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1435608"/>
            <a:ext cx="54864" cy="141732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9871" y="1527048"/>
            <a:ext cx="3849624" cy="1271016"/>
          </a:xfrm>
          <a:prstGeom prst="rect">
            <a:avLst/>
          </a:prstGeom>
          <a:noFill/>
        </p:spPr>
        <p:txBody>
          <a:bodyPr wrap="square">
            <a:normAutofit/>
          </a:bodyPr>
          <a:lstStyle/>
          <a:p>
            <a:pPr algn="l"/>
            <a:r>
              <a:rPr sz="1050" b="0" i="0">
                <a:solidFill>
                  <a:srgbClr val="000000"/>
                </a:solidFill>
                <a:latin typeface="Garamond"/>
              </a:rPr>
              <a:t>Sprint churn is contractually scheduled and publicly disclosed — not an open-ended drain. DISH defaulted on payments and SBAC terminated the contract and filed suit, which is the correct response, not a sign of structural weakness. The Verizon 10-year MLA a…</a:t>
            </a:r>
          </a:p>
        </p:txBody>
      </p:sp>
      <p:sp>
        <p:nvSpPr>
          <p:cNvPr id="21" name="Rectangle 20"/>
          <p:cNvSpPr/>
          <p:nvPr/>
        </p:nvSpPr>
        <p:spPr>
          <a:xfrm>
            <a:off x="640080" y="2889504"/>
            <a:ext cx="3108960" cy="141732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2889504"/>
            <a:ext cx="54864" cy="141732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2980944"/>
            <a:ext cx="2926079" cy="1271016"/>
          </a:xfrm>
          <a:prstGeom prst="rect">
            <a:avLst/>
          </a:prstGeom>
          <a:noFill/>
        </p:spPr>
        <p:txBody>
          <a:bodyPr wrap="square">
            <a:normAutofit/>
          </a:bodyPr>
          <a:lstStyle/>
          <a:p>
            <a:pPr algn="l"/>
            <a:r>
              <a:rPr sz="1050" b="0" i="0">
                <a:solidFill>
                  <a:srgbClr val="000000"/>
                </a:solidFill>
                <a:latin typeface="Garamond"/>
              </a:rPr>
              <a:t>Whether Brazil's mandatory 5G build deadlines translate into actual SBAC leasing revenue on a predictable timeline</a:t>
            </a:r>
          </a:p>
        </p:txBody>
      </p:sp>
      <p:sp>
        <p:nvSpPr>
          <p:cNvPr id="24" name="Rectangle 23"/>
          <p:cNvSpPr/>
          <p:nvPr/>
        </p:nvSpPr>
        <p:spPr>
          <a:xfrm>
            <a:off x="3858768" y="2889504"/>
            <a:ext cx="4041648" cy="1417320"/>
          </a:xfrm>
          <a:prstGeom prst="rect">
            <a:avLst/>
          </a:prstGeom>
          <a:solidFill>
            <a:srgbClr val="FFD2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858768" y="2889504"/>
            <a:ext cx="54864" cy="1417320"/>
          </a:xfrm>
          <a:prstGeom prst="rect">
            <a:avLst/>
          </a:prstGeom>
          <a:solidFill>
            <a:srgbClr val="A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68496" y="2980944"/>
            <a:ext cx="3858768" cy="1271016"/>
          </a:xfrm>
          <a:prstGeom prst="rect">
            <a:avLst/>
          </a:prstGeom>
          <a:noFill/>
        </p:spPr>
        <p:txBody>
          <a:bodyPr wrap="square">
            <a:normAutofit/>
          </a:bodyPr>
          <a:lstStyle/>
          <a:p>
            <a:pPr algn="l"/>
            <a:r>
              <a:rPr sz="1050" b="0" i="0">
                <a:solidFill>
                  <a:srgbClr val="000000"/>
                </a:solidFill>
                <a:latin typeface="Garamond"/>
              </a:rPr>
              <a:t>LatAm regulatory timelines often slip. Currency risk, inflation, and carrier financial health in Brazil could delay deployments. 5G build-out may rely on small cells in dense cities rather than macro tower amendments.</a:t>
            </a:r>
          </a:p>
        </p:txBody>
      </p:sp>
      <p:sp>
        <p:nvSpPr>
          <p:cNvPr id="27" name="Rectangle 26"/>
          <p:cNvSpPr/>
          <p:nvPr/>
        </p:nvSpPr>
        <p:spPr>
          <a:xfrm>
            <a:off x="8010144" y="2889504"/>
            <a:ext cx="4032504" cy="1417320"/>
          </a:xfrm>
          <a:prstGeom prst="rect">
            <a:avLst/>
          </a:prstGeom>
          <a:solidFill>
            <a:srgbClr val="C5F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10144" y="2889504"/>
            <a:ext cx="54864" cy="141732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19871" y="2980944"/>
            <a:ext cx="3849624" cy="1271016"/>
          </a:xfrm>
          <a:prstGeom prst="rect">
            <a:avLst/>
          </a:prstGeom>
          <a:noFill/>
        </p:spPr>
        <p:txBody>
          <a:bodyPr wrap="square">
            <a:normAutofit/>
          </a:bodyPr>
          <a:lstStyle/>
          <a:p>
            <a:pPr algn="l"/>
            <a:r>
              <a:rPr sz="1050" b="0" i="0">
                <a:solidFill>
                  <a:srgbClr val="000000"/>
                </a:solidFill>
                <a:latin typeface="Garamond"/>
              </a:rPr>
              <a:t>Brazilian regulators have hard deadlines with license revocation risk — carriers cannot ignore them as discretionary capex. The tower deficit (35 vs. 160/100K in US) means macro towers, not small cells, will carry the bulk of coverage expansion. SBAC's ~40%…</a:t>
            </a:r>
          </a:p>
        </p:txBody>
      </p:sp>
      <p:sp>
        <p:nvSpPr>
          <p:cNvPr id="30" name="Rectangle 29"/>
          <p:cNvSpPr/>
          <p:nvPr/>
        </p:nvSpPr>
        <p:spPr>
          <a:xfrm>
            <a:off x="640080" y="4343400"/>
            <a:ext cx="3108960" cy="1417320"/>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343400"/>
            <a:ext cx="54864" cy="141732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434840"/>
            <a:ext cx="2926079" cy="1271016"/>
          </a:xfrm>
          <a:prstGeom prst="rect">
            <a:avLst/>
          </a:prstGeom>
          <a:noFill/>
        </p:spPr>
        <p:txBody>
          <a:bodyPr wrap="square">
            <a:normAutofit/>
          </a:bodyPr>
          <a:lstStyle/>
          <a:p>
            <a:pPr algn="l"/>
            <a:r>
              <a:rPr sz="1050" b="0" i="0">
                <a:solidFill>
                  <a:srgbClr val="000000"/>
                </a:solidFill>
                <a:latin typeface="Garamond"/>
              </a:rPr>
              <a:t>Whether SBAC's capital allocation (buybacks at 14x) is value-creating given current leverage</a:t>
            </a:r>
          </a:p>
        </p:txBody>
      </p:sp>
      <p:sp>
        <p:nvSpPr>
          <p:cNvPr id="33" name="Rectangle 32"/>
          <p:cNvSpPr/>
          <p:nvPr/>
        </p:nvSpPr>
        <p:spPr>
          <a:xfrm>
            <a:off x="3858768" y="4343400"/>
            <a:ext cx="4041648" cy="1417320"/>
          </a:xfrm>
          <a:prstGeom prst="rect">
            <a:avLst/>
          </a:prstGeom>
          <a:solidFill>
            <a:srgbClr val="FFD2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58768" y="4343400"/>
            <a:ext cx="54864" cy="1417320"/>
          </a:xfrm>
          <a:prstGeom prst="rect">
            <a:avLst/>
          </a:prstGeom>
          <a:solidFill>
            <a:srgbClr val="A0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68496" y="4434840"/>
            <a:ext cx="3858768" cy="1271016"/>
          </a:xfrm>
          <a:prstGeom prst="rect">
            <a:avLst/>
          </a:prstGeom>
          <a:noFill/>
        </p:spPr>
        <p:txBody>
          <a:bodyPr wrap="square">
            <a:normAutofit/>
          </a:bodyPr>
          <a:lstStyle/>
          <a:p>
            <a:pPr algn="l"/>
            <a:r>
              <a:rPr sz="1050" b="0" i="0">
                <a:solidFill>
                  <a:srgbClr val="000000"/>
                </a:solidFill>
                <a:latin typeface="Garamond"/>
              </a:rPr>
              <a:t>At elevated leverage, SBAC should prioritize deleveraging over buybacks. Buying back stock at 14x while carrying significant debt is poor capital discipline, especially if interest rates remain elevated.</a:t>
            </a:r>
          </a:p>
        </p:txBody>
      </p:sp>
      <p:sp>
        <p:nvSpPr>
          <p:cNvPr id="36" name="Rectangle 35"/>
          <p:cNvSpPr/>
          <p:nvPr/>
        </p:nvSpPr>
        <p:spPr>
          <a:xfrm>
            <a:off x="8010144" y="4343400"/>
            <a:ext cx="4032504" cy="1417320"/>
          </a:xfrm>
          <a:prstGeom prst="rect">
            <a:avLst/>
          </a:prstGeom>
          <a:solidFill>
            <a:srgbClr val="C5F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10144" y="4343400"/>
            <a:ext cx="54864" cy="141732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19871" y="4434840"/>
            <a:ext cx="3849624" cy="1271016"/>
          </a:xfrm>
          <a:prstGeom prst="rect">
            <a:avLst/>
          </a:prstGeom>
          <a:noFill/>
        </p:spPr>
        <p:txBody>
          <a:bodyPr wrap="square">
            <a:normAutofit/>
          </a:bodyPr>
          <a:lstStyle/>
          <a:p>
            <a:pPr algn="l"/>
            <a:r>
              <a:rPr sz="1050" b="0" i="0">
                <a:solidFill>
                  <a:srgbClr val="000000"/>
                </a:solidFill>
                <a:latin typeface="Garamond"/>
              </a:rPr>
              <a:t>97% fixed-rate debt at 3.7% weighted average means SBAC is not exposed to rate resets in the near term. Buying back stock at 14x P/AFFO when AFFO/share compounding has been 7-8% CAGR is highly accretive — the cost of equity at 14x is ~7% vs. a 3.7% fixed co…</a:t>
            </a:r>
          </a:p>
        </p:txBody>
      </p:sp>
      <p:sp>
        <p:nvSpPr>
          <p:cNvPr id="39" name="Rectangle 38"/>
          <p:cNvSpPr/>
          <p:nvPr/>
        </p:nvSpPr>
        <p:spPr>
          <a:xfrm>
            <a:off x="640080" y="5870448"/>
            <a:ext cx="11183112" cy="27432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5907024"/>
            <a:ext cx="4572000" cy="219456"/>
          </a:xfrm>
          <a:prstGeom prst="rect">
            <a:avLst/>
          </a:prstGeom>
          <a:noFill/>
        </p:spPr>
        <p:txBody>
          <a:bodyPr wrap="square">
            <a:normAutofit/>
          </a:bodyPr>
          <a:lstStyle/>
          <a:p>
            <a:pPr algn="l"/>
            <a:r>
              <a:rPr sz="1100" b="1" i="0">
                <a:solidFill>
                  <a:srgbClr val="FFFFFF"/>
                </a:solidFill>
                <a:latin typeface="Garamond"/>
              </a:rPr>
              <a:t>What You're Buying</a:t>
            </a:r>
          </a:p>
        </p:txBody>
      </p:sp>
      <p:sp>
        <p:nvSpPr>
          <p:cNvPr id="41" name="TextBox 40"/>
          <p:cNvSpPr txBox="1"/>
          <p:nvPr/>
        </p:nvSpPr>
        <p:spPr>
          <a:xfrm>
            <a:off x="685800" y="6199632"/>
            <a:ext cx="5577840" cy="603504"/>
          </a:xfrm>
          <a:prstGeom prst="rect">
            <a:avLst/>
          </a:prstGeom>
          <a:noFill/>
        </p:spPr>
        <p:txBody>
          <a:bodyPr wrap="square">
            <a:normAutofit/>
          </a:bodyPr>
          <a:lstStyle/>
          <a:p>
            <a:pPr algn="l"/>
            <a:r>
              <a:rPr sz="1000" b="0" i="0">
                <a:solidFill>
                  <a:srgbClr val="000000"/>
                </a:solidFill>
                <a:latin typeface="Garamond"/>
              </a:rPr>
              <a:t>• 63% of Q&amp;A questions in the past 4 earnings calls have been about churn — peak fear narrative = peak buying opportunity. The ma…
• Sprint/T-Mobile churn is quantified, declining, and scheduled to end: $51M (2025A), $55M (2026E), $18M (2027E), $12M (2028E), $…</a:t>
            </a:r>
          </a:p>
        </p:txBody>
      </p:sp>
      <p:sp>
        <p:nvSpPr>
          <p:cNvPr id="42" name="TextBox 41"/>
          <p:cNvSpPr txBox="1"/>
          <p:nvPr/>
        </p:nvSpPr>
        <p:spPr>
          <a:xfrm>
            <a:off x="6355080" y="6199632"/>
            <a:ext cx="5394960" cy="603504"/>
          </a:xfrm>
          <a:prstGeom prst="rect">
            <a:avLst/>
          </a:prstGeom>
          <a:noFill/>
        </p:spPr>
        <p:txBody>
          <a:bodyPr wrap="square">
            <a:normAutofit/>
          </a:bodyPr>
          <a:lstStyle/>
          <a:p>
            <a:pPr algn="l"/>
            <a:r>
              <a:rPr sz="1000" b="0" i="0">
                <a:solidFill>
                  <a:srgbClr val="000000"/>
                </a:solidFill>
                <a:latin typeface="Garamond"/>
              </a:rPr>
              <a:t>• DISH/EchoStar defaulted on payments and contract was terminated. SBAC has filed suit. Potential litigation recovery (~$55M/yr) …
• Net organic ex-Sprint re-accelerates as churn rolls off: 3.2% (2025A) → 4.6% (2029E). This is higher-quality, recurring organic…</a:t>
            </a:r>
          </a:p>
        </p:txBody>
      </p:sp>
      <p:sp>
        <p:nvSpPr>
          <p:cNvPr id="43" name="Rectangle 42"/>
          <p:cNvSpPr/>
          <p:nvPr/>
        </p:nvSpPr>
        <p:spPr>
          <a:xfrm>
            <a:off x="640080" y="6876288"/>
            <a:ext cx="11183112" cy="45720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6949440"/>
            <a:ext cx="10972800" cy="329184"/>
          </a:xfrm>
          <a:prstGeom prst="rect">
            <a:avLst/>
          </a:prstGeom>
          <a:noFill/>
        </p:spPr>
        <p:txBody>
          <a:bodyPr wrap="square">
            <a:normAutofit/>
          </a:bodyPr>
          <a:lstStyle/>
          <a:p>
            <a:pPr algn="ctr"/>
            <a:r>
              <a:rPr sz="1100" b="1" i="1">
                <a:solidFill>
                  <a:srgbClr val="FFFFFF"/>
                </a:solidFill>
                <a:latin typeface="Garamond"/>
              </a:rPr>
              <a:t>We believe our investment theses position us to get into an excellent name at the right time.  BUY  |  PT: $240.00  |  Expected Return: +26.0% over 12 months.</a:t>
            </a:r>
          </a:p>
        </p:txBody>
      </p:sp>
      <p:sp>
        <p:nvSpPr>
          <p:cNvPr id="45" name="TextBox 44"/>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73152"/>
            <a:ext cx="10789920" cy="566928"/>
          </a:xfrm>
          <a:prstGeom prst="rect">
            <a:avLst/>
          </a:prstGeom>
          <a:noFill/>
        </p:spPr>
        <p:txBody>
          <a:bodyPr wrap="square">
            <a:normAutofit/>
          </a:bodyPr>
          <a:lstStyle/>
          <a:p>
            <a:pPr algn="l"/>
            <a:r>
              <a:rPr sz="2800" b="0" i="0">
                <a:solidFill>
                  <a:srgbClr val="1C2C3A"/>
                </a:solidFill>
                <a:latin typeface="Garamond"/>
              </a:rPr>
              <a:t>Catalyst Timeline &amp; Monitoring KPIs</a:t>
            </a:r>
          </a:p>
        </p:txBody>
      </p:sp>
      <p:sp>
        <p:nvSpPr>
          <p:cNvPr id="3" name="Rectangle 2"/>
          <p:cNvSpPr/>
          <p:nvPr/>
        </p:nvSpPr>
        <p:spPr>
          <a:xfrm>
            <a:off x="640080" y="658368"/>
            <a:ext cx="11183112" cy="36576"/>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656832"/>
            <a:ext cx="10515600" cy="182880"/>
          </a:xfrm>
          <a:prstGeom prst="rect">
            <a:avLst/>
          </a:prstGeom>
          <a:noFill/>
        </p:spPr>
        <p:txBody>
          <a:bodyPr wrap="square">
            <a:normAutofit/>
          </a:bodyPr>
          <a:lstStyle/>
          <a:p>
            <a:pPr algn="l"/>
            <a:r>
              <a:rPr sz="800" b="0" i="1">
                <a:solidFill>
                  <a:srgbClr val="999999"/>
                </a:solidFill>
                <a:latin typeface="Garamond"/>
              </a:rPr>
              <a:t>Sources: SEC Filings, Earnings Calls, Bloomberg, CapIQ</a:t>
            </a:r>
          </a:p>
        </p:txBody>
      </p:sp>
      <p:sp>
        <p:nvSpPr>
          <p:cNvPr id="5" name="TextBox 4"/>
          <p:cNvSpPr txBox="1"/>
          <p:nvPr/>
        </p:nvSpPr>
        <p:spPr>
          <a:xfrm>
            <a:off x="640080" y="749808"/>
            <a:ext cx="11183112" cy="237744"/>
          </a:xfrm>
          <a:prstGeom prst="rect">
            <a:avLst/>
          </a:prstGeom>
          <a:noFill/>
        </p:spPr>
        <p:txBody>
          <a:bodyPr wrap="square">
            <a:normAutofit/>
          </a:bodyPr>
          <a:lstStyle/>
          <a:p>
            <a:pPr algn="l"/>
            <a:r>
              <a:rPr sz="1400" b="1" i="0">
                <a:solidFill>
                  <a:srgbClr val="1C2C39"/>
                </a:solidFill>
                <a:latin typeface="Garamond"/>
              </a:rPr>
              <a:t>Catalyst Timeline</a:t>
            </a:r>
          </a:p>
        </p:txBody>
      </p:sp>
      <p:sp>
        <p:nvSpPr>
          <p:cNvPr id="6" name="Rectangle 5"/>
          <p:cNvSpPr/>
          <p:nvPr/>
        </p:nvSpPr>
        <p:spPr>
          <a:xfrm>
            <a:off x="640080" y="987552"/>
            <a:ext cx="11183112" cy="22860"/>
          </a:xfrm>
          <a:prstGeom prst="rect">
            <a:avLst/>
          </a:prstGeom>
          <a:solidFill>
            <a:srgbClr val="1C2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40080" y="1042415"/>
          <a:ext cx="11183111" cy="2468880"/>
        </p:xfrm>
        <a:graphic>
          <a:graphicData uri="http://schemas.openxmlformats.org/drawingml/2006/table">
            <a:tbl>
              <a:tblPr firstRow="1" bandRow="1">
                <a:tableStyleId>{5C22544A-7EE6-4342-B048-85BDC9FD1C3A}</a:tableStyleId>
              </a:tblPr>
              <a:tblGrid>
                <a:gridCol w="1554480"/>
                <a:gridCol w="2926080"/>
                <a:gridCol w="2560319"/>
                <a:gridCol w="1371600"/>
                <a:gridCol w="2770632"/>
              </a:tblGrid>
              <a:tr h="411480">
                <a:tc>
                  <a:txBody>
                    <a:bodyPr/>
                    <a:lstStyle/>
                    <a:p>
                      <a:pPr algn="ctr"/>
                      <a:r>
                        <a:rPr sz="900" b="1">
                          <a:solidFill>
                            <a:srgbClr val="FFFFFF"/>
                          </a:solidFill>
                          <a:latin typeface="Garamond"/>
                        </a:rPr>
                        <a:t>Date / Timing</a:t>
                      </a:r>
                    </a:p>
                  </a:txBody>
                  <a:tcPr>
                    <a:solidFill>
                      <a:srgbClr val="1C2C39"/>
                    </a:solidFill>
                  </a:tcPr>
                </a:tc>
                <a:tc>
                  <a:txBody>
                    <a:bodyPr/>
                    <a:lstStyle/>
                    <a:p>
                      <a:pPr algn="ctr"/>
                      <a:r>
                        <a:rPr sz="900" b="1">
                          <a:solidFill>
                            <a:srgbClr val="FFFFFF"/>
                          </a:solidFill>
                          <a:latin typeface="Garamond"/>
                        </a:rPr>
                        <a:t>Event</a:t>
                      </a:r>
                    </a:p>
                  </a:txBody>
                  <a:tcPr>
                    <a:solidFill>
                      <a:srgbClr val="1C2C39"/>
                    </a:solidFill>
                  </a:tcPr>
                </a:tc>
                <a:tc>
                  <a:txBody>
                    <a:bodyPr/>
                    <a:lstStyle/>
                    <a:p>
                      <a:pPr algn="ctr"/>
                      <a:r>
                        <a:rPr sz="900" b="1">
                          <a:solidFill>
                            <a:srgbClr val="FFFFFF"/>
                          </a:solidFill>
                          <a:latin typeface="Garamond"/>
                        </a:rPr>
                        <a:t>Falsifiability Threshold</a:t>
                      </a:r>
                    </a:p>
                  </a:txBody>
                  <a:tcPr>
                    <a:solidFill>
                      <a:srgbClr val="1C2C39"/>
                    </a:solidFill>
                  </a:tcPr>
                </a:tc>
                <a:tc>
                  <a:txBody>
                    <a:bodyPr/>
                    <a:lstStyle/>
                    <a:p>
                      <a:pPr algn="ctr"/>
                      <a:r>
                        <a:rPr sz="900" b="1">
                          <a:solidFill>
                            <a:srgbClr val="FFFFFF"/>
                          </a:solidFill>
                          <a:latin typeface="Garamond"/>
                        </a:rPr>
                        <a:t>Est. Impact</a:t>
                      </a:r>
                    </a:p>
                  </a:txBody>
                  <a:tcPr>
                    <a:solidFill>
                      <a:srgbClr val="1C2C39"/>
                    </a:solidFill>
                  </a:tcPr>
                </a:tc>
                <a:tc>
                  <a:txBody>
                    <a:bodyPr/>
                    <a:lstStyle/>
                    <a:p>
                      <a:pPr algn="ctr"/>
                      <a:r>
                        <a:rPr sz="900" b="1">
                          <a:solidFill>
                            <a:srgbClr val="FFFFFF"/>
                          </a:solidFill>
                          <a:latin typeface="Garamond"/>
                        </a:rPr>
                        <a:t>Thesis Point</a:t>
                      </a:r>
                    </a:p>
                  </a:txBody>
                  <a:tcPr>
                    <a:solidFill>
                      <a:srgbClr val="1C2C39"/>
                    </a:solidFill>
                  </a:tcPr>
                </a:tc>
              </a:tr>
              <a:tr h="411480">
                <a:tc>
                  <a:txBody>
                    <a:bodyPr/>
                    <a:lstStyle/>
                    <a:p>
                      <a:pPr algn="l"/>
                      <a:r>
                        <a:rPr sz="900" b="0">
                          <a:solidFill>
                            <a:srgbClr val="000000"/>
                          </a:solidFill>
                          <a:latin typeface="Garamond"/>
                        </a:rPr>
                        <a:t>H2 2026</a:t>
                      </a:r>
                    </a:p>
                  </a:txBody>
                  <a:tcPr>
                    <a:solidFill>
                      <a:srgbClr val="FFFFFF"/>
                    </a:solidFill>
                  </a:tcPr>
                </a:tc>
                <a:tc>
                  <a:txBody>
                    <a:bodyPr/>
                    <a:lstStyle/>
                    <a:p>
                      <a:pPr algn="l"/>
                      <a:r>
                        <a:rPr sz="900" b="0">
                          <a:solidFill>
                            <a:srgbClr val="000000"/>
                          </a:solidFill>
                          <a:latin typeface="Garamond"/>
                        </a:rPr>
                        <a:t>Verizon MLA services revenue inflection — $190-210M full-year guida…</a:t>
                      </a:r>
                    </a:p>
                  </a:txBody>
                  <a:tcPr>
                    <a:solidFill>
                      <a:srgbClr val="FFFFFF"/>
                    </a:solidFill>
                  </a:tcPr>
                </a:tc>
                <a:tc>
                  <a:txBody>
                    <a:bodyPr/>
                    <a:lstStyle/>
                    <a:p>
                      <a:pPr algn="l"/>
                      <a:r>
                        <a:rPr sz="900" b="0">
                          <a:solidFill>
                            <a:srgbClr val="000000"/>
                          </a:solidFill>
                          <a:latin typeface="Garamond"/>
                        </a:rPr>
                        <a:t>N/A</a:t>
                      </a:r>
                    </a:p>
                  </a:txBody>
                  <a:tcPr>
                    <a:solidFill>
                      <a:srgbClr val="FFFFFF"/>
                    </a:solidFill>
                  </a:tcPr>
                </a:tc>
                <a:tc>
                  <a:txBody>
                    <a:bodyPr/>
                    <a:lstStyle/>
                    <a:p>
                      <a:pPr algn="ctr"/>
                      <a:r>
                        <a:rPr sz="900" b="0">
                          <a:solidFill>
                            <a:srgbClr val="000000"/>
                          </a:solidFill>
                          <a:latin typeface="Garamond"/>
                        </a:rPr>
                        <a:t>+8% — validates Verizo…</a:t>
                      </a:r>
                    </a:p>
                  </a:txBody>
                  <a:tcPr>
                    <a:solidFill>
                      <a:srgbClr val="FFFFFF"/>
                    </a:solidFill>
                  </a:tcPr>
                </a:tc>
                <a:tc>
                  <a:txBody>
                    <a:bodyPr/>
                    <a:lstStyle/>
                    <a:p>
                      <a:pPr algn="l"/>
                      <a:r>
                        <a:rPr sz="900" b="0">
                          <a:solidFill>
                            <a:srgbClr val="000000"/>
                          </a:solidFill>
                          <a:latin typeface="Garamond"/>
                        </a:rPr>
                        <a:t>Capital allocation superiority — MLA deliverables be…</a:t>
                      </a:r>
                    </a:p>
                  </a:txBody>
                  <a:tcPr>
                    <a:solidFill>
                      <a:srgbClr val="FFFFFF"/>
                    </a:solidFill>
                  </a:tcPr>
                </a:tc>
              </a:tr>
              <a:tr h="411480">
                <a:tc>
                  <a:txBody>
                    <a:bodyPr/>
                    <a:lstStyle/>
                    <a:p>
                      <a:pPr algn="l"/>
                      <a:r>
                        <a:rPr sz="900" b="0">
                          <a:solidFill>
                            <a:srgbClr val="000000"/>
                          </a:solidFill>
                          <a:latin typeface="Garamond"/>
                        </a:rPr>
                        <a:t>July 2026</a:t>
                      </a:r>
                    </a:p>
                  </a:txBody>
                  <a:tcPr>
                    <a:solidFill>
                      <a:srgbClr val="EFEFEF"/>
                    </a:solidFill>
                  </a:tcPr>
                </a:tc>
                <a:tc>
                  <a:txBody>
                    <a:bodyPr/>
                    <a:lstStyle/>
                    <a:p>
                      <a:pPr algn="l"/>
                      <a:r>
                        <a:rPr sz="900" b="0">
                          <a:solidFill>
                            <a:srgbClr val="000000"/>
                          </a:solidFill>
                          <a:latin typeface="Garamond"/>
                        </a:rPr>
                        <a:t>Brazil mandatory 5G build deadline (200K+ population cities)</a:t>
                      </a:r>
                    </a:p>
                  </a:txBody>
                  <a:tcPr>
                    <a:solidFill>
                      <a:srgbClr val="EFEFEF"/>
                    </a:solidFill>
                  </a:tcPr>
                </a:tc>
                <a:tc>
                  <a:txBody>
                    <a:bodyPr/>
                    <a:lstStyle/>
                    <a:p>
                      <a:pPr algn="l"/>
                      <a:r>
                        <a:rPr sz="900" b="0">
                          <a:solidFill>
                            <a:srgbClr val="000000"/>
                          </a:solidFill>
                          <a:latin typeface="Garamond"/>
                        </a:rPr>
                        <a:t>N/A</a:t>
                      </a:r>
                    </a:p>
                  </a:txBody>
                  <a:tcPr>
                    <a:solidFill>
                      <a:srgbClr val="EFEFEF"/>
                    </a:solidFill>
                  </a:tcPr>
                </a:tc>
                <a:tc>
                  <a:txBody>
                    <a:bodyPr/>
                    <a:lstStyle/>
                    <a:p>
                      <a:pPr algn="ctr"/>
                      <a:r>
                        <a:rPr sz="900" b="0">
                          <a:solidFill>
                            <a:srgbClr val="000000"/>
                          </a:solidFill>
                          <a:latin typeface="Garamond"/>
                        </a:rPr>
                        <a:t>+6% — first enforcemen…</a:t>
                      </a:r>
                    </a:p>
                  </a:txBody>
                  <a:tcPr>
                    <a:solidFill>
                      <a:srgbClr val="EFEFEF"/>
                    </a:solidFill>
                  </a:tcPr>
                </a:tc>
                <a:tc>
                  <a:txBody>
                    <a:bodyPr/>
                    <a:lstStyle/>
                    <a:p>
                      <a:pPr algn="l"/>
                      <a:r>
                        <a:rPr sz="900" b="0">
                          <a:solidFill>
                            <a:srgbClr val="000000"/>
                          </a:solidFill>
                          <a:latin typeface="Garamond"/>
                        </a:rPr>
                        <a:t>Brazil/LatAm structural growth — regulatory mandate …</a:t>
                      </a:r>
                    </a:p>
                  </a:txBody>
                  <a:tcPr>
                    <a:solidFill>
                      <a:srgbClr val="EFEFEF"/>
                    </a:solidFill>
                  </a:tcPr>
                </a:tc>
              </a:tr>
              <a:tr h="411480">
                <a:tc>
                  <a:txBody>
                    <a:bodyPr/>
                    <a:lstStyle/>
                    <a:p>
                      <a:pPr algn="l"/>
                      <a:r>
                        <a:rPr sz="900" b="0">
                          <a:solidFill>
                            <a:srgbClr val="000000"/>
                          </a:solidFill>
                          <a:latin typeface="Garamond"/>
                        </a:rPr>
                        <a:t>Q4 2026</a:t>
                      </a:r>
                    </a:p>
                  </a:txBody>
                  <a:tcPr>
                    <a:solidFill>
                      <a:srgbClr val="FFFFFF"/>
                    </a:solidFill>
                  </a:tcPr>
                </a:tc>
                <a:tc>
                  <a:txBody>
                    <a:bodyPr/>
                    <a:lstStyle/>
                    <a:p>
                      <a:pPr algn="l"/>
                      <a:r>
                        <a:rPr sz="900" b="0">
                          <a:solidFill>
                            <a:srgbClr val="000000"/>
                          </a:solidFill>
                          <a:latin typeface="Garamond"/>
                        </a:rPr>
                        <a:t>T-Mobile MLA renegotiation outcome</a:t>
                      </a:r>
                    </a:p>
                  </a:txBody>
                  <a:tcPr>
                    <a:solidFill>
                      <a:srgbClr val="FFFFFF"/>
                    </a:solidFill>
                  </a:tcPr>
                </a:tc>
                <a:tc>
                  <a:txBody>
                    <a:bodyPr/>
                    <a:lstStyle/>
                    <a:p>
                      <a:pPr algn="l"/>
                      <a:r>
                        <a:rPr sz="900" b="0">
                          <a:solidFill>
                            <a:srgbClr val="000000"/>
                          </a:solidFill>
                          <a:latin typeface="Garamond"/>
                        </a:rPr>
                        <a:t>N/A</a:t>
                      </a:r>
                    </a:p>
                  </a:txBody>
                  <a:tcPr>
                    <a:solidFill>
                      <a:srgbClr val="FFFFFF"/>
                    </a:solidFill>
                  </a:tcPr>
                </a:tc>
                <a:tc>
                  <a:txBody>
                    <a:bodyPr/>
                    <a:lstStyle/>
                    <a:p>
                      <a:pPr algn="ctr"/>
                      <a:r>
                        <a:rPr sz="900" b="0">
                          <a:solidFill>
                            <a:srgbClr val="000000"/>
                          </a:solidFill>
                          <a:latin typeface="Garamond"/>
                        </a:rPr>
                        <a:t>+10% if renewed at com…</a:t>
                      </a:r>
                    </a:p>
                  </a:txBody>
                  <a:tcPr>
                    <a:solidFill>
                      <a:srgbClr val="FFFFFF"/>
                    </a:solidFill>
                  </a:tcPr>
                </a:tc>
                <a:tc>
                  <a:txBody>
                    <a:bodyPr/>
                    <a:lstStyle/>
                    <a:p>
                      <a:pPr algn="l"/>
                      <a:r>
                        <a:rPr sz="900" b="0">
                          <a:solidFill>
                            <a:srgbClr val="000000"/>
                          </a:solidFill>
                          <a:latin typeface="Garamond"/>
                        </a:rPr>
                        <a:t>Churn noise is finite — successful renewal removes t…</a:t>
                      </a:r>
                    </a:p>
                  </a:txBody>
                  <a:tcPr>
                    <a:solidFill>
                      <a:srgbClr val="FFFFFF"/>
                    </a:solidFill>
                  </a:tcPr>
                </a:tc>
              </a:tr>
              <a:tr h="411480">
                <a:tc>
                  <a:txBody>
                    <a:bodyPr/>
                    <a:lstStyle/>
                    <a:p>
                      <a:pPr algn="l"/>
                      <a:r>
                        <a:rPr sz="900" b="0">
                          <a:solidFill>
                            <a:srgbClr val="000000"/>
                          </a:solidFill>
                          <a:latin typeface="Garamond"/>
                        </a:rPr>
                        <a:t>Q4 2026 / Q1 2027</a:t>
                      </a:r>
                    </a:p>
                  </a:txBody>
                  <a:tcPr>
                    <a:solidFill>
                      <a:srgbClr val="EFEFEF"/>
                    </a:solidFill>
                  </a:tcPr>
                </a:tc>
                <a:tc>
                  <a:txBody>
                    <a:bodyPr/>
                    <a:lstStyle/>
                    <a:p>
                      <a:pPr algn="l"/>
                      <a:r>
                        <a:rPr sz="900" b="0">
                          <a:solidFill>
                            <a:srgbClr val="000000"/>
                          </a:solidFill>
                          <a:latin typeface="Garamond"/>
                        </a:rPr>
                        <a:t>2027 guidance issued showing Sprint churn drops to $18M from $55M —…</a:t>
                      </a:r>
                    </a:p>
                  </a:txBody>
                  <a:tcPr>
                    <a:solidFill>
                      <a:srgbClr val="EFEFEF"/>
                    </a:solidFill>
                  </a:tcPr>
                </a:tc>
                <a:tc>
                  <a:txBody>
                    <a:bodyPr/>
                    <a:lstStyle/>
                    <a:p>
                      <a:pPr algn="l"/>
                      <a:r>
                        <a:rPr sz="900" b="0">
                          <a:solidFill>
                            <a:srgbClr val="000000"/>
                          </a:solidFill>
                          <a:latin typeface="Garamond"/>
                        </a:rPr>
                        <a:t>N/A</a:t>
                      </a:r>
                    </a:p>
                  </a:txBody>
                  <a:tcPr>
                    <a:solidFill>
                      <a:srgbClr val="EFEFEF"/>
                    </a:solidFill>
                  </a:tcPr>
                </a:tc>
                <a:tc>
                  <a:txBody>
                    <a:bodyPr/>
                    <a:lstStyle/>
                    <a:p>
                      <a:pPr algn="ctr"/>
                      <a:r>
                        <a:rPr sz="900" b="0">
                          <a:solidFill>
                            <a:srgbClr val="000000"/>
                          </a:solidFill>
                          <a:latin typeface="Garamond"/>
                        </a:rPr>
                        <a:t>+12% — clearest proof …</a:t>
                      </a:r>
                    </a:p>
                  </a:txBody>
                  <a:tcPr>
                    <a:solidFill>
                      <a:srgbClr val="EFEFEF"/>
                    </a:solidFill>
                  </a:tcPr>
                </a:tc>
                <a:tc>
                  <a:txBody>
                    <a:bodyPr/>
                    <a:lstStyle/>
                    <a:p>
                      <a:pPr algn="l"/>
                      <a:r>
                        <a:rPr sz="900" b="0">
                          <a:solidFill>
                            <a:srgbClr val="000000"/>
                          </a:solidFill>
                          <a:latin typeface="Garamond"/>
                        </a:rPr>
                        <a:t>Finite churn thesis confirmed by management's own fo…</a:t>
                      </a:r>
                    </a:p>
                  </a:txBody>
                  <a:tcPr>
                    <a:solidFill>
                      <a:srgbClr val="EFEFEF"/>
                    </a:solidFill>
                  </a:tcPr>
                </a:tc>
              </a:tr>
              <a:tr h="411480">
                <a:tc>
                  <a:txBody>
                    <a:bodyPr/>
                    <a:lstStyle/>
                    <a:p>
                      <a:pPr algn="l"/>
                      <a:r>
                        <a:rPr sz="900" b="0">
                          <a:solidFill>
                            <a:srgbClr val="000000"/>
                          </a:solidFill>
                          <a:latin typeface="Garamond"/>
                        </a:rPr>
                        <a:t>2026-2027</a:t>
                      </a:r>
                    </a:p>
                  </a:txBody>
                  <a:tcPr>
                    <a:solidFill>
                      <a:srgbClr val="FFFFFF"/>
                    </a:solidFill>
                  </a:tcPr>
                </a:tc>
                <a:tc>
                  <a:txBody>
                    <a:bodyPr/>
                    <a:lstStyle/>
                    <a:p>
                      <a:pPr algn="l"/>
                      <a:r>
                        <a:rPr sz="900" b="0">
                          <a:solidFill>
                            <a:srgbClr val="000000"/>
                          </a:solidFill>
                          <a:latin typeface="Garamond"/>
                        </a:rPr>
                        <a:t>DISH litigation — settlement or verdict</a:t>
                      </a:r>
                    </a:p>
                  </a:txBody>
                  <a:tcPr>
                    <a:solidFill>
                      <a:srgbClr val="FFFFFF"/>
                    </a:solidFill>
                  </a:tcPr>
                </a:tc>
                <a:tc>
                  <a:txBody>
                    <a:bodyPr/>
                    <a:lstStyle/>
                    <a:p>
                      <a:pPr algn="l"/>
                      <a:r>
                        <a:rPr sz="900" b="0">
                          <a:solidFill>
                            <a:srgbClr val="000000"/>
                          </a:solidFill>
                          <a:latin typeface="Garamond"/>
                        </a:rPr>
                        <a:t>N/A</a:t>
                      </a:r>
                    </a:p>
                  </a:txBody>
                  <a:tcPr>
                    <a:solidFill>
                      <a:srgbClr val="FFFFFF"/>
                    </a:solidFill>
                  </a:tcPr>
                </a:tc>
                <a:tc>
                  <a:txBody>
                    <a:bodyPr/>
                    <a:lstStyle/>
                    <a:p>
                      <a:pPr algn="ctr"/>
                      <a:r>
                        <a:rPr sz="900" b="0">
                          <a:solidFill>
                            <a:srgbClr val="000000"/>
                          </a:solidFill>
                          <a:latin typeface="Garamond"/>
                        </a:rPr>
                        <a:t>+5% on any recovery ab…</a:t>
                      </a:r>
                    </a:p>
                  </a:txBody>
                  <a:tcPr>
                    <a:solidFill>
                      <a:srgbClr val="FFFFFF"/>
                    </a:solidFill>
                  </a:tcPr>
                </a:tc>
                <a:tc>
                  <a:txBody>
                    <a:bodyPr/>
                    <a:lstStyle/>
                    <a:p>
                      <a:pPr algn="l"/>
                      <a:r>
                        <a:rPr sz="900" b="0">
                          <a:solidFill>
                            <a:srgbClr val="000000"/>
                          </a:solidFill>
                          <a:latin typeface="Garamond"/>
                        </a:rPr>
                        <a:t>Asymmetric upside from DISH default — management too…</a:t>
                      </a:r>
                    </a:p>
                  </a:txBody>
                  <a:tcPr>
                    <a:solidFill>
                      <a:srgbClr val="FFFFFF"/>
                    </a:solidFill>
                  </a:tcPr>
                </a:tc>
              </a:tr>
            </a:tbl>
          </a:graphicData>
        </a:graphic>
      </p:graphicFrame>
      <p:sp>
        <p:nvSpPr>
          <p:cNvPr id="8" name="TextBox 7"/>
          <p:cNvSpPr txBox="1"/>
          <p:nvPr/>
        </p:nvSpPr>
        <p:spPr>
          <a:xfrm>
            <a:off x="640080" y="3712463"/>
            <a:ext cx="11183112" cy="237744"/>
          </a:xfrm>
          <a:prstGeom prst="rect">
            <a:avLst/>
          </a:prstGeom>
          <a:noFill/>
        </p:spPr>
        <p:txBody>
          <a:bodyPr wrap="square">
            <a:normAutofit/>
          </a:bodyPr>
          <a:lstStyle/>
          <a:p>
            <a:pPr algn="l"/>
            <a:r>
              <a:rPr sz="1400" b="1" i="0">
                <a:solidFill>
                  <a:srgbClr val="00ACB6"/>
                </a:solidFill>
                <a:latin typeface="Garamond"/>
              </a:rPr>
              <a:t>Monitoring KPIs — What to Watch</a:t>
            </a:r>
          </a:p>
        </p:txBody>
      </p:sp>
      <p:sp>
        <p:nvSpPr>
          <p:cNvPr id="9" name="Rectangle 8"/>
          <p:cNvSpPr/>
          <p:nvPr/>
        </p:nvSpPr>
        <p:spPr>
          <a:xfrm>
            <a:off x="640080" y="3950207"/>
            <a:ext cx="11183112" cy="22860"/>
          </a:xfrm>
          <a:prstGeom prst="rect">
            <a:avLst/>
          </a:prstGeom>
          <a:solidFill>
            <a:srgbClr val="00AC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4023359"/>
          <a:ext cx="11183112" cy="2468880"/>
        </p:xfrm>
        <a:graphic>
          <a:graphicData uri="http://schemas.openxmlformats.org/drawingml/2006/table">
            <a:tbl>
              <a:tblPr firstRow="1" bandRow="1">
                <a:tableStyleId>{5C22544A-7EE6-4342-B048-85BDC9FD1C3A}</a:tableStyleId>
              </a:tblPr>
              <a:tblGrid>
                <a:gridCol w="3108960"/>
                <a:gridCol w="1828800"/>
                <a:gridCol w="2286000"/>
                <a:gridCol w="2286000"/>
                <a:gridCol w="1673352"/>
              </a:tblGrid>
              <a:tr h="411480">
                <a:tc>
                  <a:txBody>
                    <a:bodyPr/>
                    <a:lstStyle/>
                    <a:p>
                      <a:pPr algn="ctr"/>
                      <a:r>
                        <a:rPr sz="900" b="1">
                          <a:solidFill>
                            <a:srgbClr val="FFFFFF"/>
                          </a:solidFill>
                          <a:latin typeface="Garamond"/>
                        </a:rPr>
                        <a:t>Metric</a:t>
                      </a:r>
                    </a:p>
                  </a:txBody>
                  <a:tcPr>
                    <a:solidFill>
                      <a:srgbClr val="1C2C39"/>
                    </a:solidFill>
                  </a:tcPr>
                </a:tc>
                <a:tc>
                  <a:txBody>
                    <a:bodyPr/>
                    <a:lstStyle/>
                    <a:p>
                      <a:pPr algn="ctr"/>
                      <a:r>
                        <a:rPr sz="900" b="1">
                          <a:solidFill>
                            <a:srgbClr val="FFFFFF"/>
                          </a:solidFill>
                          <a:latin typeface="Garamond"/>
                        </a:rPr>
                        <a:t>Current Level</a:t>
                      </a:r>
                    </a:p>
                  </a:txBody>
                  <a:tcPr>
                    <a:solidFill>
                      <a:srgbClr val="1C2C39"/>
                    </a:solidFill>
                  </a:tcPr>
                </a:tc>
                <a:tc>
                  <a:txBody>
                    <a:bodyPr/>
                    <a:lstStyle/>
                    <a:p>
                      <a:pPr algn="ctr"/>
                      <a:r>
                        <a:rPr sz="900" b="1">
                          <a:solidFill>
                            <a:srgbClr val="FFFFFF"/>
                          </a:solidFill>
                          <a:latin typeface="Garamond"/>
                        </a:rPr>
                        <a:t>Thesis Requires</a:t>
                      </a:r>
                    </a:p>
                  </a:txBody>
                  <a:tcPr>
                    <a:solidFill>
                      <a:srgbClr val="1C2C39"/>
                    </a:solidFill>
                  </a:tcPr>
                </a:tc>
                <a:tc>
                  <a:txBody>
                    <a:bodyPr/>
                    <a:lstStyle/>
                    <a:p>
                      <a:pPr algn="ctr"/>
                      <a:r>
                        <a:rPr sz="900" b="1">
                          <a:solidFill>
                            <a:srgbClr val="FFFFFF"/>
                          </a:solidFill>
                          <a:latin typeface="Garamond"/>
                        </a:rPr>
                        <a:t>Red Flag Threshold</a:t>
                      </a:r>
                    </a:p>
                  </a:txBody>
                  <a:tcPr>
                    <a:solidFill>
                      <a:srgbClr val="1C2C39"/>
                    </a:solidFill>
                  </a:tcPr>
                </a:tc>
                <a:tc>
                  <a:txBody>
                    <a:bodyPr/>
                    <a:lstStyle/>
                    <a:p>
                      <a:pPr algn="ctr"/>
                      <a:r>
                        <a:rPr sz="900" b="1">
                          <a:solidFill>
                            <a:srgbClr val="FFFFFF"/>
                          </a:solidFill>
                          <a:latin typeface="Garamond"/>
                        </a:rPr>
                        <a:t>Freq</a:t>
                      </a:r>
                    </a:p>
                  </a:txBody>
                  <a:tcPr>
                    <a:solidFill>
                      <a:srgbClr val="1C2C39"/>
                    </a:solidFill>
                  </a:tcPr>
                </a:tc>
              </a:tr>
              <a:tr h="411480">
                <a:tc>
                  <a:txBody>
                    <a:bodyPr/>
                    <a:lstStyle/>
                    <a:p>
                      <a:pPr algn="l"/>
                      <a:r>
                        <a:rPr sz="900" b="0">
                          <a:solidFill>
                            <a:srgbClr val="000000"/>
                          </a:solidFill>
                          <a:latin typeface="Garamond"/>
                        </a:rPr>
                        <a:t>AFFO/share</a:t>
                      </a:r>
                    </a:p>
                  </a:txBody>
                  <a:tcPr>
                    <a:solidFill>
                      <a:srgbClr val="FFFFFF"/>
                    </a:solidFill>
                  </a:tcPr>
                </a:tc>
                <a:tc>
                  <a:txBody>
                    <a:bodyPr/>
                    <a:lstStyle/>
                    <a:p>
                      <a:pPr algn="l"/>
                      <a:r>
                        <a:rPr sz="900" b="0">
                          <a:solidFill>
                            <a:srgbClr val="000000"/>
                          </a:solidFill>
                          <a:latin typeface="Garamond"/>
                        </a:rPr>
                        <a:t>$12.84 (2025A)</a:t>
                      </a:r>
                    </a:p>
                  </a:txBody>
                  <a:tcPr>
                    <a:solidFill>
                      <a:srgbClr val="FFFFFF"/>
                    </a:solidFill>
                  </a:tcPr>
                </a:tc>
                <a:tc>
                  <a:txBody>
                    <a:bodyPr/>
                    <a:lstStyle/>
                    <a:p>
                      <a:pPr algn="l"/>
                      <a:r>
                        <a:rPr sz="900" b="0">
                          <a:solidFill>
                            <a:srgbClr val="000000"/>
                          </a:solidFill>
                          <a:latin typeface="Garamond"/>
                        </a:rPr>
                        <a:t>Trough in 2026 (~$12.10E), rebound to $13.…</a:t>
                      </a:r>
                    </a:p>
                  </a:txBody>
                  <a:tcPr>
                    <a:solidFill>
                      <a:srgbClr val="FFFFFF"/>
                    </a:solidFill>
                  </a:tcPr>
                </a:tc>
                <a:tc>
                  <a:txBody>
                    <a:bodyPr/>
                    <a:lstStyle/>
                    <a:p>
                      <a:pPr algn="l"/>
                      <a:r>
                        <a:rPr sz="900" b="0">
                          <a:solidFill>
                            <a:srgbClr val="000000"/>
                          </a:solidFill>
                          <a:latin typeface="Garamond"/>
                        </a:rPr>
                        <a:t>2026E AFFO/share below $11.50 — would impl…</a:t>
                      </a:r>
                    </a:p>
                  </a:txBody>
                  <a:tcPr>
                    <a:solidFill>
                      <a:srgbClr val="FFFFFF"/>
                    </a:solidFill>
                  </a:tcPr>
                </a:tc>
                <a:tc>
                  <a:txBody>
                    <a:bodyPr/>
                    <a:lstStyle/>
                    <a:p>
                      <a:pPr algn="ctr"/>
                      <a:r>
                        <a:rPr sz="900" b="0">
                          <a:solidFill>
                            <a:srgbClr val="000000"/>
                          </a:solidFill>
                          <a:latin typeface="Garamond"/>
                        </a:rPr>
                        <a:t>quarterly</a:t>
                      </a:r>
                    </a:p>
                  </a:txBody>
                  <a:tcPr>
                    <a:solidFill>
                      <a:srgbClr val="FFFFFF"/>
                    </a:solidFill>
                  </a:tcPr>
                </a:tc>
              </a:tr>
              <a:tr h="411480">
                <a:tc>
                  <a:txBody>
                    <a:bodyPr/>
                    <a:lstStyle/>
                    <a:p>
                      <a:pPr algn="l"/>
                      <a:r>
                        <a:rPr sz="900" b="0">
                          <a:solidFill>
                            <a:srgbClr val="000000"/>
                          </a:solidFill>
                          <a:latin typeface="Garamond"/>
                        </a:rPr>
                        <a:t>Net organic growth ex-Sprint (same-tower o…</a:t>
                      </a:r>
                    </a:p>
                  </a:txBody>
                  <a:tcPr>
                    <a:solidFill>
                      <a:srgbClr val="EFEFEF"/>
                    </a:solidFill>
                  </a:tcPr>
                </a:tc>
                <a:tc>
                  <a:txBody>
                    <a:bodyPr/>
                    <a:lstStyle/>
                    <a:p>
                      <a:pPr algn="l"/>
                      <a:r>
                        <a:rPr sz="900" b="0">
                          <a:solidFill>
                            <a:srgbClr val="000000"/>
                          </a:solidFill>
                          <a:latin typeface="Garamond"/>
                        </a:rPr>
                        <a:t>3.2% (2025A)</a:t>
                      </a:r>
                    </a:p>
                  </a:txBody>
                  <a:tcPr>
                    <a:solidFill>
                      <a:srgbClr val="EFEFEF"/>
                    </a:solidFill>
                  </a:tcPr>
                </a:tc>
                <a:tc>
                  <a:txBody>
                    <a:bodyPr/>
                    <a:lstStyle/>
                    <a:p>
                      <a:pPr algn="l"/>
                      <a:r>
                        <a:rPr sz="900" b="0">
                          <a:solidFill>
                            <a:srgbClr val="000000"/>
                          </a:solidFill>
                          <a:latin typeface="Garamond"/>
                        </a:rPr>
                        <a:t>Improvement to 4%+ by 2027 as churn rolls …</a:t>
                      </a:r>
                    </a:p>
                  </a:txBody>
                  <a:tcPr>
                    <a:solidFill>
                      <a:srgbClr val="EFEFEF"/>
                    </a:solidFill>
                  </a:tcPr>
                </a:tc>
                <a:tc>
                  <a:txBody>
                    <a:bodyPr/>
                    <a:lstStyle/>
                    <a:p>
                      <a:pPr algn="l"/>
                      <a:r>
                        <a:rPr sz="900" b="0">
                          <a:solidFill>
                            <a:srgbClr val="000000"/>
                          </a:solidFill>
                          <a:latin typeface="Garamond"/>
                        </a:rPr>
                        <a:t>Below 2.5% for two consecutive quarters — …</a:t>
                      </a:r>
                    </a:p>
                  </a:txBody>
                  <a:tcPr>
                    <a:solidFill>
                      <a:srgbClr val="EFEFEF"/>
                    </a:solidFill>
                  </a:tcPr>
                </a:tc>
                <a:tc>
                  <a:txBody>
                    <a:bodyPr/>
                    <a:lstStyle/>
                    <a:p>
                      <a:pPr algn="ctr"/>
                      <a:r>
                        <a:rPr sz="900" b="0">
                          <a:solidFill>
                            <a:srgbClr val="000000"/>
                          </a:solidFill>
                          <a:latin typeface="Garamond"/>
                        </a:rPr>
                        <a:t>quarterly</a:t>
                      </a:r>
                    </a:p>
                  </a:txBody>
                  <a:tcPr>
                    <a:solidFill>
                      <a:srgbClr val="EFEFEF"/>
                    </a:solidFill>
                  </a:tcPr>
                </a:tc>
              </a:tr>
              <a:tr h="411480">
                <a:tc>
                  <a:txBody>
                    <a:bodyPr/>
                    <a:lstStyle/>
                    <a:p>
                      <a:pPr algn="l"/>
                      <a:r>
                        <a:rPr sz="900" b="0">
                          <a:solidFill>
                            <a:srgbClr val="000000"/>
                          </a:solidFill>
                          <a:latin typeface="Garamond"/>
                        </a:rPr>
                        <a:t>Total churn % (including Sprint + any new …</a:t>
                      </a:r>
                    </a:p>
                  </a:txBody>
                  <a:tcPr>
                    <a:solidFill>
                      <a:srgbClr val="FFFFFF"/>
                    </a:solidFill>
                  </a:tcPr>
                </a:tc>
                <a:tc>
                  <a:txBody>
                    <a:bodyPr/>
                    <a:lstStyle/>
                    <a:p>
                      <a:pPr algn="l"/>
                      <a:r>
                        <a:rPr sz="900" b="0">
                          <a:solidFill>
                            <a:srgbClr val="000000"/>
                          </a:solidFill>
                          <a:latin typeface="Garamond"/>
                        </a:rPr>
                        <a:t>4.9% (2026E peak per g…</a:t>
                      </a:r>
                    </a:p>
                  </a:txBody>
                  <a:tcPr>
                    <a:solidFill>
                      <a:srgbClr val="FFFFFF"/>
                    </a:solidFill>
                  </a:tcPr>
                </a:tc>
                <a:tc>
                  <a:txBody>
                    <a:bodyPr/>
                    <a:lstStyle/>
                    <a:p>
                      <a:pPr algn="l"/>
                      <a:r>
                        <a:rPr sz="900" b="0">
                          <a:solidFill>
                            <a:srgbClr val="000000"/>
                          </a:solidFill>
                          <a:latin typeface="Garamond"/>
                        </a:rPr>
                        <a:t>Declining to 2.2% by 2029E per disclosed c…</a:t>
                      </a:r>
                    </a:p>
                  </a:txBody>
                  <a:tcPr>
                    <a:solidFill>
                      <a:srgbClr val="FFFFFF"/>
                    </a:solidFill>
                  </a:tcPr>
                </a:tc>
                <a:tc>
                  <a:txBody>
                    <a:bodyPr/>
                    <a:lstStyle/>
                    <a:p>
                      <a:pPr algn="l"/>
                      <a:r>
                        <a:rPr sz="900" b="0">
                          <a:solidFill>
                            <a:srgbClr val="000000"/>
                          </a:solidFill>
                          <a:latin typeface="Garamond"/>
                        </a:rPr>
                        <a:t>Any new churn source exceeding $15M annual…</a:t>
                      </a:r>
                    </a:p>
                  </a:txBody>
                  <a:tcPr>
                    <a:solidFill>
                      <a:srgbClr val="FFFFFF"/>
                    </a:solidFill>
                  </a:tcPr>
                </a:tc>
                <a:tc>
                  <a:txBody>
                    <a:bodyPr/>
                    <a:lstStyle/>
                    <a:p>
                      <a:pPr algn="ctr"/>
                      <a:r>
                        <a:rPr sz="900" b="0">
                          <a:solidFill>
                            <a:srgbClr val="000000"/>
                          </a:solidFill>
                          <a:latin typeface="Garamond"/>
                        </a:rPr>
                        <a:t>quarterly</a:t>
                      </a:r>
                    </a:p>
                  </a:txBody>
                  <a:tcPr>
                    <a:solidFill>
                      <a:srgbClr val="FFFFFF"/>
                    </a:solidFill>
                  </a:tcPr>
                </a:tc>
              </a:tr>
              <a:tr h="411480">
                <a:tc>
                  <a:txBody>
                    <a:bodyPr/>
                    <a:lstStyle/>
                    <a:p>
                      <a:pPr algn="l"/>
                      <a:r>
                        <a:rPr sz="900" b="0">
                          <a:solidFill>
                            <a:srgbClr val="000000"/>
                          </a:solidFill>
                          <a:latin typeface="Garamond"/>
                        </a:rPr>
                        <a:t>BRL/USD exchange rate</a:t>
                      </a:r>
                    </a:p>
                  </a:txBody>
                  <a:tcPr>
                    <a:solidFill>
                      <a:srgbClr val="EFEFEF"/>
                    </a:solidFill>
                  </a:tcPr>
                </a:tc>
                <a:tc>
                  <a:txBody>
                    <a:bodyPr/>
                    <a:lstStyle/>
                    <a:p>
                      <a:pPr algn="l"/>
                      <a:r>
                        <a:rPr sz="900" b="0">
                          <a:solidFill>
                            <a:srgbClr val="000000"/>
                          </a:solidFill>
                          <a:latin typeface="Garamond"/>
                        </a:rPr>
                        <a:t>5.25 (recent level, im…</a:t>
                      </a:r>
                    </a:p>
                  </a:txBody>
                  <a:tcPr>
                    <a:solidFill>
                      <a:srgbClr val="EFEFEF"/>
                    </a:solidFill>
                  </a:tcPr>
                </a:tc>
                <a:tc>
                  <a:txBody>
                    <a:bodyPr/>
                    <a:lstStyle/>
                    <a:p>
                      <a:pPr algn="l"/>
                      <a:r>
                        <a:rPr sz="900" b="0">
                          <a:solidFill>
                            <a:srgbClr val="000000"/>
                          </a:solidFill>
                          <a:latin typeface="Garamond"/>
                        </a:rPr>
                        <a:t>Stable or strengthening BRL; Brazil repres…</a:t>
                      </a:r>
                    </a:p>
                  </a:txBody>
                  <a:tcPr>
                    <a:solidFill>
                      <a:srgbClr val="EFEFEF"/>
                    </a:solidFill>
                  </a:tcPr>
                </a:tc>
                <a:tc>
                  <a:txBody>
                    <a:bodyPr/>
                    <a:lstStyle/>
                    <a:p>
                      <a:pPr algn="l"/>
                      <a:r>
                        <a:rPr sz="900" b="0">
                          <a:solidFill>
                            <a:srgbClr val="000000"/>
                          </a:solidFill>
                          <a:latin typeface="Garamond"/>
                        </a:rPr>
                        <a:t>BRL weakening beyond 6.00 — would create F…</a:t>
                      </a:r>
                    </a:p>
                  </a:txBody>
                  <a:tcPr>
                    <a:solidFill>
                      <a:srgbClr val="EFEFEF"/>
                    </a:solidFill>
                  </a:tcPr>
                </a:tc>
                <a:tc>
                  <a:txBody>
                    <a:bodyPr/>
                    <a:lstStyle/>
                    <a:p>
                      <a:pPr algn="ctr"/>
                      <a:r>
                        <a:rPr sz="900" b="0">
                          <a:solidFill>
                            <a:srgbClr val="000000"/>
                          </a:solidFill>
                          <a:latin typeface="Garamond"/>
                        </a:rPr>
                        <a:t>monthly</a:t>
                      </a:r>
                    </a:p>
                  </a:txBody>
                  <a:tcPr>
                    <a:solidFill>
                      <a:srgbClr val="EFEFEF"/>
                    </a:solidFill>
                  </a:tcPr>
                </a:tc>
              </a:tr>
              <a:tr h="411480">
                <a:tc>
                  <a:txBody>
                    <a:bodyPr/>
                    <a:lstStyle/>
                    <a:p>
                      <a:pPr algn="l"/>
                      <a:r>
                        <a:rPr sz="900" b="0">
                          <a:solidFill>
                            <a:srgbClr val="000000"/>
                          </a:solidFill>
                          <a:latin typeface="Garamond"/>
                        </a:rPr>
                        <a:t>T-Mobile MLA status</a:t>
                      </a:r>
                    </a:p>
                  </a:txBody>
                  <a:tcPr>
                    <a:solidFill>
                      <a:srgbClr val="FFFFFF"/>
                    </a:solidFill>
                  </a:tcPr>
                </a:tc>
                <a:tc>
                  <a:txBody>
                    <a:bodyPr/>
                    <a:lstStyle/>
                    <a:p>
                      <a:pPr algn="l"/>
                      <a:r>
                        <a:rPr sz="900" b="0">
                          <a:solidFill>
                            <a:srgbClr val="000000"/>
                          </a:solidFill>
                          <a:latin typeface="Garamond"/>
                        </a:rPr>
                        <a:t>Current MLA expires Q4…</a:t>
                      </a:r>
                    </a:p>
                  </a:txBody>
                  <a:tcPr>
                    <a:solidFill>
                      <a:srgbClr val="FFFFFF"/>
                    </a:solidFill>
                  </a:tcPr>
                </a:tc>
                <a:tc>
                  <a:txBody>
                    <a:bodyPr/>
                    <a:lstStyle/>
                    <a:p>
                      <a:pPr algn="l"/>
                      <a:r>
                        <a:rPr sz="900" b="0">
                          <a:solidFill>
                            <a:srgbClr val="000000"/>
                          </a:solidFill>
                          <a:latin typeface="Garamond"/>
                        </a:rPr>
                        <a:t>Renewal at comparable or better escalator …</a:t>
                      </a:r>
                    </a:p>
                  </a:txBody>
                  <a:tcPr>
                    <a:solidFill>
                      <a:srgbClr val="FFFFFF"/>
                    </a:solidFill>
                  </a:tcPr>
                </a:tc>
                <a:tc>
                  <a:txBody>
                    <a:bodyPr/>
                    <a:lstStyle/>
                    <a:p>
                      <a:pPr algn="l"/>
                      <a:r>
                        <a:rPr sz="900" b="0">
                          <a:solidFill>
                            <a:srgbClr val="000000"/>
                          </a:solidFill>
                          <a:latin typeface="Garamond"/>
                        </a:rPr>
                        <a:t>Any public disclosure of T-Mobile reducing…</a:t>
                      </a:r>
                    </a:p>
                  </a:txBody>
                  <a:tcPr>
                    <a:solidFill>
                      <a:srgbClr val="FFFFFF"/>
                    </a:solidFill>
                  </a:tcPr>
                </a:tc>
                <a:tc>
                  <a:txBody>
                    <a:bodyPr/>
                    <a:lstStyle/>
                    <a:p>
                      <a:pPr algn="ctr"/>
                      <a:r>
                        <a:rPr sz="900" b="0">
                          <a:solidFill>
                            <a:srgbClr val="000000"/>
                          </a:solidFill>
                          <a:latin typeface="Garamond"/>
                        </a:rPr>
                        <a:t>quarterly…</a:t>
                      </a:r>
                    </a:p>
                  </a:txBody>
                  <a:tcPr>
                    <a:solidFill>
                      <a:srgbClr val="FFFFFF"/>
                    </a:solidFill>
                  </a:tcPr>
                </a:tc>
              </a:tr>
            </a:tbl>
          </a:graphicData>
        </a:graphic>
      </p:graphicFrame>
      <p:sp>
        <p:nvSpPr>
          <p:cNvPr id="11" name="TextBox 10"/>
          <p:cNvSpPr txBox="1"/>
          <p:nvPr/>
        </p:nvSpPr>
        <p:spPr>
          <a:xfrm>
            <a:off x="640080" y="6565392"/>
            <a:ext cx="11183112" cy="219456"/>
          </a:xfrm>
          <a:prstGeom prst="rect">
            <a:avLst/>
          </a:prstGeom>
          <a:noFill/>
        </p:spPr>
        <p:txBody>
          <a:bodyPr wrap="square">
            <a:normAutofit/>
          </a:bodyPr>
          <a:lstStyle/>
          <a:p>
            <a:pPr algn="l"/>
            <a:r>
              <a:rPr sz="850" b="0" i="1">
                <a:solidFill>
                  <a:srgbClr val="595959"/>
                </a:solidFill>
                <a:latin typeface="Garamond"/>
              </a:rPr>
              <a:t>Change of View Triggers: T-Mobile MLA renewed at or above current escalator rates — confirme…  |  T-Mobile formally announces reduction in tower commitment or MLA re…  |  Brazil regulatory deadline enforcement suspended or watered down fo…</a:t>
            </a:r>
          </a:p>
        </p:txBody>
      </p:sp>
      <p:sp>
        <p:nvSpPr>
          <p:cNvPr id="12" name="TextBox 11"/>
          <p:cNvSpPr txBox="1"/>
          <p:nvPr/>
        </p:nvSpPr>
        <p:spPr>
          <a:xfrm>
            <a:off x="320040" y="91440"/>
            <a:ext cx="347472" cy="274320"/>
          </a:xfrm>
          <a:prstGeom prst="rect">
            <a:avLst/>
          </a:prstGeom>
          <a:noFill/>
        </p:spPr>
        <p:txBody>
          <a:bodyPr wrap="square">
            <a:normAutofit/>
          </a:bodyPr>
          <a:lstStyle/>
          <a:p>
            <a:pPr algn="l"/>
            <a:r>
              <a:rPr sz="1200" b="0" i="0">
                <a:solidFill>
                  <a:srgbClr val="1C2C3A"/>
                </a:solidFill>
                <a:latin typeface="Garamond"/>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