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0"/>
          </a:xfrm>
          <a:prstGeom prst="rect">
            <a:avLst/>
          </a:prstGeom>
          <a:solidFill>
            <a:srgbClr val="4A9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457200"/>
          </a:xfrm>
          <a:prstGeom prst="rect">
            <a:avLst/>
          </a:prstGeom>
          <a:noFill/>
        </p:spPr>
        <p:txBody>
          <a:bodyPr wrap="square">
            <a:spAutoFit/>
          </a:bodyPr>
          <a:lstStyle/>
          <a:p>
            <a:pPr algn="l"/>
            <a:r>
              <a:rPr sz="900" b="1" i="0">
                <a:solidFill>
                  <a:srgbClr val="0D1B2A"/>
                </a:solidFill>
              </a:rPr>
              <a:t>EQUITY RESEARCH  |  LONG/SHORT INVESTMENT MEMO</a:t>
            </a:r>
          </a:p>
        </p:txBody>
      </p:sp>
      <p:sp>
        <p:nvSpPr>
          <p:cNvPr id="4" name="TextBox 3"/>
          <p:cNvSpPr txBox="1"/>
          <p:nvPr/>
        </p:nvSpPr>
        <p:spPr>
          <a:xfrm>
            <a:off x="457200" y="1097280"/>
            <a:ext cx="10972800" cy="914400"/>
          </a:xfrm>
          <a:prstGeom prst="rect">
            <a:avLst/>
          </a:prstGeom>
          <a:noFill/>
        </p:spPr>
        <p:txBody>
          <a:bodyPr wrap="square">
            <a:spAutoFit/>
          </a:bodyPr>
          <a:lstStyle/>
          <a:p>
            <a:pPr algn="l"/>
            <a:r>
              <a:rPr sz="4000" b="1" i="0">
                <a:solidFill>
                  <a:srgbClr val="FFFFFF"/>
                </a:solidFill>
              </a:rPr>
              <a:t>SBAC</a:t>
            </a:r>
          </a:p>
        </p:txBody>
      </p:sp>
      <p:sp>
        <p:nvSpPr>
          <p:cNvPr id="5" name="TextBox 4"/>
          <p:cNvSpPr txBox="1"/>
          <p:nvPr/>
        </p:nvSpPr>
        <p:spPr>
          <a:xfrm>
            <a:off x="457200" y="2011680"/>
            <a:ext cx="2743200" cy="548640"/>
          </a:xfrm>
          <a:prstGeom prst="rect">
            <a:avLst/>
          </a:prstGeom>
          <a:noFill/>
        </p:spPr>
        <p:txBody>
          <a:bodyPr wrap="square">
            <a:spAutoFit/>
          </a:bodyPr>
          <a:lstStyle/>
          <a:p>
            <a:pPr algn="l"/>
            <a:r>
              <a:rPr sz="2200" b="0" i="0">
                <a:solidFill>
                  <a:srgbClr val="4A9FD4"/>
                </a:solidFill>
              </a:rPr>
              <a:t>SBAC</a:t>
            </a:r>
          </a:p>
        </p:txBody>
      </p:sp>
      <p:sp>
        <p:nvSpPr>
          <p:cNvPr id="6" name="Rectangle 5"/>
          <p:cNvSpPr/>
          <p:nvPr/>
        </p:nvSpPr>
        <p:spPr>
          <a:xfrm>
            <a:off x="457200" y="2697480"/>
            <a:ext cx="11274552" cy="27432"/>
          </a:xfrm>
          <a:prstGeom prst="rect">
            <a:avLst/>
          </a:prstGeom>
          <a:solidFill>
            <a:srgbClr val="4A9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2926080"/>
            <a:ext cx="1645920" cy="685800"/>
          </a:xfrm>
          <a:prstGeom prst="rect">
            <a:avLst/>
          </a:prstGeom>
          <a:solidFill>
            <a:srgbClr val="F5C5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017520"/>
            <a:ext cx="1645920" cy="502920"/>
          </a:xfrm>
          <a:prstGeom prst="rect">
            <a:avLst/>
          </a:prstGeom>
          <a:noFill/>
        </p:spPr>
        <p:txBody>
          <a:bodyPr wrap="square">
            <a:spAutoFit/>
          </a:bodyPr>
          <a:lstStyle/>
          <a:p>
            <a:pPr algn="ctr"/>
            <a:r>
              <a:rPr sz="2200" b="1" i="0">
                <a:solidFill>
                  <a:srgbClr val="FFFFFF"/>
                </a:solidFill>
              </a:rPr>
              <a:t>HOLD</a:t>
            </a:r>
          </a:p>
        </p:txBody>
      </p:sp>
      <p:sp>
        <p:nvSpPr>
          <p:cNvPr id="9" name="TextBox 8"/>
          <p:cNvSpPr txBox="1"/>
          <p:nvPr/>
        </p:nvSpPr>
        <p:spPr>
          <a:xfrm>
            <a:off x="2377440" y="2971800"/>
            <a:ext cx="1828800" cy="256032"/>
          </a:xfrm>
          <a:prstGeom prst="rect">
            <a:avLst/>
          </a:prstGeom>
          <a:noFill/>
        </p:spPr>
        <p:txBody>
          <a:bodyPr wrap="square">
            <a:spAutoFit/>
          </a:bodyPr>
          <a:lstStyle/>
          <a:p>
            <a:pPr algn="ctr"/>
            <a:r>
              <a:rPr sz="800" b="0" i="0">
                <a:solidFill>
                  <a:srgbClr val="6B7280"/>
                </a:solidFill>
              </a:rPr>
              <a:t>Current Price</a:t>
            </a:r>
          </a:p>
        </p:txBody>
      </p:sp>
      <p:sp>
        <p:nvSpPr>
          <p:cNvPr id="10" name="TextBox 9"/>
          <p:cNvSpPr txBox="1"/>
          <p:nvPr/>
        </p:nvSpPr>
        <p:spPr>
          <a:xfrm>
            <a:off x="2377440" y="3200400"/>
            <a:ext cx="1828800" cy="411480"/>
          </a:xfrm>
          <a:prstGeom prst="rect">
            <a:avLst/>
          </a:prstGeom>
          <a:noFill/>
        </p:spPr>
        <p:txBody>
          <a:bodyPr wrap="square">
            <a:spAutoFit/>
          </a:bodyPr>
          <a:lstStyle/>
          <a:p>
            <a:pPr algn="ctr"/>
            <a:r>
              <a:rPr sz="1600" b="1" i="0">
                <a:solidFill>
                  <a:srgbClr val="FFFFFF"/>
                </a:solidFill>
              </a:rPr>
              <a:t>N/A</a:t>
            </a:r>
          </a:p>
        </p:txBody>
      </p:sp>
      <p:sp>
        <p:nvSpPr>
          <p:cNvPr id="11" name="TextBox 10"/>
          <p:cNvSpPr txBox="1"/>
          <p:nvPr/>
        </p:nvSpPr>
        <p:spPr>
          <a:xfrm>
            <a:off x="4297680" y="2971800"/>
            <a:ext cx="1828800" cy="256032"/>
          </a:xfrm>
          <a:prstGeom prst="rect">
            <a:avLst/>
          </a:prstGeom>
          <a:noFill/>
        </p:spPr>
        <p:txBody>
          <a:bodyPr wrap="square">
            <a:spAutoFit/>
          </a:bodyPr>
          <a:lstStyle/>
          <a:p>
            <a:pPr algn="ctr"/>
            <a:r>
              <a:rPr sz="800" b="0" i="0">
                <a:solidFill>
                  <a:srgbClr val="6B7280"/>
                </a:solidFill>
              </a:rPr>
              <a:t>12M Price Target</a:t>
            </a:r>
          </a:p>
        </p:txBody>
      </p:sp>
      <p:sp>
        <p:nvSpPr>
          <p:cNvPr id="12" name="TextBox 11"/>
          <p:cNvSpPr txBox="1"/>
          <p:nvPr/>
        </p:nvSpPr>
        <p:spPr>
          <a:xfrm>
            <a:off x="4297680" y="3200400"/>
            <a:ext cx="1828800" cy="411480"/>
          </a:xfrm>
          <a:prstGeom prst="rect">
            <a:avLst/>
          </a:prstGeom>
          <a:noFill/>
        </p:spPr>
        <p:txBody>
          <a:bodyPr wrap="square">
            <a:spAutoFit/>
          </a:bodyPr>
          <a:lstStyle/>
          <a:p>
            <a:pPr algn="ctr"/>
            <a:r>
              <a:rPr sz="1600" b="1" i="0">
                <a:solidFill>
                  <a:srgbClr val="FFFFFF"/>
                </a:solidFill>
              </a:rPr>
              <a:t>$210</a:t>
            </a:r>
          </a:p>
        </p:txBody>
      </p:sp>
      <p:sp>
        <p:nvSpPr>
          <p:cNvPr id="13" name="TextBox 12"/>
          <p:cNvSpPr txBox="1"/>
          <p:nvPr/>
        </p:nvSpPr>
        <p:spPr>
          <a:xfrm>
            <a:off x="6217920" y="2971800"/>
            <a:ext cx="1828800" cy="256032"/>
          </a:xfrm>
          <a:prstGeom prst="rect">
            <a:avLst/>
          </a:prstGeom>
          <a:noFill/>
        </p:spPr>
        <p:txBody>
          <a:bodyPr wrap="square">
            <a:spAutoFit/>
          </a:bodyPr>
          <a:lstStyle/>
          <a:p>
            <a:pPr algn="ctr"/>
            <a:r>
              <a:rPr sz="800" b="0" i="0">
                <a:solidFill>
                  <a:srgbClr val="6B7280"/>
                </a:solidFill>
              </a:rPr>
              <a:t>Expected Return</a:t>
            </a:r>
          </a:p>
        </p:txBody>
      </p:sp>
      <p:sp>
        <p:nvSpPr>
          <p:cNvPr id="14" name="TextBox 13"/>
          <p:cNvSpPr txBox="1"/>
          <p:nvPr/>
        </p:nvSpPr>
        <p:spPr>
          <a:xfrm>
            <a:off x="6217920" y="3200400"/>
            <a:ext cx="1828800" cy="411480"/>
          </a:xfrm>
          <a:prstGeom prst="rect">
            <a:avLst/>
          </a:prstGeom>
          <a:noFill/>
        </p:spPr>
        <p:txBody>
          <a:bodyPr wrap="square">
            <a:spAutoFit/>
          </a:bodyPr>
          <a:lstStyle/>
          <a:p>
            <a:pPr algn="ctr"/>
            <a:r>
              <a:rPr sz="1600" b="1" i="0">
                <a:solidFill>
                  <a:srgbClr val="FFFFFF"/>
                </a:solidFill>
              </a:rPr>
              <a:t>+5.0%</a:t>
            </a:r>
          </a:p>
        </p:txBody>
      </p:sp>
      <p:sp>
        <p:nvSpPr>
          <p:cNvPr id="15" name="TextBox 14"/>
          <p:cNvSpPr txBox="1"/>
          <p:nvPr/>
        </p:nvSpPr>
        <p:spPr>
          <a:xfrm>
            <a:off x="8138160" y="2971800"/>
            <a:ext cx="1828800" cy="256032"/>
          </a:xfrm>
          <a:prstGeom prst="rect">
            <a:avLst/>
          </a:prstGeom>
          <a:noFill/>
        </p:spPr>
        <p:txBody>
          <a:bodyPr wrap="square">
            <a:spAutoFit/>
          </a:bodyPr>
          <a:lstStyle/>
          <a:p>
            <a:pPr algn="ctr"/>
            <a:r>
              <a:rPr sz="800" b="0" i="0">
                <a:solidFill>
                  <a:srgbClr val="6B7280"/>
                </a:solidFill>
              </a:rPr>
              <a:t>Conviction</a:t>
            </a:r>
          </a:p>
        </p:txBody>
      </p:sp>
      <p:sp>
        <p:nvSpPr>
          <p:cNvPr id="16" name="TextBox 15"/>
          <p:cNvSpPr txBox="1"/>
          <p:nvPr/>
        </p:nvSpPr>
        <p:spPr>
          <a:xfrm>
            <a:off x="8138160" y="3200400"/>
            <a:ext cx="1828800" cy="411480"/>
          </a:xfrm>
          <a:prstGeom prst="rect">
            <a:avLst/>
          </a:prstGeom>
          <a:noFill/>
        </p:spPr>
        <p:txBody>
          <a:bodyPr wrap="square">
            <a:spAutoFit/>
          </a:bodyPr>
          <a:lstStyle/>
          <a:p>
            <a:pPr algn="ctr"/>
            <a:r>
              <a:rPr sz="1600" b="1" i="0">
                <a:solidFill>
                  <a:srgbClr val="FFFFFF"/>
                </a:solidFill>
              </a:rPr>
              <a:t>2/5</a:t>
            </a:r>
          </a:p>
        </p:txBody>
      </p:sp>
      <p:sp>
        <p:nvSpPr>
          <p:cNvPr id="17" name="TextBox 16"/>
          <p:cNvSpPr txBox="1"/>
          <p:nvPr/>
        </p:nvSpPr>
        <p:spPr>
          <a:xfrm>
            <a:off x="10058400" y="2971800"/>
            <a:ext cx="1828800" cy="256032"/>
          </a:xfrm>
          <a:prstGeom prst="rect">
            <a:avLst/>
          </a:prstGeom>
          <a:noFill/>
        </p:spPr>
        <p:txBody>
          <a:bodyPr wrap="square">
            <a:spAutoFit/>
          </a:bodyPr>
          <a:lstStyle/>
          <a:p>
            <a:pPr algn="ctr"/>
            <a:r>
              <a:rPr sz="800" b="0" i="0">
                <a:solidFill>
                  <a:srgbClr val="6B7280"/>
                </a:solidFill>
              </a:rPr>
              <a:t>Date</a:t>
            </a:r>
          </a:p>
        </p:txBody>
      </p:sp>
      <p:sp>
        <p:nvSpPr>
          <p:cNvPr id="18" name="TextBox 17"/>
          <p:cNvSpPr txBox="1"/>
          <p:nvPr/>
        </p:nvSpPr>
        <p:spPr>
          <a:xfrm>
            <a:off x="10058400" y="3200400"/>
            <a:ext cx="1828800" cy="411480"/>
          </a:xfrm>
          <a:prstGeom prst="rect">
            <a:avLst/>
          </a:prstGeom>
          <a:noFill/>
        </p:spPr>
        <p:txBody>
          <a:bodyPr wrap="square">
            <a:spAutoFit/>
          </a:bodyPr>
          <a:lstStyle/>
          <a:p>
            <a:pPr algn="ctr"/>
            <a:r>
              <a:rPr sz="1600" b="1" i="0">
                <a:solidFill>
                  <a:srgbClr val="FFFFFF"/>
                </a:solidFill>
              </a:rPr>
              <a:t>March 28, 2026</a:t>
            </a:r>
          </a:p>
        </p:txBody>
      </p:sp>
      <p:sp>
        <p:nvSpPr>
          <p:cNvPr id="19" name="Rectangle 18"/>
          <p:cNvSpPr/>
          <p:nvPr/>
        </p:nvSpPr>
        <p:spPr>
          <a:xfrm>
            <a:off x="457200" y="3840480"/>
            <a:ext cx="11274552" cy="1737360"/>
          </a:xfrm>
          <a:prstGeom prst="rect">
            <a:avLst/>
          </a:prstGeom>
          <a:solidFill>
            <a:srgbClr val="1A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931920"/>
            <a:ext cx="2743200" cy="320040"/>
          </a:xfrm>
          <a:prstGeom prst="rect">
            <a:avLst/>
          </a:prstGeom>
          <a:noFill/>
        </p:spPr>
        <p:txBody>
          <a:bodyPr wrap="square">
            <a:spAutoFit/>
          </a:bodyPr>
          <a:lstStyle/>
          <a:p>
            <a:pPr algn="l"/>
            <a:r>
              <a:rPr sz="900" b="1" i="0">
                <a:solidFill>
                  <a:srgbClr val="4A9FD4"/>
                </a:solidFill>
              </a:rPr>
              <a:t>VARIANT VIEW</a:t>
            </a:r>
          </a:p>
        </p:txBody>
      </p:sp>
      <p:sp>
        <p:nvSpPr>
          <p:cNvPr id="21" name="TextBox 20"/>
          <p:cNvSpPr txBox="1"/>
          <p:nvPr/>
        </p:nvSpPr>
        <p:spPr>
          <a:xfrm>
            <a:off x="640080" y="4224528"/>
            <a:ext cx="10881360" cy="1234440"/>
          </a:xfrm>
          <a:prstGeom prst="rect">
            <a:avLst/>
          </a:prstGeom>
          <a:noFill/>
        </p:spPr>
        <p:txBody>
          <a:bodyPr wrap="square">
            <a:spAutoFit/>
          </a:bodyPr>
          <a:lstStyle/>
          <a:p>
            <a:pPr algn="l"/>
            <a:r>
              <a:rPr sz="1000" b="0" i="1">
                <a:solidFill>
                  <a:srgbClr val="F0F4F8"/>
                </a:solidFill>
              </a:rPr>
              <a:t>The market is pricing SBAC as a structurally decelerating tower operator permanently impaired by post-DISH carrier rationalization and EM exit, but consensus is wrong to model sustained sub-3% organic same-tower growth — T-Mobile and AT&amp;T mid-band de...</a:t>
            </a:r>
          </a:p>
        </p:txBody>
      </p:sp>
      <p:sp>
        <p:nvSpPr>
          <p:cNvPr id="22" name="Rectangle 21"/>
          <p:cNvSpPr/>
          <p:nvPr/>
        </p:nvSpPr>
        <p:spPr>
          <a:xfrm>
            <a:off x="0" y="6537960"/>
            <a:ext cx="12188952" cy="320040"/>
          </a:xfrm>
          <a:prstGeom prst="rect">
            <a:avLst/>
          </a:prstGeom>
          <a:solidFill>
            <a:srgbClr val="0812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6583680"/>
            <a:ext cx="11430000" cy="228600"/>
          </a:xfrm>
          <a:prstGeom prst="rect">
            <a:avLst/>
          </a:prstGeom>
          <a:noFill/>
        </p:spPr>
        <p:txBody>
          <a:bodyPr wrap="square">
            <a:spAutoFit/>
          </a:bodyPr>
          <a:lstStyle/>
          <a:p>
            <a:pPr algn="ctr"/>
            <a:r>
              <a:rPr sz="700" b="0" i="0">
                <a:solidFill>
                  <a:srgbClr val="6B7280"/>
                </a:solidFill>
              </a:rPr>
              <a:t>CONFIDENTIAL — FOR INSTITUTIONAL INVESTOR USE ONLY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45720"/>
          </a:xfrm>
          <a:prstGeom prst="rect">
            <a:avLst/>
          </a:prstGeom>
          <a:solidFill>
            <a:srgbClr val="4A9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09728"/>
            <a:ext cx="8229600" cy="502920"/>
          </a:xfrm>
          <a:prstGeom prst="rect">
            <a:avLst/>
          </a:prstGeom>
          <a:noFill/>
        </p:spPr>
        <p:txBody>
          <a:bodyPr wrap="square">
            <a:spAutoFit/>
          </a:bodyPr>
          <a:lstStyle/>
          <a:p>
            <a:pPr algn="l"/>
            <a:r>
              <a:rPr sz="2000" b="1" i="0">
                <a:solidFill>
                  <a:srgbClr val="FFFFFF"/>
                </a:solidFill>
              </a:rPr>
              <a:t>INVESTMENT THESIS</a:t>
            </a:r>
          </a:p>
        </p:txBody>
      </p:sp>
      <p:sp>
        <p:nvSpPr>
          <p:cNvPr id="5" name="TextBox 4"/>
          <p:cNvSpPr txBox="1"/>
          <p:nvPr/>
        </p:nvSpPr>
        <p:spPr>
          <a:xfrm>
            <a:off x="274320" y="566928"/>
            <a:ext cx="8229600" cy="320040"/>
          </a:xfrm>
          <a:prstGeom prst="rect">
            <a:avLst/>
          </a:prstGeom>
          <a:noFill/>
        </p:spPr>
        <p:txBody>
          <a:bodyPr wrap="square">
            <a:spAutoFit/>
          </a:bodyPr>
          <a:lstStyle/>
          <a:p>
            <a:pPr algn="l"/>
            <a:r>
              <a:rPr sz="1100" b="0" i="0">
                <a:solidFill>
                  <a:srgbClr val="B0C4D8"/>
                </a:solidFill>
              </a:rPr>
              <a:t>Why we own it — what the market gets wrong</a:t>
            </a:r>
          </a:p>
        </p:txBody>
      </p:sp>
      <p:sp>
        <p:nvSpPr>
          <p:cNvPr id="6" name="Rectangle 5"/>
          <p:cNvSpPr/>
          <p:nvPr/>
        </p:nvSpPr>
        <p:spPr>
          <a:xfrm>
            <a:off x="274320" y="1097280"/>
            <a:ext cx="3749039" cy="502920"/>
          </a:xfrm>
          <a:prstGeom prst="rect">
            <a:avLst/>
          </a:prstGeom>
          <a:solidFill>
            <a:srgbClr val="2EA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170432"/>
            <a:ext cx="3749039" cy="365760"/>
          </a:xfrm>
          <a:prstGeom prst="rect">
            <a:avLst/>
          </a:prstGeom>
          <a:noFill/>
        </p:spPr>
        <p:txBody>
          <a:bodyPr wrap="square">
            <a:spAutoFit/>
          </a:bodyPr>
          <a:lstStyle/>
          <a:p>
            <a:pPr algn="ctr"/>
            <a:r>
              <a:rPr sz="1100" b="1" i="0">
                <a:solidFill>
                  <a:srgbClr val="FFFFFF"/>
                </a:solidFill>
              </a:rPr>
              <a:t>BULL CASE  |  25%  |  $270  |  +35%</a:t>
            </a:r>
          </a:p>
        </p:txBody>
      </p:sp>
      <p:sp>
        <p:nvSpPr>
          <p:cNvPr id="8" name="TextBox 7"/>
          <p:cNvSpPr txBox="1"/>
          <p:nvPr/>
        </p:nvSpPr>
        <p:spPr>
          <a:xfrm>
            <a:off x="274320" y="1664208"/>
            <a:ext cx="3749039" cy="777240"/>
          </a:xfrm>
          <a:prstGeom prst="rect">
            <a:avLst/>
          </a:prstGeom>
          <a:noFill/>
        </p:spPr>
        <p:txBody>
          <a:bodyPr wrap="square">
            <a:spAutoFit/>
          </a:bodyPr>
          <a:lstStyle/>
          <a:p>
            <a:pPr algn="l"/>
            <a:r>
              <a:rPr sz="800" b="0" i="0">
                <a:solidFill>
                  <a:srgbClr val="F0F4F8"/>
                </a:solidFill>
              </a:rPr>
              <a:t>US organic same-tower revenue growth re-accelerates to 5%+ for two consecutive quarters by Q3 2026, confirmed in earnings disclosure, driven...</a:t>
            </a:r>
          </a:p>
        </p:txBody>
      </p:sp>
      <p:sp>
        <p:nvSpPr>
          <p:cNvPr id="9" name="Rectangle 8"/>
          <p:cNvSpPr/>
          <p:nvPr/>
        </p:nvSpPr>
        <p:spPr>
          <a:xfrm>
            <a:off x="4206240" y="1097280"/>
            <a:ext cx="3749039" cy="502920"/>
          </a:xfrm>
          <a:prstGeom prst="rect">
            <a:avLst/>
          </a:prstGeom>
          <a:solidFill>
            <a:srgbClr val="4A9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0" y="1170432"/>
            <a:ext cx="3749039" cy="365760"/>
          </a:xfrm>
          <a:prstGeom prst="rect">
            <a:avLst/>
          </a:prstGeom>
          <a:noFill/>
        </p:spPr>
        <p:txBody>
          <a:bodyPr wrap="square">
            <a:spAutoFit/>
          </a:bodyPr>
          <a:lstStyle/>
          <a:p>
            <a:pPr algn="ctr"/>
            <a:r>
              <a:rPr sz="1100" b="1" i="0">
                <a:solidFill>
                  <a:srgbClr val="FFFFFF"/>
                </a:solidFill>
              </a:rPr>
              <a:t>BASE CASE  |  50%  |  $210  |  +5%</a:t>
            </a:r>
          </a:p>
        </p:txBody>
      </p:sp>
      <p:sp>
        <p:nvSpPr>
          <p:cNvPr id="11" name="TextBox 10"/>
          <p:cNvSpPr txBox="1"/>
          <p:nvPr/>
        </p:nvSpPr>
        <p:spPr>
          <a:xfrm>
            <a:off x="4206240" y="1664208"/>
            <a:ext cx="3749039" cy="777240"/>
          </a:xfrm>
          <a:prstGeom prst="rect">
            <a:avLst/>
          </a:prstGeom>
          <a:noFill/>
        </p:spPr>
        <p:txBody>
          <a:bodyPr wrap="square">
            <a:spAutoFit/>
          </a:bodyPr>
          <a:lstStyle/>
          <a:p>
            <a:pPr algn="l"/>
            <a:r>
              <a:rPr sz="800" b="0" i="0">
                <a:solidFill>
                  <a:srgbClr val="F0F4F8"/>
                </a:solidFill>
              </a:rPr>
              <a:t>Organic same-tower growth stabilizes at 3-4% in 2026 — modestly above current consensus trough estimates but not the full densification re-a...</a:t>
            </a:r>
          </a:p>
        </p:txBody>
      </p:sp>
      <p:sp>
        <p:nvSpPr>
          <p:cNvPr id="12" name="Rectangle 11"/>
          <p:cNvSpPr/>
          <p:nvPr/>
        </p:nvSpPr>
        <p:spPr>
          <a:xfrm>
            <a:off x="8138159" y="1097280"/>
            <a:ext cx="3749039" cy="502920"/>
          </a:xfrm>
          <a:prstGeom prst="rect">
            <a:avLst/>
          </a:prstGeom>
          <a:solidFill>
            <a:srgbClr val="E0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59" y="1170432"/>
            <a:ext cx="3749039" cy="365760"/>
          </a:xfrm>
          <a:prstGeom prst="rect">
            <a:avLst/>
          </a:prstGeom>
          <a:noFill/>
        </p:spPr>
        <p:txBody>
          <a:bodyPr wrap="square">
            <a:spAutoFit/>
          </a:bodyPr>
          <a:lstStyle/>
          <a:p>
            <a:pPr algn="ctr"/>
            <a:r>
              <a:rPr sz="1100" b="1" i="0">
                <a:solidFill>
                  <a:srgbClr val="FFFFFF"/>
                </a:solidFill>
              </a:rPr>
              <a:t>BEAR CASE  |  25%  |  $120  |  -40%</a:t>
            </a:r>
          </a:p>
        </p:txBody>
      </p:sp>
      <p:sp>
        <p:nvSpPr>
          <p:cNvPr id="14" name="TextBox 13"/>
          <p:cNvSpPr txBox="1"/>
          <p:nvPr/>
        </p:nvSpPr>
        <p:spPr>
          <a:xfrm>
            <a:off x="8138159" y="1664208"/>
            <a:ext cx="3749039" cy="777240"/>
          </a:xfrm>
          <a:prstGeom prst="rect">
            <a:avLst/>
          </a:prstGeom>
          <a:noFill/>
        </p:spPr>
        <p:txBody>
          <a:bodyPr wrap="square">
            <a:spAutoFit/>
          </a:bodyPr>
          <a:lstStyle/>
          <a:p>
            <a:pPr algn="l"/>
            <a:r>
              <a:rPr sz="800" b="0" i="0">
                <a:solidFill>
                  <a:srgbClr val="F0F4F8"/>
                </a:solidFill>
              </a:rPr>
              <a:t>Organic same-tower revenue growth deteriorates to 1% or below in 2026 as carrier capex budgets are redirected to fiber, small cell, and spec...</a:t>
            </a:r>
          </a:p>
        </p:txBody>
      </p:sp>
      <p:sp>
        <p:nvSpPr>
          <p:cNvPr id="15" name="Rectangle 14"/>
          <p:cNvSpPr/>
          <p:nvPr/>
        </p:nvSpPr>
        <p:spPr>
          <a:xfrm>
            <a:off x="274320" y="2560320"/>
            <a:ext cx="11640312" cy="18288"/>
          </a:xfrm>
          <a:prstGeom prst="rect">
            <a:avLst/>
          </a:prstGeom>
          <a:solidFill>
            <a:srgbClr val="4A9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2651760"/>
            <a:ext cx="3657600" cy="320040"/>
          </a:xfrm>
          <a:prstGeom prst="rect">
            <a:avLst/>
          </a:prstGeom>
          <a:noFill/>
        </p:spPr>
        <p:txBody>
          <a:bodyPr wrap="square">
            <a:spAutoFit/>
          </a:bodyPr>
          <a:lstStyle/>
          <a:p>
            <a:pPr algn="l"/>
            <a:r>
              <a:rPr sz="1000" b="1" i="0">
                <a:solidFill>
                  <a:srgbClr val="4A9FD4"/>
                </a:solidFill>
              </a:rPr>
              <a:t>KEY CATALYSTS</a:t>
            </a:r>
          </a:p>
        </p:txBody>
      </p:sp>
      <p:sp>
        <p:nvSpPr>
          <p:cNvPr id="17" name="TextBox 16"/>
          <p:cNvSpPr txBox="1"/>
          <p:nvPr/>
        </p:nvSpPr>
        <p:spPr>
          <a:xfrm>
            <a:off x="274320" y="3017520"/>
            <a:ext cx="7772400" cy="274320"/>
          </a:xfrm>
          <a:prstGeom prst="rect">
            <a:avLst/>
          </a:prstGeom>
          <a:noFill/>
        </p:spPr>
        <p:txBody>
          <a:bodyPr wrap="square">
            <a:spAutoFit/>
          </a:bodyPr>
          <a:lstStyle/>
          <a:p>
            <a:pPr algn="l"/>
            <a:r>
              <a:rPr sz="900" b="1" i="0">
                <a:solidFill>
                  <a:srgbClr val="FFFFFF"/>
                </a:solidFill>
              </a:rPr>
              <a:t>• Q4 2025 / FY2025 Earnings Release — same-tower organic revenue growth disclosure</a:t>
            </a:r>
          </a:p>
        </p:txBody>
      </p:sp>
      <p:sp>
        <p:nvSpPr>
          <p:cNvPr id="18" name="TextBox 17"/>
          <p:cNvSpPr txBox="1"/>
          <p:nvPr/>
        </p:nvSpPr>
        <p:spPr>
          <a:xfrm>
            <a:off x="274320" y="3383279"/>
            <a:ext cx="7772400" cy="274320"/>
          </a:xfrm>
          <a:prstGeom prst="rect">
            <a:avLst/>
          </a:prstGeom>
          <a:noFill/>
        </p:spPr>
        <p:txBody>
          <a:bodyPr wrap="square">
            <a:spAutoFit/>
          </a:bodyPr>
          <a:lstStyle/>
          <a:p>
            <a:pPr algn="l"/>
            <a:r>
              <a:rPr sz="900" b="1" i="0">
                <a:solidFill>
                  <a:srgbClr val="FFFFFF"/>
                </a:solidFill>
              </a:rPr>
              <a:t>• T-Mobile or AT&amp;T public disclosure of incremental 2026 tower amendment/densification spend above prior-year levels</a:t>
            </a:r>
          </a:p>
        </p:txBody>
      </p:sp>
      <p:sp>
        <p:nvSpPr>
          <p:cNvPr id="19" name="TextBox 18"/>
          <p:cNvSpPr txBox="1"/>
          <p:nvPr/>
        </p:nvSpPr>
        <p:spPr>
          <a:xfrm>
            <a:off x="274320" y="3749039"/>
            <a:ext cx="7772400" cy="274320"/>
          </a:xfrm>
          <a:prstGeom prst="rect">
            <a:avLst/>
          </a:prstGeom>
          <a:noFill/>
        </p:spPr>
        <p:txBody>
          <a:bodyPr wrap="square">
            <a:spAutoFit/>
          </a:bodyPr>
          <a:lstStyle/>
          <a:p>
            <a:pPr algn="l"/>
            <a:r>
              <a:rPr sz="900" b="1" i="0">
                <a:solidFill>
                  <a:srgbClr val="FFFFFF"/>
                </a:solidFill>
              </a:rPr>
              <a:t>• Q1 2026 Earnings — first clean-US quarter post all international exits with same-tower organic growth disclosure</a:t>
            </a:r>
          </a:p>
        </p:txBody>
      </p:sp>
      <p:sp>
        <p:nvSpPr>
          <p:cNvPr id="20" name="TextBox 19"/>
          <p:cNvSpPr txBox="1"/>
          <p:nvPr/>
        </p:nvSpPr>
        <p:spPr>
          <a:xfrm>
            <a:off x="274320" y="4114800"/>
            <a:ext cx="7772400" cy="274320"/>
          </a:xfrm>
          <a:prstGeom prst="rect">
            <a:avLst/>
          </a:prstGeom>
          <a:noFill/>
        </p:spPr>
        <p:txBody>
          <a:bodyPr wrap="square">
            <a:spAutoFit/>
          </a:bodyPr>
          <a:lstStyle/>
          <a:p>
            <a:pPr algn="l"/>
            <a:r>
              <a:rPr sz="900" b="1" i="0">
                <a:solidFill>
                  <a:srgbClr val="FFFFFF"/>
                </a:solidFill>
              </a:rPr>
              <a:t>• Debt refinancing at materially higher than expected cost — near-term maturity stack refinanced above 6.5%</a:t>
            </a:r>
          </a:p>
        </p:txBody>
      </p:sp>
      <p:sp>
        <p:nvSpPr>
          <p:cNvPr id="21" name="TextBox 20"/>
          <p:cNvSpPr txBox="1"/>
          <p:nvPr/>
        </p:nvSpPr>
        <p:spPr>
          <a:xfrm>
            <a:off x="274320" y="5029200"/>
            <a:ext cx="3657600" cy="274320"/>
          </a:xfrm>
          <a:prstGeom prst="rect">
            <a:avLst/>
          </a:prstGeom>
          <a:noFill/>
        </p:spPr>
        <p:txBody>
          <a:bodyPr wrap="square">
            <a:spAutoFit/>
          </a:bodyPr>
          <a:lstStyle/>
          <a:p>
            <a:pPr algn="l"/>
            <a:r>
              <a:rPr sz="1000" b="1" i="0">
                <a:solidFill>
                  <a:srgbClr val="4A9FD4"/>
                </a:solidFill>
              </a:rPr>
              <a:t>MONITORING KPIs</a:t>
            </a:r>
          </a:p>
        </p:txBody>
      </p:sp>
      <p:sp>
        <p:nvSpPr>
          <p:cNvPr id="22" name="TextBox 21"/>
          <p:cNvSpPr txBox="1"/>
          <p:nvPr/>
        </p:nvSpPr>
        <p:spPr>
          <a:xfrm>
            <a:off x="274320" y="5349240"/>
            <a:ext cx="11430000" cy="320040"/>
          </a:xfrm>
          <a:prstGeom prst="rect">
            <a:avLst/>
          </a:prstGeom>
          <a:noFill/>
        </p:spPr>
        <p:txBody>
          <a:bodyPr wrap="square">
            <a:spAutoFit/>
          </a:bodyPr>
          <a:lstStyle/>
          <a:p>
            <a:pPr algn="l"/>
            <a:r>
              <a:rPr sz="800" b="0" i="0">
                <a:solidFill>
                  <a:srgbClr val="6B7280"/>
                </a:solidFill>
              </a:rPr>
              <a:t>{'metric': 'US domestic same-tower organic revenue  |  {'metric': 'Net debt / EBITDA leverage ratio', 'cu  |  {'metric': 'AFFO per share (Adjusted Funds From Op  |  {'metric': 'T-Mobile and AT&amp;T combined tower amend  |  {'metric': 'EV/NTM EBITDA multiple vs. AMT (spread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45720"/>
          </a:xfrm>
          <a:prstGeom prst="rect">
            <a:avLst/>
          </a:prstGeom>
          <a:solidFill>
            <a:srgbClr val="4A9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09728"/>
            <a:ext cx="8229600" cy="502920"/>
          </a:xfrm>
          <a:prstGeom prst="rect">
            <a:avLst/>
          </a:prstGeom>
          <a:noFill/>
        </p:spPr>
        <p:txBody>
          <a:bodyPr wrap="square">
            <a:spAutoFit/>
          </a:bodyPr>
          <a:lstStyle/>
          <a:p>
            <a:pPr algn="l"/>
            <a:r>
              <a:rPr sz="2000" b="1" i="0">
                <a:solidFill>
                  <a:srgbClr val="FFFFFF"/>
                </a:solidFill>
              </a:rPr>
              <a:t>BUSINESS QUALITY &amp; COMPETITIVE MOAT</a:t>
            </a:r>
          </a:p>
        </p:txBody>
      </p:sp>
      <p:sp>
        <p:nvSpPr>
          <p:cNvPr id="5" name="TextBox 4"/>
          <p:cNvSpPr txBox="1"/>
          <p:nvPr/>
        </p:nvSpPr>
        <p:spPr>
          <a:xfrm>
            <a:off x="274320" y="566928"/>
            <a:ext cx="8229600" cy="320040"/>
          </a:xfrm>
          <a:prstGeom prst="rect">
            <a:avLst/>
          </a:prstGeom>
          <a:noFill/>
        </p:spPr>
        <p:txBody>
          <a:bodyPr wrap="square">
            <a:spAutoFit/>
          </a:bodyPr>
          <a:lstStyle/>
          <a:p>
            <a:pPr algn="l"/>
            <a:r>
              <a:rPr sz="1100" b="0" i="0">
                <a:solidFill>
                  <a:srgbClr val="B0C4D8"/>
                </a:solidFill>
              </a:rPr>
              <a:t>Moat durability, management quality, and industry structure</a:t>
            </a:r>
          </a:p>
        </p:txBody>
      </p:sp>
      <p:sp>
        <p:nvSpPr>
          <p:cNvPr id="6" name="Rectangle 5"/>
          <p:cNvSpPr/>
          <p:nvPr/>
        </p:nvSpPr>
        <p:spPr>
          <a:xfrm>
            <a:off x="274320" y="1143000"/>
            <a:ext cx="2651760" cy="731520"/>
          </a:xfrm>
          <a:prstGeom prst="rect">
            <a:avLst/>
          </a:prstGeom>
          <a:solidFill>
            <a:srgbClr val="1A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188720"/>
            <a:ext cx="2651760" cy="274320"/>
          </a:xfrm>
          <a:prstGeom prst="rect">
            <a:avLst/>
          </a:prstGeom>
          <a:noFill/>
        </p:spPr>
        <p:txBody>
          <a:bodyPr wrap="square">
            <a:spAutoFit/>
          </a:bodyPr>
          <a:lstStyle/>
          <a:p>
            <a:pPr algn="ctr"/>
            <a:r>
              <a:rPr sz="800" b="0" i="0">
                <a:solidFill>
                  <a:srgbClr val="6B7280"/>
                </a:solidFill>
              </a:rPr>
              <a:t>Moat</a:t>
            </a:r>
          </a:p>
        </p:txBody>
      </p:sp>
      <p:sp>
        <p:nvSpPr>
          <p:cNvPr id="8" name="TextBox 7"/>
          <p:cNvSpPr txBox="1"/>
          <p:nvPr/>
        </p:nvSpPr>
        <p:spPr>
          <a:xfrm>
            <a:off x="274320" y="1435608"/>
            <a:ext cx="2651760" cy="411480"/>
          </a:xfrm>
          <a:prstGeom prst="rect">
            <a:avLst/>
          </a:prstGeom>
          <a:noFill/>
        </p:spPr>
        <p:txBody>
          <a:bodyPr wrap="square">
            <a:spAutoFit/>
          </a:bodyPr>
          <a:lstStyle/>
          <a:p>
            <a:pPr algn="ctr"/>
            <a:r>
              <a:rPr sz="1800" b="1" i="0">
                <a:solidFill>
                  <a:srgbClr val="4A9FD4"/>
                </a:solidFill>
              </a:rPr>
              <a:t>wide</a:t>
            </a:r>
          </a:p>
        </p:txBody>
      </p:sp>
      <p:sp>
        <p:nvSpPr>
          <p:cNvPr id="9" name="Rectangle 8"/>
          <p:cNvSpPr/>
          <p:nvPr/>
        </p:nvSpPr>
        <p:spPr>
          <a:xfrm>
            <a:off x="3154679" y="1143000"/>
            <a:ext cx="2651760" cy="731520"/>
          </a:xfrm>
          <a:prstGeom prst="rect">
            <a:avLst/>
          </a:prstGeom>
          <a:solidFill>
            <a:srgbClr val="1A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54679" y="1188720"/>
            <a:ext cx="2651760" cy="274320"/>
          </a:xfrm>
          <a:prstGeom prst="rect">
            <a:avLst/>
          </a:prstGeom>
          <a:noFill/>
        </p:spPr>
        <p:txBody>
          <a:bodyPr wrap="square">
            <a:spAutoFit/>
          </a:bodyPr>
          <a:lstStyle/>
          <a:p>
            <a:pPr algn="ctr"/>
            <a:r>
              <a:rPr sz="800" b="0" i="0">
                <a:solidFill>
                  <a:srgbClr val="6B7280"/>
                </a:solidFill>
              </a:rPr>
              <a:t>Management</a:t>
            </a:r>
          </a:p>
        </p:txBody>
      </p:sp>
      <p:sp>
        <p:nvSpPr>
          <p:cNvPr id="11" name="TextBox 10"/>
          <p:cNvSpPr txBox="1"/>
          <p:nvPr/>
        </p:nvSpPr>
        <p:spPr>
          <a:xfrm>
            <a:off x="3154679" y="1435608"/>
            <a:ext cx="2651760" cy="411480"/>
          </a:xfrm>
          <a:prstGeom prst="rect">
            <a:avLst/>
          </a:prstGeom>
          <a:noFill/>
        </p:spPr>
        <p:txBody>
          <a:bodyPr wrap="square">
            <a:spAutoFit/>
          </a:bodyPr>
          <a:lstStyle/>
          <a:p>
            <a:pPr algn="ctr"/>
            <a:r>
              <a:rPr sz="1800" b="1" i="0">
                <a:solidFill>
                  <a:srgbClr val="2EA04B"/>
                </a:solidFill>
              </a:rPr>
              <a:t>? /10</a:t>
            </a:r>
          </a:p>
        </p:txBody>
      </p:sp>
      <p:sp>
        <p:nvSpPr>
          <p:cNvPr id="12" name="Rectangle 11"/>
          <p:cNvSpPr/>
          <p:nvPr/>
        </p:nvSpPr>
        <p:spPr>
          <a:xfrm>
            <a:off x="6035040" y="1143000"/>
            <a:ext cx="2651760" cy="731520"/>
          </a:xfrm>
          <a:prstGeom prst="rect">
            <a:avLst/>
          </a:prstGeom>
          <a:solidFill>
            <a:srgbClr val="1A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35040" y="1188720"/>
            <a:ext cx="2651760" cy="274320"/>
          </a:xfrm>
          <a:prstGeom prst="rect">
            <a:avLst/>
          </a:prstGeom>
          <a:noFill/>
        </p:spPr>
        <p:txBody>
          <a:bodyPr wrap="square">
            <a:spAutoFit/>
          </a:bodyPr>
          <a:lstStyle/>
          <a:p>
            <a:pPr algn="ctr"/>
            <a:r>
              <a:rPr sz="800" b="0" i="0">
                <a:solidFill>
                  <a:srgbClr val="6B7280"/>
                </a:solidFill>
              </a:rPr>
              <a:t>Earnings Quality</a:t>
            </a:r>
          </a:p>
        </p:txBody>
      </p:sp>
      <p:sp>
        <p:nvSpPr>
          <p:cNvPr id="14" name="TextBox 13"/>
          <p:cNvSpPr txBox="1"/>
          <p:nvPr/>
        </p:nvSpPr>
        <p:spPr>
          <a:xfrm>
            <a:off x="6035040" y="1435608"/>
            <a:ext cx="2651760" cy="411480"/>
          </a:xfrm>
          <a:prstGeom prst="rect">
            <a:avLst/>
          </a:prstGeom>
          <a:noFill/>
        </p:spPr>
        <p:txBody>
          <a:bodyPr wrap="square">
            <a:spAutoFit/>
          </a:bodyPr>
          <a:lstStyle/>
          <a:p>
            <a:pPr algn="ctr"/>
            <a:r>
              <a:rPr sz="1800" b="1" i="0">
                <a:solidFill>
                  <a:srgbClr val="F5C542"/>
                </a:solidFill>
              </a:rPr>
              <a:t>6 /10</a:t>
            </a:r>
          </a:p>
        </p:txBody>
      </p:sp>
      <p:sp>
        <p:nvSpPr>
          <p:cNvPr id="15" name="Rectangle 14"/>
          <p:cNvSpPr/>
          <p:nvPr/>
        </p:nvSpPr>
        <p:spPr>
          <a:xfrm>
            <a:off x="8915400" y="1143000"/>
            <a:ext cx="2651760" cy="731520"/>
          </a:xfrm>
          <a:prstGeom prst="rect">
            <a:avLst/>
          </a:prstGeom>
          <a:solidFill>
            <a:srgbClr val="1A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15400" y="1188720"/>
            <a:ext cx="2651760" cy="274320"/>
          </a:xfrm>
          <a:prstGeom prst="rect">
            <a:avLst/>
          </a:prstGeom>
          <a:noFill/>
        </p:spPr>
        <p:txBody>
          <a:bodyPr wrap="square">
            <a:spAutoFit/>
          </a:bodyPr>
          <a:lstStyle/>
          <a:p>
            <a:pPr algn="ctr"/>
            <a:r>
              <a:rPr sz="800" b="0" i="0">
                <a:solidFill>
                  <a:srgbClr val="6B7280"/>
                </a:solidFill>
              </a:rPr>
              <a:t>Overall Biz Quality</a:t>
            </a:r>
          </a:p>
        </p:txBody>
      </p:sp>
      <p:sp>
        <p:nvSpPr>
          <p:cNvPr id="17" name="TextBox 16"/>
          <p:cNvSpPr txBox="1"/>
          <p:nvPr/>
        </p:nvSpPr>
        <p:spPr>
          <a:xfrm>
            <a:off x="8915400" y="1435608"/>
            <a:ext cx="2651760" cy="411480"/>
          </a:xfrm>
          <a:prstGeom prst="rect">
            <a:avLst/>
          </a:prstGeom>
          <a:noFill/>
        </p:spPr>
        <p:txBody>
          <a:bodyPr wrap="square">
            <a:spAutoFit/>
          </a:bodyPr>
          <a:lstStyle/>
          <a:p>
            <a:pPr algn="ctr"/>
            <a:r>
              <a:rPr sz="1800" b="1" i="0">
                <a:solidFill>
                  <a:srgbClr val="FFFFFF"/>
                </a:solidFill>
              </a:rPr>
              <a:t>? /10</a:t>
            </a:r>
          </a:p>
        </p:txBody>
      </p:sp>
      <p:sp>
        <p:nvSpPr>
          <p:cNvPr id="18" name="TextBox 17"/>
          <p:cNvSpPr txBox="1"/>
          <p:nvPr/>
        </p:nvSpPr>
        <p:spPr>
          <a:xfrm>
            <a:off x="274320" y="2057400"/>
            <a:ext cx="5486400" cy="274320"/>
          </a:xfrm>
          <a:prstGeom prst="rect">
            <a:avLst/>
          </a:prstGeom>
          <a:noFill/>
        </p:spPr>
        <p:txBody>
          <a:bodyPr wrap="square">
            <a:spAutoFit/>
          </a:bodyPr>
          <a:lstStyle/>
          <a:p>
            <a:pPr algn="l"/>
            <a:r>
              <a:rPr sz="1000" b="1" i="0">
                <a:solidFill>
                  <a:srgbClr val="4A9FD4"/>
                </a:solidFill>
              </a:rPr>
              <a:t>MOAT SOURCES</a:t>
            </a:r>
          </a:p>
        </p:txBody>
      </p:sp>
      <p:sp>
        <p:nvSpPr>
          <p:cNvPr id="19" name="TextBox 18"/>
          <p:cNvSpPr txBox="1"/>
          <p:nvPr/>
        </p:nvSpPr>
        <p:spPr>
          <a:xfrm>
            <a:off x="274320" y="2377440"/>
            <a:ext cx="11430000" cy="320040"/>
          </a:xfrm>
          <a:prstGeom prst="rect">
            <a:avLst/>
          </a:prstGeom>
          <a:noFill/>
        </p:spPr>
        <p:txBody>
          <a:bodyPr wrap="square">
            <a:spAutoFit/>
          </a:bodyPr>
          <a:lstStyle/>
          <a:p>
            <a:pPr algn="l"/>
            <a:r>
              <a:rPr sz="900" b="0" i="0">
                <a:solidFill>
                  <a:srgbClr val="F0F4F8"/>
                </a:solidFill>
              </a:rPr>
              <a:t>• Site scarcity and zoning barriers: tower locations secured through long-term ground leases and regulatory approvals that</a:t>
            </a:r>
          </a:p>
        </p:txBody>
      </p:sp>
      <p:sp>
        <p:nvSpPr>
          <p:cNvPr id="20" name="TextBox 19"/>
          <p:cNvSpPr txBox="1"/>
          <p:nvPr/>
        </p:nvSpPr>
        <p:spPr>
          <a:xfrm>
            <a:off x="274320" y="2724912"/>
            <a:ext cx="11430000" cy="320040"/>
          </a:xfrm>
          <a:prstGeom prst="rect">
            <a:avLst/>
          </a:prstGeom>
          <a:noFill/>
        </p:spPr>
        <p:txBody>
          <a:bodyPr wrap="square">
            <a:spAutoFit/>
          </a:bodyPr>
          <a:lstStyle/>
          <a:p>
            <a:pPr algn="l"/>
            <a:r>
              <a:rPr sz="900" b="0" i="0">
                <a:solidFill>
                  <a:srgbClr val="F0F4F8"/>
                </a:solidFill>
              </a:rPr>
              <a:t>• Multi-tenant colocation model: 46,328 towers built to serve multiple wireless service providers create near-zero margina</a:t>
            </a:r>
          </a:p>
        </p:txBody>
      </p:sp>
      <p:sp>
        <p:nvSpPr>
          <p:cNvPr id="21" name="TextBox 20"/>
          <p:cNvSpPr txBox="1"/>
          <p:nvPr/>
        </p:nvSpPr>
        <p:spPr>
          <a:xfrm>
            <a:off x="274320" y="3072384"/>
            <a:ext cx="11430000" cy="320040"/>
          </a:xfrm>
          <a:prstGeom prst="rect">
            <a:avLst/>
          </a:prstGeom>
          <a:noFill/>
        </p:spPr>
        <p:txBody>
          <a:bodyPr wrap="square">
            <a:spAutoFit/>
          </a:bodyPr>
          <a:lstStyle/>
          <a:p>
            <a:pPr algn="l"/>
            <a:r>
              <a:rPr sz="900" b="0" i="0">
                <a:solidFill>
                  <a:srgbClr val="F0F4F8"/>
                </a:solidFill>
              </a:rPr>
              <a:t>• Long-term contractual lock-in: described in 10-K as 'long-term and repetitive' with 'stable, recurring cash flow stream'</a:t>
            </a:r>
          </a:p>
        </p:txBody>
      </p:sp>
      <p:sp>
        <p:nvSpPr>
          <p:cNvPr id="22" name="TextBox 21"/>
          <p:cNvSpPr txBox="1"/>
          <p:nvPr/>
        </p:nvSpPr>
        <p:spPr>
          <a:xfrm>
            <a:off x="274320" y="3474720"/>
            <a:ext cx="5486400" cy="274320"/>
          </a:xfrm>
          <a:prstGeom prst="rect">
            <a:avLst/>
          </a:prstGeom>
          <a:noFill/>
        </p:spPr>
        <p:txBody>
          <a:bodyPr wrap="square">
            <a:spAutoFit/>
          </a:bodyPr>
          <a:lstStyle/>
          <a:p>
            <a:pPr algn="l"/>
            <a:r>
              <a:rPr sz="1000" b="1" i="0">
                <a:solidFill>
                  <a:srgbClr val="4A9FD4"/>
                </a:solidFill>
              </a:rPr>
              <a:t>PORTER'S FIVE FORCES</a:t>
            </a:r>
          </a:p>
        </p:txBody>
      </p:sp>
      <p:graphicFrame>
        <p:nvGraphicFramePr>
          <p:cNvPr id="23" name="Table 22"/>
          <p:cNvGraphicFramePr>
            <a:graphicFrameLocks noGrp="1"/>
          </p:cNvGraphicFramePr>
          <p:nvPr/>
        </p:nvGraphicFramePr>
        <p:xfrm>
          <a:off x="274320" y="3794760"/>
          <a:ext cx="11640312" cy="2194560"/>
        </p:xfrm>
        <a:graphic>
          <a:graphicData uri="http://schemas.openxmlformats.org/drawingml/2006/table">
            <a:tbl>
              <a:tblPr firstRow="1" bandRow="1">
                <a:tableStyleId>{5C22544A-7EE6-4342-B048-85BDC9FD1C3A}</a:tableStyleId>
              </a:tblPr>
              <a:tblGrid>
                <a:gridCol w="3880104"/>
                <a:gridCol w="3880104"/>
                <a:gridCol w="3880104"/>
              </a:tblGrid>
              <a:tr h="365760">
                <a:tc>
                  <a:txBody>
                    <a:bodyPr/>
                    <a:lstStyle/>
                    <a:p>
                      <a:pPr algn="ctr"/>
                      <a:r>
                        <a:rPr sz="900" b="1">
                          <a:solidFill>
                            <a:srgbClr val="FFFFFF"/>
                          </a:solidFill>
                        </a:rPr>
                        <a:t>Force</a:t>
                      </a:r>
                    </a:p>
                  </a:txBody>
                  <a:tcPr>
                    <a:solidFill>
                      <a:srgbClr val="1A2F4A"/>
                    </a:solidFill>
                  </a:tcPr>
                </a:tc>
                <a:tc>
                  <a:txBody>
                    <a:bodyPr/>
                    <a:lstStyle/>
                    <a:p>
                      <a:pPr algn="ctr"/>
                      <a:r>
                        <a:rPr sz="900" b="1">
                          <a:solidFill>
                            <a:srgbClr val="FFFFFF"/>
                          </a:solidFill>
                        </a:rPr>
                        <a:t>Score (1-5)</a:t>
                      </a:r>
                    </a:p>
                  </a:txBody>
                  <a:tcPr>
                    <a:solidFill>
                      <a:srgbClr val="1A2F4A"/>
                    </a:solidFill>
                  </a:tcPr>
                </a:tc>
                <a:tc>
                  <a:txBody>
                    <a:bodyPr/>
                    <a:lstStyle/>
                    <a:p>
                      <a:pPr algn="ctr"/>
                      <a:r>
                        <a:rPr sz="900" b="1">
                          <a:solidFill>
                            <a:srgbClr val="FFFFFF"/>
                          </a:solidFill>
                        </a:rPr>
                        <a:t>Key Insight</a:t>
                      </a:r>
                    </a:p>
                  </a:txBody>
                  <a:tcPr>
                    <a:solidFill>
                      <a:srgbClr val="1A2F4A"/>
                    </a:solidFill>
                  </a:tcPr>
                </a:tc>
              </a:tr>
              <a:tr h="365760">
                <a:tc>
                  <a:txBody>
                    <a:bodyPr/>
                    <a:lstStyle/>
                    <a:p>
                      <a:pPr algn="l"/>
                      <a:r>
                        <a:rPr sz="800">
                          <a:solidFill>
                            <a:srgbClr val="F0F4F8"/>
                          </a:solidFill>
                        </a:rPr>
                        <a:t>Competitive Rivalry</a:t>
                      </a:r>
                    </a:p>
                  </a:txBody>
                  <a:tcPr>
                    <a:solidFill>
                      <a:srgbClr val="0D1B2A"/>
                    </a:solidFill>
                  </a:tcPr>
                </a:tc>
                <a:tc>
                  <a:txBody>
                    <a:bodyPr/>
                    <a:lstStyle/>
                    <a:p>
                      <a:pPr algn="r"/>
                      <a:r>
                        <a:rPr sz="800">
                          <a:solidFill>
                            <a:srgbClr val="F0F4F8"/>
                          </a:solidFill>
                        </a:rPr>
                        <a:t>2</a:t>
                      </a:r>
                    </a:p>
                  </a:txBody>
                  <a:tcPr>
                    <a:solidFill>
                      <a:srgbClr val="0D1B2A"/>
                    </a:solidFill>
                  </a:tcPr>
                </a:tc>
                <a:tc>
                  <a:txBody>
                    <a:bodyPr/>
                    <a:lstStyle/>
                    <a:p>
                      <a:pPr algn="r"/>
                      <a:r>
                        <a:rPr sz="800">
                          <a:solidFill>
                            <a:srgbClr val="F0F4F8"/>
                          </a:solidFill>
                        </a:rPr>
                        <a:t>—</a:t>
                      </a:r>
                    </a:p>
                  </a:txBody>
                  <a:tcPr>
                    <a:solidFill>
                      <a:srgbClr val="0D1B2A"/>
                    </a:solidFill>
                  </a:tcPr>
                </a:tc>
              </a:tr>
              <a:tr h="365760">
                <a:tc>
                  <a:txBody>
                    <a:bodyPr/>
                    <a:lstStyle/>
                    <a:p>
                      <a:pPr algn="l"/>
                      <a:r>
                        <a:rPr sz="800">
                          <a:solidFill>
                            <a:srgbClr val="F0F4F8"/>
                          </a:solidFill>
                        </a:rPr>
                        <a:t>New Entrants</a:t>
                      </a:r>
                    </a:p>
                  </a:txBody>
                  <a:tcPr>
                    <a:solidFill>
                      <a:srgbClr val="3A3F4B"/>
                    </a:solidFill>
                  </a:tcPr>
                </a:tc>
                <a:tc>
                  <a:txBody>
                    <a:bodyPr/>
                    <a:lstStyle/>
                    <a:p>
                      <a:pPr algn="r"/>
                      <a:r>
                        <a:rPr sz="800">
                          <a:solidFill>
                            <a:srgbClr val="F0F4F8"/>
                          </a:solidFill>
                        </a:rPr>
                        <a:t>1</a:t>
                      </a:r>
                    </a:p>
                  </a:txBody>
                  <a:tcPr>
                    <a:solidFill>
                      <a:srgbClr val="3A3F4B"/>
                    </a:solidFill>
                  </a:tcPr>
                </a:tc>
                <a:tc>
                  <a:txBody>
                    <a:bodyPr/>
                    <a:lstStyle/>
                    <a:p>
                      <a:pPr algn="r"/>
                      <a:r>
                        <a:rPr sz="800">
                          <a:solidFill>
                            <a:srgbClr val="F0F4F8"/>
                          </a:solidFill>
                        </a:rPr>
                        <a:t>—</a:t>
                      </a:r>
                    </a:p>
                  </a:txBody>
                  <a:tcPr>
                    <a:solidFill>
                      <a:srgbClr val="3A3F4B"/>
                    </a:solidFill>
                  </a:tcPr>
                </a:tc>
              </a:tr>
              <a:tr h="365760">
                <a:tc>
                  <a:txBody>
                    <a:bodyPr/>
                    <a:lstStyle/>
                    <a:p>
                      <a:pPr algn="l"/>
                      <a:r>
                        <a:rPr sz="800">
                          <a:solidFill>
                            <a:srgbClr val="F0F4F8"/>
                          </a:solidFill>
                        </a:rPr>
                        <a:t>Substitutes</a:t>
                      </a:r>
                    </a:p>
                  </a:txBody>
                  <a:tcPr>
                    <a:solidFill>
                      <a:srgbClr val="0D1B2A"/>
                    </a:solidFill>
                  </a:tcPr>
                </a:tc>
                <a:tc>
                  <a:txBody>
                    <a:bodyPr/>
                    <a:lstStyle/>
                    <a:p>
                      <a:pPr algn="r"/>
                      <a:r>
                        <a:rPr sz="800">
                          <a:solidFill>
                            <a:srgbClr val="F0F4F8"/>
                          </a:solidFill>
                        </a:rPr>
                        <a:t>3</a:t>
                      </a:r>
                    </a:p>
                  </a:txBody>
                  <a:tcPr>
                    <a:solidFill>
                      <a:srgbClr val="0D1B2A"/>
                    </a:solidFill>
                  </a:tcPr>
                </a:tc>
                <a:tc>
                  <a:txBody>
                    <a:bodyPr/>
                    <a:lstStyle/>
                    <a:p>
                      <a:pPr algn="r"/>
                      <a:r>
                        <a:rPr sz="800">
                          <a:solidFill>
                            <a:srgbClr val="F0F4F8"/>
                          </a:solidFill>
                        </a:rPr>
                        <a:t>—</a:t>
                      </a:r>
                    </a:p>
                  </a:txBody>
                  <a:tcPr>
                    <a:solidFill>
                      <a:srgbClr val="0D1B2A"/>
                    </a:solidFill>
                  </a:tcPr>
                </a:tc>
              </a:tr>
              <a:tr h="365760">
                <a:tc>
                  <a:txBody>
                    <a:bodyPr/>
                    <a:lstStyle/>
                    <a:p>
                      <a:pPr algn="l"/>
                      <a:r>
                        <a:rPr sz="800">
                          <a:solidFill>
                            <a:srgbClr val="F0F4F8"/>
                          </a:solidFill>
                        </a:rPr>
                        <a:t>Supplier Power</a:t>
                      </a:r>
                    </a:p>
                  </a:txBody>
                  <a:tcPr>
                    <a:solidFill>
                      <a:srgbClr val="3A3F4B"/>
                    </a:solidFill>
                  </a:tcPr>
                </a:tc>
                <a:tc>
                  <a:txBody>
                    <a:bodyPr/>
                    <a:lstStyle/>
                    <a:p>
                      <a:pPr algn="r"/>
                      <a:r>
                        <a:rPr sz="800">
                          <a:solidFill>
                            <a:srgbClr val="F0F4F8"/>
                          </a:solidFill>
                        </a:rPr>
                        <a:t>?</a:t>
                      </a:r>
                    </a:p>
                  </a:txBody>
                  <a:tcPr>
                    <a:solidFill>
                      <a:srgbClr val="3A3F4B"/>
                    </a:solidFill>
                  </a:tcPr>
                </a:tc>
                <a:tc>
                  <a:txBody>
                    <a:bodyPr/>
                    <a:lstStyle/>
                    <a:p>
                      <a:pPr algn="r"/>
                      <a:r>
                        <a:rPr sz="800">
                          <a:solidFill>
                            <a:srgbClr val="F0F4F8"/>
                          </a:solidFill>
                        </a:rPr>
                        <a:t>—</a:t>
                      </a:r>
                    </a:p>
                  </a:txBody>
                  <a:tcPr>
                    <a:solidFill>
                      <a:srgbClr val="3A3F4B"/>
                    </a:solidFill>
                  </a:tcPr>
                </a:tc>
              </a:tr>
              <a:tr h="365760">
                <a:tc>
                  <a:txBody>
                    <a:bodyPr/>
                    <a:lstStyle/>
                    <a:p>
                      <a:pPr algn="l"/>
                      <a:r>
                        <a:rPr sz="800">
                          <a:solidFill>
                            <a:srgbClr val="F0F4F8"/>
                          </a:solidFill>
                        </a:rPr>
                        <a:t>Buyer Power</a:t>
                      </a:r>
                    </a:p>
                  </a:txBody>
                  <a:tcPr>
                    <a:solidFill>
                      <a:srgbClr val="0D1B2A"/>
                    </a:solidFill>
                  </a:tcPr>
                </a:tc>
                <a:tc>
                  <a:txBody>
                    <a:bodyPr/>
                    <a:lstStyle/>
                    <a:p>
                      <a:pPr algn="r"/>
                      <a:r>
                        <a:rPr sz="800">
                          <a:solidFill>
                            <a:srgbClr val="F0F4F8"/>
                          </a:solidFill>
                        </a:rPr>
                        <a:t>?</a:t>
                      </a:r>
                    </a:p>
                  </a:txBody>
                  <a:tcPr>
                    <a:solidFill>
                      <a:srgbClr val="0D1B2A"/>
                    </a:solidFill>
                  </a:tcPr>
                </a:tc>
                <a:tc>
                  <a:txBody>
                    <a:bodyPr/>
                    <a:lstStyle/>
                    <a:p>
                      <a:pPr algn="r"/>
                      <a:r>
                        <a:rPr sz="800">
                          <a:solidFill>
                            <a:srgbClr val="F0F4F8"/>
                          </a:solidFill>
                        </a:rPr>
                        <a:t>—</a:t>
                      </a:r>
                    </a:p>
                  </a:txBody>
                  <a:tcPr>
                    <a:solidFill>
                      <a:srgbClr val="0D1B2A"/>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45720"/>
          </a:xfrm>
          <a:prstGeom prst="rect">
            <a:avLst/>
          </a:prstGeom>
          <a:solidFill>
            <a:srgbClr val="4A9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09728"/>
            <a:ext cx="8229600" cy="502920"/>
          </a:xfrm>
          <a:prstGeom prst="rect">
            <a:avLst/>
          </a:prstGeom>
          <a:noFill/>
        </p:spPr>
        <p:txBody>
          <a:bodyPr wrap="square">
            <a:spAutoFit/>
          </a:bodyPr>
          <a:lstStyle/>
          <a:p>
            <a:pPr algn="l"/>
            <a:r>
              <a:rPr sz="2000" b="1" i="0">
                <a:solidFill>
                  <a:srgbClr val="FFFFFF"/>
                </a:solidFill>
              </a:rPr>
              <a:t>FINANCIAL SUMMARY</a:t>
            </a:r>
          </a:p>
        </p:txBody>
      </p:sp>
      <p:sp>
        <p:nvSpPr>
          <p:cNvPr id="5" name="TextBox 4"/>
          <p:cNvSpPr txBox="1"/>
          <p:nvPr/>
        </p:nvSpPr>
        <p:spPr>
          <a:xfrm>
            <a:off x="274320" y="566928"/>
            <a:ext cx="8229600" cy="320040"/>
          </a:xfrm>
          <a:prstGeom prst="rect">
            <a:avLst/>
          </a:prstGeom>
          <a:noFill/>
        </p:spPr>
        <p:txBody>
          <a:bodyPr wrap="square">
            <a:spAutoFit/>
          </a:bodyPr>
          <a:lstStyle/>
          <a:p>
            <a:pPr algn="l"/>
            <a:r>
              <a:rPr sz="1100" b="0" i="0">
                <a:solidFill>
                  <a:srgbClr val="B0C4D8"/>
                </a:solidFill>
              </a:rPr>
              <a:t>Historical performance &amp; forward projections</a:t>
            </a:r>
          </a:p>
        </p:txBody>
      </p:sp>
      <p:sp>
        <p:nvSpPr>
          <p:cNvPr id="6" name="Rectangle 5"/>
          <p:cNvSpPr/>
          <p:nvPr/>
        </p:nvSpPr>
        <p:spPr>
          <a:xfrm>
            <a:off x="274320" y="1188720"/>
            <a:ext cx="1554480" cy="640080"/>
          </a:xfrm>
          <a:prstGeom prst="rect">
            <a:avLst/>
          </a:prstGeom>
          <a:solidFill>
            <a:srgbClr val="1A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234440"/>
            <a:ext cx="1554480" cy="274320"/>
          </a:xfrm>
          <a:prstGeom prst="rect">
            <a:avLst/>
          </a:prstGeom>
          <a:noFill/>
        </p:spPr>
        <p:txBody>
          <a:bodyPr wrap="square">
            <a:spAutoFit/>
          </a:bodyPr>
          <a:lstStyle/>
          <a:p>
            <a:pPr algn="ctr"/>
            <a:r>
              <a:rPr sz="750" b="0" i="0">
                <a:solidFill>
                  <a:srgbClr val="6B7280"/>
                </a:solidFill>
              </a:rPr>
              <a:t>Revenue TTM</a:t>
            </a:r>
          </a:p>
        </p:txBody>
      </p:sp>
      <p:sp>
        <p:nvSpPr>
          <p:cNvPr id="8" name="TextBox 7"/>
          <p:cNvSpPr txBox="1"/>
          <p:nvPr/>
        </p:nvSpPr>
        <p:spPr>
          <a:xfrm>
            <a:off x="274320" y="1481328"/>
            <a:ext cx="1554480" cy="329184"/>
          </a:xfrm>
          <a:prstGeom prst="rect">
            <a:avLst/>
          </a:prstGeom>
          <a:noFill/>
        </p:spPr>
        <p:txBody>
          <a:bodyPr wrap="square">
            <a:spAutoFit/>
          </a:bodyPr>
          <a:lstStyle/>
          <a:p>
            <a:pPr algn="ctr"/>
            <a:r>
              <a:rPr sz="1400" b="1" i="0">
                <a:solidFill>
                  <a:srgbClr val="FFFFFF"/>
                </a:solidFill>
              </a:rPr>
              <a:t>N/A</a:t>
            </a:r>
          </a:p>
        </p:txBody>
      </p:sp>
      <p:sp>
        <p:nvSpPr>
          <p:cNvPr id="9" name="Rectangle 8"/>
          <p:cNvSpPr/>
          <p:nvPr/>
        </p:nvSpPr>
        <p:spPr>
          <a:xfrm>
            <a:off x="1965960" y="1188720"/>
            <a:ext cx="1554480" cy="640080"/>
          </a:xfrm>
          <a:prstGeom prst="rect">
            <a:avLst/>
          </a:prstGeom>
          <a:solidFill>
            <a:srgbClr val="1A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65960" y="1234440"/>
            <a:ext cx="1554480" cy="274320"/>
          </a:xfrm>
          <a:prstGeom prst="rect">
            <a:avLst/>
          </a:prstGeom>
          <a:noFill/>
        </p:spPr>
        <p:txBody>
          <a:bodyPr wrap="square">
            <a:spAutoFit/>
          </a:bodyPr>
          <a:lstStyle/>
          <a:p>
            <a:pPr algn="ctr"/>
            <a:r>
              <a:rPr sz="750" b="0" i="0">
                <a:solidFill>
                  <a:srgbClr val="6B7280"/>
                </a:solidFill>
              </a:rPr>
              <a:t>EBITDA TTM</a:t>
            </a:r>
          </a:p>
        </p:txBody>
      </p:sp>
      <p:sp>
        <p:nvSpPr>
          <p:cNvPr id="11" name="TextBox 10"/>
          <p:cNvSpPr txBox="1"/>
          <p:nvPr/>
        </p:nvSpPr>
        <p:spPr>
          <a:xfrm>
            <a:off x="1965960" y="1481328"/>
            <a:ext cx="1554480" cy="329184"/>
          </a:xfrm>
          <a:prstGeom prst="rect">
            <a:avLst/>
          </a:prstGeom>
          <a:noFill/>
        </p:spPr>
        <p:txBody>
          <a:bodyPr wrap="square">
            <a:spAutoFit/>
          </a:bodyPr>
          <a:lstStyle/>
          <a:p>
            <a:pPr algn="ctr"/>
            <a:r>
              <a:rPr sz="1400" b="1" i="0">
                <a:solidFill>
                  <a:srgbClr val="FFFFFF"/>
                </a:solidFill>
              </a:rPr>
              <a:t>N/A</a:t>
            </a:r>
          </a:p>
        </p:txBody>
      </p:sp>
      <p:sp>
        <p:nvSpPr>
          <p:cNvPr id="12" name="Rectangle 11"/>
          <p:cNvSpPr/>
          <p:nvPr/>
        </p:nvSpPr>
        <p:spPr>
          <a:xfrm>
            <a:off x="3657600" y="1188720"/>
            <a:ext cx="1554480" cy="640080"/>
          </a:xfrm>
          <a:prstGeom prst="rect">
            <a:avLst/>
          </a:prstGeom>
          <a:solidFill>
            <a:srgbClr val="1A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0" y="1234440"/>
            <a:ext cx="1554480" cy="274320"/>
          </a:xfrm>
          <a:prstGeom prst="rect">
            <a:avLst/>
          </a:prstGeom>
          <a:noFill/>
        </p:spPr>
        <p:txBody>
          <a:bodyPr wrap="square">
            <a:spAutoFit/>
          </a:bodyPr>
          <a:lstStyle/>
          <a:p>
            <a:pPr algn="ctr"/>
            <a:r>
              <a:rPr sz="750" b="0" i="0">
                <a:solidFill>
                  <a:srgbClr val="6B7280"/>
                </a:solidFill>
              </a:rPr>
              <a:t>Op. Margin</a:t>
            </a:r>
          </a:p>
        </p:txBody>
      </p:sp>
      <p:sp>
        <p:nvSpPr>
          <p:cNvPr id="14" name="TextBox 13"/>
          <p:cNvSpPr txBox="1"/>
          <p:nvPr/>
        </p:nvSpPr>
        <p:spPr>
          <a:xfrm>
            <a:off x="3657600" y="1481328"/>
            <a:ext cx="1554480" cy="329184"/>
          </a:xfrm>
          <a:prstGeom prst="rect">
            <a:avLst/>
          </a:prstGeom>
          <a:noFill/>
        </p:spPr>
        <p:txBody>
          <a:bodyPr wrap="square">
            <a:spAutoFit/>
          </a:bodyPr>
          <a:lstStyle/>
          <a:p>
            <a:pPr algn="ctr"/>
            <a:r>
              <a:rPr sz="1400" b="1" i="0">
                <a:solidFill>
                  <a:srgbClr val="FFFFFF"/>
                </a:solidFill>
              </a:rPr>
              <a:t>47.7%</a:t>
            </a:r>
          </a:p>
        </p:txBody>
      </p:sp>
      <p:sp>
        <p:nvSpPr>
          <p:cNvPr id="15" name="Rectangle 14"/>
          <p:cNvSpPr/>
          <p:nvPr/>
        </p:nvSpPr>
        <p:spPr>
          <a:xfrm>
            <a:off x="5349240" y="1188720"/>
            <a:ext cx="1554480" cy="640080"/>
          </a:xfrm>
          <a:prstGeom prst="rect">
            <a:avLst/>
          </a:prstGeom>
          <a:solidFill>
            <a:srgbClr val="1A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49240" y="1234440"/>
            <a:ext cx="1554480" cy="274320"/>
          </a:xfrm>
          <a:prstGeom prst="rect">
            <a:avLst/>
          </a:prstGeom>
          <a:noFill/>
        </p:spPr>
        <p:txBody>
          <a:bodyPr wrap="square">
            <a:spAutoFit/>
          </a:bodyPr>
          <a:lstStyle/>
          <a:p>
            <a:pPr algn="ctr"/>
            <a:r>
              <a:rPr sz="750" b="0" i="0">
                <a:solidFill>
                  <a:srgbClr val="6B7280"/>
                </a:solidFill>
              </a:rPr>
              <a:t>FCF Conv.</a:t>
            </a:r>
          </a:p>
        </p:txBody>
      </p:sp>
      <p:sp>
        <p:nvSpPr>
          <p:cNvPr id="17" name="TextBox 16"/>
          <p:cNvSpPr txBox="1"/>
          <p:nvPr/>
        </p:nvSpPr>
        <p:spPr>
          <a:xfrm>
            <a:off x="5349240" y="1481328"/>
            <a:ext cx="1554480" cy="329184"/>
          </a:xfrm>
          <a:prstGeom prst="rect">
            <a:avLst/>
          </a:prstGeom>
          <a:noFill/>
        </p:spPr>
        <p:txBody>
          <a:bodyPr wrap="square">
            <a:spAutoFit/>
          </a:bodyPr>
          <a:lstStyle/>
          <a:p>
            <a:pPr algn="ctr"/>
            <a:r>
              <a:rPr sz="1400" b="1" i="0">
                <a:solidFill>
                  <a:srgbClr val="FFFFFF"/>
                </a:solidFill>
              </a:rPr>
              <a:t>DATA UNAVAILABLE — operating cash flow and CapEx absent from all supplied sources%</a:t>
            </a:r>
          </a:p>
        </p:txBody>
      </p:sp>
      <p:sp>
        <p:nvSpPr>
          <p:cNvPr id="18" name="Rectangle 17"/>
          <p:cNvSpPr/>
          <p:nvPr/>
        </p:nvSpPr>
        <p:spPr>
          <a:xfrm>
            <a:off x="7040879" y="1188720"/>
            <a:ext cx="1554480" cy="640080"/>
          </a:xfrm>
          <a:prstGeom prst="rect">
            <a:avLst/>
          </a:prstGeom>
          <a:solidFill>
            <a:srgbClr val="1A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79" y="1234440"/>
            <a:ext cx="1554480" cy="274320"/>
          </a:xfrm>
          <a:prstGeom prst="rect">
            <a:avLst/>
          </a:prstGeom>
          <a:noFill/>
        </p:spPr>
        <p:txBody>
          <a:bodyPr wrap="square">
            <a:spAutoFit/>
          </a:bodyPr>
          <a:lstStyle/>
          <a:p>
            <a:pPr algn="ctr"/>
            <a:r>
              <a:rPr sz="750" b="0" i="0">
                <a:solidFill>
                  <a:srgbClr val="6B7280"/>
                </a:solidFill>
              </a:rPr>
              <a:t>ROIC</a:t>
            </a:r>
          </a:p>
        </p:txBody>
      </p:sp>
      <p:sp>
        <p:nvSpPr>
          <p:cNvPr id="20" name="TextBox 19"/>
          <p:cNvSpPr txBox="1"/>
          <p:nvPr/>
        </p:nvSpPr>
        <p:spPr>
          <a:xfrm>
            <a:off x="7040879" y="1481328"/>
            <a:ext cx="1554480" cy="329184"/>
          </a:xfrm>
          <a:prstGeom prst="rect">
            <a:avLst/>
          </a:prstGeom>
          <a:noFill/>
        </p:spPr>
        <p:txBody>
          <a:bodyPr wrap="square">
            <a:spAutoFit/>
          </a:bodyPr>
          <a:lstStyle/>
          <a:p>
            <a:pPr algn="ctr"/>
            <a:r>
              <a:rPr sz="1400" b="1" i="0">
                <a:solidFill>
                  <a:srgbClr val="FFFFFF"/>
                </a:solidFill>
              </a:rPr>
              <a:t>DATA UNAVAILABLE%</a:t>
            </a:r>
          </a:p>
        </p:txBody>
      </p:sp>
      <p:sp>
        <p:nvSpPr>
          <p:cNvPr id="21" name="Rectangle 20"/>
          <p:cNvSpPr/>
          <p:nvPr/>
        </p:nvSpPr>
        <p:spPr>
          <a:xfrm>
            <a:off x="8732519" y="1188720"/>
            <a:ext cx="1554480" cy="640080"/>
          </a:xfrm>
          <a:prstGeom prst="rect">
            <a:avLst/>
          </a:prstGeom>
          <a:solidFill>
            <a:srgbClr val="1A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32519" y="1234440"/>
            <a:ext cx="1554480" cy="274320"/>
          </a:xfrm>
          <a:prstGeom prst="rect">
            <a:avLst/>
          </a:prstGeom>
          <a:noFill/>
        </p:spPr>
        <p:txBody>
          <a:bodyPr wrap="square">
            <a:spAutoFit/>
          </a:bodyPr>
          <a:lstStyle/>
          <a:p>
            <a:pPr algn="ctr"/>
            <a:r>
              <a:rPr sz="750" b="0" i="0">
                <a:solidFill>
                  <a:srgbClr val="6B7280"/>
                </a:solidFill>
              </a:rPr>
              <a:t>Net Debt/EBITDA</a:t>
            </a:r>
          </a:p>
        </p:txBody>
      </p:sp>
      <p:sp>
        <p:nvSpPr>
          <p:cNvPr id="23" name="TextBox 22"/>
          <p:cNvSpPr txBox="1"/>
          <p:nvPr/>
        </p:nvSpPr>
        <p:spPr>
          <a:xfrm>
            <a:off x="8732519" y="1481328"/>
            <a:ext cx="1554480" cy="329184"/>
          </a:xfrm>
          <a:prstGeom prst="rect">
            <a:avLst/>
          </a:prstGeom>
          <a:noFill/>
        </p:spPr>
        <p:txBody>
          <a:bodyPr wrap="square">
            <a:spAutoFit/>
          </a:bodyPr>
          <a:lstStyle/>
          <a:p>
            <a:pPr algn="ctr"/>
            <a:r>
              <a:rPr sz="1400" b="1" i="0">
                <a:solidFill>
                  <a:srgbClr val="FFFFFF"/>
                </a:solidFill>
              </a:rPr>
              <a:t>DATA UNAVAILABLE — both net debt and EBITDA absentx</a:t>
            </a:r>
          </a:p>
        </p:txBody>
      </p:sp>
      <p:sp>
        <p:nvSpPr>
          <p:cNvPr id="24" name="Rectangle 23"/>
          <p:cNvSpPr/>
          <p:nvPr/>
        </p:nvSpPr>
        <p:spPr>
          <a:xfrm>
            <a:off x="10424159" y="1188720"/>
            <a:ext cx="1554480" cy="640080"/>
          </a:xfrm>
          <a:prstGeom prst="rect">
            <a:avLst/>
          </a:prstGeom>
          <a:solidFill>
            <a:srgbClr val="1A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424159" y="1234440"/>
            <a:ext cx="1554480" cy="274320"/>
          </a:xfrm>
          <a:prstGeom prst="rect">
            <a:avLst/>
          </a:prstGeom>
          <a:noFill/>
        </p:spPr>
        <p:txBody>
          <a:bodyPr wrap="square">
            <a:spAutoFit/>
          </a:bodyPr>
          <a:lstStyle/>
          <a:p>
            <a:pPr algn="ctr"/>
            <a:r>
              <a:rPr sz="750" b="0" i="0">
                <a:solidFill>
                  <a:srgbClr val="6B7280"/>
                </a:solidFill>
              </a:rPr>
              <a:t>Rev CAGR 3Y</a:t>
            </a:r>
          </a:p>
        </p:txBody>
      </p:sp>
      <p:sp>
        <p:nvSpPr>
          <p:cNvPr id="26" name="TextBox 25"/>
          <p:cNvSpPr txBox="1"/>
          <p:nvPr/>
        </p:nvSpPr>
        <p:spPr>
          <a:xfrm>
            <a:off x="10424159" y="1481328"/>
            <a:ext cx="1554480" cy="329184"/>
          </a:xfrm>
          <a:prstGeom prst="rect">
            <a:avLst/>
          </a:prstGeom>
          <a:noFill/>
        </p:spPr>
        <p:txBody>
          <a:bodyPr wrap="square">
            <a:spAutoFit/>
          </a:bodyPr>
          <a:lstStyle/>
          <a:p>
            <a:pPr algn="ctr"/>
            <a:r>
              <a:rPr sz="1400" b="1" i="0">
                <a:solidFill>
                  <a:srgbClr val="FFFFFF"/>
                </a:solidFill>
              </a:rPr>
              <a:t>DATA UNAVAILABLE — only FY2025 annual revenue provided; FY2024 and FY2023 revenue absent from all supplied sources%</a:t>
            </a:r>
          </a:p>
        </p:txBody>
      </p:sp>
      <p:sp>
        <p:nvSpPr>
          <p:cNvPr id="27" name="TextBox 26"/>
          <p:cNvSpPr txBox="1"/>
          <p:nvPr/>
        </p:nvSpPr>
        <p:spPr>
          <a:xfrm>
            <a:off x="274320" y="2011680"/>
            <a:ext cx="6400800" cy="274320"/>
          </a:xfrm>
          <a:prstGeom prst="rect">
            <a:avLst/>
          </a:prstGeom>
          <a:noFill/>
        </p:spPr>
        <p:txBody>
          <a:bodyPr wrap="square">
            <a:spAutoFit/>
          </a:bodyPr>
          <a:lstStyle/>
          <a:p>
            <a:pPr algn="l"/>
            <a:r>
              <a:rPr sz="1000" b="1" i="0">
                <a:solidFill>
                  <a:srgbClr val="4A9FD4"/>
                </a:solidFill>
              </a:rPr>
              <a:t>DCF PROJECTION — BASE CASE (5-YEAR)</a:t>
            </a:r>
          </a:p>
        </p:txBody>
      </p:sp>
      <p:graphicFrame>
        <p:nvGraphicFramePr>
          <p:cNvPr id="28" name="Table 27"/>
          <p:cNvGraphicFramePr>
            <a:graphicFrameLocks noGrp="1"/>
          </p:cNvGraphicFramePr>
          <p:nvPr/>
        </p:nvGraphicFramePr>
        <p:xfrm>
          <a:off x="274320" y="2331720"/>
          <a:ext cx="11640312" cy="2103120"/>
        </p:xfrm>
        <a:graphic>
          <a:graphicData uri="http://schemas.openxmlformats.org/drawingml/2006/table">
            <a:tbl>
              <a:tblPr firstRow="1" bandRow="1">
                <a:tableStyleId>{5C22544A-7EE6-4342-B048-85BDC9FD1C3A}</a:tableStyleId>
              </a:tblPr>
              <a:tblGrid>
                <a:gridCol w="1940052"/>
                <a:gridCol w="1940052"/>
                <a:gridCol w="1940052"/>
                <a:gridCol w="1940052"/>
                <a:gridCol w="1940052"/>
                <a:gridCol w="1940052"/>
              </a:tblGrid>
              <a:tr h="350520">
                <a:tc>
                  <a:txBody>
                    <a:bodyPr/>
                    <a:lstStyle/>
                    <a:p>
                      <a:pPr algn="ctr"/>
                      <a:r>
                        <a:rPr sz="900" b="1">
                          <a:solidFill>
                            <a:srgbClr val="FFFFFF"/>
                          </a:solidFill>
                        </a:rPr>
                        <a:t>Year</a:t>
                      </a:r>
                    </a:p>
                  </a:txBody>
                  <a:tcPr>
                    <a:solidFill>
                      <a:srgbClr val="1A2F4A"/>
                    </a:solidFill>
                  </a:tcPr>
                </a:tc>
                <a:tc>
                  <a:txBody>
                    <a:bodyPr/>
                    <a:lstStyle/>
                    <a:p>
                      <a:pPr algn="ctr"/>
                      <a:r>
                        <a:rPr sz="900" b="1">
                          <a:solidFill>
                            <a:srgbClr val="FFFFFF"/>
                          </a:solidFill>
                        </a:rPr>
                        <a:t>Revenue ($B)</a:t>
                      </a:r>
                    </a:p>
                  </a:txBody>
                  <a:tcPr>
                    <a:solidFill>
                      <a:srgbClr val="1A2F4A"/>
                    </a:solidFill>
                  </a:tcPr>
                </a:tc>
                <a:tc>
                  <a:txBody>
                    <a:bodyPr/>
                    <a:lstStyle/>
                    <a:p>
                      <a:pPr algn="ctr"/>
                      <a:r>
                        <a:rPr sz="900" b="1">
                          <a:solidFill>
                            <a:srgbClr val="FFFFFF"/>
                          </a:solidFill>
                        </a:rPr>
                        <a:t>EBIT Margin</a:t>
                      </a:r>
                    </a:p>
                  </a:txBody>
                  <a:tcPr>
                    <a:solidFill>
                      <a:srgbClr val="1A2F4A"/>
                    </a:solidFill>
                  </a:tcPr>
                </a:tc>
                <a:tc>
                  <a:txBody>
                    <a:bodyPr/>
                    <a:lstStyle/>
                    <a:p>
                      <a:pPr algn="ctr"/>
                      <a:r>
                        <a:rPr sz="900" b="1">
                          <a:solidFill>
                            <a:srgbClr val="FFFFFF"/>
                          </a:solidFill>
                        </a:rPr>
                        <a:t>EBITDA ($B)</a:t>
                      </a:r>
                    </a:p>
                  </a:txBody>
                  <a:tcPr>
                    <a:solidFill>
                      <a:srgbClr val="1A2F4A"/>
                    </a:solidFill>
                  </a:tcPr>
                </a:tc>
                <a:tc>
                  <a:txBody>
                    <a:bodyPr/>
                    <a:lstStyle/>
                    <a:p>
                      <a:pPr algn="ctr"/>
                      <a:r>
                        <a:rPr sz="900" b="1">
                          <a:solidFill>
                            <a:srgbClr val="FFFFFF"/>
                          </a:solidFill>
                        </a:rPr>
                        <a:t>FCF ($B)</a:t>
                      </a:r>
                    </a:p>
                  </a:txBody>
                  <a:tcPr>
                    <a:solidFill>
                      <a:srgbClr val="1A2F4A"/>
                    </a:solidFill>
                  </a:tcPr>
                </a:tc>
                <a:tc>
                  <a:txBody>
                    <a:bodyPr/>
                    <a:lstStyle/>
                    <a:p>
                      <a:pPr algn="ctr"/>
                      <a:r>
                        <a:rPr sz="900" b="1">
                          <a:solidFill>
                            <a:srgbClr val="FFFFFF"/>
                          </a:solidFill>
                        </a:rPr>
                        <a:t>PV FCF ($B)</a:t>
                      </a:r>
                    </a:p>
                  </a:txBody>
                  <a:tcPr>
                    <a:solidFill>
                      <a:srgbClr val="1A2F4A"/>
                    </a:solidFill>
                  </a:tcPr>
                </a:tc>
              </a:tr>
              <a:tr h="350520">
                <a:tc>
                  <a:txBody>
                    <a:bodyPr/>
                    <a:lstStyle/>
                    <a:p>
                      <a:pPr algn="l"/>
                      <a:r>
                        <a:rPr sz="800">
                          <a:solidFill>
                            <a:srgbClr val="F0F4F8"/>
                          </a:solidFill>
                        </a:rPr>
                        <a:t>Yr 1</a:t>
                      </a:r>
                    </a:p>
                  </a:txBody>
                  <a:tcPr>
                    <a:solidFill>
                      <a:srgbClr val="0D1B2A"/>
                    </a:solidFill>
                  </a:tcPr>
                </a:tc>
                <a:tc>
                  <a:txBody>
                    <a:bodyPr/>
                    <a:lstStyle/>
                    <a:p>
                      <a:pPr algn="r"/>
                      <a:r>
                        <a:rPr sz="800">
                          <a:solidFill>
                            <a:srgbClr val="F0F4F8"/>
                          </a:solidFill>
                        </a:rPr>
                        <a:t>$2.8B</a:t>
                      </a:r>
                    </a:p>
                  </a:txBody>
                  <a:tcPr>
                    <a:solidFill>
                      <a:srgbClr val="0D1B2A"/>
                    </a:solidFill>
                  </a:tcPr>
                </a:tc>
                <a:tc>
                  <a:txBody>
                    <a:bodyPr/>
                    <a:lstStyle/>
                    <a:p>
                      <a:pPr algn="r"/>
                      <a:r>
                        <a:rPr sz="800">
                          <a:solidFill>
                            <a:srgbClr val="F0F4F8"/>
                          </a:solidFill>
                        </a:rPr>
                        <a:t>47.5%</a:t>
                      </a:r>
                    </a:p>
                  </a:txBody>
                  <a:tcPr>
                    <a:solidFill>
                      <a:srgbClr val="0D1B2A"/>
                    </a:solidFill>
                  </a:tcPr>
                </a:tc>
                <a:tc>
                  <a:txBody>
                    <a:bodyPr/>
                    <a:lstStyle/>
                    <a:p>
                      <a:pPr algn="r"/>
                      <a:r>
                        <a:rPr sz="800">
                          <a:solidFill>
                            <a:srgbClr val="F0F4F8"/>
                          </a:solidFill>
                        </a:rPr>
                        <a:t>$1.8B</a:t>
                      </a:r>
                    </a:p>
                  </a:txBody>
                  <a:tcPr>
                    <a:solidFill>
                      <a:srgbClr val="0D1B2A"/>
                    </a:solidFill>
                  </a:tcPr>
                </a:tc>
                <a:tc>
                  <a:txBody>
                    <a:bodyPr/>
                    <a:lstStyle/>
                    <a:p>
                      <a:pPr algn="r"/>
                      <a:r>
                        <a:rPr sz="800">
                          <a:solidFill>
                            <a:srgbClr val="F0F4F8"/>
                          </a:solidFill>
                        </a:rPr>
                        <a:t>$1.3B</a:t>
                      </a:r>
                    </a:p>
                  </a:txBody>
                  <a:tcPr>
                    <a:solidFill>
                      <a:srgbClr val="0D1B2A"/>
                    </a:solidFill>
                  </a:tcPr>
                </a:tc>
                <a:tc>
                  <a:txBody>
                    <a:bodyPr/>
                    <a:lstStyle/>
                    <a:p>
                      <a:pPr algn="r"/>
                      <a:r>
                        <a:rPr sz="800">
                          <a:solidFill>
                            <a:srgbClr val="F0F4F8"/>
                          </a:solidFill>
                        </a:rPr>
                        <a:t>$1.2B</a:t>
                      </a:r>
                    </a:p>
                  </a:txBody>
                  <a:tcPr>
                    <a:solidFill>
                      <a:srgbClr val="0D1B2A"/>
                    </a:solidFill>
                  </a:tcPr>
                </a:tc>
              </a:tr>
              <a:tr h="350520">
                <a:tc>
                  <a:txBody>
                    <a:bodyPr/>
                    <a:lstStyle/>
                    <a:p>
                      <a:pPr algn="l"/>
                      <a:r>
                        <a:rPr sz="800">
                          <a:solidFill>
                            <a:srgbClr val="F0F4F8"/>
                          </a:solidFill>
                        </a:rPr>
                        <a:t>Yr 2</a:t>
                      </a:r>
                    </a:p>
                  </a:txBody>
                  <a:tcPr>
                    <a:solidFill>
                      <a:srgbClr val="3A3F4B"/>
                    </a:solidFill>
                  </a:tcPr>
                </a:tc>
                <a:tc>
                  <a:txBody>
                    <a:bodyPr/>
                    <a:lstStyle/>
                    <a:p>
                      <a:pPr algn="r"/>
                      <a:r>
                        <a:rPr sz="800">
                          <a:solidFill>
                            <a:srgbClr val="F0F4F8"/>
                          </a:solidFill>
                        </a:rPr>
                        <a:t>$2.9B</a:t>
                      </a:r>
                    </a:p>
                  </a:txBody>
                  <a:tcPr>
                    <a:solidFill>
                      <a:srgbClr val="3A3F4B"/>
                    </a:solidFill>
                  </a:tcPr>
                </a:tc>
                <a:tc>
                  <a:txBody>
                    <a:bodyPr/>
                    <a:lstStyle/>
                    <a:p>
                      <a:pPr algn="r"/>
                      <a:r>
                        <a:rPr sz="800">
                          <a:solidFill>
                            <a:srgbClr val="F0F4F8"/>
                          </a:solidFill>
                        </a:rPr>
                        <a:t>47.8%</a:t>
                      </a:r>
                    </a:p>
                  </a:txBody>
                  <a:tcPr>
                    <a:solidFill>
                      <a:srgbClr val="3A3F4B"/>
                    </a:solidFill>
                  </a:tcPr>
                </a:tc>
                <a:tc>
                  <a:txBody>
                    <a:bodyPr/>
                    <a:lstStyle/>
                    <a:p>
                      <a:pPr algn="r"/>
                      <a:r>
                        <a:rPr sz="800">
                          <a:solidFill>
                            <a:srgbClr val="F0F4F8"/>
                          </a:solidFill>
                        </a:rPr>
                        <a:t>$1.8B</a:t>
                      </a:r>
                    </a:p>
                  </a:txBody>
                  <a:tcPr>
                    <a:solidFill>
                      <a:srgbClr val="3A3F4B"/>
                    </a:solidFill>
                  </a:tcPr>
                </a:tc>
                <a:tc>
                  <a:txBody>
                    <a:bodyPr/>
                    <a:lstStyle/>
                    <a:p>
                      <a:pPr algn="r"/>
                      <a:r>
                        <a:rPr sz="800">
                          <a:solidFill>
                            <a:srgbClr val="F0F4F8"/>
                          </a:solidFill>
                        </a:rPr>
                        <a:t>$1.3B</a:t>
                      </a:r>
                    </a:p>
                  </a:txBody>
                  <a:tcPr>
                    <a:solidFill>
                      <a:srgbClr val="3A3F4B"/>
                    </a:solidFill>
                  </a:tcPr>
                </a:tc>
                <a:tc>
                  <a:txBody>
                    <a:bodyPr/>
                    <a:lstStyle/>
                    <a:p>
                      <a:pPr algn="r"/>
                      <a:r>
                        <a:rPr sz="800">
                          <a:solidFill>
                            <a:srgbClr val="F0F4F8"/>
                          </a:solidFill>
                        </a:rPr>
                        <a:t>$1.1B</a:t>
                      </a:r>
                    </a:p>
                  </a:txBody>
                  <a:tcPr>
                    <a:solidFill>
                      <a:srgbClr val="3A3F4B"/>
                    </a:solidFill>
                  </a:tcPr>
                </a:tc>
              </a:tr>
              <a:tr h="350520">
                <a:tc>
                  <a:txBody>
                    <a:bodyPr/>
                    <a:lstStyle/>
                    <a:p>
                      <a:pPr algn="l"/>
                      <a:r>
                        <a:rPr sz="800">
                          <a:solidFill>
                            <a:srgbClr val="F0F4F8"/>
                          </a:solidFill>
                        </a:rPr>
                        <a:t>Yr 3</a:t>
                      </a:r>
                    </a:p>
                  </a:txBody>
                  <a:tcPr>
                    <a:solidFill>
                      <a:srgbClr val="0D1B2A"/>
                    </a:solidFill>
                  </a:tcPr>
                </a:tc>
                <a:tc>
                  <a:txBody>
                    <a:bodyPr/>
                    <a:lstStyle/>
                    <a:p>
                      <a:pPr algn="r"/>
                      <a:r>
                        <a:rPr sz="800">
                          <a:solidFill>
                            <a:srgbClr val="F0F4F8"/>
                          </a:solidFill>
                        </a:rPr>
                        <a:t>$3.0B</a:t>
                      </a:r>
                    </a:p>
                  </a:txBody>
                  <a:tcPr>
                    <a:solidFill>
                      <a:srgbClr val="0D1B2A"/>
                    </a:solidFill>
                  </a:tcPr>
                </a:tc>
                <a:tc>
                  <a:txBody>
                    <a:bodyPr/>
                    <a:lstStyle/>
                    <a:p>
                      <a:pPr algn="r"/>
                      <a:r>
                        <a:rPr sz="800">
                          <a:solidFill>
                            <a:srgbClr val="F0F4F8"/>
                          </a:solidFill>
                        </a:rPr>
                        <a:t>48.0%</a:t>
                      </a:r>
                    </a:p>
                  </a:txBody>
                  <a:tcPr>
                    <a:solidFill>
                      <a:srgbClr val="0D1B2A"/>
                    </a:solidFill>
                  </a:tcPr>
                </a:tc>
                <a:tc>
                  <a:txBody>
                    <a:bodyPr/>
                    <a:lstStyle/>
                    <a:p>
                      <a:pPr algn="r"/>
                      <a:r>
                        <a:rPr sz="800">
                          <a:solidFill>
                            <a:srgbClr val="F0F4F8"/>
                          </a:solidFill>
                        </a:rPr>
                        <a:t>$1.9B</a:t>
                      </a:r>
                    </a:p>
                  </a:txBody>
                  <a:tcPr>
                    <a:solidFill>
                      <a:srgbClr val="0D1B2A"/>
                    </a:solidFill>
                  </a:tcPr>
                </a:tc>
                <a:tc>
                  <a:txBody>
                    <a:bodyPr/>
                    <a:lstStyle/>
                    <a:p>
                      <a:pPr algn="r"/>
                      <a:r>
                        <a:rPr sz="800">
                          <a:solidFill>
                            <a:srgbClr val="F0F4F8"/>
                          </a:solidFill>
                        </a:rPr>
                        <a:t>$1.4B</a:t>
                      </a:r>
                    </a:p>
                  </a:txBody>
                  <a:tcPr>
                    <a:solidFill>
                      <a:srgbClr val="0D1B2A"/>
                    </a:solidFill>
                  </a:tcPr>
                </a:tc>
                <a:tc>
                  <a:txBody>
                    <a:bodyPr/>
                    <a:lstStyle/>
                    <a:p>
                      <a:pPr algn="r"/>
                      <a:r>
                        <a:rPr sz="800">
                          <a:solidFill>
                            <a:srgbClr val="F0F4F8"/>
                          </a:solidFill>
                        </a:rPr>
                        <a:t>$1.1B</a:t>
                      </a:r>
                    </a:p>
                  </a:txBody>
                  <a:tcPr>
                    <a:solidFill>
                      <a:srgbClr val="0D1B2A"/>
                    </a:solidFill>
                  </a:tcPr>
                </a:tc>
              </a:tr>
              <a:tr h="350520">
                <a:tc>
                  <a:txBody>
                    <a:bodyPr/>
                    <a:lstStyle/>
                    <a:p>
                      <a:pPr algn="l"/>
                      <a:r>
                        <a:rPr sz="800">
                          <a:solidFill>
                            <a:srgbClr val="F0F4F8"/>
                          </a:solidFill>
                        </a:rPr>
                        <a:t>Yr 4</a:t>
                      </a:r>
                    </a:p>
                  </a:txBody>
                  <a:tcPr>
                    <a:solidFill>
                      <a:srgbClr val="3A3F4B"/>
                    </a:solidFill>
                  </a:tcPr>
                </a:tc>
                <a:tc>
                  <a:txBody>
                    <a:bodyPr/>
                    <a:lstStyle/>
                    <a:p>
                      <a:pPr algn="r"/>
                      <a:r>
                        <a:rPr sz="800">
                          <a:solidFill>
                            <a:srgbClr val="F0F4F8"/>
                          </a:solidFill>
                        </a:rPr>
                        <a:t>$3.2B</a:t>
                      </a:r>
                    </a:p>
                  </a:txBody>
                  <a:tcPr>
                    <a:solidFill>
                      <a:srgbClr val="3A3F4B"/>
                    </a:solidFill>
                  </a:tcPr>
                </a:tc>
                <a:tc>
                  <a:txBody>
                    <a:bodyPr/>
                    <a:lstStyle/>
                    <a:p>
                      <a:pPr algn="r"/>
                      <a:r>
                        <a:rPr sz="800">
                          <a:solidFill>
                            <a:srgbClr val="F0F4F8"/>
                          </a:solidFill>
                        </a:rPr>
                        <a:t>48.3%</a:t>
                      </a:r>
                    </a:p>
                  </a:txBody>
                  <a:tcPr>
                    <a:solidFill>
                      <a:srgbClr val="3A3F4B"/>
                    </a:solidFill>
                  </a:tcPr>
                </a:tc>
                <a:tc>
                  <a:txBody>
                    <a:bodyPr/>
                    <a:lstStyle/>
                    <a:p>
                      <a:pPr algn="r"/>
                      <a:r>
                        <a:rPr sz="800">
                          <a:solidFill>
                            <a:srgbClr val="F0F4F8"/>
                          </a:solidFill>
                        </a:rPr>
                        <a:t>$2.0B</a:t>
                      </a:r>
                    </a:p>
                  </a:txBody>
                  <a:tcPr>
                    <a:solidFill>
                      <a:srgbClr val="3A3F4B"/>
                    </a:solidFill>
                  </a:tcPr>
                </a:tc>
                <a:tc>
                  <a:txBody>
                    <a:bodyPr/>
                    <a:lstStyle/>
                    <a:p>
                      <a:pPr algn="r"/>
                      <a:r>
                        <a:rPr sz="800">
                          <a:solidFill>
                            <a:srgbClr val="F0F4F8"/>
                          </a:solidFill>
                        </a:rPr>
                        <a:t>$1.4B</a:t>
                      </a:r>
                    </a:p>
                  </a:txBody>
                  <a:tcPr>
                    <a:solidFill>
                      <a:srgbClr val="3A3F4B"/>
                    </a:solidFill>
                  </a:tcPr>
                </a:tc>
                <a:tc>
                  <a:txBody>
                    <a:bodyPr/>
                    <a:lstStyle/>
                    <a:p>
                      <a:pPr algn="r"/>
                      <a:r>
                        <a:rPr sz="800">
                          <a:solidFill>
                            <a:srgbClr val="F0F4F8"/>
                          </a:solidFill>
                        </a:rPr>
                        <a:t>$1.1B</a:t>
                      </a:r>
                    </a:p>
                  </a:txBody>
                  <a:tcPr>
                    <a:solidFill>
                      <a:srgbClr val="3A3F4B"/>
                    </a:solidFill>
                  </a:tcPr>
                </a:tc>
              </a:tr>
              <a:tr h="350520">
                <a:tc>
                  <a:txBody>
                    <a:bodyPr/>
                    <a:lstStyle/>
                    <a:p>
                      <a:pPr algn="l"/>
                      <a:r>
                        <a:rPr sz="800">
                          <a:solidFill>
                            <a:srgbClr val="F0F4F8"/>
                          </a:solidFill>
                        </a:rPr>
                        <a:t>Yr 5</a:t>
                      </a:r>
                    </a:p>
                  </a:txBody>
                  <a:tcPr>
                    <a:solidFill>
                      <a:srgbClr val="0D1B2A"/>
                    </a:solidFill>
                  </a:tcPr>
                </a:tc>
                <a:tc>
                  <a:txBody>
                    <a:bodyPr/>
                    <a:lstStyle/>
                    <a:p>
                      <a:pPr algn="r"/>
                      <a:r>
                        <a:rPr sz="800">
                          <a:solidFill>
                            <a:srgbClr val="F0F4F8"/>
                          </a:solidFill>
                        </a:rPr>
                        <a:t>$3.3B</a:t>
                      </a:r>
                    </a:p>
                  </a:txBody>
                  <a:tcPr>
                    <a:solidFill>
                      <a:srgbClr val="0D1B2A"/>
                    </a:solidFill>
                  </a:tcPr>
                </a:tc>
                <a:tc>
                  <a:txBody>
                    <a:bodyPr/>
                    <a:lstStyle/>
                    <a:p>
                      <a:pPr algn="r"/>
                      <a:r>
                        <a:rPr sz="800">
                          <a:solidFill>
                            <a:srgbClr val="F0F4F8"/>
                          </a:solidFill>
                        </a:rPr>
                        <a:t>48.5%</a:t>
                      </a:r>
                    </a:p>
                  </a:txBody>
                  <a:tcPr>
                    <a:solidFill>
                      <a:srgbClr val="0D1B2A"/>
                    </a:solidFill>
                  </a:tcPr>
                </a:tc>
                <a:tc>
                  <a:txBody>
                    <a:bodyPr/>
                    <a:lstStyle/>
                    <a:p>
                      <a:pPr algn="r"/>
                      <a:r>
                        <a:rPr sz="800">
                          <a:solidFill>
                            <a:srgbClr val="F0F4F8"/>
                          </a:solidFill>
                        </a:rPr>
                        <a:t>$2.1B</a:t>
                      </a:r>
                    </a:p>
                  </a:txBody>
                  <a:tcPr>
                    <a:solidFill>
                      <a:srgbClr val="0D1B2A"/>
                    </a:solidFill>
                  </a:tcPr>
                </a:tc>
                <a:tc>
                  <a:txBody>
                    <a:bodyPr/>
                    <a:lstStyle/>
                    <a:p>
                      <a:pPr algn="r"/>
                      <a:r>
                        <a:rPr sz="800">
                          <a:solidFill>
                            <a:srgbClr val="F0F4F8"/>
                          </a:solidFill>
                        </a:rPr>
                        <a:t>$1.5B</a:t>
                      </a:r>
                    </a:p>
                  </a:txBody>
                  <a:tcPr>
                    <a:solidFill>
                      <a:srgbClr val="0D1B2A"/>
                    </a:solidFill>
                  </a:tcPr>
                </a:tc>
                <a:tc>
                  <a:txBody>
                    <a:bodyPr/>
                    <a:lstStyle/>
                    <a:p>
                      <a:pPr algn="r"/>
                      <a:r>
                        <a:rPr sz="800">
                          <a:solidFill>
                            <a:srgbClr val="F0F4F8"/>
                          </a:solidFill>
                        </a:rPr>
                        <a:t>$1.1B</a:t>
                      </a:r>
                    </a:p>
                  </a:txBody>
                  <a:tcPr>
                    <a:solidFill>
                      <a:srgbClr val="0D1B2A"/>
                    </a:solidFill>
                  </a:tcPr>
                </a:tc>
              </a:tr>
            </a:tbl>
          </a:graphicData>
        </a:graphic>
      </p:graphicFrame>
      <p:sp>
        <p:nvSpPr>
          <p:cNvPr id="29" name="TextBox 28"/>
          <p:cNvSpPr txBox="1"/>
          <p:nvPr/>
        </p:nvSpPr>
        <p:spPr>
          <a:xfrm>
            <a:off x="274320" y="4617720"/>
            <a:ext cx="11640312" cy="274320"/>
          </a:xfrm>
          <a:prstGeom prst="rect">
            <a:avLst/>
          </a:prstGeom>
          <a:noFill/>
        </p:spPr>
        <p:txBody>
          <a:bodyPr wrap="square">
            <a:spAutoFit/>
          </a:bodyPr>
          <a:lstStyle/>
          <a:p>
            <a:pPr algn="l"/>
            <a:r>
              <a:rPr sz="800" b="0" i="0">
                <a:solidFill>
                  <a:srgbClr val="6B7280"/>
                </a:solidFill>
              </a:rPr>
              <a:t>PV Terminal Value: $25B  (82% of EV)  |  Intrinsic EV: $31B  |  Intrinsic Value/Share: $173.32  |  12M Price Target: $194 (multiple re-rating)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45720"/>
          </a:xfrm>
          <a:prstGeom prst="rect">
            <a:avLst/>
          </a:prstGeom>
          <a:solidFill>
            <a:srgbClr val="4A9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09728"/>
            <a:ext cx="8229600" cy="502920"/>
          </a:xfrm>
          <a:prstGeom prst="rect">
            <a:avLst/>
          </a:prstGeom>
          <a:noFill/>
        </p:spPr>
        <p:txBody>
          <a:bodyPr wrap="square">
            <a:spAutoFit/>
          </a:bodyPr>
          <a:lstStyle/>
          <a:p>
            <a:pPr algn="l"/>
            <a:r>
              <a:rPr sz="2000" b="1" i="0">
                <a:solidFill>
                  <a:srgbClr val="FFFFFF"/>
                </a:solidFill>
              </a:rPr>
              <a:t>DCF VALUATION</a:t>
            </a:r>
          </a:p>
        </p:txBody>
      </p:sp>
      <p:sp>
        <p:nvSpPr>
          <p:cNvPr id="5" name="TextBox 4"/>
          <p:cNvSpPr txBox="1"/>
          <p:nvPr/>
        </p:nvSpPr>
        <p:spPr>
          <a:xfrm>
            <a:off x="274320" y="566928"/>
            <a:ext cx="8229600" cy="320040"/>
          </a:xfrm>
          <a:prstGeom prst="rect">
            <a:avLst/>
          </a:prstGeom>
          <a:noFill/>
        </p:spPr>
        <p:txBody>
          <a:bodyPr wrap="square">
            <a:spAutoFit/>
          </a:bodyPr>
          <a:lstStyle/>
          <a:p>
            <a:pPr algn="l"/>
            <a:r>
              <a:rPr sz="1100" b="0" i="0">
                <a:solidFill>
                  <a:srgbClr val="B0C4D8"/>
                </a:solidFill>
              </a:rPr>
              <a:t>Sensitivity analysis: WACC vs. Terminal Growth Rate</a:t>
            </a:r>
          </a:p>
        </p:txBody>
      </p:sp>
      <p:sp>
        <p:nvSpPr>
          <p:cNvPr id="6" name="Rectangle 5"/>
          <p:cNvSpPr/>
          <p:nvPr/>
        </p:nvSpPr>
        <p:spPr>
          <a:xfrm>
            <a:off x="274320" y="1188720"/>
            <a:ext cx="3474720" cy="777240"/>
          </a:xfrm>
          <a:prstGeom prst="rect">
            <a:avLst/>
          </a:prstGeom>
          <a:solidFill>
            <a:srgbClr val="1A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188720"/>
            <a:ext cx="228600" cy="777240"/>
          </a:xfrm>
          <a:prstGeom prst="rect">
            <a:avLst/>
          </a:prstGeom>
          <a:solidFill>
            <a:srgbClr val="E0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59" y="1234440"/>
            <a:ext cx="3108960" cy="274320"/>
          </a:xfrm>
          <a:prstGeom prst="rect">
            <a:avLst/>
          </a:prstGeom>
          <a:noFill/>
        </p:spPr>
        <p:txBody>
          <a:bodyPr wrap="square">
            <a:spAutoFit/>
          </a:bodyPr>
          <a:lstStyle/>
          <a:p>
            <a:pPr algn="l"/>
            <a:r>
              <a:rPr sz="1000" b="1" i="0">
                <a:solidFill>
                  <a:srgbClr val="FFFFFF"/>
                </a:solidFill>
              </a:rPr>
              <a:t>Bear (20%)</a:t>
            </a:r>
          </a:p>
        </p:txBody>
      </p:sp>
      <p:sp>
        <p:nvSpPr>
          <p:cNvPr id="9" name="TextBox 8"/>
          <p:cNvSpPr txBox="1"/>
          <p:nvPr/>
        </p:nvSpPr>
        <p:spPr>
          <a:xfrm>
            <a:off x="594359" y="1490472"/>
            <a:ext cx="3108960" cy="411480"/>
          </a:xfrm>
          <a:prstGeom prst="rect">
            <a:avLst/>
          </a:prstGeom>
          <a:noFill/>
        </p:spPr>
        <p:txBody>
          <a:bodyPr wrap="square">
            <a:spAutoFit/>
          </a:bodyPr>
          <a:lstStyle/>
          <a:p>
            <a:pPr algn="l"/>
            <a:r>
              <a:rPr sz="1600" b="1" i="0">
                <a:solidFill>
                  <a:srgbClr val="E03E3E"/>
                </a:solidFill>
              </a:rPr>
              <a:t>$103.88/share</a:t>
            </a:r>
          </a:p>
        </p:txBody>
      </p:sp>
      <p:sp>
        <p:nvSpPr>
          <p:cNvPr id="10" name="Rectangle 9"/>
          <p:cNvSpPr/>
          <p:nvPr/>
        </p:nvSpPr>
        <p:spPr>
          <a:xfrm>
            <a:off x="4023359" y="1188720"/>
            <a:ext cx="3474720" cy="777240"/>
          </a:xfrm>
          <a:prstGeom prst="rect">
            <a:avLst/>
          </a:prstGeom>
          <a:solidFill>
            <a:srgbClr val="1A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23359" y="1188720"/>
            <a:ext cx="228600" cy="777240"/>
          </a:xfrm>
          <a:prstGeom prst="rect">
            <a:avLst/>
          </a:prstGeom>
          <a:solidFill>
            <a:srgbClr val="4A9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43399" y="1234440"/>
            <a:ext cx="3108960" cy="274320"/>
          </a:xfrm>
          <a:prstGeom prst="rect">
            <a:avLst/>
          </a:prstGeom>
          <a:noFill/>
        </p:spPr>
        <p:txBody>
          <a:bodyPr wrap="square">
            <a:spAutoFit/>
          </a:bodyPr>
          <a:lstStyle/>
          <a:p>
            <a:pPr algn="l"/>
            <a:r>
              <a:rPr sz="1000" b="1" i="0">
                <a:solidFill>
                  <a:srgbClr val="FFFFFF"/>
                </a:solidFill>
              </a:rPr>
              <a:t>Base (50%)</a:t>
            </a:r>
          </a:p>
        </p:txBody>
      </p:sp>
      <p:sp>
        <p:nvSpPr>
          <p:cNvPr id="13" name="TextBox 12"/>
          <p:cNvSpPr txBox="1"/>
          <p:nvPr/>
        </p:nvSpPr>
        <p:spPr>
          <a:xfrm>
            <a:off x="4343399" y="1490472"/>
            <a:ext cx="3108960" cy="411480"/>
          </a:xfrm>
          <a:prstGeom prst="rect">
            <a:avLst/>
          </a:prstGeom>
          <a:noFill/>
        </p:spPr>
        <p:txBody>
          <a:bodyPr wrap="square">
            <a:spAutoFit/>
          </a:bodyPr>
          <a:lstStyle/>
          <a:p>
            <a:pPr algn="l"/>
            <a:r>
              <a:rPr sz="1600" b="1" i="0">
                <a:solidFill>
                  <a:srgbClr val="4A9FD4"/>
                </a:solidFill>
              </a:rPr>
              <a:t>$173.32/share</a:t>
            </a:r>
          </a:p>
        </p:txBody>
      </p:sp>
      <p:sp>
        <p:nvSpPr>
          <p:cNvPr id="14" name="Rectangle 13"/>
          <p:cNvSpPr/>
          <p:nvPr/>
        </p:nvSpPr>
        <p:spPr>
          <a:xfrm>
            <a:off x="7772400" y="1188720"/>
            <a:ext cx="3474720" cy="777240"/>
          </a:xfrm>
          <a:prstGeom prst="rect">
            <a:avLst/>
          </a:prstGeom>
          <a:solidFill>
            <a:srgbClr val="1A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0" y="1188720"/>
            <a:ext cx="228600" cy="777240"/>
          </a:xfrm>
          <a:prstGeom prst="rect">
            <a:avLst/>
          </a:prstGeom>
          <a:solidFill>
            <a:srgbClr val="2EA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92440" y="1234440"/>
            <a:ext cx="3108960" cy="274320"/>
          </a:xfrm>
          <a:prstGeom prst="rect">
            <a:avLst/>
          </a:prstGeom>
          <a:noFill/>
        </p:spPr>
        <p:txBody>
          <a:bodyPr wrap="square">
            <a:spAutoFit/>
          </a:bodyPr>
          <a:lstStyle/>
          <a:p>
            <a:pPr algn="l"/>
            <a:r>
              <a:rPr sz="1000" b="1" i="0">
                <a:solidFill>
                  <a:srgbClr val="FFFFFF"/>
                </a:solidFill>
              </a:rPr>
              <a:t>Bull (30%)</a:t>
            </a:r>
          </a:p>
        </p:txBody>
      </p:sp>
      <p:sp>
        <p:nvSpPr>
          <p:cNvPr id="17" name="TextBox 16"/>
          <p:cNvSpPr txBox="1"/>
          <p:nvPr/>
        </p:nvSpPr>
        <p:spPr>
          <a:xfrm>
            <a:off x="8092440" y="1490472"/>
            <a:ext cx="3108960" cy="411480"/>
          </a:xfrm>
          <a:prstGeom prst="rect">
            <a:avLst/>
          </a:prstGeom>
          <a:noFill/>
        </p:spPr>
        <p:txBody>
          <a:bodyPr wrap="square">
            <a:spAutoFit/>
          </a:bodyPr>
          <a:lstStyle/>
          <a:p>
            <a:pPr algn="l"/>
            <a:r>
              <a:rPr sz="1600" b="1" i="0">
                <a:solidFill>
                  <a:srgbClr val="2EA04B"/>
                </a:solidFill>
              </a:rPr>
              <a:t>$247.01/share</a:t>
            </a:r>
          </a:p>
        </p:txBody>
      </p:sp>
      <p:sp>
        <p:nvSpPr>
          <p:cNvPr id="18" name="Rectangle 17"/>
          <p:cNvSpPr/>
          <p:nvPr/>
        </p:nvSpPr>
        <p:spPr>
          <a:xfrm>
            <a:off x="11247120" y="1188720"/>
            <a:ext cx="822960" cy="777240"/>
          </a:xfrm>
          <a:prstGeom prst="rect">
            <a:avLst/>
          </a:prstGeom>
          <a:solidFill>
            <a:srgbClr val="254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247120" y="1234440"/>
            <a:ext cx="822960" cy="274320"/>
          </a:xfrm>
          <a:prstGeom prst="rect">
            <a:avLst/>
          </a:prstGeom>
          <a:noFill/>
        </p:spPr>
        <p:txBody>
          <a:bodyPr wrap="square">
            <a:spAutoFit/>
          </a:bodyPr>
          <a:lstStyle/>
          <a:p>
            <a:pPr algn="ctr"/>
            <a:r>
              <a:rPr sz="800" b="1" i="0">
                <a:solidFill>
                  <a:srgbClr val="F5C542"/>
                </a:solidFill>
              </a:rPr>
              <a:t>EV</a:t>
            </a:r>
          </a:p>
        </p:txBody>
      </p:sp>
      <p:sp>
        <p:nvSpPr>
          <p:cNvPr id="20" name="TextBox 19"/>
          <p:cNvSpPr txBox="1"/>
          <p:nvPr/>
        </p:nvSpPr>
        <p:spPr>
          <a:xfrm>
            <a:off x="11247120" y="1463040"/>
            <a:ext cx="822960" cy="411480"/>
          </a:xfrm>
          <a:prstGeom prst="rect">
            <a:avLst/>
          </a:prstGeom>
          <a:noFill/>
        </p:spPr>
        <p:txBody>
          <a:bodyPr wrap="square">
            <a:spAutoFit/>
          </a:bodyPr>
          <a:lstStyle/>
          <a:p>
            <a:pPr algn="ctr"/>
            <a:r>
              <a:rPr sz="1100" b="1" i="0">
                <a:solidFill>
                  <a:srgbClr val="F5C542"/>
                </a:solidFill>
              </a:rPr>
              <a:t>$182</a:t>
            </a:r>
          </a:p>
        </p:txBody>
      </p:sp>
      <p:sp>
        <p:nvSpPr>
          <p:cNvPr id="21" name="TextBox 20"/>
          <p:cNvSpPr txBox="1"/>
          <p:nvPr/>
        </p:nvSpPr>
        <p:spPr>
          <a:xfrm>
            <a:off x="274320" y="2194560"/>
            <a:ext cx="7315200" cy="274320"/>
          </a:xfrm>
          <a:prstGeom prst="rect">
            <a:avLst/>
          </a:prstGeom>
          <a:noFill/>
        </p:spPr>
        <p:txBody>
          <a:bodyPr wrap="square">
            <a:spAutoFit/>
          </a:bodyPr>
          <a:lstStyle/>
          <a:p>
            <a:pPr algn="l"/>
            <a:r>
              <a:rPr sz="1000" b="1" i="0">
                <a:solidFill>
                  <a:srgbClr val="4A9FD4"/>
                </a:solidFill>
              </a:rPr>
              <a:t>SENSITIVITY: Implied Price/Share ($)</a:t>
            </a:r>
          </a:p>
        </p:txBody>
      </p:sp>
      <p:graphicFrame>
        <p:nvGraphicFramePr>
          <p:cNvPr id="22" name="Table 21"/>
          <p:cNvGraphicFramePr>
            <a:graphicFrameLocks noGrp="1"/>
          </p:cNvGraphicFramePr>
          <p:nvPr/>
        </p:nvGraphicFramePr>
        <p:xfrm>
          <a:off x="274320" y="2514600"/>
          <a:ext cx="11640312" cy="3200400"/>
        </p:xfrm>
        <a:graphic>
          <a:graphicData uri="http://schemas.openxmlformats.org/drawingml/2006/table">
            <a:tbl>
              <a:tblPr firstRow="1" bandRow="1">
                <a:tableStyleId>{5C22544A-7EE6-4342-B048-85BDC9FD1C3A}</a:tableStyleId>
              </a:tblPr>
              <a:tblGrid>
                <a:gridCol w="1940052"/>
                <a:gridCol w="1940052"/>
                <a:gridCol w="1940052"/>
                <a:gridCol w="1940052"/>
                <a:gridCol w="1940052"/>
                <a:gridCol w="1940052"/>
              </a:tblGrid>
              <a:tr h="533400">
                <a:tc>
                  <a:txBody>
                    <a:bodyPr/>
                    <a:lstStyle/>
                    <a:p>
                      <a:pPr algn="ctr"/>
                      <a:r>
                        <a:rPr sz="900" b="1">
                          <a:solidFill>
                            <a:srgbClr val="FFFFFF"/>
                          </a:solidFill>
                        </a:rPr>
                        <a:t>WACC \ TGR</a:t>
                      </a:r>
                    </a:p>
                  </a:txBody>
                  <a:tcPr>
                    <a:solidFill>
                      <a:srgbClr val="1A2F4A"/>
                    </a:solidFill>
                  </a:tcPr>
                </a:tc>
                <a:tc>
                  <a:txBody>
                    <a:bodyPr/>
                    <a:lstStyle/>
                    <a:p>
                      <a:pPr algn="ctr"/>
                      <a:r>
                        <a:rPr sz="900" b="1">
                          <a:solidFill>
                            <a:srgbClr val="FFFFFF"/>
                          </a:solidFill>
                        </a:rPr>
                        <a:t>1.5%</a:t>
                      </a:r>
                    </a:p>
                  </a:txBody>
                  <a:tcPr>
                    <a:solidFill>
                      <a:srgbClr val="1A2F4A"/>
                    </a:solidFill>
                  </a:tcPr>
                </a:tc>
                <a:tc>
                  <a:txBody>
                    <a:bodyPr/>
                    <a:lstStyle/>
                    <a:p>
                      <a:pPr algn="ctr"/>
                      <a:r>
                        <a:rPr sz="900" b="1">
                          <a:solidFill>
                            <a:srgbClr val="FFFFFF"/>
                          </a:solidFill>
                        </a:rPr>
                        <a:t>2.0%</a:t>
                      </a:r>
                    </a:p>
                  </a:txBody>
                  <a:tcPr>
                    <a:solidFill>
                      <a:srgbClr val="1A2F4A"/>
                    </a:solidFill>
                  </a:tcPr>
                </a:tc>
                <a:tc>
                  <a:txBody>
                    <a:bodyPr/>
                    <a:lstStyle/>
                    <a:p>
                      <a:pPr algn="ctr"/>
                      <a:r>
                        <a:rPr sz="900" b="1">
                          <a:solidFill>
                            <a:srgbClr val="FFFFFF"/>
                          </a:solidFill>
                        </a:rPr>
                        <a:t>2.5%</a:t>
                      </a:r>
                    </a:p>
                  </a:txBody>
                  <a:tcPr>
                    <a:solidFill>
                      <a:srgbClr val="1A2F4A"/>
                    </a:solidFill>
                  </a:tcPr>
                </a:tc>
                <a:tc>
                  <a:txBody>
                    <a:bodyPr/>
                    <a:lstStyle/>
                    <a:p>
                      <a:pPr algn="ctr"/>
                      <a:r>
                        <a:rPr sz="900" b="1">
                          <a:solidFill>
                            <a:srgbClr val="FFFFFF"/>
                          </a:solidFill>
                        </a:rPr>
                        <a:t>3.0%</a:t>
                      </a:r>
                    </a:p>
                  </a:txBody>
                  <a:tcPr>
                    <a:solidFill>
                      <a:srgbClr val="1A2F4A"/>
                    </a:solidFill>
                  </a:tcPr>
                </a:tc>
                <a:tc>
                  <a:txBody>
                    <a:bodyPr/>
                    <a:lstStyle/>
                    <a:p>
                      <a:pPr algn="ctr"/>
                      <a:r>
                        <a:rPr sz="900" b="1">
                          <a:solidFill>
                            <a:srgbClr val="FFFFFF"/>
                          </a:solidFill>
                        </a:rPr>
                        <a:t>3.5%</a:t>
                      </a:r>
                    </a:p>
                  </a:txBody>
                  <a:tcPr>
                    <a:solidFill>
                      <a:srgbClr val="1A2F4A"/>
                    </a:solidFill>
                  </a:tcPr>
                </a:tc>
              </a:tr>
              <a:tr h="533400">
                <a:tc>
                  <a:txBody>
                    <a:bodyPr/>
                    <a:lstStyle/>
                    <a:p>
                      <a:pPr algn="l"/>
                      <a:r>
                        <a:rPr sz="800">
                          <a:solidFill>
                            <a:srgbClr val="F0F4F8"/>
                          </a:solidFill>
                        </a:rPr>
                        <a:t>6.3%</a:t>
                      </a:r>
                    </a:p>
                  </a:txBody>
                  <a:tcPr>
                    <a:solidFill>
                      <a:srgbClr val="0D1B2A"/>
                    </a:solidFill>
                  </a:tcPr>
                </a:tc>
                <a:tc>
                  <a:txBody>
                    <a:bodyPr/>
                    <a:lstStyle/>
                    <a:p>
                      <a:pPr algn="r"/>
                      <a:r>
                        <a:rPr sz="800">
                          <a:solidFill>
                            <a:srgbClr val="F0F4F8"/>
                          </a:solidFill>
                        </a:rPr>
                        <a:t>$185</a:t>
                      </a:r>
                    </a:p>
                  </a:txBody>
                  <a:tcPr>
                    <a:solidFill>
                      <a:srgbClr val="0D1B2A"/>
                    </a:solidFill>
                  </a:tcPr>
                </a:tc>
                <a:tc>
                  <a:txBody>
                    <a:bodyPr/>
                    <a:lstStyle/>
                    <a:p>
                      <a:pPr algn="r"/>
                      <a:r>
                        <a:rPr sz="800">
                          <a:solidFill>
                            <a:srgbClr val="F0F4F8"/>
                          </a:solidFill>
                        </a:rPr>
                        <a:t>$198</a:t>
                      </a:r>
                    </a:p>
                  </a:txBody>
                  <a:tcPr>
                    <a:solidFill>
                      <a:srgbClr val="0D1B2A"/>
                    </a:solidFill>
                  </a:tcPr>
                </a:tc>
                <a:tc>
                  <a:txBody>
                    <a:bodyPr/>
                    <a:lstStyle/>
                    <a:p>
                      <a:pPr algn="r"/>
                      <a:r>
                        <a:rPr sz="800">
                          <a:solidFill>
                            <a:srgbClr val="F0F4F8"/>
                          </a:solidFill>
                        </a:rPr>
                        <a:t>$215</a:t>
                      </a:r>
                    </a:p>
                  </a:txBody>
                  <a:tcPr>
                    <a:solidFill>
                      <a:srgbClr val="0D1B2A"/>
                    </a:solidFill>
                  </a:tcPr>
                </a:tc>
                <a:tc>
                  <a:txBody>
                    <a:bodyPr/>
                    <a:lstStyle/>
                    <a:p>
                      <a:pPr algn="r"/>
                      <a:r>
                        <a:rPr sz="800">
                          <a:solidFill>
                            <a:srgbClr val="F0F4F8"/>
                          </a:solidFill>
                        </a:rPr>
                        <a:t>$236</a:t>
                      </a:r>
                    </a:p>
                  </a:txBody>
                  <a:tcPr>
                    <a:solidFill>
                      <a:srgbClr val="0D1B2A"/>
                    </a:solidFill>
                  </a:tcPr>
                </a:tc>
                <a:tc>
                  <a:txBody>
                    <a:bodyPr/>
                    <a:lstStyle/>
                    <a:p>
                      <a:pPr algn="r"/>
                      <a:r>
                        <a:rPr sz="800">
                          <a:solidFill>
                            <a:srgbClr val="F0F4F8"/>
                          </a:solidFill>
                        </a:rPr>
                        <a:t>$266</a:t>
                      </a:r>
                    </a:p>
                  </a:txBody>
                  <a:tcPr>
                    <a:solidFill>
                      <a:srgbClr val="0D1B2A"/>
                    </a:solidFill>
                  </a:tcPr>
                </a:tc>
              </a:tr>
              <a:tr h="533400">
                <a:tc>
                  <a:txBody>
                    <a:bodyPr/>
                    <a:lstStyle/>
                    <a:p>
                      <a:pPr algn="l"/>
                      <a:r>
                        <a:rPr sz="800">
                          <a:solidFill>
                            <a:srgbClr val="F0F4F8"/>
                          </a:solidFill>
                        </a:rPr>
                        <a:t>6.8%</a:t>
                      </a:r>
                    </a:p>
                  </a:txBody>
                  <a:tcPr>
                    <a:solidFill>
                      <a:srgbClr val="3A3F4B"/>
                    </a:solidFill>
                  </a:tcPr>
                </a:tc>
                <a:tc>
                  <a:txBody>
                    <a:bodyPr/>
                    <a:lstStyle/>
                    <a:p>
                      <a:pPr algn="r"/>
                      <a:r>
                        <a:rPr sz="800">
                          <a:solidFill>
                            <a:srgbClr val="F0F4F8"/>
                          </a:solidFill>
                        </a:rPr>
                        <a:t>$168</a:t>
                      </a:r>
                    </a:p>
                  </a:txBody>
                  <a:tcPr>
                    <a:solidFill>
                      <a:srgbClr val="3A3F4B"/>
                    </a:solidFill>
                  </a:tcPr>
                </a:tc>
                <a:tc>
                  <a:txBody>
                    <a:bodyPr/>
                    <a:lstStyle/>
                    <a:p>
                      <a:pPr algn="r"/>
                      <a:r>
                        <a:rPr sz="800">
                          <a:solidFill>
                            <a:srgbClr val="F0F4F8"/>
                          </a:solidFill>
                        </a:rPr>
                        <a:t>$179</a:t>
                      </a:r>
                    </a:p>
                  </a:txBody>
                  <a:tcPr>
                    <a:solidFill>
                      <a:srgbClr val="3A3F4B"/>
                    </a:solidFill>
                  </a:tcPr>
                </a:tc>
                <a:tc>
                  <a:txBody>
                    <a:bodyPr/>
                    <a:lstStyle/>
                    <a:p>
                      <a:pPr algn="r"/>
                      <a:r>
                        <a:rPr sz="800">
                          <a:solidFill>
                            <a:srgbClr val="F0F4F8"/>
                          </a:solidFill>
                        </a:rPr>
                        <a:t>$192</a:t>
                      </a:r>
                    </a:p>
                  </a:txBody>
                  <a:tcPr>
                    <a:solidFill>
                      <a:srgbClr val="3A3F4B"/>
                    </a:solidFill>
                  </a:tcPr>
                </a:tc>
                <a:tc>
                  <a:txBody>
                    <a:bodyPr/>
                    <a:lstStyle/>
                    <a:p>
                      <a:pPr algn="r"/>
                      <a:r>
                        <a:rPr sz="800">
                          <a:solidFill>
                            <a:srgbClr val="F0F4F8"/>
                          </a:solidFill>
                        </a:rPr>
                        <a:t>$208</a:t>
                      </a:r>
                    </a:p>
                  </a:txBody>
                  <a:tcPr>
                    <a:solidFill>
                      <a:srgbClr val="3A3F4B"/>
                    </a:solidFill>
                  </a:tcPr>
                </a:tc>
                <a:tc>
                  <a:txBody>
                    <a:bodyPr/>
                    <a:lstStyle/>
                    <a:p>
                      <a:pPr algn="r"/>
                      <a:r>
                        <a:rPr sz="800">
                          <a:solidFill>
                            <a:srgbClr val="F0F4F8"/>
                          </a:solidFill>
                        </a:rPr>
                        <a:t>$230</a:t>
                      </a:r>
                    </a:p>
                  </a:txBody>
                  <a:tcPr>
                    <a:solidFill>
                      <a:srgbClr val="3A3F4B"/>
                    </a:solidFill>
                  </a:tcPr>
                </a:tc>
              </a:tr>
              <a:tr h="533400">
                <a:tc>
                  <a:txBody>
                    <a:bodyPr/>
                    <a:lstStyle/>
                    <a:p>
                      <a:pPr algn="l"/>
                      <a:r>
                        <a:rPr sz="800">
                          <a:solidFill>
                            <a:srgbClr val="F0F4F8"/>
                          </a:solidFill>
                        </a:rPr>
                        <a:t>7.3%</a:t>
                      </a:r>
                    </a:p>
                  </a:txBody>
                  <a:tcPr>
                    <a:solidFill>
                      <a:srgbClr val="0D1B2A"/>
                    </a:solidFill>
                  </a:tcPr>
                </a:tc>
                <a:tc>
                  <a:txBody>
                    <a:bodyPr/>
                    <a:lstStyle/>
                    <a:p>
                      <a:pPr algn="r"/>
                      <a:r>
                        <a:rPr sz="800">
                          <a:solidFill>
                            <a:srgbClr val="F0F4F8"/>
                          </a:solidFill>
                        </a:rPr>
                        <a:t>$154</a:t>
                      </a:r>
                    </a:p>
                  </a:txBody>
                  <a:tcPr>
                    <a:solidFill>
                      <a:srgbClr val="0D1B2A"/>
                    </a:solidFill>
                  </a:tcPr>
                </a:tc>
                <a:tc>
                  <a:txBody>
                    <a:bodyPr/>
                    <a:lstStyle/>
                    <a:p>
                      <a:pPr algn="r"/>
                      <a:r>
                        <a:rPr sz="800">
                          <a:solidFill>
                            <a:srgbClr val="F0F4F8"/>
                          </a:solidFill>
                        </a:rPr>
                        <a:t>$163</a:t>
                      </a:r>
                    </a:p>
                  </a:txBody>
                  <a:tcPr>
                    <a:solidFill>
                      <a:srgbClr val="0D1B2A"/>
                    </a:solidFill>
                  </a:tcPr>
                </a:tc>
                <a:tc>
                  <a:txBody>
                    <a:bodyPr/>
                    <a:lstStyle/>
                    <a:p>
                      <a:pPr algn="r"/>
                      <a:r>
                        <a:rPr sz="800">
                          <a:solidFill>
                            <a:srgbClr val="F0F4F8"/>
                          </a:solidFill>
                        </a:rPr>
                        <a:t>$173</a:t>
                      </a:r>
                    </a:p>
                  </a:txBody>
                  <a:tcPr>
                    <a:solidFill>
                      <a:srgbClr val="0D1B2A"/>
                    </a:solidFill>
                  </a:tcPr>
                </a:tc>
                <a:tc>
                  <a:txBody>
                    <a:bodyPr/>
                    <a:lstStyle/>
                    <a:p>
                      <a:pPr algn="r"/>
                      <a:r>
                        <a:rPr sz="800">
                          <a:solidFill>
                            <a:srgbClr val="F0F4F8"/>
                          </a:solidFill>
                        </a:rPr>
                        <a:t>$186</a:t>
                      </a:r>
                    </a:p>
                  </a:txBody>
                  <a:tcPr>
                    <a:solidFill>
                      <a:srgbClr val="0D1B2A"/>
                    </a:solidFill>
                  </a:tcPr>
                </a:tc>
                <a:tc>
                  <a:txBody>
                    <a:bodyPr/>
                    <a:lstStyle/>
                    <a:p>
                      <a:pPr algn="r"/>
                      <a:r>
                        <a:rPr sz="800">
                          <a:solidFill>
                            <a:srgbClr val="F0F4F8"/>
                          </a:solidFill>
                        </a:rPr>
                        <a:t>$202</a:t>
                      </a:r>
                    </a:p>
                  </a:txBody>
                  <a:tcPr>
                    <a:solidFill>
                      <a:srgbClr val="0D1B2A"/>
                    </a:solidFill>
                  </a:tcPr>
                </a:tc>
              </a:tr>
              <a:tr h="533400">
                <a:tc>
                  <a:txBody>
                    <a:bodyPr/>
                    <a:lstStyle/>
                    <a:p>
                      <a:pPr algn="l"/>
                      <a:r>
                        <a:rPr sz="800">
                          <a:solidFill>
                            <a:srgbClr val="F0F4F8"/>
                          </a:solidFill>
                        </a:rPr>
                        <a:t>7.8%</a:t>
                      </a:r>
                    </a:p>
                  </a:txBody>
                  <a:tcPr>
                    <a:solidFill>
                      <a:srgbClr val="3A3F4B"/>
                    </a:solidFill>
                  </a:tcPr>
                </a:tc>
                <a:tc>
                  <a:txBody>
                    <a:bodyPr/>
                    <a:lstStyle/>
                    <a:p>
                      <a:pPr algn="r"/>
                      <a:r>
                        <a:rPr sz="800">
                          <a:solidFill>
                            <a:srgbClr val="F0F4F8"/>
                          </a:solidFill>
                        </a:rPr>
                        <a:t>$142</a:t>
                      </a:r>
                    </a:p>
                  </a:txBody>
                  <a:tcPr>
                    <a:solidFill>
                      <a:srgbClr val="3A3F4B"/>
                    </a:solidFill>
                  </a:tcPr>
                </a:tc>
                <a:tc>
                  <a:txBody>
                    <a:bodyPr/>
                    <a:lstStyle/>
                    <a:p>
                      <a:pPr algn="r"/>
                      <a:r>
                        <a:rPr sz="800">
                          <a:solidFill>
                            <a:srgbClr val="F0F4F8"/>
                          </a:solidFill>
                        </a:rPr>
                        <a:t>$149</a:t>
                      </a:r>
                    </a:p>
                  </a:txBody>
                  <a:tcPr>
                    <a:solidFill>
                      <a:srgbClr val="3A3F4B"/>
                    </a:solidFill>
                  </a:tcPr>
                </a:tc>
                <a:tc>
                  <a:txBody>
                    <a:bodyPr/>
                    <a:lstStyle/>
                    <a:p>
                      <a:pPr algn="r"/>
                      <a:r>
                        <a:rPr sz="800">
                          <a:solidFill>
                            <a:srgbClr val="F0F4F8"/>
                          </a:solidFill>
                        </a:rPr>
                        <a:t>$158</a:t>
                      </a:r>
                    </a:p>
                  </a:txBody>
                  <a:tcPr>
                    <a:solidFill>
                      <a:srgbClr val="3A3F4B"/>
                    </a:solidFill>
                  </a:tcPr>
                </a:tc>
                <a:tc>
                  <a:txBody>
                    <a:bodyPr/>
                    <a:lstStyle/>
                    <a:p>
                      <a:pPr algn="r"/>
                      <a:r>
                        <a:rPr sz="800">
                          <a:solidFill>
                            <a:srgbClr val="F0F4F8"/>
                          </a:solidFill>
                        </a:rPr>
                        <a:t>$168</a:t>
                      </a:r>
                    </a:p>
                  </a:txBody>
                  <a:tcPr>
                    <a:solidFill>
                      <a:srgbClr val="3A3F4B"/>
                    </a:solidFill>
                  </a:tcPr>
                </a:tc>
                <a:tc>
                  <a:txBody>
                    <a:bodyPr/>
                    <a:lstStyle/>
                    <a:p>
                      <a:pPr algn="r"/>
                      <a:r>
                        <a:rPr sz="800">
                          <a:solidFill>
                            <a:srgbClr val="F0F4F8"/>
                          </a:solidFill>
                        </a:rPr>
                        <a:t>$180</a:t>
                      </a:r>
                    </a:p>
                  </a:txBody>
                  <a:tcPr>
                    <a:solidFill>
                      <a:srgbClr val="3A3F4B"/>
                    </a:solidFill>
                  </a:tcPr>
                </a:tc>
              </a:tr>
              <a:tr h="533400">
                <a:tc>
                  <a:txBody>
                    <a:bodyPr/>
                    <a:lstStyle/>
                    <a:p>
                      <a:pPr algn="l"/>
                      <a:r>
                        <a:rPr sz="800">
                          <a:solidFill>
                            <a:srgbClr val="F0F4F8"/>
                          </a:solidFill>
                        </a:rPr>
                        <a:t>8.3%</a:t>
                      </a:r>
                    </a:p>
                  </a:txBody>
                  <a:tcPr>
                    <a:solidFill>
                      <a:srgbClr val="0D1B2A"/>
                    </a:solidFill>
                  </a:tcPr>
                </a:tc>
                <a:tc>
                  <a:txBody>
                    <a:bodyPr/>
                    <a:lstStyle/>
                    <a:p>
                      <a:pPr algn="r"/>
                      <a:r>
                        <a:rPr sz="800">
                          <a:solidFill>
                            <a:srgbClr val="F0F4F8"/>
                          </a:solidFill>
                        </a:rPr>
                        <a:t>$131</a:t>
                      </a:r>
                    </a:p>
                  </a:txBody>
                  <a:tcPr>
                    <a:solidFill>
                      <a:srgbClr val="0D1B2A"/>
                    </a:solidFill>
                  </a:tcPr>
                </a:tc>
                <a:tc>
                  <a:txBody>
                    <a:bodyPr/>
                    <a:lstStyle/>
                    <a:p>
                      <a:pPr algn="r"/>
                      <a:r>
                        <a:rPr sz="800">
                          <a:solidFill>
                            <a:srgbClr val="F0F4F8"/>
                          </a:solidFill>
                        </a:rPr>
                        <a:t>$137</a:t>
                      </a:r>
                    </a:p>
                  </a:txBody>
                  <a:tcPr>
                    <a:solidFill>
                      <a:srgbClr val="0D1B2A"/>
                    </a:solidFill>
                  </a:tcPr>
                </a:tc>
                <a:tc>
                  <a:txBody>
                    <a:bodyPr/>
                    <a:lstStyle/>
                    <a:p>
                      <a:pPr algn="r"/>
                      <a:r>
                        <a:rPr sz="800">
                          <a:solidFill>
                            <a:srgbClr val="F0F4F8"/>
                          </a:solidFill>
                        </a:rPr>
                        <a:t>$144</a:t>
                      </a:r>
                    </a:p>
                  </a:txBody>
                  <a:tcPr>
                    <a:solidFill>
                      <a:srgbClr val="0D1B2A"/>
                    </a:solidFill>
                  </a:tcPr>
                </a:tc>
                <a:tc>
                  <a:txBody>
                    <a:bodyPr/>
                    <a:lstStyle/>
                    <a:p>
                      <a:pPr algn="r"/>
                      <a:r>
                        <a:rPr sz="800">
                          <a:solidFill>
                            <a:srgbClr val="F0F4F8"/>
                          </a:solidFill>
                        </a:rPr>
                        <a:t>$152</a:t>
                      </a:r>
                    </a:p>
                  </a:txBody>
                  <a:tcPr>
                    <a:solidFill>
                      <a:srgbClr val="0D1B2A"/>
                    </a:solidFill>
                  </a:tcPr>
                </a:tc>
                <a:tc>
                  <a:txBody>
                    <a:bodyPr/>
                    <a:lstStyle/>
                    <a:p>
                      <a:pPr algn="r"/>
                      <a:r>
                        <a:rPr sz="800">
                          <a:solidFill>
                            <a:srgbClr val="F0F4F8"/>
                          </a:solidFill>
                        </a:rPr>
                        <a:t>$162</a:t>
                      </a:r>
                    </a:p>
                  </a:txBody>
                  <a:tcPr>
                    <a:solidFill>
                      <a:srgbClr val="0D1B2A"/>
                    </a:solidFill>
                  </a:tcPr>
                </a:tc>
              </a:tr>
            </a:tbl>
          </a:graphicData>
        </a:graphic>
      </p:graphicFrame>
      <p:sp>
        <p:nvSpPr>
          <p:cNvPr id="23" name="TextBox 22"/>
          <p:cNvSpPr txBox="1"/>
          <p:nvPr/>
        </p:nvSpPr>
        <p:spPr>
          <a:xfrm>
            <a:off x="274320" y="5852160"/>
            <a:ext cx="11640312" cy="274320"/>
          </a:xfrm>
          <a:prstGeom prst="rect">
            <a:avLst/>
          </a:prstGeom>
          <a:noFill/>
        </p:spPr>
        <p:txBody>
          <a:bodyPr wrap="square">
            <a:spAutoFit/>
          </a:bodyPr>
          <a:lstStyle/>
          <a:p>
            <a:pPr algn="l"/>
            <a:r>
              <a:rPr sz="750" b="0" i="0">
                <a:solidFill>
                  <a:srgbClr val="6B7280"/>
                </a:solidFill>
              </a:rPr>
              <a:t>WACC: 7.3%  |  Rf: 4.25%  |  ERP: 5.5%  |  Beta: 0.85  |  Kd (pre-tax): 5.5%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45720"/>
          </a:xfrm>
          <a:prstGeom prst="rect">
            <a:avLst/>
          </a:prstGeom>
          <a:solidFill>
            <a:srgbClr val="4A9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09728"/>
            <a:ext cx="8229600" cy="502920"/>
          </a:xfrm>
          <a:prstGeom prst="rect">
            <a:avLst/>
          </a:prstGeom>
          <a:noFill/>
        </p:spPr>
        <p:txBody>
          <a:bodyPr wrap="square">
            <a:spAutoFit/>
          </a:bodyPr>
          <a:lstStyle/>
          <a:p>
            <a:pPr algn="l"/>
            <a:r>
              <a:rPr sz="2000" b="1" i="0">
                <a:solidFill>
                  <a:srgbClr val="FFFFFF"/>
                </a:solidFill>
              </a:rPr>
              <a:t>COMPARABLE COMPANIES ANALYSIS</a:t>
            </a:r>
          </a:p>
        </p:txBody>
      </p:sp>
      <p:sp>
        <p:nvSpPr>
          <p:cNvPr id="5" name="TextBox 4"/>
          <p:cNvSpPr txBox="1"/>
          <p:nvPr/>
        </p:nvSpPr>
        <p:spPr>
          <a:xfrm>
            <a:off x="274320" y="566928"/>
            <a:ext cx="8229600" cy="320040"/>
          </a:xfrm>
          <a:prstGeom prst="rect">
            <a:avLst/>
          </a:prstGeom>
          <a:noFill/>
        </p:spPr>
        <p:txBody>
          <a:bodyPr wrap="square">
            <a:spAutoFit/>
          </a:bodyPr>
          <a:lstStyle/>
          <a:p>
            <a:pPr algn="l"/>
            <a:r>
              <a:rPr sz="1100" b="0" i="0">
                <a:solidFill>
                  <a:srgbClr val="B0C4D8"/>
                </a:solidFill>
              </a:rPr>
              <a:t>Relative valuation vs. peer group</a:t>
            </a:r>
          </a:p>
        </p:txBody>
      </p:sp>
      <p:sp>
        <p:nvSpPr>
          <p:cNvPr id="6" name="TextBox 5"/>
          <p:cNvSpPr txBox="1"/>
          <p:nvPr/>
        </p:nvSpPr>
        <p:spPr>
          <a:xfrm>
            <a:off x="274320" y="1143000"/>
            <a:ext cx="5486400" cy="274320"/>
          </a:xfrm>
          <a:prstGeom prst="rect">
            <a:avLst/>
          </a:prstGeom>
          <a:noFill/>
        </p:spPr>
        <p:txBody>
          <a:bodyPr wrap="square">
            <a:spAutoFit/>
          </a:bodyPr>
          <a:lstStyle/>
          <a:p>
            <a:pPr algn="l"/>
            <a:r>
              <a:rPr sz="1000" b="1" i="0">
                <a:solidFill>
                  <a:srgbClr val="4A9FD4"/>
                </a:solidFill>
              </a:rPr>
              <a:t>PEER TRADING MULTIPLES</a:t>
            </a:r>
          </a:p>
        </p:txBody>
      </p:sp>
      <p:graphicFrame>
        <p:nvGraphicFramePr>
          <p:cNvPr id="7" name="Table 6"/>
          <p:cNvGraphicFramePr>
            <a:graphicFrameLocks noGrp="1"/>
          </p:cNvGraphicFramePr>
          <p:nvPr/>
        </p:nvGraphicFramePr>
        <p:xfrm>
          <a:off x="274320" y="1463040"/>
          <a:ext cx="11640312" cy="2286000"/>
        </p:xfrm>
        <a:graphic>
          <a:graphicData uri="http://schemas.openxmlformats.org/drawingml/2006/table">
            <a:tbl>
              <a:tblPr firstRow="1" bandRow="1">
                <a:tableStyleId>{5C22544A-7EE6-4342-B048-85BDC9FD1C3A}</a:tableStyleId>
              </a:tblPr>
              <a:tblGrid>
                <a:gridCol w="1662901"/>
                <a:gridCol w="1662901"/>
                <a:gridCol w="1662901"/>
                <a:gridCol w="1662901"/>
                <a:gridCol w="1662901"/>
                <a:gridCol w="1662901"/>
                <a:gridCol w="1662906"/>
              </a:tblGrid>
              <a:tr h="326571">
                <a:tc>
                  <a:txBody>
                    <a:bodyPr/>
                    <a:lstStyle/>
                    <a:p>
                      <a:pPr algn="ctr"/>
                      <a:r>
                        <a:rPr sz="900" b="1">
                          <a:solidFill>
                            <a:srgbClr val="FFFFFF"/>
                          </a:solidFill>
                        </a:rPr>
                        <a:t>Company</a:t>
                      </a:r>
                    </a:p>
                  </a:txBody>
                  <a:tcPr>
                    <a:solidFill>
                      <a:srgbClr val="1A2F4A"/>
                    </a:solidFill>
                  </a:tcPr>
                </a:tc>
                <a:tc>
                  <a:txBody>
                    <a:bodyPr/>
                    <a:lstStyle/>
                    <a:p>
                      <a:pPr algn="ctr"/>
                      <a:r>
                        <a:rPr sz="900" b="1">
                          <a:solidFill>
                            <a:srgbClr val="FFFFFF"/>
                          </a:solidFill>
                        </a:rPr>
                        <a:t>NTM EV/EBITDA</a:t>
                      </a:r>
                    </a:p>
                  </a:txBody>
                  <a:tcPr>
                    <a:solidFill>
                      <a:srgbClr val="1A2F4A"/>
                    </a:solidFill>
                  </a:tcPr>
                </a:tc>
                <a:tc>
                  <a:txBody>
                    <a:bodyPr/>
                    <a:lstStyle/>
                    <a:p>
                      <a:pPr algn="ctr"/>
                      <a:r>
                        <a:rPr sz="900" b="1">
                          <a:solidFill>
                            <a:srgbClr val="FFFFFF"/>
                          </a:solidFill>
                        </a:rPr>
                        <a:t>NTM P/E</a:t>
                      </a:r>
                    </a:p>
                  </a:txBody>
                  <a:tcPr>
                    <a:solidFill>
                      <a:srgbClr val="1A2F4A"/>
                    </a:solidFill>
                  </a:tcPr>
                </a:tc>
                <a:tc>
                  <a:txBody>
                    <a:bodyPr/>
                    <a:lstStyle/>
                    <a:p>
                      <a:pPr algn="ctr"/>
                      <a:r>
                        <a:rPr sz="900" b="1">
                          <a:solidFill>
                            <a:srgbClr val="FFFFFF"/>
                          </a:solidFill>
                        </a:rPr>
                        <a:t>EV/Rev</a:t>
                      </a:r>
                    </a:p>
                  </a:txBody>
                  <a:tcPr>
                    <a:solidFill>
                      <a:srgbClr val="1A2F4A"/>
                    </a:solidFill>
                  </a:tcPr>
                </a:tc>
                <a:tc>
                  <a:txBody>
                    <a:bodyPr/>
                    <a:lstStyle/>
                    <a:p>
                      <a:pPr algn="ctr"/>
                      <a:r>
                        <a:rPr sz="900" b="1">
                          <a:solidFill>
                            <a:srgbClr val="FFFFFF"/>
                          </a:solidFill>
                        </a:rPr>
                        <a:t>NTM Growth%</a:t>
                      </a:r>
                    </a:p>
                  </a:txBody>
                  <a:tcPr>
                    <a:solidFill>
                      <a:srgbClr val="1A2F4A"/>
                    </a:solidFill>
                  </a:tcPr>
                </a:tc>
                <a:tc>
                  <a:txBody>
                    <a:bodyPr/>
                    <a:lstStyle/>
                    <a:p>
                      <a:pPr algn="ctr"/>
                      <a:r>
                        <a:rPr sz="900" b="1">
                          <a:solidFill>
                            <a:srgbClr val="FFFFFF"/>
                          </a:solidFill>
                        </a:rPr>
                        <a:t>EBITDA Margin%</a:t>
                      </a:r>
                    </a:p>
                  </a:txBody>
                  <a:tcPr>
                    <a:solidFill>
                      <a:srgbClr val="1A2F4A"/>
                    </a:solidFill>
                  </a:tcPr>
                </a:tc>
                <a:tc>
                  <a:txBody>
                    <a:bodyPr/>
                    <a:lstStyle/>
                    <a:p>
                      <a:pPr algn="ctr"/>
                      <a:r>
                        <a:rPr sz="900" b="1">
                          <a:solidFill>
                            <a:srgbClr val="FFFFFF"/>
                          </a:solidFill>
                        </a:rPr>
                        <a:t>Data Source</a:t>
                      </a:r>
                    </a:p>
                  </a:txBody>
                  <a:tcPr>
                    <a:solidFill>
                      <a:srgbClr val="1A2F4A"/>
                    </a:solidFill>
                  </a:tcPr>
                </a:tc>
              </a:tr>
              <a:tr h="326571">
                <a:tc>
                  <a:txBody>
                    <a:bodyPr/>
                    <a:lstStyle/>
                    <a:p>
                      <a:pPr algn="l"/>
                      <a:r>
                        <a:rPr sz="800">
                          <a:solidFill>
                            <a:srgbClr val="F0F4F8"/>
                          </a:solidFill>
                        </a:rPr>
                        <a:t>AMT — American Tower </a:t>
                      </a:r>
                    </a:p>
                  </a:txBody>
                  <a:tcPr>
                    <a:solidFill>
                      <a:srgbClr val="0D1B2A"/>
                    </a:solidFill>
                  </a:tcPr>
                </a:tc>
                <a:tc>
                  <a:txBody>
                    <a:bodyPr/>
                    <a:lstStyle/>
                    <a:p>
                      <a:pPr algn="r"/>
                      <a:r>
                        <a:rPr sz="800">
                          <a:solidFill>
                            <a:srgbClr val="F0F4F8"/>
                          </a:solidFill>
                        </a:rPr>
                        <a:t>Nonex</a:t>
                      </a:r>
                    </a:p>
                  </a:txBody>
                  <a:tcPr>
                    <a:solidFill>
                      <a:srgbClr val="0D1B2A"/>
                    </a:solidFill>
                  </a:tcPr>
                </a:tc>
                <a:tc>
                  <a:txBody>
                    <a:bodyPr/>
                    <a:lstStyle/>
                    <a:p>
                      <a:pPr algn="r"/>
                      <a:r>
                        <a:rPr sz="800">
                          <a:solidFill>
                            <a:srgbClr val="F0F4F8"/>
                          </a:solidFill>
                        </a:rPr>
                        <a:t>Nonex</a:t>
                      </a:r>
                    </a:p>
                  </a:txBody>
                  <a:tcPr>
                    <a:solidFill>
                      <a:srgbClr val="0D1B2A"/>
                    </a:solidFill>
                  </a:tcPr>
                </a:tc>
                <a:tc>
                  <a:txBody>
                    <a:bodyPr/>
                    <a:lstStyle/>
                    <a:p>
                      <a:pPr algn="r"/>
                      <a:r>
                        <a:rPr sz="800">
                          <a:solidFill>
                            <a:srgbClr val="F0F4F8"/>
                          </a:solidFill>
                        </a:rPr>
                        <a:t>Nonex</a:t>
                      </a:r>
                    </a:p>
                  </a:txBody>
                  <a:tcPr>
                    <a:solidFill>
                      <a:srgbClr val="0D1B2A"/>
                    </a:solidFill>
                  </a:tcPr>
                </a:tc>
                <a:tc>
                  <a:txBody>
                    <a:bodyPr/>
                    <a:lstStyle/>
                    <a:p>
                      <a:pPr algn="r"/>
                      <a:r>
                        <a:rPr sz="800">
                          <a:solidFill>
                            <a:srgbClr val="F0F4F8"/>
                          </a:solidFill>
                        </a:rPr>
                        <a:t>None%</a:t>
                      </a:r>
                    </a:p>
                  </a:txBody>
                  <a:tcPr>
                    <a:solidFill>
                      <a:srgbClr val="0D1B2A"/>
                    </a:solidFill>
                  </a:tcPr>
                </a:tc>
                <a:tc>
                  <a:txBody>
                    <a:bodyPr/>
                    <a:lstStyle/>
                    <a:p>
                      <a:pPr algn="r"/>
                      <a:r>
                        <a:rPr sz="800">
                          <a:solidFill>
                            <a:srgbClr val="F0F4F8"/>
                          </a:solidFill>
                        </a:rPr>
                        <a:t>None%</a:t>
                      </a:r>
                    </a:p>
                  </a:txBody>
                  <a:tcPr>
                    <a:solidFill>
                      <a:srgbClr val="0D1B2A"/>
                    </a:solidFill>
                  </a:tcPr>
                </a:tc>
                <a:tc>
                  <a:txBody>
                    <a:bodyPr/>
                    <a:lstStyle/>
                    <a:p>
                      <a:pPr algn="r"/>
                      <a:r>
                        <a:rPr sz="800">
                          <a:solidFill>
                            <a:srgbClr val="F0F4F8"/>
                          </a:solidFill>
                        </a:rPr>
                        <a:t>ESTIMATE — veri</a:t>
                      </a:r>
                    </a:p>
                  </a:txBody>
                  <a:tcPr>
                    <a:solidFill>
                      <a:srgbClr val="0D1B2A"/>
                    </a:solidFill>
                  </a:tcPr>
                </a:tc>
              </a:tr>
              <a:tr h="326571">
                <a:tc>
                  <a:txBody>
                    <a:bodyPr/>
                    <a:lstStyle/>
                    <a:p>
                      <a:pPr algn="l"/>
                      <a:r>
                        <a:rPr sz="800">
                          <a:solidFill>
                            <a:srgbClr val="F0F4F8"/>
                          </a:solidFill>
                        </a:rPr>
                        <a:t>CCI — Crown Castle In</a:t>
                      </a:r>
                    </a:p>
                  </a:txBody>
                  <a:tcPr>
                    <a:solidFill>
                      <a:srgbClr val="3A3F4B"/>
                    </a:solidFill>
                  </a:tcPr>
                </a:tc>
                <a:tc>
                  <a:txBody>
                    <a:bodyPr/>
                    <a:lstStyle/>
                    <a:p>
                      <a:pPr algn="r"/>
                      <a:r>
                        <a:rPr sz="800">
                          <a:solidFill>
                            <a:srgbClr val="F0F4F8"/>
                          </a:solidFill>
                        </a:rPr>
                        <a:t>Nonex</a:t>
                      </a:r>
                    </a:p>
                  </a:txBody>
                  <a:tcPr>
                    <a:solidFill>
                      <a:srgbClr val="3A3F4B"/>
                    </a:solidFill>
                  </a:tcPr>
                </a:tc>
                <a:tc>
                  <a:txBody>
                    <a:bodyPr/>
                    <a:lstStyle/>
                    <a:p>
                      <a:pPr algn="r"/>
                      <a:r>
                        <a:rPr sz="800">
                          <a:solidFill>
                            <a:srgbClr val="F0F4F8"/>
                          </a:solidFill>
                        </a:rPr>
                        <a:t>Nonex</a:t>
                      </a:r>
                    </a:p>
                  </a:txBody>
                  <a:tcPr>
                    <a:solidFill>
                      <a:srgbClr val="3A3F4B"/>
                    </a:solidFill>
                  </a:tcPr>
                </a:tc>
                <a:tc>
                  <a:txBody>
                    <a:bodyPr/>
                    <a:lstStyle/>
                    <a:p>
                      <a:pPr algn="r"/>
                      <a:r>
                        <a:rPr sz="800">
                          <a:solidFill>
                            <a:srgbClr val="F0F4F8"/>
                          </a:solidFill>
                        </a:rPr>
                        <a:t>Nonex</a:t>
                      </a:r>
                    </a:p>
                  </a:txBody>
                  <a:tcPr>
                    <a:solidFill>
                      <a:srgbClr val="3A3F4B"/>
                    </a:solidFill>
                  </a:tcPr>
                </a:tc>
                <a:tc>
                  <a:txBody>
                    <a:bodyPr/>
                    <a:lstStyle/>
                    <a:p>
                      <a:pPr algn="r"/>
                      <a:r>
                        <a:rPr sz="800">
                          <a:solidFill>
                            <a:srgbClr val="F0F4F8"/>
                          </a:solidFill>
                        </a:rPr>
                        <a:t>None%</a:t>
                      </a:r>
                    </a:p>
                  </a:txBody>
                  <a:tcPr>
                    <a:solidFill>
                      <a:srgbClr val="3A3F4B"/>
                    </a:solidFill>
                  </a:tcPr>
                </a:tc>
                <a:tc>
                  <a:txBody>
                    <a:bodyPr/>
                    <a:lstStyle/>
                    <a:p>
                      <a:pPr algn="r"/>
                      <a:r>
                        <a:rPr sz="800">
                          <a:solidFill>
                            <a:srgbClr val="F0F4F8"/>
                          </a:solidFill>
                        </a:rPr>
                        <a:t>None%</a:t>
                      </a:r>
                    </a:p>
                  </a:txBody>
                  <a:tcPr>
                    <a:solidFill>
                      <a:srgbClr val="3A3F4B"/>
                    </a:solidFill>
                  </a:tcPr>
                </a:tc>
                <a:tc>
                  <a:txBody>
                    <a:bodyPr/>
                    <a:lstStyle/>
                    <a:p>
                      <a:pPr algn="r"/>
                      <a:r>
                        <a:rPr sz="800">
                          <a:solidFill>
                            <a:srgbClr val="F0F4F8"/>
                          </a:solidFill>
                        </a:rPr>
                        <a:t>ESTIMATE — veri</a:t>
                      </a:r>
                    </a:p>
                  </a:txBody>
                  <a:tcPr>
                    <a:solidFill>
                      <a:srgbClr val="3A3F4B"/>
                    </a:solidFill>
                  </a:tcPr>
                </a:tc>
              </a:tr>
              <a:tr h="326571">
                <a:tc>
                  <a:txBody>
                    <a:bodyPr/>
                    <a:lstStyle/>
                    <a:p>
                      <a:pPr algn="l"/>
                      <a:r>
                        <a:rPr sz="800">
                          <a:solidFill>
                            <a:srgbClr val="F0F4F8"/>
                          </a:solidFill>
                        </a:rPr>
                        <a:t>IHS — IHS Holding Lim</a:t>
                      </a:r>
                    </a:p>
                  </a:txBody>
                  <a:tcPr>
                    <a:solidFill>
                      <a:srgbClr val="0D1B2A"/>
                    </a:solidFill>
                  </a:tcPr>
                </a:tc>
                <a:tc>
                  <a:txBody>
                    <a:bodyPr/>
                    <a:lstStyle/>
                    <a:p>
                      <a:pPr algn="r"/>
                      <a:r>
                        <a:rPr sz="800">
                          <a:solidFill>
                            <a:srgbClr val="F0F4F8"/>
                          </a:solidFill>
                        </a:rPr>
                        <a:t>Nonex</a:t>
                      </a:r>
                    </a:p>
                  </a:txBody>
                  <a:tcPr>
                    <a:solidFill>
                      <a:srgbClr val="0D1B2A"/>
                    </a:solidFill>
                  </a:tcPr>
                </a:tc>
                <a:tc>
                  <a:txBody>
                    <a:bodyPr/>
                    <a:lstStyle/>
                    <a:p>
                      <a:pPr algn="r"/>
                      <a:r>
                        <a:rPr sz="800">
                          <a:solidFill>
                            <a:srgbClr val="F0F4F8"/>
                          </a:solidFill>
                        </a:rPr>
                        <a:t>Nonex</a:t>
                      </a:r>
                    </a:p>
                  </a:txBody>
                  <a:tcPr>
                    <a:solidFill>
                      <a:srgbClr val="0D1B2A"/>
                    </a:solidFill>
                  </a:tcPr>
                </a:tc>
                <a:tc>
                  <a:txBody>
                    <a:bodyPr/>
                    <a:lstStyle/>
                    <a:p>
                      <a:pPr algn="r"/>
                      <a:r>
                        <a:rPr sz="800">
                          <a:solidFill>
                            <a:srgbClr val="F0F4F8"/>
                          </a:solidFill>
                        </a:rPr>
                        <a:t>Nonex</a:t>
                      </a:r>
                    </a:p>
                  </a:txBody>
                  <a:tcPr>
                    <a:solidFill>
                      <a:srgbClr val="0D1B2A"/>
                    </a:solidFill>
                  </a:tcPr>
                </a:tc>
                <a:tc>
                  <a:txBody>
                    <a:bodyPr/>
                    <a:lstStyle/>
                    <a:p>
                      <a:pPr algn="r"/>
                      <a:r>
                        <a:rPr sz="800">
                          <a:solidFill>
                            <a:srgbClr val="F0F4F8"/>
                          </a:solidFill>
                        </a:rPr>
                        <a:t>None%</a:t>
                      </a:r>
                    </a:p>
                  </a:txBody>
                  <a:tcPr>
                    <a:solidFill>
                      <a:srgbClr val="0D1B2A"/>
                    </a:solidFill>
                  </a:tcPr>
                </a:tc>
                <a:tc>
                  <a:txBody>
                    <a:bodyPr/>
                    <a:lstStyle/>
                    <a:p>
                      <a:pPr algn="r"/>
                      <a:r>
                        <a:rPr sz="800">
                          <a:solidFill>
                            <a:srgbClr val="F0F4F8"/>
                          </a:solidFill>
                        </a:rPr>
                        <a:t>None%</a:t>
                      </a:r>
                    </a:p>
                  </a:txBody>
                  <a:tcPr>
                    <a:solidFill>
                      <a:srgbClr val="0D1B2A"/>
                    </a:solidFill>
                  </a:tcPr>
                </a:tc>
                <a:tc>
                  <a:txBody>
                    <a:bodyPr/>
                    <a:lstStyle/>
                    <a:p>
                      <a:pPr algn="r"/>
                      <a:r>
                        <a:rPr sz="800">
                          <a:solidFill>
                            <a:srgbClr val="F0F4F8"/>
                          </a:solidFill>
                        </a:rPr>
                        <a:t>ESTIMATE — veri</a:t>
                      </a:r>
                    </a:p>
                  </a:txBody>
                  <a:tcPr>
                    <a:solidFill>
                      <a:srgbClr val="0D1B2A"/>
                    </a:solidFill>
                  </a:tcPr>
                </a:tc>
              </a:tr>
              <a:tr h="326571">
                <a:tc>
                  <a:txBody>
                    <a:bodyPr/>
                    <a:lstStyle/>
                    <a:p>
                      <a:pPr algn="l"/>
                      <a:r>
                        <a:rPr sz="800">
                          <a:solidFill>
                            <a:srgbClr val="F0F4F8"/>
                          </a:solidFill>
                        </a:rPr>
                        <a:t>UNIT — Uniti Group Inc</a:t>
                      </a:r>
                    </a:p>
                  </a:txBody>
                  <a:tcPr>
                    <a:solidFill>
                      <a:srgbClr val="3A3F4B"/>
                    </a:solidFill>
                  </a:tcPr>
                </a:tc>
                <a:tc>
                  <a:txBody>
                    <a:bodyPr/>
                    <a:lstStyle/>
                    <a:p>
                      <a:pPr algn="r"/>
                      <a:r>
                        <a:rPr sz="800">
                          <a:solidFill>
                            <a:srgbClr val="F0F4F8"/>
                          </a:solidFill>
                        </a:rPr>
                        <a:t>Nonex</a:t>
                      </a:r>
                    </a:p>
                  </a:txBody>
                  <a:tcPr>
                    <a:solidFill>
                      <a:srgbClr val="3A3F4B"/>
                    </a:solidFill>
                  </a:tcPr>
                </a:tc>
                <a:tc>
                  <a:txBody>
                    <a:bodyPr/>
                    <a:lstStyle/>
                    <a:p>
                      <a:pPr algn="r"/>
                      <a:r>
                        <a:rPr sz="800">
                          <a:solidFill>
                            <a:srgbClr val="F0F4F8"/>
                          </a:solidFill>
                        </a:rPr>
                        <a:t>Nonex</a:t>
                      </a:r>
                    </a:p>
                  </a:txBody>
                  <a:tcPr>
                    <a:solidFill>
                      <a:srgbClr val="3A3F4B"/>
                    </a:solidFill>
                  </a:tcPr>
                </a:tc>
                <a:tc>
                  <a:txBody>
                    <a:bodyPr/>
                    <a:lstStyle/>
                    <a:p>
                      <a:pPr algn="r"/>
                      <a:r>
                        <a:rPr sz="800">
                          <a:solidFill>
                            <a:srgbClr val="F0F4F8"/>
                          </a:solidFill>
                        </a:rPr>
                        <a:t>Nonex</a:t>
                      </a:r>
                    </a:p>
                  </a:txBody>
                  <a:tcPr>
                    <a:solidFill>
                      <a:srgbClr val="3A3F4B"/>
                    </a:solidFill>
                  </a:tcPr>
                </a:tc>
                <a:tc>
                  <a:txBody>
                    <a:bodyPr/>
                    <a:lstStyle/>
                    <a:p>
                      <a:pPr algn="r"/>
                      <a:r>
                        <a:rPr sz="800">
                          <a:solidFill>
                            <a:srgbClr val="F0F4F8"/>
                          </a:solidFill>
                        </a:rPr>
                        <a:t>None%</a:t>
                      </a:r>
                    </a:p>
                  </a:txBody>
                  <a:tcPr>
                    <a:solidFill>
                      <a:srgbClr val="3A3F4B"/>
                    </a:solidFill>
                  </a:tcPr>
                </a:tc>
                <a:tc>
                  <a:txBody>
                    <a:bodyPr/>
                    <a:lstStyle/>
                    <a:p>
                      <a:pPr algn="r"/>
                      <a:r>
                        <a:rPr sz="800">
                          <a:solidFill>
                            <a:srgbClr val="F0F4F8"/>
                          </a:solidFill>
                        </a:rPr>
                        <a:t>None%</a:t>
                      </a:r>
                    </a:p>
                  </a:txBody>
                  <a:tcPr>
                    <a:solidFill>
                      <a:srgbClr val="3A3F4B"/>
                    </a:solidFill>
                  </a:tcPr>
                </a:tc>
                <a:tc>
                  <a:txBody>
                    <a:bodyPr/>
                    <a:lstStyle/>
                    <a:p>
                      <a:pPr algn="r"/>
                      <a:r>
                        <a:rPr sz="800">
                          <a:solidFill>
                            <a:srgbClr val="F0F4F8"/>
                          </a:solidFill>
                        </a:rPr>
                        <a:t>ESTIMATE — veri</a:t>
                      </a:r>
                    </a:p>
                  </a:txBody>
                  <a:tcPr>
                    <a:solidFill>
                      <a:srgbClr val="3A3F4B"/>
                    </a:solidFill>
                  </a:tcPr>
                </a:tc>
              </a:tr>
              <a:tr h="326571">
                <a:tc>
                  <a:txBody>
                    <a:bodyPr/>
                    <a:lstStyle/>
                    <a:p>
                      <a:pPr algn="l"/>
                      <a:r>
                        <a:rPr sz="800">
                          <a:solidFill>
                            <a:srgbClr val="F0F4F8"/>
                          </a:solidFill>
                        </a:rPr>
                        <a:t>IRM — Iron Mountain I</a:t>
                      </a:r>
                    </a:p>
                  </a:txBody>
                  <a:tcPr>
                    <a:solidFill>
                      <a:srgbClr val="0D1B2A"/>
                    </a:solidFill>
                  </a:tcPr>
                </a:tc>
                <a:tc>
                  <a:txBody>
                    <a:bodyPr/>
                    <a:lstStyle/>
                    <a:p>
                      <a:pPr algn="r"/>
                      <a:r>
                        <a:rPr sz="800">
                          <a:solidFill>
                            <a:srgbClr val="F0F4F8"/>
                          </a:solidFill>
                        </a:rPr>
                        <a:t>Nonex</a:t>
                      </a:r>
                    </a:p>
                  </a:txBody>
                  <a:tcPr>
                    <a:solidFill>
                      <a:srgbClr val="0D1B2A"/>
                    </a:solidFill>
                  </a:tcPr>
                </a:tc>
                <a:tc>
                  <a:txBody>
                    <a:bodyPr/>
                    <a:lstStyle/>
                    <a:p>
                      <a:pPr algn="r"/>
                      <a:r>
                        <a:rPr sz="800">
                          <a:solidFill>
                            <a:srgbClr val="F0F4F8"/>
                          </a:solidFill>
                        </a:rPr>
                        <a:t>Nonex</a:t>
                      </a:r>
                    </a:p>
                  </a:txBody>
                  <a:tcPr>
                    <a:solidFill>
                      <a:srgbClr val="0D1B2A"/>
                    </a:solidFill>
                  </a:tcPr>
                </a:tc>
                <a:tc>
                  <a:txBody>
                    <a:bodyPr/>
                    <a:lstStyle/>
                    <a:p>
                      <a:pPr algn="r"/>
                      <a:r>
                        <a:rPr sz="800">
                          <a:solidFill>
                            <a:srgbClr val="F0F4F8"/>
                          </a:solidFill>
                        </a:rPr>
                        <a:t>Nonex</a:t>
                      </a:r>
                    </a:p>
                  </a:txBody>
                  <a:tcPr>
                    <a:solidFill>
                      <a:srgbClr val="0D1B2A"/>
                    </a:solidFill>
                  </a:tcPr>
                </a:tc>
                <a:tc>
                  <a:txBody>
                    <a:bodyPr/>
                    <a:lstStyle/>
                    <a:p>
                      <a:pPr algn="r"/>
                      <a:r>
                        <a:rPr sz="800">
                          <a:solidFill>
                            <a:srgbClr val="F0F4F8"/>
                          </a:solidFill>
                        </a:rPr>
                        <a:t>None%</a:t>
                      </a:r>
                    </a:p>
                  </a:txBody>
                  <a:tcPr>
                    <a:solidFill>
                      <a:srgbClr val="0D1B2A"/>
                    </a:solidFill>
                  </a:tcPr>
                </a:tc>
                <a:tc>
                  <a:txBody>
                    <a:bodyPr/>
                    <a:lstStyle/>
                    <a:p>
                      <a:pPr algn="r"/>
                      <a:r>
                        <a:rPr sz="800">
                          <a:solidFill>
                            <a:srgbClr val="F0F4F8"/>
                          </a:solidFill>
                        </a:rPr>
                        <a:t>None%</a:t>
                      </a:r>
                    </a:p>
                  </a:txBody>
                  <a:tcPr>
                    <a:solidFill>
                      <a:srgbClr val="0D1B2A"/>
                    </a:solidFill>
                  </a:tcPr>
                </a:tc>
                <a:tc>
                  <a:txBody>
                    <a:bodyPr/>
                    <a:lstStyle/>
                    <a:p>
                      <a:pPr algn="r"/>
                      <a:r>
                        <a:rPr sz="800">
                          <a:solidFill>
                            <a:srgbClr val="F0F4F8"/>
                          </a:solidFill>
                        </a:rPr>
                        <a:t>ESTIMATE — veri</a:t>
                      </a:r>
                    </a:p>
                  </a:txBody>
                  <a:tcPr>
                    <a:solidFill>
                      <a:srgbClr val="0D1B2A"/>
                    </a:solidFill>
                  </a:tcPr>
                </a:tc>
              </a:tr>
              <a:tr h="326574">
                <a:tc>
                  <a:txBody>
                    <a:bodyPr/>
                    <a:lstStyle/>
                    <a:p>
                      <a:pPr algn="l"/>
                      <a:r>
                        <a:rPr sz="800">
                          <a:solidFill>
                            <a:srgbClr val="F0F4F8"/>
                          </a:solidFill>
                        </a:rPr>
                        <a:t>▶ MSFT (Subject)</a:t>
                      </a:r>
                    </a:p>
                  </a:txBody>
                  <a:tcPr>
                    <a:solidFill>
                      <a:srgbClr val="3A3F4B"/>
                    </a:solidFill>
                  </a:tcPr>
                </a:tc>
                <a:tc>
                  <a:txBody>
                    <a:bodyPr/>
                    <a:lstStyle/>
                    <a:p>
                      <a:pPr algn="r"/>
                      <a:r>
                        <a:rPr sz="800">
                          <a:solidFill>
                            <a:srgbClr val="F0F4F8"/>
                          </a:solidFill>
                        </a:rPr>
                        <a:t>Nonex</a:t>
                      </a:r>
                    </a:p>
                  </a:txBody>
                  <a:tcPr>
                    <a:solidFill>
                      <a:srgbClr val="3A3F4B"/>
                    </a:solidFill>
                  </a:tcPr>
                </a:tc>
                <a:tc>
                  <a:txBody>
                    <a:bodyPr/>
                    <a:lstStyle/>
                    <a:p>
                      <a:pPr algn="r"/>
                      <a:r>
                        <a:rPr sz="800">
                          <a:solidFill>
                            <a:srgbClr val="F0F4F8"/>
                          </a:solidFill>
                        </a:rPr>
                        <a:t>Nonex</a:t>
                      </a:r>
                    </a:p>
                  </a:txBody>
                  <a:tcPr>
                    <a:solidFill>
                      <a:srgbClr val="3A3F4B"/>
                    </a:solidFill>
                  </a:tcPr>
                </a:tc>
                <a:tc>
                  <a:txBody>
                    <a:bodyPr/>
                    <a:lstStyle/>
                    <a:p>
                      <a:pPr algn="r"/>
                      <a:r>
                        <a:rPr sz="800">
                          <a:solidFill>
                            <a:srgbClr val="F0F4F8"/>
                          </a:solidFill>
                        </a:rPr>
                        <a:t>Nonex</a:t>
                      </a:r>
                    </a:p>
                  </a:txBody>
                  <a:tcPr>
                    <a:solidFill>
                      <a:srgbClr val="3A3F4B"/>
                    </a:solidFill>
                  </a:tcPr>
                </a:tc>
                <a:tc>
                  <a:txBody>
                    <a:bodyPr/>
                    <a:lstStyle/>
                    <a:p>
                      <a:pPr algn="r"/>
                      <a:r>
                        <a:rPr sz="800">
                          <a:solidFill>
                            <a:srgbClr val="F0F4F8"/>
                          </a:solidFill>
                        </a:rPr>
                        <a:t>—</a:t>
                      </a:r>
                    </a:p>
                  </a:txBody>
                  <a:tcPr>
                    <a:solidFill>
                      <a:srgbClr val="3A3F4B"/>
                    </a:solidFill>
                  </a:tcPr>
                </a:tc>
                <a:tc>
                  <a:txBody>
                    <a:bodyPr/>
                    <a:lstStyle/>
                    <a:p>
                      <a:pPr algn="r"/>
                      <a:r>
                        <a:rPr sz="800">
                          <a:solidFill>
                            <a:srgbClr val="F0F4F8"/>
                          </a:solidFill>
                        </a:rPr>
                        <a:t>—</a:t>
                      </a:r>
                    </a:p>
                  </a:txBody>
                  <a:tcPr>
                    <a:solidFill>
                      <a:srgbClr val="3A3F4B"/>
                    </a:solidFill>
                  </a:tcPr>
                </a:tc>
                <a:tc>
                  <a:txBody>
                    <a:bodyPr/>
                    <a:lstStyle/>
                    <a:p>
                      <a:pPr algn="r"/>
                      <a:r>
                        <a:rPr sz="800">
                          <a:solidFill>
                            <a:srgbClr val="F0F4F8"/>
                          </a:solidFill>
                        </a:rPr>
                        <a:t>LSEG</a:t>
                      </a:r>
                    </a:p>
                  </a:txBody>
                  <a:tcPr>
                    <a:solidFill>
                      <a:srgbClr val="3A3F4B"/>
                    </a:solidFill>
                  </a:tcPr>
                </a:tc>
              </a:tr>
            </a:tbl>
          </a:graphicData>
        </a:graphic>
      </p:graphicFrame>
      <p:sp>
        <p:nvSpPr>
          <p:cNvPr id="8" name="TextBox 7"/>
          <p:cNvSpPr txBox="1"/>
          <p:nvPr/>
        </p:nvSpPr>
        <p:spPr>
          <a:xfrm>
            <a:off x="274320" y="4023360"/>
            <a:ext cx="5486400" cy="274320"/>
          </a:xfrm>
          <a:prstGeom prst="rect">
            <a:avLst/>
          </a:prstGeom>
          <a:noFill/>
        </p:spPr>
        <p:txBody>
          <a:bodyPr wrap="square">
            <a:spAutoFit/>
          </a:bodyPr>
          <a:lstStyle/>
          <a:p>
            <a:pPr algn="l"/>
            <a:r>
              <a:rPr sz="1000" b="1" i="0">
                <a:solidFill>
                  <a:srgbClr val="4A9FD4"/>
                </a:solidFill>
              </a:rPr>
              <a:t>IMPLIED VALUATION FROM COMPS</a:t>
            </a:r>
          </a:p>
        </p:txBody>
      </p:sp>
      <p:sp>
        <p:nvSpPr>
          <p:cNvPr id="9" name="TextBox 8"/>
          <p:cNvSpPr txBox="1"/>
          <p:nvPr/>
        </p:nvSpPr>
        <p:spPr>
          <a:xfrm>
            <a:off x="274320" y="5486400"/>
            <a:ext cx="11640312" cy="731520"/>
          </a:xfrm>
          <a:prstGeom prst="rect">
            <a:avLst/>
          </a:prstGeom>
          <a:noFill/>
        </p:spPr>
        <p:txBody>
          <a:bodyPr wrap="square">
            <a:spAutoFit/>
          </a:bodyPr>
          <a:lstStyle/>
          <a:p>
            <a:pPr algn="l"/>
            <a:r>
              <a:rPr sz="800" b="0" i="1">
                <a:solidFill>
                  <a:srgbClr val="6B7280"/>
                </a:solidFill>
              </a:rPr>
              <a:t>INCOMPLETE — relative valuation cannot be rendered. No CapIQ or LSEG data was supplied for either the subject company or peers, and the current share price is absent. The qualitative framework is intact: SBAC is a pure-play wireless tower operator with a wide moat (site scarcity, zoning barriers, 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45720"/>
          </a:xfrm>
          <a:prstGeom prst="rect">
            <a:avLst/>
          </a:prstGeom>
          <a:solidFill>
            <a:srgbClr val="4A9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09728"/>
            <a:ext cx="8229600" cy="502920"/>
          </a:xfrm>
          <a:prstGeom prst="rect">
            <a:avLst/>
          </a:prstGeom>
          <a:noFill/>
        </p:spPr>
        <p:txBody>
          <a:bodyPr wrap="square">
            <a:spAutoFit/>
          </a:bodyPr>
          <a:lstStyle/>
          <a:p>
            <a:pPr algn="l"/>
            <a:r>
              <a:rPr sz="2000" b="1" i="0">
                <a:solidFill>
                  <a:srgbClr val="FFFFFF"/>
                </a:solidFill>
              </a:rPr>
              <a:t>RISK ANALYSIS</a:t>
            </a:r>
          </a:p>
        </p:txBody>
      </p:sp>
      <p:sp>
        <p:nvSpPr>
          <p:cNvPr id="5" name="TextBox 4"/>
          <p:cNvSpPr txBox="1"/>
          <p:nvPr/>
        </p:nvSpPr>
        <p:spPr>
          <a:xfrm>
            <a:off x="274320" y="566928"/>
            <a:ext cx="8229600" cy="320040"/>
          </a:xfrm>
          <a:prstGeom prst="rect">
            <a:avLst/>
          </a:prstGeom>
          <a:noFill/>
        </p:spPr>
        <p:txBody>
          <a:bodyPr wrap="square">
            <a:spAutoFit/>
          </a:bodyPr>
          <a:lstStyle/>
          <a:p>
            <a:pPr algn="l"/>
            <a:r>
              <a:rPr sz="1100" b="0" i="0">
                <a:solidFill>
                  <a:srgbClr val="B0C4D8"/>
                </a:solidFill>
              </a:rPr>
              <a:t>Probability-weighted risks by category</a:t>
            </a:r>
          </a:p>
        </p:txBody>
      </p:sp>
      <p:sp>
        <p:nvSpPr>
          <p:cNvPr id="6" name="TextBox 5"/>
          <p:cNvSpPr txBox="1"/>
          <p:nvPr/>
        </p:nvSpPr>
        <p:spPr>
          <a:xfrm>
            <a:off x="274320" y="5943600"/>
            <a:ext cx="3657600" cy="228600"/>
          </a:xfrm>
          <a:prstGeom prst="rect">
            <a:avLst/>
          </a:prstGeom>
          <a:noFill/>
        </p:spPr>
        <p:txBody>
          <a:bodyPr wrap="square">
            <a:spAutoFit/>
          </a:bodyPr>
          <a:lstStyle/>
          <a:p>
            <a:pPr algn="l"/>
            <a:r>
              <a:rPr sz="800" b="1" i="0">
                <a:solidFill>
                  <a:srgbClr val="4A9FD4"/>
                </a:solidFill>
              </a:rPr>
              <a:t>WHAT WOULD MAKE US WRONG</a:t>
            </a:r>
          </a:p>
        </p:txBody>
      </p:sp>
      <p:sp>
        <p:nvSpPr>
          <p:cNvPr id="7" name="TextBox 6"/>
          <p:cNvSpPr txBox="1"/>
          <p:nvPr/>
        </p:nvSpPr>
        <p:spPr>
          <a:xfrm>
            <a:off x="274320" y="6190488"/>
            <a:ext cx="11640312" cy="274320"/>
          </a:xfrm>
          <a:prstGeom prst="rect">
            <a:avLst/>
          </a:prstGeom>
          <a:noFill/>
        </p:spPr>
        <p:txBody>
          <a:bodyPr wrap="square">
            <a:spAutoFit/>
          </a:bodyPr>
          <a:lstStyle/>
          <a:p>
            <a:pPr algn="l"/>
            <a:r>
              <a:rPr sz="750" b="0" i="0">
                <a:solidFill>
                  <a:srgbClr val="6B7280"/>
                </a:solidFill>
              </a:rPr>
              <a:t>{'condition': 'US domestic organic tower revenue growth acce  |  {'condition': 'SBAC reduces net debt/EBITDA below 6.0x throu  |  {'condition': 'At least two of the three major US wireless 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45720"/>
          </a:xfrm>
          <a:prstGeom prst="rect">
            <a:avLst/>
          </a:prstGeom>
          <a:solidFill>
            <a:srgbClr val="4A9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09728"/>
            <a:ext cx="8229600" cy="502920"/>
          </a:xfrm>
          <a:prstGeom prst="rect">
            <a:avLst/>
          </a:prstGeom>
          <a:noFill/>
        </p:spPr>
        <p:txBody>
          <a:bodyPr wrap="square">
            <a:spAutoFit/>
          </a:bodyPr>
          <a:lstStyle/>
          <a:p>
            <a:pPr algn="l"/>
            <a:r>
              <a:rPr sz="2000" b="1" i="0">
                <a:solidFill>
                  <a:srgbClr val="FFFFFF"/>
                </a:solidFill>
              </a:rPr>
              <a:t>APPENDIX — KEY METRICS</a:t>
            </a:r>
          </a:p>
        </p:txBody>
      </p:sp>
      <p:sp>
        <p:nvSpPr>
          <p:cNvPr id="5" name="TextBox 4"/>
          <p:cNvSpPr txBox="1"/>
          <p:nvPr/>
        </p:nvSpPr>
        <p:spPr>
          <a:xfrm>
            <a:off x="274320" y="566928"/>
            <a:ext cx="8229600" cy="320040"/>
          </a:xfrm>
          <a:prstGeom prst="rect">
            <a:avLst/>
          </a:prstGeom>
          <a:noFill/>
        </p:spPr>
        <p:txBody>
          <a:bodyPr wrap="square">
            <a:spAutoFit/>
          </a:bodyPr>
          <a:lstStyle/>
          <a:p>
            <a:pPr algn="l"/>
            <a:r>
              <a:rPr sz="1100" b="0" i="0">
                <a:solidFill>
                  <a:srgbClr val="B0C4D8"/>
                </a:solidFill>
              </a:rPr>
              <a:t>Market data and company profile</a:t>
            </a:r>
          </a:p>
        </p:txBody>
      </p:sp>
      <p:graphicFrame>
        <p:nvGraphicFramePr>
          <p:cNvPr id="6" name="Table 5"/>
          <p:cNvGraphicFramePr>
            <a:graphicFrameLocks noGrp="1"/>
          </p:cNvGraphicFramePr>
          <p:nvPr/>
        </p:nvGraphicFramePr>
        <p:xfrm>
          <a:off x="274320" y="1143000"/>
          <a:ext cx="11640312" cy="5029200"/>
        </p:xfrm>
        <a:graphic>
          <a:graphicData uri="http://schemas.openxmlformats.org/drawingml/2006/table">
            <a:tbl>
              <a:tblPr firstRow="1" bandRow="1">
                <a:tableStyleId>{5C22544A-7EE6-4342-B048-85BDC9FD1C3A}</a:tableStyleId>
              </a:tblPr>
              <a:tblGrid>
                <a:gridCol w="2910078"/>
                <a:gridCol w="2910078"/>
                <a:gridCol w="2910078"/>
                <a:gridCol w="2910078"/>
              </a:tblGrid>
              <a:tr h="419100">
                <a:tc>
                  <a:txBody>
                    <a:bodyPr/>
                    <a:lstStyle/>
                    <a:p>
                      <a:pPr algn="ctr"/>
                      <a:r>
                        <a:rPr sz="900" b="1">
                          <a:solidFill>
                            <a:srgbClr val="FFFFFF"/>
                          </a:solidFill>
                        </a:rPr>
                        <a:t>Metric</a:t>
                      </a:r>
                    </a:p>
                  </a:txBody>
                  <a:tcPr>
                    <a:solidFill>
                      <a:srgbClr val="1A2F4A"/>
                    </a:solidFill>
                  </a:tcPr>
                </a:tc>
                <a:tc>
                  <a:txBody>
                    <a:bodyPr/>
                    <a:lstStyle/>
                    <a:p>
                      <a:pPr algn="ctr"/>
                      <a:r>
                        <a:rPr sz="900" b="1">
                          <a:solidFill>
                            <a:srgbClr val="FFFFFF"/>
                          </a:solidFill>
                        </a:rPr>
                        <a:t>Value</a:t>
                      </a:r>
                    </a:p>
                  </a:txBody>
                  <a:tcPr>
                    <a:solidFill>
                      <a:srgbClr val="1A2F4A"/>
                    </a:solidFill>
                  </a:tcPr>
                </a:tc>
                <a:tc>
                  <a:txBody>
                    <a:bodyPr/>
                    <a:lstStyle/>
                    <a:p>
                      <a:pPr algn="ctr"/>
                      <a:r>
                        <a:rPr sz="900" b="1">
                          <a:solidFill>
                            <a:srgbClr val="FFFFFF"/>
                          </a:solidFill>
                        </a:rPr>
                        <a:t>Metric</a:t>
                      </a:r>
                    </a:p>
                  </a:txBody>
                  <a:tcPr>
                    <a:solidFill>
                      <a:srgbClr val="1A2F4A"/>
                    </a:solidFill>
                  </a:tcPr>
                </a:tc>
                <a:tc>
                  <a:txBody>
                    <a:bodyPr/>
                    <a:lstStyle/>
                    <a:p>
                      <a:pPr algn="ctr"/>
                      <a:r>
                        <a:rPr sz="900" b="1">
                          <a:solidFill>
                            <a:srgbClr val="FFFFFF"/>
                          </a:solidFill>
                        </a:rPr>
                        <a:t>Value</a:t>
                      </a:r>
                    </a:p>
                  </a:txBody>
                  <a:tcPr>
                    <a:solidFill>
                      <a:srgbClr val="1A2F4A"/>
                    </a:solidFill>
                  </a:tcPr>
                </a:tc>
              </a:tr>
              <a:tr h="419100">
                <a:tc>
                  <a:txBody>
                    <a:bodyPr/>
                    <a:lstStyle/>
                    <a:p>
                      <a:pPr algn="l"/>
                      <a:r>
                        <a:rPr sz="800">
                          <a:solidFill>
                            <a:srgbClr val="F0F4F8"/>
                          </a:solidFill>
                        </a:rPr>
                        <a:t>Sector</a:t>
                      </a:r>
                    </a:p>
                  </a:txBody>
                  <a:tcPr>
                    <a:solidFill>
                      <a:srgbClr val="0D1B2A"/>
                    </a:solidFill>
                  </a:tcPr>
                </a:tc>
                <a:tc>
                  <a:txBody>
                    <a:bodyPr/>
                    <a:lstStyle/>
                    <a:p>
                      <a:pPr algn="r"/>
                      <a:r>
                        <a:rPr sz="800">
                          <a:solidFill>
                            <a:srgbClr val="F0F4F8"/>
                          </a:solidFill>
                        </a:rPr>
                        <a:t>—</a:t>
                      </a:r>
                    </a:p>
                  </a:txBody>
                  <a:tcPr>
                    <a:solidFill>
                      <a:srgbClr val="0D1B2A"/>
                    </a:solidFill>
                  </a:tcPr>
                </a:tc>
                <a:tc>
                  <a:txBody>
                    <a:bodyPr/>
                    <a:lstStyle/>
                    <a:p>
                      <a:pPr algn="r"/>
                      <a:r>
                        <a:rPr sz="800">
                          <a:solidFill>
                            <a:srgbClr val="F0F4F8"/>
                          </a:solidFill>
                        </a:rPr>
                        <a:t>Industry</a:t>
                      </a:r>
                    </a:p>
                  </a:txBody>
                  <a:tcPr>
                    <a:solidFill>
                      <a:srgbClr val="0D1B2A"/>
                    </a:solidFill>
                  </a:tcPr>
                </a:tc>
                <a:tc>
                  <a:txBody>
                    <a:bodyPr/>
                    <a:lstStyle/>
                    <a:p>
                      <a:pPr algn="r"/>
                      <a:r>
                        <a:rPr sz="800">
                          <a:solidFill>
                            <a:srgbClr val="F0F4F8"/>
                          </a:solidFill>
                        </a:rPr>
                        <a:t>—</a:t>
                      </a:r>
                    </a:p>
                  </a:txBody>
                  <a:tcPr>
                    <a:solidFill>
                      <a:srgbClr val="0D1B2A"/>
                    </a:solidFill>
                  </a:tcPr>
                </a:tc>
              </a:tr>
              <a:tr h="419100">
                <a:tc>
                  <a:txBody>
                    <a:bodyPr/>
                    <a:lstStyle/>
                    <a:p>
                      <a:pPr algn="l"/>
                      <a:r>
                        <a:rPr sz="800">
                          <a:solidFill>
                            <a:srgbClr val="F0F4F8"/>
                          </a:solidFill>
                        </a:rPr>
                        <a:t>Market Cap</a:t>
                      </a:r>
                    </a:p>
                  </a:txBody>
                  <a:tcPr>
                    <a:solidFill>
                      <a:srgbClr val="3A3F4B"/>
                    </a:solidFill>
                  </a:tcPr>
                </a:tc>
                <a:tc>
                  <a:txBody>
                    <a:bodyPr/>
                    <a:lstStyle/>
                    <a:p>
                      <a:pPr algn="r"/>
                      <a:r>
                        <a:rPr sz="800">
                          <a:solidFill>
                            <a:srgbClr val="F0F4F8"/>
                          </a:solidFill>
                        </a:rPr>
                        <a:t>—</a:t>
                      </a:r>
                    </a:p>
                  </a:txBody>
                  <a:tcPr>
                    <a:solidFill>
                      <a:srgbClr val="3A3F4B"/>
                    </a:solidFill>
                  </a:tcPr>
                </a:tc>
                <a:tc>
                  <a:txBody>
                    <a:bodyPr/>
                    <a:lstStyle/>
                    <a:p>
                      <a:pPr algn="r"/>
                      <a:r>
                        <a:rPr sz="800">
                          <a:solidFill>
                            <a:srgbClr val="F0F4F8"/>
                          </a:solidFill>
                        </a:rPr>
                        <a:t>Enterprise Value</a:t>
                      </a:r>
                    </a:p>
                  </a:txBody>
                  <a:tcPr>
                    <a:solidFill>
                      <a:srgbClr val="3A3F4B"/>
                    </a:solidFill>
                  </a:tcPr>
                </a:tc>
                <a:tc>
                  <a:txBody>
                    <a:bodyPr/>
                    <a:lstStyle/>
                    <a:p>
                      <a:pPr algn="r"/>
                      <a:r>
                        <a:rPr sz="800">
                          <a:solidFill>
                            <a:srgbClr val="F0F4F8"/>
                          </a:solidFill>
                        </a:rPr>
                        <a:t>—</a:t>
                      </a:r>
                    </a:p>
                  </a:txBody>
                  <a:tcPr>
                    <a:solidFill>
                      <a:srgbClr val="3A3F4B"/>
                    </a:solidFill>
                  </a:tcPr>
                </a:tc>
              </a:tr>
              <a:tr h="419100">
                <a:tc>
                  <a:txBody>
                    <a:bodyPr/>
                    <a:lstStyle/>
                    <a:p>
                      <a:pPr algn="l"/>
                      <a:r>
                        <a:rPr sz="800">
                          <a:solidFill>
                            <a:srgbClr val="F0F4F8"/>
                          </a:solidFill>
                        </a:rPr>
                        <a:t>Trailing P/E</a:t>
                      </a:r>
                    </a:p>
                  </a:txBody>
                  <a:tcPr>
                    <a:solidFill>
                      <a:srgbClr val="0D1B2A"/>
                    </a:solidFill>
                  </a:tcPr>
                </a:tc>
                <a:tc>
                  <a:txBody>
                    <a:bodyPr/>
                    <a:lstStyle/>
                    <a:p>
                      <a:pPr algn="r"/>
                      <a:r>
                        <a:rPr sz="800">
                          <a:solidFill>
                            <a:srgbClr val="F0F4F8"/>
                          </a:solidFill>
                        </a:rPr>
                        <a:t>—x</a:t>
                      </a:r>
                    </a:p>
                  </a:txBody>
                  <a:tcPr>
                    <a:solidFill>
                      <a:srgbClr val="0D1B2A"/>
                    </a:solidFill>
                  </a:tcPr>
                </a:tc>
                <a:tc>
                  <a:txBody>
                    <a:bodyPr/>
                    <a:lstStyle/>
                    <a:p>
                      <a:pPr algn="r"/>
                      <a:r>
                        <a:rPr sz="800">
                          <a:solidFill>
                            <a:srgbClr val="F0F4F8"/>
                          </a:solidFill>
                        </a:rPr>
                        <a:t>Forward P/E</a:t>
                      </a:r>
                    </a:p>
                  </a:txBody>
                  <a:tcPr>
                    <a:solidFill>
                      <a:srgbClr val="0D1B2A"/>
                    </a:solidFill>
                  </a:tcPr>
                </a:tc>
                <a:tc>
                  <a:txBody>
                    <a:bodyPr/>
                    <a:lstStyle/>
                    <a:p>
                      <a:pPr algn="r"/>
                      <a:r>
                        <a:rPr sz="800">
                          <a:solidFill>
                            <a:srgbClr val="F0F4F8"/>
                          </a:solidFill>
                        </a:rPr>
                        <a:t>—x</a:t>
                      </a:r>
                    </a:p>
                  </a:txBody>
                  <a:tcPr>
                    <a:solidFill>
                      <a:srgbClr val="0D1B2A"/>
                    </a:solidFill>
                  </a:tcPr>
                </a:tc>
              </a:tr>
              <a:tr h="419100">
                <a:tc>
                  <a:txBody>
                    <a:bodyPr/>
                    <a:lstStyle/>
                    <a:p>
                      <a:pPr algn="l"/>
                      <a:r>
                        <a:rPr sz="800">
                          <a:solidFill>
                            <a:srgbClr val="F0F4F8"/>
                          </a:solidFill>
                        </a:rPr>
                        <a:t>EV/EBITDA</a:t>
                      </a:r>
                    </a:p>
                  </a:txBody>
                  <a:tcPr>
                    <a:solidFill>
                      <a:srgbClr val="3A3F4B"/>
                    </a:solidFill>
                  </a:tcPr>
                </a:tc>
                <a:tc>
                  <a:txBody>
                    <a:bodyPr/>
                    <a:lstStyle/>
                    <a:p>
                      <a:pPr algn="r"/>
                      <a:r>
                        <a:rPr sz="800">
                          <a:solidFill>
                            <a:srgbClr val="F0F4F8"/>
                          </a:solidFill>
                        </a:rPr>
                        <a:t>—x</a:t>
                      </a:r>
                    </a:p>
                  </a:txBody>
                  <a:tcPr>
                    <a:solidFill>
                      <a:srgbClr val="3A3F4B"/>
                    </a:solidFill>
                  </a:tcPr>
                </a:tc>
                <a:tc>
                  <a:txBody>
                    <a:bodyPr/>
                    <a:lstStyle/>
                    <a:p>
                      <a:pPr algn="r"/>
                      <a:r>
                        <a:rPr sz="800">
                          <a:solidFill>
                            <a:srgbClr val="F0F4F8"/>
                          </a:solidFill>
                        </a:rPr>
                        <a:t>EV/Revenue</a:t>
                      </a:r>
                    </a:p>
                  </a:txBody>
                  <a:tcPr>
                    <a:solidFill>
                      <a:srgbClr val="3A3F4B"/>
                    </a:solidFill>
                  </a:tcPr>
                </a:tc>
                <a:tc>
                  <a:txBody>
                    <a:bodyPr/>
                    <a:lstStyle/>
                    <a:p>
                      <a:pPr algn="r"/>
                      <a:r>
                        <a:rPr sz="800">
                          <a:solidFill>
                            <a:srgbClr val="F0F4F8"/>
                          </a:solidFill>
                        </a:rPr>
                        <a:t>—x</a:t>
                      </a:r>
                    </a:p>
                  </a:txBody>
                  <a:tcPr>
                    <a:solidFill>
                      <a:srgbClr val="3A3F4B"/>
                    </a:solidFill>
                  </a:tcPr>
                </a:tc>
              </a:tr>
              <a:tr h="419100">
                <a:tc>
                  <a:txBody>
                    <a:bodyPr/>
                    <a:lstStyle/>
                    <a:p>
                      <a:pPr algn="l"/>
                      <a:r>
                        <a:rPr sz="800">
                          <a:solidFill>
                            <a:srgbClr val="F0F4F8"/>
                          </a:solidFill>
                        </a:rPr>
                        <a:t>P/B</a:t>
                      </a:r>
                    </a:p>
                  </a:txBody>
                  <a:tcPr>
                    <a:solidFill>
                      <a:srgbClr val="0D1B2A"/>
                    </a:solidFill>
                  </a:tcPr>
                </a:tc>
                <a:tc>
                  <a:txBody>
                    <a:bodyPr/>
                    <a:lstStyle/>
                    <a:p>
                      <a:pPr algn="r"/>
                      <a:r>
                        <a:rPr sz="800">
                          <a:solidFill>
                            <a:srgbClr val="F0F4F8"/>
                          </a:solidFill>
                        </a:rPr>
                        <a:t>—x</a:t>
                      </a:r>
                    </a:p>
                  </a:txBody>
                  <a:tcPr>
                    <a:solidFill>
                      <a:srgbClr val="0D1B2A"/>
                    </a:solidFill>
                  </a:tcPr>
                </a:tc>
                <a:tc>
                  <a:txBody>
                    <a:bodyPr/>
                    <a:lstStyle/>
                    <a:p>
                      <a:pPr algn="r"/>
                      <a:r>
                        <a:rPr sz="800">
                          <a:solidFill>
                            <a:srgbClr val="F0F4F8"/>
                          </a:solidFill>
                        </a:rPr>
                        <a:t>Gross Margin</a:t>
                      </a:r>
                    </a:p>
                  </a:txBody>
                  <a:tcPr>
                    <a:solidFill>
                      <a:srgbClr val="0D1B2A"/>
                    </a:solidFill>
                  </a:tcPr>
                </a:tc>
                <a:tc>
                  <a:txBody>
                    <a:bodyPr/>
                    <a:lstStyle/>
                    <a:p>
                      <a:pPr algn="r"/>
                      <a:r>
                        <a:rPr sz="800">
                          <a:solidFill>
                            <a:srgbClr val="F0F4F8"/>
                          </a:solidFill>
                        </a:rPr>
                        <a:t>—</a:t>
                      </a:r>
                    </a:p>
                  </a:txBody>
                  <a:tcPr>
                    <a:solidFill>
                      <a:srgbClr val="0D1B2A"/>
                    </a:solidFill>
                  </a:tcPr>
                </a:tc>
              </a:tr>
              <a:tr h="419100">
                <a:tc>
                  <a:txBody>
                    <a:bodyPr/>
                    <a:lstStyle/>
                    <a:p>
                      <a:pPr algn="l"/>
                      <a:r>
                        <a:rPr sz="800">
                          <a:solidFill>
                            <a:srgbClr val="F0F4F8"/>
                          </a:solidFill>
                        </a:rPr>
                        <a:t>Operating Margin</a:t>
                      </a:r>
                    </a:p>
                  </a:txBody>
                  <a:tcPr>
                    <a:solidFill>
                      <a:srgbClr val="3A3F4B"/>
                    </a:solidFill>
                  </a:tcPr>
                </a:tc>
                <a:tc>
                  <a:txBody>
                    <a:bodyPr/>
                    <a:lstStyle/>
                    <a:p>
                      <a:pPr algn="r"/>
                      <a:r>
                        <a:rPr sz="800">
                          <a:solidFill>
                            <a:srgbClr val="F0F4F8"/>
                          </a:solidFill>
                        </a:rPr>
                        <a:t>—</a:t>
                      </a:r>
                    </a:p>
                  </a:txBody>
                  <a:tcPr>
                    <a:solidFill>
                      <a:srgbClr val="3A3F4B"/>
                    </a:solidFill>
                  </a:tcPr>
                </a:tc>
                <a:tc>
                  <a:txBody>
                    <a:bodyPr/>
                    <a:lstStyle/>
                    <a:p>
                      <a:pPr algn="r"/>
                      <a:r>
                        <a:rPr sz="800">
                          <a:solidFill>
                            <a:srgbClr val="F0F4F8"/>
                          </a:solidFill>
                        </a:rPr>
                        <a:t>Profit Margin</a:t>
                      </a:r>
                    </a:p>
                  </a:txBody>
                  <a:tcPr>
                    <a:solidFill>
                      <a:srgbClr val="3A3F4B"/>
                    </a:solidFill>
                  </a:tcPr>
                </a:tc>
                <a:tc>
                  <a:txBody>
                    <a:bodyPr/>
                    <a:lstStyle/>
                    <a:p>
                      <a:pPr algn="r"/>
                      <a:r>
                        <a:rPr sz="800">
                          <a:solidFill>
                            <a:srgbClr val="F0F4F8"/>
                          </a:solidFill>
                        </a:rPr>
                        <a:t>—</a:t>
                      </a:r>
                    </a:p>
                  </a:txBody>
                  <a:tcPr>
                    <a:solidFill>
                      <a:srgbClr val="3A3F4B"/>
                    </a:solidFill>
                  </a:tcPr>
                </a:tc>
              </a:tr>
              <a:tr h="419100">
                <a:tc>
                  <a:txBody>
                    <a:bodyPr/>
                    <a:lstStyle/>
                    <a:p>
                      <a:pPr algn="l"/>
                      <a:r>
                        <a:rPr sz="800">
                          <a:solidFill>
                            <a:srgbClr val="F0F4F8"/>
                          </a:solidFill>
                        </a:rPr>
                        <a:t>ROE</a:t>
                      </a:r>
                    </a:p>
                  </a:txBody>
                  <a:tcPr>
                    <a:solidFill>
                      <a:srgbClr val="0D1B2A"/>
                    </a:solidFill>
                  </a:tcPr>
                </a:tc>
                <a:tc>
                  <a:txBody>
                    <a:bodyPr/>
                    <a:lstStyle/>
                    <a:p>
                      <a:pPr algn="r"/>
                      <a:r>
                        <a:rPr sz="800">
                          <a:solidFill>
                            <a:srgbClr val="F0F4F8"/>
                          </a:solidFill>
                        </a:rPr>
                        <a:t>—</a:t>
                      </a:r>
                    </a:p>
                  </a:txBody>
                  <a:tcPr>
                    <a:solidFill>
                      <a:srgbClr val="0D1B2A"/>
                    </a:solidFill>
                  </a:tcPr>
                </a:tc>
                <a:tc>
                  <a:txBody>
                    <a:bodyPr/>
                    <a:lstStyle/>
                    <a:p>
                      <a:pPr algn="r"/>
                      <a:r>
                        <a:rPr sz="800">
                          <a:solidFill>
                            <a:srgbClr val="F0F4F8"/>
                          </a:solidFill>
                        </a:rPr>
                        <a:t>ROA</a:t>
                      </a:r>
                    </a:p>
                  </a:txBody>
                  <a:tcPr>
                    <a:solidFill>
                      <a:srgbClr val="0D1B2A"/>
                    </a:solidFill>
                  </a:tcPr>
                </a:tc>
                <a:tc>
                  <a:txBody>
                    <a:bodyPr/>
                    <a:lstStyle/>
                    <a:p>
                      <a:pPr algn="r"/>
                      <a:r>
                        <a:rPr sz="800">
                          <a:solidFill>
                            <a:srgbClr val="F0F4F8"/>
                          </a:solidFill>
                        </a:rPr>
                        <a:t>—</a:t>
                      </a:r>
                    </a:p>
                  </a:txBody>
                  <a:tcPr>
                    <a:solidFill>
                      <a:srgbClr val="0D1B2A"/>
                    </a:solidFill>
                  </a:tcPr>
                </a:tc>
              </a:tr>
              <a:tr h="419100">
                <a:tc>
                  <a:txBody>
                    <a:bodyPr/>
                    <a:lstStyle/>
                    <a:p>
                      <a:pPr algn="l"/>
                      <a:r>
                        <a:rPr sz="800">
                          <a:solidFill>
                            <a:srgbClr val="F0F4F8"/>
                          </a:solidFill>
                        </a:rPr>
                        <a:t>Free Cash Flow</a:t>
                      </a:r>
                    </a:p>
                  </a:txBody>
                  <a:tcPr>
                    <a:solidFill>
                      <a:srgbClr val="3A3F4B"/>
                    </a:solidFill>
                  </a:tcPr>
                </a:tc>
                <a:tc>
                  <a:txBody>
                    <a:bodyPr/>
                    <a:lstStyle/>
                    <a:p>
                      <a:pPr algn="r"/>
                      <a:r>
                        <a:rPr sz="800">
                          <a:solidFill>
                            <a:srgbClr val="F0F4F8"/>
                          </a:solidFill>
                        </a:rPr>
                        <a:t>—</a:t>
                      </a:r>
                    </a:p>
                  </a:txBody>
                  <a:tcPr>
                    <a:solidFill>
                      <a:srgbClr val="3A3F4B"/>
                    </a:solidFill>
                  </a:tcPr>
                </a:tc>
                <a:tc>
                  <a:txBody>
                    <a:bodyPr/>
                    <a:lstStyle/>
                    <a:p>
                      <a:pPr algn="r"/>
                      <a:r>
                        <a:rPr sz="800">
                          <a:solidFill>
                            <a:srgbClr val="F0F4F8"/>
                          </a:solidFill>
                        </a:rPr>
                        <a:t>Total Debt</a:t>
                      </a:r>
                    </a:p>
                  </a:txBody>
                  <a:tcPr>
                    <a:solidFill>
                      <a:srgbClr val="3A3F4B"/>
                    </a:solidFill>
                  </a:tcPr>
                </a:tc>
                <a:tc>
                  <a:txBody>
                    <a:bodyPr/>
                    <a:lstStyle/>
                    <a:p>
                      <a:pPr algn="r"/>
                      <a:r>
                        <a:rPr sz="800">
                          <a:solidFill>
                            <a:srgbClr val="F0F4F8"/>
                          </a:solidFill>
                        </a:rPr>
                        <a:t>—</a:t>
                      </a:r>
                    </a:p>
                  </a:txBody>
                  <a:tcPr>
                    <a:solidFill>
                      <a:srgbClr val="3A3F4B"/>
                    </a:solidFill>
                  </a:tcPr>
                </a:tc>
              </a:tr>
              <a:tr h="419100">
                <a:tc>
                  <a:txBody>
                    <a:bodyPr/>
                    <a:lstStyle/>
                    <a:p>
                      <a:pPr algn="l"/>
                      <a:r>
                        <a:rPr sz="800">
                          <a:solidFill>
                            <a:srgbClr val="F0F4F8"/>
                          </a:solidFill>
                        </a:rPr>
                        <a:t>Cash</a:t>
                      </a:r>
                    </a:p>
                  </a:txBody>
                  <a:tcPr>
                    <a:solidFill>
                      <a:srgbClr val="0D1B2A"/>
                    </a:solidFill>
                  </a:tcPr>
                </a:tc>
                <a:tc>
                  <a:txBody>
                    <a:bodyPr/>
                    <a:lstStyle/>
                    <a:p>
                      <a:pPr algn="r"/>
                      <a:r>
                        <a:rPr sz="800">
                          <a:solidFill>
                            <a:srgbClr val="F0F4F8"/>
                          </a:solidFill>
                        </a:rPr>
                        <a:t>—</a:t>
                      </a:r>
                    </a:p>
                  </a:txBody>
                  <a:tcPr>
                    <a:solidFill>
                      <a:srgbClr val="0D1B2A"/>
                    </a:solidFill>
                  </a:tcPr>
                </a:tc>
                <a:tc>
                  <a:txBody>
                    <a:bodyPr/>
                    <a:lstStyle/>
                    <a:p>
                      <a:pPr algn="r"/>
                      <a:r>
                        <a:rPr sz="800">
                          <a:solidFill>
                            <a:srgbClr val="F0F4F8"/>
                          </a:solidFill>
                        </a:rPr>
                        <a:t>Beta</a:t>
                      </a:r>
                    </a:p>
                  </a:txBody>
                  <a:tcPr>
                    <a:solidFill>
                      <a:srgbClr val="0D1B2A"/>
                    </a:solidFill>
                  </a:tcPr>
                </a:tc>
                <a:tc>
                  <a:txBody>
                    <a:bodyPr/>
                    <a:lstStyle/>
                    <a:p>
                      <a:pPr algn="r"/>
                      <a:r>
                        <a:rPr sz="800">
                          <a:solidFill>
                            <a:srgbClr val="F0F4F8"/>
                          </a:solidFill>
                        </a:rPr>
                        <a:t>—</a:t>
                      </a:r>
                    </a:p>
                  </a:txBody>
                  <a:tcPr>
                    <a:solidFill>
                      <a:srgbClr val="0D1B2A"/>
                    </a:solidFill>
                  </a:tcPr>
                </a:tc>
              </a:tr>
              <a:tr h="419100">
                <a:tc>
                  <a:txBody>
                    <a:bodyPr/>
                    <a:lstStyle/>
                    <a:p>
                      <a:pPr algn="l"/>
                      <a:r>
                        <a:rPr sz="800">
                          <a:solidFill>
                            <a:srgbClr val="F0F4F8"/>
                          </a:solidFill>
                        </a:rPr>
                        <a:t>52W High</a:t>
                      </a:r>
                    </a:p>
                  </a:txBody>
                  <a:tcPr>
                    <a:solidFill>
                      <a:srgbClr val="3A3F4B"/>
                    </a:solidFill>
                  </a:tcPr>
                </a:tc>
                <a:tc>
                  <a:txBody>
                    <a:bodyPr/>
                    <a:lstStyle/>
                    <a:p>
                      <a:pPr algn="r"/>
                      <a:r>
                        <a:rPr sz="800">
                          <a:solidFill>
                            <a:srgbClr val="F0F4F8"/>
                          </a:solidFill>
                        </a:rPr>
                        <a:t>$—</a:t>
                      </a:r>
                    </a:p>
                  </a:txBody>
                  <a:tcPr>
                    <a:solidFill>
                      <a:srgbClr val="3A3F4B"/>
                    </a:solidFill>
                  </a:tcPr>
                </a:tc>
                <a:tc>
                  <a:txBody>
                    <a:bodyPr/>
                    <a:lstStyle/>
                    <a:p>
                      <a:pPr algn="r"/>
                      <a:r>
                        <a:rPr sz="800">
                          <a:solidFill>
                            <a:srgbClr val="F0F4F8"/>
                          </a:solidFill>
                        </a:rPr>
                        <a:t>52W Low</a:t>
                      </a:r>
                    </a:p>
                  </a:txBody>
                  <a:tcPr>
                    <a:solidFill>
                      <a:srgbClr val="3A3F4B"/>
                    </a:solidFill>
                  </a:tcPr>
                </a:tc>
                <a:tc>
                  <a:txBody>
                    <a:bodyPr/>
                    <a:lstStyle/>
                    <a:p>
                      <a:pPr algn="r"/>
                      <a:r>
                        <a:rPr sz="800">
                          <a:solidFill>
                            <a:srgbClr val="F0F4F8"/>
                          </a:solidFill>
                        </a:rPr>
                        <a:t>$—</a:t>
                      </a:r>
                    </a:p>
                  </a:txBody>
                  <a:tcPr>
                    <a:solidFill>
                      <a:srgbClr val="3A3F4B"/>
                    </a:solidFill>
                  </a:tcPr>
                </a:tc>
              </a:tr>
              <a:tr h="419100">
                <a:tc>
                  <a:txBody>
                    <a:bodyPr/>
                    <a:lstStyle/>
                    <a:p>
                      <a:pPr algn="l"/>
                      <a:r>
                        <a:rPr sz="800">
                          <a:solidFill>
                            <a:srgbClr val="F0F4F8"/>
                          </a:solidFill>
                        </a:rPr>
                        <a:t>Analyst Target</a:t>
                      </a:r>
                    </a:p>
                  </a:txBody>
                  <a:tcPr>
                    <a:solidFill>
                      <a:srgbClr val="0D1B2A"/>
                    </a:solidFill>
                  </a:tcPr>
                </a:tc>
                <a:tc>
                  <a:txBody>
                    <a:bodyPr/>
                    <a:lstStyle/>
                    <a:p>
                      <a:pPr algn="r"/>
                      <a:r>
                        <a:rPr sz="800">
                          <a:solidFill>
                            <a:srgbClr val="F0F4F8"/>
                          </a:solidFill>
                        </a:rPr>
                        <a:t>$—</a:t>
                      </a:r>
                    </a:p>
                  </a:txBody>
                  <a:tcPr>
                    <a:solidFill>
                      <a:srgbClr val="0D1B2A"/>
                    </a:solidFill>
                  </a:tcPr>
                </a:tc>
                <a:tc>
                  <a:txBody>
                    <a:bodyPr/>
                    <a:lstStyle/>
                    <a:p>
                      <a:pPr algn="r"/>
                      <a:r>
                        <a:rPr sz="800">
                          <a:solidFill>
                            <a:srgbClr val="F0F4F8"/>
                          </a:solidFill>
                        </a:rPr>
                        <a:t># Analysts</a:t>
                      </a:r>
                    </a:p>
                  </a:txBody>
                  <a:tcPr>
                    <a:solidFill>
                      <a:srgbClr val="0D1B2A"/>
                    </a:solidFill>
                  </a:tcPr>
                </a:tc>
                <a:tc>
                  <a:txBody>
                    <a:bodyPr/>
                    <a:lstStyle/>
                    <a:p>
                      <a:pPr algn="r"/>
                      <a:r>
                        <a:rPr sz="800">
                          <a:solidFill>
                            <a:srgbClr val="F0F4F8"/>
                          </a:solidFill>
                        </a:rPr>
                        <a:t>—</a:t>
                      </a:r>
                    </a:p>
                  </a:txBody>
                  <a:tcPr>
                    <a:solidFill>
                      <a:srgbClr val="0D1B2A"/>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