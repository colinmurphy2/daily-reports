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/>
              <a:t>Revenue History ($M)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C2C39"/>
            </a:solidFill>
          </c:spPr>
          <c:cat>
            <c:strRef>
              <c:f>Sheet1!$A$2:$A$4</c:f>
              <c:strCache>
                <c:ptCount val="3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7123.482</c:v>
                </c:pt>
                <c:pt idx="1">
                  <c:v>14989.251</c:v>
                </c:pt>
                <c:pt idx="2">
                  <c:v>28057.105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0"/>
            <a:ext cx="1237183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61288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64592" cy="1161288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286000"/>
            <a:ext cx="164592" cy="1161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429000"/>
            <a:ext cx="164592" cy="1161288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572000"/>
            <a:ext cx="164592" cy="1161288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715000"/>
            <a:ext cx="164592" cy="1161288"/>
          </a:xfrm>
          <a:prstGeom prst="rect">
            <a:avLst/>
          </a:prstGeom>
          <a:solidFill>
            <a:srgbClr val="D8D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37943"/>
            <a:ext cx="4315968" cy="2505456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11680"/>
            <a:ext cx="4096512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aramond"/>
              </a:rPr>
              <a:t>Super Micro Computer, Inc.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017520"/>
            <a:ext cx="4096512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aramond"/>
              </a:rPr>
              <a:t>NASDAQ: SMCI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529584"/>
            <a:ext cx="4096512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Garamond"/>
              </a:rPr>
              <a:t>Real Estate  —  April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986784"/>
            <a:ext cx="228600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 i="0">
                <a:solidFill>
                  <a:srgbClr val="FFC03B"/>
                </a:solidFill>
                <a:latin typeface="Garamond"/>
              </a:rPr>
              <a:t>Hold: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365760"/>
            <a:ext cx="5971032" cy="6199632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502920"/>
            <a:ext cx="53035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Garamond"/>
              </a:rPr>
              <a:t>KEY METRICS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749808"/>
            <a:ext cx="5303520" cy="228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859536"/>
            <a:ext cx="53035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aramond"/>
              </a:rPr>
              <a:t>NYSE: SMCI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170432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Current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170432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$23.22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517904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52-Wk 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1517904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N/A – 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1865376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Market Cap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865376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N/A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212848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Dividend Yield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212848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N/A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2560320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Beta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560320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1.75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907791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Price Target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2907791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$24.00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3255263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Expected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255263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+6.8%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3602735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Conviction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3602735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3/5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3950207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Time Horizon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3950207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12 months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4343399"/>
            <a:ext cx="5303520" cy="2286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4462271"/>
            <a:ext cx="53035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  <a:latin typeface="Garamond"/>
              </a:rPr>
              <a:t>THESIS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4681727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CCCCC"/>
                </a:solidFill>
                <a:latin typeface="Garamond"/>
              </a:rPr>
              <a:t>Street consensus's $34.53 mean PT implicitly prices SMCI at ~11x NTM EBITDA — a 20% premium to DELL's 9.06x — which is arithmetically indefensible while FY2025 gross margin sits at 8.66% (509bps below FY2024's 13.75%) and governance credibility re…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5806440"/>
            <a:ext cx="53035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1" i="0">
                <a:solidFill>
                  <a:srgbClr val="C00000"/>
                </a:solidFill>
                <a:latin typeface="Garamond"/>
              </a:rPr>
              <a:t>Verify: 4.0/10 FAIL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8686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000000"/>
                </a:solidFill>
                <a:latin typeface="Garamond"/>
              </a:rPr>
              <a:t>CONFIDENTIAL — FOR INSTITUTIONAL INVESTOR USE ONLY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6492240"/>
            <a:ext cx="2743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 i="0">
                <a:solidFill>
                  <a:srgbClr val="595959"/>
                </a:solidFill>
                <a:latin typeface="Garamond"/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Company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SEC Filings, CapIQ, LSEG, Investor 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53035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Business Description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9264"/>
            <a:ext cx="5303520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24128"/>
            <a:ext cx="5212080" cy="1737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Super Micro Computer (SMCI) designs, manufactures, and sells high-performance server and storage solutions, rack-scale systems, and data center infrastructure hardware. The company operates on a fiscal year ending June 30. XBRL metadata confirms single-segment reporting and material Taiwan operations (TWD-denominated transactions present).
Revenue Drivers:
  • Server and storage hardware systems — % of revenue N/A (no FY2024/FY2025 revenue figure…
  • Subsystems and accessories — % of revenue N/A
Model: Product Sale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16352"/>
            <a:ext cx="53035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Key Financials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54096"/>
            <a:ext cx="5303520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127248"/>
            <a:ext cx="265176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3163824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Current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3163824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$23.22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3127248"/>
            <a:ext cx="265176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2424" y="3163824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52-Wk 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8" y="3163824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N/A – N/A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529584"/>
            <a:ext cx="2651760" cy="38404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3566160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Market Cap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2848" y="3566160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N/A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3529584"/>
            <a:ext cx="2651760" cy="38404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92424" y="3566160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Revenue (LTM)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8" y="3566160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$28.1B (FY2025)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931920"/>
            <a:ext cx="265176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3968496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EBIT Margin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2848" y="3968496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4.5%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7560" y="3931920"/>
            <a:ext cx="265176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92424" y="3968496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Gross Margin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0328" y="3968496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8.7%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334256"/>
            <a:ext cx="2651760" cy="38404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4370832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Net Debt/EBITDA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12848" y="4370832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1.1x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4334256"/>
            <a:ext cx="2651760" cy="38404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92424" y="4370832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FCF Conversion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10328" y="4370832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N/A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736592"/>
            <a:ext cx="265176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" y="4773168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ROIC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12848" y="4773168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N/A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37560" y="4736592"/>
            <a:ext cx="265176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92424" y="4773168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Rev CAGR 3Y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10328" y="4773168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N/A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5138928"/>
            <a:ext cx="2651760" cy="38404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4944" y="5175504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Dividend Yield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12848" y="5175504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N/A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37560" y="5138928"/>
            <a:ext cx="2651760" cy="38404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92424" y="5175504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Beta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10328" y="5175504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1.75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731520"/>
            <a:ext cx="555955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Key Financials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969264"/>
            <a:ext cx="5559552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6263640" y="1024128"/>
          <a:ext cx="5559551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542031"/>
              </a:tblGrid>
              <a:tr h="2621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Garamond"/>
                        </a:rPr>
                        <a:t>Metric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Garamond"/>
                        </a:rPr>
                        <a:t>Value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Current 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$23.22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52-Wk Range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 – 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Market Cap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Dividend Yield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Beta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1.75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" name="TextBox 48"/>
          <p:cNvSpPr txBox="1"/>
          <p:nvPr/>
        </p:nvSpPr>
        <p:spPr>
          <a:xfrm>
            <a:off x="6263640" y="2724912"/>
            <a:ext cx="555955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00ACB6"/>
                </a:solidFill>
                <a:latin typeface="Garamond"/>
              </a:rPr>
              <a:t>vs. Peers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2962656"/>
            <a:ext cx="5559552" cy="228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6263640" y="2999232"/>
          <a:ext cx="555955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591055"/>
                <a:gridCol w="1591055"/>
              </a:tblGrid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Garamond"/>
                        </a:rPr>
                        <a:t>Metric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Garamond"/>
                        </a:rPr>
                        <a:t>SMCI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Garamond"/>
                        </a:rPr>
                        <a:t>Peer Median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EV/EBITDA NTM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1.1x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P/E NTM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Rev 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EBITDA Margin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447.0%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Net Debt/EBITDA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-22.5x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" name="Chart 51"/>
          <p:cNvGraphicFramePr>
            <a:graphicFrameLocks noGrp="1"/>
          </p:cNvGraphicFramePr>
          <p:nvPr/>
        </p:nvGraphicFramePr>
        <p:xfrm>
          <a:off x="6263640" y="4626864"/>
          <a:ext cx="5559552" cy="1783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3" name="Rectangle 52"/>
          <p:cNvSpPr/>
          <p:nvPr/>
        </p:nvSpPr>
        <p:spPr>
          <a:xfrm>
            <a:off x="640080" y="6492240"/>
            <a:ext cx="11183112" cy="1828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Annotated Price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515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Garamond"/>
              </a:rPr>
              <a:t>SMCI vs. Benchmark — Key Events &amp; Catalysts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59536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LSEG Refinitiv, Bloomberg, Analyst Research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749039"/>
            <a:ext cx="10698480" cy="64008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3685031"/>
            <a:ext cx="128016" cy="192024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27632" y="3538728"/>
            <a:ext cx="18288" cy="210311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1810512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423160"/>
            <a:ext cx="1810512" cy="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59736"/>
            <a:ext cx="365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 i="0">
                <a:solidFill>
                  <a:srgbClr val="1C2C39"/>
                </a:solidFill>
                <a:latin typeface="Garamon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478024"/>
            <a:ext cx="1371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1C2C3A"/>
                </a:solidFill>
                <a:latin typeface="Garamond"/>
              </a:rPr>
              <a:t>— April–May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770632"/>
            <a:ext cx="1700784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Hyperscaler Q1 2026 earnings — AI CapEx guidance for 2026 full year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3685031"/>
            <a:ext cx="128016" cy="192024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83863" y="3913631"/>
            <a:ext cx="1810512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83863" y="3913631"/>
            <a:ext cx="1810512" cy="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83863" y="3950207"/>
            <a:ext cx="365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 i="0">
                <a:solidFill>
                  <a:srgbClr val="1C2C39"/>
                </a:solidFill>
                <a:latin typeface="Garamon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67911" y="3968495"/>
            <a:ext cx="1371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1C2C3A"/>
                </a:solidFill>
                <a:latin typeface="Garamond"/>
              </a:rPr>
              <a:t>— 2026-05-05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8727" y="4261103"/>
            <a:ext cx="1700784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SMCI Q3 FY2026 earnings — gross margin and revenue trajectory first FY2026 real read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91271" y="3685031"/>
            <a:ext cx="128016" cy="192024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46136" y="3538728"/>
            <a:ext cx="18288" cy="210311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50023" y="2423160"/>
            <a:ext cx="1810512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50023" y="2423160"/>
            <a:ext cx="1810512" cy="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50023" y="2459736"/>
            <a:ext cx="365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 i="0">
                <a:solidFill>
                  <a:srgbClr val="1C2C39"/>
                </a:solidFill>
                <a:latin typeface="Garamon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4071" y="2478024"/>
            <a:ext cx="1371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1C2C3A"/>
                </a:solidFill>
                <a:latin typeface="Garamond"/>
              </a:rPr>
              <a:t>— September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4887" y="2770632"/>
            <a:ext cx="1700784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FY2025 10-K filing deadline — on-time clean opinion vs. delay/qualification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43615" y="3685031"/>
            <a:ext cx="128016" cy="192024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02367" y="3913631"/>
            <a:ext cx="1810512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02367" y="3913631"/>
            <a:ext cx="1810512" cy="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02367" y="3950207"/>
            <a:ext cx="365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 i="0">
                <a:solidFill>
                  <a:srgbClr val="1C2C39"/>
                </a:solidFill>
                <a:latin typeface="Garamond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6415" y="3968495"/>
            <a:ext cx="1371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1C2C3A"/>
                </a:solidFill>
                <a:latin typeface="Garamond"/>
              </a:rPr>
              <a:t>— H2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57232" y="4261103"/>
            <a:ext cx="1700784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SEC investigation resolution (timing uncertain)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376672"/>
            <a:ext cx="11183112" cy="3657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440680"/>
            <a:ext cx="1371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aramond"/>
              </a:rPr>
              <a:t>Takeaway: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5440680"/>
            <a:ext cx="950976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Garamond"/>
              </a:rPr>
              <a:t>Street consensus's $34.53 mean PT implicitly prices SMCI at ~11x NTM EBITDA — a 20% premium to DELL's 9.06x — which is arithmetically indefensible while FY2025 gross margin sits at 8.66% (509bps below FY2024's 13.75%) and governance credibility requires 2-3…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852160"/>
            <a:ext cx="137160" cy="1371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833872"/>
            <a:ext cx="22860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30" b="0" i="0">
                <a:solidFill>
                  <a:srgbClr val="595959"/>
                </a:solidFill>
                <a:latin typeface="Garamond"/>
              </a:rPr>
              <a:t>SMCI events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5852160"/>
            <a:ext cx="137160" cy="1371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3280" y="5833872"/>
            <a:ext cx="22860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30" b="0" i="0">
                <a:solidFill>
                  <a:srgbClr val="595959"/>
                </a:solidFill>
                <a:latin typeface="Garamond"/>
              </a:rPr>
              <a:t>Analyst actions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Industry Dynamics &amp; Competitive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SEC Filings, CapIQ, Bloomberg, Industry Reports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49808"/>
            <a:ext cx="278892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749808"/>
            <a:ext cx="2788920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804671"/>
            <a:ext cx="2788920" cy="5532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600" b="1" i="0">
                <a:solidFill>
                  <a:srgbClr val="1C2C3A"/>
                </a:solidFill>
                <a:latin typeface="Garamond"/>
              </a:rPr>
              <a:t>N/A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39596"/>
            <a:ext cx="2788920" cy="3822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Garamond"/>
              </a:rPr>
              <a:t>Total Addressable Market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7872" y="749808"/>
            <a:ext cx="278892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47872" y="749808"/>
            <a:ext cx="2788920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804671"/>
            <a:ext cx="2788920" cy="5532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600" b="1" i="0">
                <a:solidFill>
                  <a:srgbClr val="1C2C3A"/>
                </a:solidFill>
                <a:latin typeface="Garamond"/>
              </a:rPr>
              <a:t>above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1339596"/>
            <a:ext cx="2788920" cy="3822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Garamond"/>
              </a:rPr>
              <a:t>Cycle Position
mixed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5664" y="749808"/>
            <a:ext cx="278892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55664" y="749808"/>
            <a:ext cx="2788920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804671"/>
            <a:ext cx="2788920" cy="5532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600" b="1" i="0">
                <a:solidFill>
                  <a:srgbClr val="1C2C3A"/>
                </a:solidFill>
                <a:latin typeface="Garamond"/>
              </a:rPr>
              <a:t>gaining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339596"/>
            <a:ext cx="2788920" cy="3822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Garamond"/>
              </a:rPr>
              <a:t>Market Share Trend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63455" y="749808"/>
            <a:ext cx="278892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63455" y="749808"/>
            <a:ext cx="2788920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63455" y="804671"/>
            <a:ext cx="2788920" cy="5532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600" b="1" i="0">
                <a:solidFill>
                  <a:srgbClr val="FFC03B"/>
                </a:solidFill>
                <a:latin typeface="Garamond"/>
              </a:rP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3455" y="1339596"/>
            <a:ext cx="2788920" cy="3822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Garamond"/>
              </a:rPr>
              <a:t>Disruption Risk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1819656"/>
            <a:ext cx="11183112" cy="27432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883664"/>
            <a:ext cx="54864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Structural Tailwinds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121408"/>
            <a:ext cx="5486400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2176272"/>
            <a:ext cx="5486400" cy="42062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2221991"/>
            <a:ext cx="5303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• Enterprise and hyperscale AI infrastructure buildout (training + inference) — structural demand driver. Quantification N/A from…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633472"/>
            <a:ext cx="5486400" cy="42062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2679191"/>
            <a:ext cx="5303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• Liquid cooling adoption for high-density GPU clusters (&gt;300W per GPU TDP driving thermal management requirements) — structural 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090672"/>
            <a:ext cx="5486400" cy="42062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3136391"/>
            <a:ext cx="5303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• Sovereign AI and national AI infrastructure investment by governments — structural, multi-year. Scale N/A.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1883664"/>
            <a:ext cx="619963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00ACB6"/>
                </a:solidFill>
                <a:latin typeface="Garamond"/>
              </a:rPr>
              <a:t>Structural Headwinds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121408"/>
            <a:ext cx="6199632" cy="228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2176272"/>
            <a:ext cx="6199632" cy="42062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2221991"/>
            <a:ext cx="5980176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• Hyperscaler custom silicon reducing third-party server TAM: Google TPU v5, Amazon Trainium2/Inferentia3, Microsoft Maia 100 — s…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2633472"/>
            <a:ext cx="6199632" cy="42062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2679191"/>
            <a:ext cx="5980176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• US export controls on advanced semiconductors to China and other restricted jurisdictions — limits SMCI's addressable market in…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090672"/>
            <a:ext cx="6199632" cy="42062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3368" y="3136391"/>
            <a:ext cx="5980176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• NVIDIA GPU supply constraints (allocation-based purchasing) potentially limiting SMCI revenue growth ceiling regardless of dema…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3547872"/>
            <a:ext cx="6199632" cy="42062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73368" y="3593591"/>
            <a:ext cx="5980176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• Component cost inflation and global supply chain disruptions — cyclical headwind. COGS and input cost data not available in pro…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507992"/>
            <a:ext cx="11183112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572000"/>
            <a:ext cx="91440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Porter's Five Forces   (1 = favorable for incumbents  ·  5 = unfavorable)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864608"/>
            <a:ext cx="2240280" cy="7315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892040"/>
            <a:ext cx="22402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595959"/>
                </a:solidFill>
                <a:latin typeface="Garamond"/>
              </a:rPr>
              <a:t>Rivalry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17319" y="5120640"/>
            <a:ext cx="658368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417319" y="5138928"/>
            <a:ext cx="6583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</a:rP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53512" y="4864608"/>
            <a:ext cx="2240280" cy="7315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53512" y="4892040"/>
            <a:ext cx="22402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595959"/>
                </a:solidFill>
                <a:latin typeface="Garamond"/>
              </a:rPr>
              <a:t>New Entrants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30752" y="5120640"/>
            <a:ext cx="658368" cy="274320"/>
          </a:xfrm>
          <a:prstGeom prst="rect">
            <a:avLst/>
          </a:prstGeom>
          <a:solidFill>
            <a:srgbClr val="00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30752" y="5138928"/>
            <a:ext cx="6583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</a:rPr>
              <a:t>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66944" y="4864608"/>
            <a:ext cx="2240280" cy="7315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66944" y="4892040"/>
            <a:ext cx="22402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595959"/>
                </a:solidFill>
                <a:latin typeface="Garamond"/>
              </a:rPr>
              <a:t>Buyer Power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4184" y="5120640"/>
            <a:ext cx="658368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44184" y="5138928"/>
            <a:ext cx="6583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</a:rPr>
              <a:t>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80376" y="4864608"/>
            <a:ext cx="2240280" cy="7315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80376" y="4892040"/>
            <a:ext cx="22402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595959"/>
                </a:solidFill>
                <a:latin typeface="Garamond"/>
              </a:rPr>
              <a:t>Supplier Power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57616" y="5120640"/>
            <a:ext cx="658368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57616" y="5138928"/>
            <a:ext cx="6583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</a:rPr>
              <a:t>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893808" y="4864608"/>
            <a:ext cx="2240280" cy="7315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93808" y="4892040"/>
            <a:ext cx="22402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595959"/>
                </a:solidFill>
                <a:latin typeface="Garamond"/>
              </a:rPr>
              <a:t>Substitutes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671048" y="5120640"/>
            <a:ext cx="658368" cy="274320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671048" y="5138928"/>
            <a:ext cx="6583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5669280"/>
            <a:ext cx="11183112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Garamond"/>
              </a:rPr>
              <a:t>The AI server infrastructure market offers structural demand growth driven by the global AI buildout, but the competitive economics for hardware OEMs are structurally challenged. Supplier concentration in NVIDIA, buye…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Market View vs. Our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CapIQ, Analyst Research, Bloomberg, SEC Filings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49808"/>
            <a:ext cx="11183112" cy="365760"/>
          </a:xfrm>
          <a:prstGeom prst="rect">
            <a:avLst/>
          </a:prstGeom>
          <a:solidFill>
            <a:srgbClr val="EA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972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1C2C3A"/>
                </a:solidFill>
                <a:latin typeface="Garamond"/>
              </a:rPr>
              <a:t>The market misprices this name by applying the wrong analogy — our thesis exploits that gap.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33856"/>
            <a:ext cx="55046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Market View / Street Concern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89888"/>
            <a:ext cx="5504688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133856"/>
            <a:ext cx="55046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00ACB6"/>
                </a:solidFill>
                <a:latin typeface="Garamond"/>
              </a:rPr>
              <a:t>Our 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82512" y="1389888"/>
            <a:ext cx="5504688" cy="228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481328"/>
            <a:ext cx="5504688" cy="2180844"/>
          </a:xfrm>
          <a:prstGeom prst="rect">
            <a:avLst/>
          </a:prstGeom>
          <a:solidFill>
            <a:srgbClr val="FA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481328"/>
            <a:ext cx="54864" cy="2180844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536192"/>
            <a:ext cx="5321807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Street consensus (15 analysts, no individual firm breakout in dataset):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792224"/>
            <a:ext cx="5303520" cy="18150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  <a:latin typeface="Garamond"/>
              </a:rPr>
              <a:t>Mean PT $34.53, implying SMCI should trade at ~11x NTM EBITDA — a 20% premium to DELL's 9.06x — justified by SMCI's superior AI server growth positioning and the expectation that governance issues are substantially resolved with the FY2024 10-K filing.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82512" y="1481328"/>
            <a:ext cx="5504688" cy="2180844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82512" y="1481328"/>
            <a:ext cx="54864" cy="2180844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36192"/>
            <a:ext cx="5321807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00ACB6"/>
                </a:solidFill>
                <a:latin typeface="Garamond"/>
              </a:rPr>
              <a:t>Our View: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792224"/>
            <a:ext cx="5303520" cy="18150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The implicit 11x NTM EBITDA multiple is inconsistent with the margin data: SMCI's 8.66% gross margin (FY2025) is 175bps below DELL's ~10.4% EBITDA margin — SMCI earns a gross margin below DELL's all-in EBITDA margin, which means SMCI deserves a discount, not a premium, on a margin-quality basis. 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35324"/>
            <a:ext cx="5504688" cy="2180844"/>
          </a:xfrm>
          <a:prstGeom prst="rect">
            <a:avLst/>
          </a:prstGeom>
          <a:solidFill>
            <a:srgbClr val="F5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735324"/>
            <a:ext cx="54864" cy="2180844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790187"/>
            <a:ext cx="5321807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High-PT bull analysts (high analyst PT = $58.00 per dataset):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046220"/>
            <a:ext cx="5303520" cy="18150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  <a:latin typeface="Garamond"/>
              </a:rPr>
              <a:t>A $58 price target implies re-rating to approximately 22x NTM EBITDA — roughly the AI-infrastructure growth premium at which SMCI traded during its 2024 peak — predicated on sustained hypergrowth and governance full-clearance.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82512" y="3735324"/>
            <a:ext cx="5504688" cy="2180844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82512" y="3735324"/>
            <a:ext cx="54864" cy="2180844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790187"/>
            <a:ext cx="5321807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00ACB6"/>
                </a:solidFill>
                <a:latin typeface="Garamond"/>
              </a:rPr>
              <a:t>Our View: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046220"/>
            <a:ext cx="5303520" cy="18150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The $58 PT requires either gross margin restoration to FY2023 levels (11.18%) or a 3x EV/EBITDA expansion from current 6.96x — both within 12 months. FY2024→FY2025 data shows a consistent, multi-year directional margin decline (11.18%→8.34%→3.91%) with no identified structural catalyst for revers…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035040"/>
            <a:ext cx="11183112" cy="45720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6071616"/>
            <a:ext cx="109728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aramond"/>
              </a:rPr>
              <a:t>Street consensus's $34.53 mean PT implicitly prices SMCI at ~11x NTM EBITDA — a 20% premium to DELL's 9.06x — which is arithmetically indefensible while FY2025 gross margin sits at 8.66% (509bps below FY2024's 13.75%) and gover…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CapIQ, LSEG, DCF Analysis, Comparable Company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49808"/>
            <a:ext cx="3566160" cy="31089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86384"/>
            <a:ext cx="35661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aramond"/>
              </a:rPr>
              <a:t>BEAR  (20%)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78992"/>
            <a:ext cx="3566160" cy="80467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15568"/>
            <a:ext cx="356616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 i="0">
                <a:solidFill>
                  <a:srgbClr val="C00000"/>
                </a:solidFill>
                <a:latin typeface="Garamond"/>
              </a:rPr>
              <a:t>$-50.15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72768"/>
            <a:ext cx="35661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Garamond"/>
              </a:rPr>
              <a:t>-316.0%  |  EV: $-29.0B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2544" y="749808"/>
            <a:ext cx="3566160" cy="31089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2544" y="786384"/>
            <a:ext cx="35661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aramond"/>
              </a:rPr>
              <a:t>BASE  (55%)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2544" y="1078992"/>
            <a:ext cx="3566160" cy="80467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2544" y="1115568"/>
            <a:ext cx="356616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 i="0">
                <a:solidFill>
                  <a:srgbClr val="1C2C39"/>
                </a:solidFill>
                <a:latin typeface="Garamond"/>
              </a:rPr>
              <a:t>$-45.28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2544" y="1572768"/>
            <a:ext cx="35661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Garamond"/>
              </a:rPr>
              <a:t>-295.0%  |  EV: $-26.0B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5008" y="749808"/>
            <a:ext cx="3566160" cy="310896"/>
          </a:xfrm>
          <a:prstGeom prst="rect">
            <a:avLst/>
          </a:prstGeom>
          <a:solidFill>
            <a:srgbClr val="00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786384"/>
            <a:ext cx="35661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aramond"/>
              </a:rPr>
              <a:t>BULL  (25%)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8" y="1078992"/>
            <a:ext cx="3566160" cy="80467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5008" y="1115568"/>
            <a:ext cx="356616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 i="0">
                <a:solidFill>
                  <a:srgbClr val="00AF50"/>
                </a:solidFill>
                <a:latin typeface="Garamond"/>
              </a:rPr>
              <a:t>$-19.69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1572768"/>
            <a:ext cx="35661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Garamond"/>
              </a:rPr>
              <a:t>-184.8%  |  EV: $-10.7B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810512"/>
            <a:ext cx="1118311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Garamond"/>
              </a:rPr>
              <a:t>WACC: 13.1%  ·  Rf: 4.2%  ·  β: 1.75  ·  Exit: 7.0x EV/EBITDA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048256"/>
            <a:ext cx="11183112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103120"/>
            <a:ext cx="68580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DCF Model — Year-by-Year  (Base Case)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340863"/>
            <a:ext cx="6858000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40080" y="2377440"/>
          <a:ext cx="685799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553"/>
                <a:gridCol w="1371600"/>
                <a:gridCol w="1160584"/>
                <a:gridCol w="1371600"/>
                <a:gridCol w="1160584"/>
                <a:gridCol w="1055076"/>
              </a:tblGrid>
              <a:tr h="31350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Year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Revenue ($M)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EBITDA Mgn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EBITDA ($M)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FCF ($M)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PV FCF ($M)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Yr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$41,524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$1,869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$-4,042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$-3,574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Yr 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$50,245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3.8%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$2,412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$-4,772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$-3,731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Yr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$57,781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$3,005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$-5,306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$-3,667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Yr 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$64,715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4.5%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$3,559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$-5,789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$-3,538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Yr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$69,892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$4,054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$-6,086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$-3,289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1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Garamond"/>
                        </a:rPr>
                        <a:t>TOTAL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00000"/>
                          </a:solidFill>
                          <a:latin typeface="Garamond"/>
                        </a:rPr>
                        <a:t/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Garamond"/>
                        </a:rPr>
                        <a:t/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00000"/>
                          </a:solidFill>
                          <a:latin typeface="Garamond"/>
                        </a:rPr>
                        <a:t/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00000"/>
                          </a:solidFill>
                          <a:latin typeface="Garamond"/>
                        </a:rPr>
                        <a:t>$-17,799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00000"/>
                          </a:solidFill>
                          <a:latin typeface="Garamond"/>
                        </a:rPr>
                        <a:t>PV TV: $-8,234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40080" y="4626864"/>
            <a:ext cx="68580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Garamond"/>
              </a:rPr>
              <a:t>EV: $-26.0B  →  Net Debt: ($1.2B)  →  Equity Value: $-27.2B  →  Shares: 600M  →  Implied Price: $-45.28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40080" y="4901184"/>
          <a:ext cx="6857997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076"/>
                <a:gridCol w="1582615"/>
                <a:gridCol w="1582615"/>
                <a:gridCol w="1582615"/>
                <a:gridCol w="1055076"/>
              </a:tblGrid>
              <a:tr h="26289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Scenario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EV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Implied Price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Upside/Down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TV % of EV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Bear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$-29.0B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$-50.15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-316.0%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$-26.0B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$-45.28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-295.0%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Bull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$-10.7B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$-19.69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-184.8%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680960" y="2103120"/>
            <a:ext cx="432511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Sensitivity: Implied Price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80960" y="2340863"/>
            <a:ext cx="4325112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121408"/>
            <a:ext cx="414223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Garamond"/>
              </a:rPr>
              <a:t>(WACC vs Exit Multiple)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680960" y="2377440"/>
          <a:ext cx="4325112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852"/>
                <a:gridCol w="720852"/>
                <a:gridCol w="720852"/>
                <a:gridCol w="720852"/>
                <a:gridCol w="720852"/>
                <a:gridCol w="720852"/>
              </a:tblGrid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Garamond"/>
                        </a:rPr>
                        <a:t>WACC \ 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Garamond"/>
                        </a:rPr>
                        <a:t>11.0xx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Garamond"/>
                        </a:rPr>
                        <a:t>3.0xx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Garamond"/>
                        </a:rPr>
                        <a:t>5.0xx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Garamond"/>
                        </a:rPr>
                        <a:t>7.0xx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Garamond"/>
                        </a:rPr>
                        <a:t>9.0xx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12.1%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$-42</a:t>
                      </a:r>
                    </a:p>
                  </a:txBody>
                  <a:tcP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$-57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$-53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$-50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$-46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12.6%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$-40</a:t>
                      </a:r>
                    </a:p>
                  </a:txBody>
                  <a:tcP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$-55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$-51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$-47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$-44</a:t>
                      </a:r>
                    </a:p>
                  </a:txBody>
                  <a:tcPr>
                    <a:solidFill>
                      <a:srgbClr val="CCFFCC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13.1%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Garamond"/>
                        </a:rPr>
                        <a:t>$-38</a:t>
                      </a:r>
                    </a:p>
                  </a:txBody>
                  <a:tcP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Garamond"/>
                        </a:rPr>
                        <a:t>$-53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Garamond"/>
                        </a:rPr>
                        <a:t>$-49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Garamond"/>
                        </a:rPr>
                        <a:t>$-45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Garamond"/>
                        </a:rPr>
                        <a:t>$-42</a:t>
                      </a:r>
                    </a:p>
                  </a:txBody>
                  <a:tcPr>
                    <a:solidFill>
                      <a:srgbClr val="CCFFCC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13.6%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$-36</a:t>
                      </a:r>
                    </a:p>
                  </a:txBody>
                  <a:tcP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$-51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$-47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$-43</a:t>
                      </a:r>
                    </a:p>
                  </a:txBody>
                  <a:tcP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$-40</a:t>
                      </a:r>
                    </a:p>
                  </a:txBody>
                  <a:tcPr>
                    <a:solidFill>
                      <a:srgbClr val="CCFFCC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14.1%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$-35</a:t>
                      </a:r>
                    </a:p>
                  </a:txBody>
                  <a:tcP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$-49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$-45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$-42</a:t>
                      </a:r>
                    </a:p>
                  </a:txBody>
                  <a:tcP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Garamond"/>
                        </a:rPr>
                        <a:t>$-38</a:t>
                      </a:r>
                    </a:p>
                  </a:txBody>
                  <a:tcPr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7726680" y="4663440"/>
            <a:ext cx="164592" cy="146304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18704" y="4663440"/>
            <a:ext cx="10972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595959"/>
                </a:solidFill>
                <a:latin typeface="Garamond"/>
              </a:rPr>
              <a:t>Low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9720" y="4663440"/>
            <a:ext cx="164592" cy="146304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81744" y="4663440"/>
            <a:ext cx="10972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595959"/>
                </a:solidFill>
                <a:latin typeface="Garamond"/>
              </a:rPr>
              <a:t>Mid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652760" y="4663440"/>
            <a:ext cx="164592" cy="146304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44784" y="4663440"/>
            <a:ext cx="10972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595959"/>
                </a:solidFill>
                <a:latin typeface="Garamond"/>
              </a:rPr>
              <a:t>High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873752"/>
            <a:ext cx="432511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00ACB6"/>
                </a:solidFill>
                <a:latin typeface="Garamond"/>
              </a:rPr>
              <a:t>Comparable Company Analysis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80960" y="5111496"/>
            <a:ext cx="4325112" cy="228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680960" y="5148072"/>
          <a:ext cx="4325109" cy="1481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4897"/>
                <a:gridCol w="1246801"/>
                <a:gridCol w="902856"/>
                <a:gridCol w="756679"/>
                <a:gridCol w="773876"/>
              </a:tblGrid>
              <a:tr h="246887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Garamond"/>
                        </a:rPr>
                        <a:t>Ticker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Garamond"/>
                        </a:rPr>
                        <a:t>Company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Garamond"/>
                        </a:rPr>
                        <a:t>EV/EBITDA NTM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Garamond"/>
                        </a:rPr>
                        <a:t>P/E NTM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Garamond"/>
                        </a:rPr>
                        <a:t>Implied PT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</a:tr>
              <a:tr h="246887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DELL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Dell Technologies Inc.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9.1x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7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HPE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Hewlett Packard Ent…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7.3x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46887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NTAP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NetApp Inc.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9.0x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7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PSTG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Pure Storage Inc.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46892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ANET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Arista Networks Inc.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Thesis I — Gross Margin Collapse Is Structural — Revenue Growth Is Not Creating Shareholder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SEC Filings, CapIQ, Bloomberg, Investor Presentations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49808"/>
            <a:ext cx="11183112" cy="292608"/>
          </a:xfrm>
          <a:prstGeom prst="rect">
            <a:avLst/>
          </a:prstGeom>
          <a:solidFill>
            <a:srgbClr val="EA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95528"/>
            <a:ext cx="10972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1">
                <a:solidFill>
                  <a:srgbClr val="1C2C3A"/>
                </a:solidFill>
                <a:latin typeface="Garamond"/>
              </a:rPr>
              <a:t>Street consensus's $34.53 mean PT implicitly prices SMCI at ~11x NTM EBITDA — a 20% premium to DELL's 9.06x — which is arithmetically indefensible while FY2025 gross margin sits at 8.66% (509bps below FY2024's 13.75%) and governance cred…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15568"/>
            <a:ext cx="11183112" cy="384048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70432"/>
            <a:ext cx="109728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aramond"/>
              </a:rPr>
              <a:t>Gross Margin Collapse Is Structural — Revenue Growth Is Not Creating Shareholder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66751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The Investment Case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92224"/>
            <a:ext cx="6675120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83664"/>
            <a:ext cx="6675120" cy="329184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83664"/>
            <a:ext cx="36576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1938528"/>
            <a:ext cx="123444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C00000"/>
                </a:solidFill>
                <a:latin typeface="Garamond"/>
              </a:rPr>
              <a:t>Street believes: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1938528"/>
            <a:ext cx="52578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1">
                <a:solidFill>
                  <a:srgbClr val="1C2C3A"/>
                </a:solidFill>
                <a:latin typeface="Garamond"/>
              </a:rPr>
              <a:t>The consensus mean PT of $34.53 implicitly requires ~11x NTM EBITDA, which in turn demands gross margin recovery to the 11-13% range by FY2027; consensus FY2027 EBITDA of $2,572…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2267712"/>
            <a:ext cx="6492240" cy="1417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SMCI's gross margin fell 509bps in a single year (FY2024: 13.75% → FY2025: 8.66%) while revenue nearly doubled from $14.99B to $28.06B — the opposite of what a competitively advantaged company does when demand doubles. The arithmetic is definitive: $368mm of incremental gross profit produced only $42mm of incremental operating income, an 11.5% drop-through rate, with 88.5% of every gross profit dollar consumed by OpEx growth. This is not a one-quarter anomaly but a structural consequence of SMCI's position as a GPU server assembler: on a $50…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76472"/>
            <a:ext cx="667512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3849624"/>
            <a:ext cx="6492240" cy="19293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• Gross margin: FY2024 13.75% → FY2025 8.66%, a -509bps collapse in one year on a revenue near-doubling — the opposite of operating leverage and the single most imp…
• 11.5% gross-to-operating income drop-through rate (FY24→FY25): $368mm incremental gross profit yielded only $42mm incremental operating income, meaning ~$326mm of…
• EBITDA margin: FY2023 11.18% ($796mm on $7.1B) → FY2024 8.34% ($1,250mm on $15.0B) → FY2025 3.91% ($1,097mm CapIQ, suspect) — a 727bps collapse over two years aga…
• Net margin: FY2023 8.99% → FY2024 7.69% → FY2025 3.11% ($873mm net / $28,057mm revenue) — consistent downward direction across all three margin metrics rules out …
• Consensus FY2026E EPS of $2.25 represents only +9.3% growth over FY2025's implied $2.06 despite 88.7% projected revenue growth — EPS growing at a 10:1 discount to…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54480"/>
            <a:ext cx="432511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Key Data Points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1792224"/>
            <a:ext cx="4325112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1883664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1883664"/>
            <a:ext cx="36576" cy="100584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19" y="1938528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Gross margin: FY2024 13.75% → FY2025 8.66%, a -509bps collapse in one year on a revenue near-doubling — the opposite of operating leverage and the single most important financial fact disqualifying…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2944368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79" y="2944368"/>
            <a:ext cx="36576" cy="100584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19" y="2999232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11.5% gross-to-operating income drop-through rate (FY24→FY25): $368mm incremental gross profit yielded only $42mm incremental operating income, meaning ~$326mm of OpEx was added to support revenue 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4005072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79" y="4005072"/>
            <a:ext cx="36576" cy="100584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19" y="4059936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EBITDA margin: FY2023 11.18% ($796mm on $7.1B) → FY2024 8.34% ($1,250mm on $15.0B) → FY2025 3.91% ($1,097mm CapIQ, suspect) — a 727bps collapse over two years against a 3.9x revenue increase, provi…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852160"/>
            <a:ext cx="11183112" cy="438912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925312"/>
            <a:ext cx="13716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aramond"/>
              </a:rPr>
              <a:t>Takeaway: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5925312"/>
            <a:ext cx="95097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Garamond"/>
              </a:rPr>
              <a:t>Q3 FY2026 earnings on 2026-05-05 will provide the first directional FY2026 gross margin read — if gross margin is still compressing below 8%, the base case collapses toward bear; if stabilizing at 9%+, the base case holds and a…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327648"/>
            <a:ext cx="1118311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 i="0">
                <a:solidFill>
                  <a:srgbClr val="999999"/>
                </a:solidFill>
                <a:latin typeface="Garamond"/>
              </a:rPr>
              <a:t>PT: $24.00  |  EV Return: +6.8%  |  Slide 1 of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Thesis II — The Governance Discount Is Real, Not Cured — Consensus Is Discounting It Too Fast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SEC Filings, CapIQ, Bloomberg, Investor Presentations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49808"/>
            <a:ext cx="11183112" cy="292608"/>
          </a:xfrm>
          <a:prstGeom prst="rect">
            <a:avLst/>
          </a:prstGeom>
          <a:solidFill>
            <a:srgbClr val="EA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95528"/>
            <a:ext cx="10972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1">
                <a:solidFill>
                  <a:srgbClr val="1C2C3A"/>
                </a:solidFill>
                <a:latin typeface="Garamond"/>
              </a:rPr>
              <a:t>Street consensus's $34.53 mean PT implicitly prices SMCI at ~11x NTM EBITDA — a 20% premium to DELL's 9.06x — which is arithmetically indefensible while FY2025 gross margin sits at 8.66% (509bps below FY2024's 13.75%) and governance cred…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15568"/>
            <a:ext cx="11183112" cy="384048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70432"/>
            <a:ext cx="109728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aramond"/>
              </a:rPr>
              <a:t>The Governance Discount Is Real, Not Cured — Consensus Is Discounting It Too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66751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00ACB6"/>
                </a:solidFill>
                <a:latin typeface="Garamond"/>
              </a:rPr>
              <a:t>The Investment Case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92224"/>
            <a:ext cx="6675120" cy="228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83664"/>
            <a:ext cx="6675120" cy="329184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83664"/>
            <a:ext cx="36576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1938528"/>
            <a:ext cx="123444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C00000"/>
                </a:solidFill>
                <a:latin typeface="Garamond"/>
              </a:rPr>
              <a:t>Street believes: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1938528"/>
            <a:ext cx="52578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1">
                <a:solidFill>
                  <a:srgbClr val="1C2C3A"/>
                </a:solidFill>
                <a:latin typeface="Garamond"/>
              </a:rPr>
              <a:t>The 9 HOLD analysts anchoring near $34-35 appear to treat the FY2024 10-K filing as the governance inflection point — implying the discount will compress within 12 months; but i…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2267712"/>
            <a:ext cx="6492240" cy="1417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SMCI filed its FY2024 10-K approximately 8 months after the June 2024 period end (filed 2025-02-25), a delay magnitude that historically signals material internal control weakness, active restatement work, or auditor disagreement — not administrative latency. While the eventual completion of the filing removed the most acute delisting risk, the governance discount has NOT been resolved. Institutional investors operating under compliance mandates — representing the marginal buyer needed to close the gap from $23 to $35 — require a track recor…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76472"/>
            <a:ext cx="667512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3849624"/>
            <a:ext cx="6492240" cy="19293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• FY2024 10-K filed 2025-02-25 for period ending 2024-06-30 — an ~8-month delay unprecedented in SMCI's filing history — signals auditor transition complexity (pred…
• 52-week drawdown of -62.8% (from $62.35 to $23.22) reflects a market that has already repriced a governance discount; the question is whether that discount is now…
• Rating distribution: 9 of 15 covering analysts at HOLD with PTs clustering near $34-35 — the unusual concentration of holds at nearly double the current price ref…
• Polarized distribution: 5 Buy/Strong Buy vs. 4 Sell/Strong Sell out of 15 — characteristic of governance-overhang stocks where the fundamental value is real but t…
• No recent rating changes in the dataset — in a governance-driven re-rating story, the absence of upgrades after the FY2024 10-K filing (which completed in Februar…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54480"/>
            <a:ext cx="432511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00ACB6"/>
                </a:solidFill>
                <a:latin typeface="Garamond"/>
              </a:rPr>
              <a:t>Key Data Points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1792224"/>
            <a:ext cx="4325112" cy="228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1883664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1883664"/>
            <a:ext cx="36576" cy="100584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19" y="1938528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FY2024 10-K filed 2025-02-25 for period ending 2024-06-30 — an ~8-month delay unprecedented in SMCI's filing history — signals auditor transition complexity (predecessor resignation) and/or materia…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2944368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79" y="2944368"/>
            <a:ext cx="36576" cy="100584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19" y="2999232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52-week drawdown of -62.8% (from $62.35 to $23.22) reflects a market that has already repriced a governance discount; the question is whether that discount is now accurate (~7x EBITDA) or excessive…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4005072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79" y="4005072"/>
            <a:ext cx="36576" cy="100584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19" y="4059936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Rating distribution: 9 of 15 covering analysts at HOLD with PTs clustering near $34-35 — the unusual concentration of holds at nearly double the current price reflects broad analyst uncertainty abo…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852160"/>
            <a:ext cx="11183112" cy="438912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925312"/>
            <a:ext cx="13716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aramond"/>
              </a:rPr>
              <a:t>Takeaway: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5925312"/>
            <a:ext cx="95097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Garamond"/>
              </a:rPr>
              <a:t>The FY2025 10-K filing deadline (~September 2026 for the June 2026 fiscal year) is the next critical governance checkpoint — a timely, clean filing would be the first step in a multi-year track record rehabilitation and would j…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327648"/>
            <a:ext cx="1118311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 i="0">
                <a:solidFill>
                  <a:srgbClr val="999999"/>
                </a:solidFill>
                <a:latin typeface="Garamond"/>
              </a:rPr>
              <a:t>PT: $24.00  |  EV Return: +6.8%  |  Slide 2 of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Thesis III — Revenue Hypergrowth Is Decelerating Into a Low-Margin Steady State — The Earnings Power Is Weaker Than It Looks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SEC Filings, CapIQ, Bloomberg, Investor Presentations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49808"/>
            <a:ext cx="11183112" cy="292608"/>
          </a:xfrm>
          <a:prstGeom prst="rect">
            <a:avLst/>
          </a:prstGeom>
          <a:solidFill>
            <a:srgbClr val="EA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95528"/>
            <a:ext cx="10972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1">
                <a:solidFill>
                  <a:srgbClr val="1C2C3A"/>
                </a:solidFill>
                <a:latin typeface="Garamond"/>
              </a:rPr>
              <a:t>Street consensus's $34.53 mean PT implicitly prices SMCI at ~11x NTM EBITDA — a 20% premium to DELL's 9.06x — which is arithmetically indefensible while FY2025 gross margin sits at 8.66% (509bps below FY2024's 13.75%) and governance cred…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15568"/>
            <a:ext cx="11183112" cy="384048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70432"/>
            <a:ext cx="109728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aramond"/>
              </a:rPr>
              <a:t>Revenue Hypergrowth Is Decelerating Into a Low-Margin Steady State — The Earnings Power Is Weaker Than It Looks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66751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C03B"/>
                </a:solidFill>
                <a:latin typeface="Garamond"/>
              </a:rPr>
              <a:t>The Investment Case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92224"/>
            <a:ext cx="6675120" cy="22860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83664"/>
            <a:ext cx="6675120" cy="329184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83664"/>
            <a:ext cx="36576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1938528"/>
            <a:ext cx="123444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C00000"/>
                </a:solidFill>
                <a:latin typeface="Garamond"/>
              </a:rPr>
              <a:t>Street believes: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1938528"/>
            <a:ext cx="52578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1">
                <a:solidFill>
                  <a:srgbClr val="1C2C3A"/>
                </a:solidFill>
                <a:latin typeface="Garamond"/>
              </a:rPr>
              <a:t>Street HOLD consensus at $34-35 implicitly assumes the ~11x NTM EBITDA multiple is warranted by SMCI's superior growth vs. DELL (9.06x), but at 8.66% gross margins vs. DELL's ~1…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2267712"/>
            <a:ext cx="6492240" cy="1417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SMCI grew revenue 110% in FY2024 and 87% in FY2025, but consensus correctly projects a sharp deceleration to +89% in FY2026 and +21% in FY2027. The critical issue is that this deceleration arrives precisely as gross margins have compressed to 8.66% — meaning SMCI enters the slow-growth phase as a low-margin assembler rather than as a high-margin platform that monetized its growth cycle. At +21% FY2027 revenue growth with ~5% EBITDA margins, consensus projects $2,572mm FY2027E EBITDA on $50.3B revenue. At our applied multiple of 7.5x EV/EBITD…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76472"/>
            <a:ext cx="667512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3849624"/>
            <a:ext cx="6492240" cy="19293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• Revenue trajectory: FY2023 $7.1B → FY2024 $15.0B (+110%) → FY2025 $28.1B (+87%) → Consensus FY2026E $41.5B (+89%) → Consensus FY2027E $50.3B (+21%) — the 2yr CAGR…
• FY2026E EPS of $2.25 represents +9.3% growth over FY2025's $2.06 actual on 89% revenue growth — the 10:1 revenue-to-earnings growth ratio is the direct fingerprin…
• Consensus FY2027E EBITDA of $2,572mm on $50.3B revenue implies 5.11% EBITDA margin — meaningful recovery from 3.91% but still 608bps below FY2023's 11.18%; consen…
• At 7.5x NTM EV/EBITDA on FY2026E EBITDA of $1,973mm: EV = $14,798mm → less $1,158mm net debt → $13,640mm equity / 600.5mm shares = $22.71; cross-check P/E: $2.25 …
• Custom silicon structural threat (Google TPU v5, Amazon Trainium2, Microsoft Maia 100) represents a contraction of the third-party AI server TAM from the hypersca…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54480"/>
            <a:ext cx="432511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C03B"/>
                </a:solidFill>
                <a:latin typeface="Garamond"/>
              </a:rPr>
              <a:t>Key Data Points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1792224"/>
            <a:ext cx="4325112" cy="22860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1883664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1883664"/>
            <a:ext cx="36576" cy="1005840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19" y="1938528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Revenue trajectory: FY2023 $7.1B → FY2024 $15.0B (+110%) → FY2025 $28.1B (+87%) → Consensus FY2026E $41.5B (+89%) → Consensus FY2027E $50.3B (+21%) — the 2yr CAGR of 98% decelerates to ~13% normali…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2944368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79" y="2944368"/>
            <a:ext cx="36576" cy="1005840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19" y="2999232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FY2026E EPS of $2.25 represents +9.3% growth over FY2025's $2.06 actual on 89% revenue growth — the 10:1 revenue-to-earnings growth ratio is the direct fingerprint of margin compression destroying 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4005072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79" y="4005072"/>
            <a:ext cx="36576" cy="1005840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19" y="4059936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Consensus FY2027E EBITDA of $2,572mm on $50.3B revenue implies 5.11% EBITDA margin — meaningful recovery from 3.91% but still 608bps below FY2023's 11.18%; consensus itself does not project margin 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852160"/>
            <a:ext cx="11183112" cy="438912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925312"/>
            <a:ext cx="13716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aramond"/>
              </a:rPr>
              <a:t>Takeaway: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5925312"/>
            <a:ext cx="95097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Garamond"/>
              </a:rPr>
              <a:t>The May 2026 earnings report reveals the first concrete FY2026 revenue and margin trajectory — if revenue is tracking below $38B or gross margins are still compressing, the bear case transitions from tail risk to base case and 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327648"/>
            <a:ext cx="1118311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 i="0">
                <a:solidFill>
                  <a:srgbClr val="999999"/>
                </a:solidFill>
                <a:latin typeface="Garamond"/>
              </a:rPr>
              <a:t>PT: $24.00  |  EV Return: +6.8%  |  Slide 3 of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Scenario Analysis  |  PT: $24.00  |  EV Return: +6.8%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CapIQ, LSEG, DCF Analysis, Comparable Company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49808"/>
            <a:ext cx="11183112" cy="347472"/>
          </a:xfrm>
          <a:prstGeom prst="rect">
            <a:avLst/>
          </a:prstGeom>
          <a:solidFill>
            <a:srgbClr val="EA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972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1">
                <a:solidFill>
                  <a:srgbClr val="1C2C3A"/>
                </a:solidFill>
                <a:latin typeface="Garamond"/>
              </a:rPr>
              <a:t>Street consensus's $34.53 mean PT implicitly prices SMCI at ~11x NTM EBITDA — a 20% premium to DELL's 9.06x — which is arithmetically indefensible while FY2025 gross margin sits at 8.66% (509bps below FY2024's 13.75%) and governance credibility requires 2-3…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70432"/>
            <a:ext cx="1118311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Garamond"/>
              </a:rPr>
              <a:t>Bull 25% probability × $36 PT (+55.0% return from $23.22) = +13.75%; Base 55% probability × $24 PT (+3.4% return) = +1.87%; Bear 20% probability × $13 PT (-44.0% return) = -8.80…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17904"/>
            <a:ext cx="3721608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63624"/>
            <a:ext cx="372160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aramond"/>
              </a:rPr>
              <a:t>BEAR  |  20%  |  PT: $13.00  |  -44.0%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65376"/>
            <a:ext cx="3721608" cy="42976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938528"/>
            <a:ext cx="3502152" cy="4187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An adverse SEC enforcement action, FY2025 audit qualification, or revenue recognition restatement surfaces; OR Q3 FY2026 earnings (May 2026) reveals gross margins compressing below 8% with a revenu…
• FY2026 revenue misses at $35B (15%+ below consensus $41.5B) due to hyperscaler AI capex pause, cu…
• Gross margin compresses further to 7-8%, EBITDA falls to ~$1,050-$1,200mm as SMCI cuts prices to …
• Governance deteriorates: adverse SEC disclosure or FY2025 audit qualification resets institutiona…
• Multiple compresses to 6x EV/EBITDA (distressed hardware discount vs. current 7x): $1,100mm EBITD…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8848" y="1517904"/>
            <a:ext cx="3721608" cy="329184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563624"/>
            <a:ext cx="372160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aramond"/>
              </a:rPr>
              <a:t>BASE  |  55%  |  PT: $24.00  |  +3.4%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98848" y="1865376"/>
            <a:ext cx="3721608" cy="429768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1938528"/>
            <a:ext cx="3502152" cy="4187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Revenue tracks consensus at $41.5B FY2026 and $50.3B FY2027, gross margins stabilize at ~9% (no material recovery, no further compression), governance issues quiescent but unresolved, multiple stay…
• FY2026 revenue of $41.5B (consensus), FY2027 $50.3B (consensus) — hypergrowth decelerates to norm…
• Gross margin stabilizes at ~9%, EBITDA margin ~4.0-4.5%, FY2026E EBITDA $1,850-$1,973mm
• Multiple sustained at 7.5x NTM EBITDA reflecting persistent governance discount — no re-rating wi…
• Price derivation: $1,973mm NTM EBITDA × 7.5x EV/EBITDA = $14,798mm EV → less $1,158mm net debt → 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57616" y="1517904"/>
            <a:ext cx="3721608" cy="329184"/>
          </a:xfrm>
          <a:prstGeom prst="rect">
            <a:avLst/>
          </a:prstGeom>
          <a:solidFill>
            <a:srgbClr val="00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1563624"/>
            <a:ext cx="372160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aramond"/>
              </a:rPr>
              <a:t>BULL  |  25%  |  PT: $36.00  |  +55.0%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57616" y="1865376"/>
            <a:ext cx="3721608" cy="4297680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4" y="1938528"/>
            <a:ext cx="3502152" cy="4187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Q3 FY2026 earnings (2026-05-05) shows gross margin at or above 10% with revenue tracking toward $45B+ for full FY2026, AND FY2025 10-K filed on time with clean unqualified audit opinion.
• Gross margin recovers to 10-11% range from 8.66% by end of FY2026 — driven by liquid cooling mix …
• FY2026 revenue of $45B+ (above consensus $41.5B), confirming AI infrastructure demand acceleratio…
• Governance discount narrows substantially as FY2025 audit completes on time with clean opinion, r…
• Valuation arithmetic: FY2027E EPS of $3.01 (consensus) × 12x P/E (governance premium narrows towa…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236208"/>
            <a:ext cx="11183112" cy="292608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281928"/>
            <a:ext cx="10972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Garamond"/>
              </a:rPr>
              <a:t>Bear: 20%×-44.0%=-8.8%  +  Base: 55%×+3.4%=+1.9%  +  Bull: 25%×+55.0%=+13.8%  |  → EV Return: +6.8%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Risks &amp; Mitigants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SEC Filings, Earnings Calls, CapIQ, Bloomberg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49808"/>
            <a:ext cx="11183112" cy="292608"/>
          </a:xfrm>
          <a:prstGeom prst="rect">
            <a:avLst/>
          </a:prstGeom>
          <a:solidFill>
            <a:srgbClr val="EA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972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1">
                <a:solidFill>
                  <a:srgbClr val="1C2C3A"/>
                </a:solidFill>
                <a:latin typeface="Garamond"/>
              </a:rPr>
              <a:t>Market prices these risks at a higher probability than the underlying data supports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1508760" cy="27432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1097280"/>
            <a:ext cx="6400800" cy="27432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0224" y="1097280"/>
            <a:ext cx="1508760" cy="274320"/>
          </a:xfrm>
          <a:prstGeom prst="rect">
            <a:avLst/>
          </a:prstGeom>
          <a:solidFill>
            <a:srgbClr val="505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13848" y="1097280"/>
            <a:ext cx="1609344" cy="27432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133856"/>
            <a:ext cx="1399031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aramond"/>
              </a:rPr>
              <a:t>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9424" y="1133856"/>
            <a:ext cx="6291072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aramond"/>
              </a:rPr>
              <a:t>Risk Description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1133856"/>
            <a:ext cx="1399031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aramond"/>
              </a:rPr>
              <a:t>Prob /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68712" y="1133856"/>
            <a:ext cx="149961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aramond"/>
              </a:rPr>
              <a:t>Mitigants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408176"/>
            <a:ext cx="1508760" cy="1572768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481328"/>
            <a:ext cx="1508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aramon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993392"/>
            <a:ext cx="150876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Garamond"/>
              </a:rPr>
              <a:t>Accounting Credibility Collapse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478024"/>
            <a:ext cx="150876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 i="0">
                <a:solidFill>
                  <a:srgbClr val="FFFF80"/>
                </a:solidFill>
                <a:latin typeface="Garamond"/>
              </a:rPr>
              <a:t>THESIS
KILLER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1408176"/>
            <a:ext cx="6400800" cy="157276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04288" y="1463040"/>
            <a:ext cx="914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Garamond"/>
              </a:rPr>
              <a:t>Risk: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4288" y="1700784"/>
            <a:ext cx="6181344" cy="12252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SMCI's FY2024 10-K was filed approximately 8 months after period end (2025-02-25 for the period ending 2024-06-30), a delay of a magnitude that historically signals auditor disagreement, active restatement work, or material internal control failures — not administrative latency. The thesis assumes a company capable of compounding reven…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50224" y="1408176"/>
            <a:ext cx="1508760" cy="157276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1517904"/>
            <a:ext cx="1417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1C2C3A"/>
                </a:solidFill>
                <a:latin typeface="Garamond"/>
              </a:rPr>
              <a:t>Prob: 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1828800"/>
            <a:ext cx="1417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 i="0">
                <a:solidFill>
                  <a:srgbClr val="1C2C3A"/>
                </a:solidFill>
                <a:latin typeface="Garamond"/>
              </a:rPr>
              <a:t>Impact: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2157984"/>
            <a:ext cx="14173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 i="0">
                <a:solidFill>
                  <a:srgbClr val="C00000"/>
                </a:solidFill>
                <a:latin typeface="Garamond"/>
              </a:rPr>
              <a:t>-55%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13848" y="1408176"/>
            <a:ext cx="1609344" cy="1572768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59568" y="1463040"/>
            <a:ext cx="148132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00B050"/>
                </a:solidFill>
                <a:latin typeface="Garamond"/>
              </a:rPr>
              <a:t>Mitigant: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59568" y="1700784"/>
            <a:ext cx="1481328" cy="12252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The FY2024 10-K has now been filed — however late — which means an audit was completed and signed off by the new auditing firm, a structurally positive resolution to the most acute phase of uncertainty. Nasdaq delisti…
Monitor: 8-K Item 4.02 filing (auditor resignation/disagreeme…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2980944"/>
            <a:ext cx="1508760" cy="1572768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054096"/>
            <a:ext cx="1508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aramond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566160"/>
            <a:ext cx="150876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Garamond"/>
              </a:rPr>
              <a:t>Working Capital Liquidity Trap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94560" y="2980944"/>
            <a:ext cx="6400800" cy="157276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04288" y="3035808"/>
            <a:ext cx="914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Garamond"/>
              </a:rPr>
              <a:t>Risk: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04288" y="3273551"/>
            <a:ext cx="6181344" cy="12252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SMCI's FCF conversion stands at -119.7%, meaning the company consumed more cash than it generated in operating income — a condition driven by inventory and receivables builds required to supply AI server demand at scale. The bull thesis demands 47.8% revenue growth in Year 1, which mechanically intensifies NWC consumption before cash i…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50224" y="2980944"/>
            <a:ext cx="1508760" cy="157276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0" y="3090672"/>
            <a:ext cx="1417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1C2C3A"/>
                </a:solidFill>
                <a:latin typeface="Garamond"/>
              </a:rPr>
              <a:t>Prob: 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401568"/>
            <a:ext cx="1417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 i="0">
                <a:solidFill>
                  <a:srgbClr val="1C2C3A"/>
                </a:solidFill>
                <a:latin typeface="Garamond"/>
              </a:rPr>
              <a:t>Impact: 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3730752"/>
            <a:ext cx="14173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 i="0">
                <a:solidFill>
                  <a:srgbClr val="C00000"/>
                </a:solidFill>
                <a:latin typeface="Garamond"/>
              </a:rPr>
              <a:t>-35%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213848" y="2980944"/>
            <a:ext cx="1609344" cy="1572768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59568" y="3035808"/>
            <a:ext cx="148132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00B050"/>
                </a:solidFill>
                <a:latin typeface="Garamond"/>
              </a:rPr>
              <a:t>Mitigant: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59568" y="3273551"/>
            <a:ext cx="1481328" cy="12252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Net debt/EBITDA of 1.06x is a genuine cushion — SMCI is not over-leveraged, and at this ratio the company retains access to revolving credit facilities that can bridge NWC cycles without triggering covenant concerns. …
Monitor: DIO expanding &gt;15 days QoQ OR accounts receivable gr…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553712"/>
            <a:ext cx="1508760" cy="1572768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626864"/>
            <a:ext cx="1508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aramond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138928"/>
            <a:ext cx="150876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Garamond"/>
              </a:rPr>
              <a:t>OpEx Overhang Margin Collapse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94560" y="4553712"/>
            <a:ext cx="6400800" cy="157276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04288" y="4608576"/>
            <a:ext cx="914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Garamond"/>
              </a:rPr>
              <a:t>Risk: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04288" y="4846320"/>
            <a:ext cx="6181344" cy="12252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SMCI's operating expense base expanded approximately $327M (+38.5%) year-over-year while gross profit grew only 17.9% and operating income grew a mere 3.5% ($1.211B to $1.253B) — meaning virtually all incremental gross profit was consumed by cost structure expansion, not converted to earnings. This is the signature of a company that hi…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50224" y="4553712"/>
            <a:ext cx="1508760" cy="157276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0" y="4663440"/>
            <a:ext cx="1417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1C2C3A"/>
                </a:solidFill>
                <a:latin typeface="Garamond"/>
              </a:rPr>
              <a:t>Prob: 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4974336"/>
            <a:ext cx="1417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 i="0">
                <a:solidFill>
                  <a:srgbClr val="1C2C3A"/>
                </a:solidFill>
                <a:latin typeface="Garamond"/>
              </a:rPr>
              <a:t>Impact: 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5303520"/>
            <a:ext cx="14173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 i="0">
                <a:solidFill>
                  <a:srgbClr val="C00000"/>
                </a:solidFill>
                <a:latin typeface="Garamond"/>
              </a:rPr>
              <a:t>-30%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213848" y="4553712"/>
            <a:ext cx="1609344" cy="1572768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59568" y="4608576"/>
            <a:ext cx="148132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00B050"/>
                </a:solidFill>
                <a:latin typeface="Garamond"/>
              </a:rPr>
              <a:t>Mitigant: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59568" y="4846320"/>
            <a:ext cx="1481328" cy="12252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SMCI's direct-liquid cooling (DLC) technology is a genuinely differentiated product for high-density GPU clusters — the specific configuration required for large-scale AI training workloads — and Dell and HPE are stru…
Monitor: Gross margin falling below 13% for two consecutive q…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6035040"/>
            <a:ext cx="11183112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1">
                <a:solidFill>
                  <a:srgbClr val="595959"/>
                </a:solidFill>
                <a:latin typeface="Garamond"/>
              </a:rPr>
              <a:t>What would make us wrong:  FCF conversion turns positive (greater than 0%) in either of the next two qua…  |  SMCI files each of its next two 10-Qs on time (within 40 days of quarter end,…  |  Gross margin expands by at least 75 basis points quarter-over-quarter AND OpE…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What You Need to Believe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SEC Filings, CapIQ, Bloomberg, Investor 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1183112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1">
                <a:solidFill>
                  <a:srgbClr val="1C2C3A"/>
                </a:solidFill>
                <a:latin typeface="Garamond"/>
              </a:rPr>
              <a:t>We believe our investment theses position us to get into an excellent name at the right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3108960" cy="31089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124712"/>
            <a:ext cx="29992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</a:rPr>
              <a:t>Key Debate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58768" y="1097280"/>
            <a:ext cx="4041648" cy="310896"/>
          </a:xfrm>
          <a:prstGeom prst="rect">
            <a:avLst/>
          </a:prstGeom>
          <a:solidFill>
            <a:srgbClr val="A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13631" y="1124712"/>
            <a:ext cx="3931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</a:rPr>
              <a:t>Street 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10144" y="1097280"/>
            <a:ext cx="4032504" cy="310896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5008" y="1124712"/>
            <a:ext cx="39227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</a:rPr>
              <a:t>Our 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435608"/>
            <a:ext cx="3108960" cy="1417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435608"/>
            <a:ext cx="54864" cy="141732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1527048"/>
            <a:ext cx="2926079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Will SMCI's gross margins recover from 8.66% toward 11-13% historical levels, or is sub-10% the new structural steady state for a GPU server assembler?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58768" y="1435608"/>
            <a:ext cx="4041648" cy="1417320"/>
          </a:xfrm>
          <a:prstGeom prst="rect">
            <a:avLst/>
          </a:prstGeom>
          <a:solidFill>
            <a:srgbClr val="FFD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58768" y="1435608"/>
            <a:ext cx="54864" cy="1417320"/>
          </a:xfrm>
          <a:prstGeom prst="rect">
            <a:avLst/>
          </a:prstGeom>
          <a:solidFill>
            <a:srgbClr val="A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68496" y="1527048"/>
            <a:ext cx="3858768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Consensus FY2027E EBITDA of $2,572mm on $50.3B revenue implicitly assumes gross margin recovery toward 10-12%, without which the EBITDA estimate is mathematically unachievable. Most HOLD analysts appear to model partial margin recovery driven by liquid cool…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0144" y="1435608"/>
            <a:ext cx="4032504" cy="1417320"/>
          </a:xfrm>
          <a:prstGeom prst="rect">
            <a:avLst/>
          </a:prstGeom>
          <a:solidFill>
            <a:srgbClr val="C5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0144" y="1435608"/>
            <a:ext cx="54864" cy="141732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1" y="1527048"/>
            <a:ext cx="3849624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We believe sub-10% gross margin is closer to the structural reality because SMCI's revenue growth is driven entirely by GPU-intensive configurations where NVIDIA determines the economics. Without identified mechanisms — proprietary software attach rates, co…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889504"/>
            <a:ext cx="3108960" cy="14173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2889504"/>
            <a:ext cx="54864" cy="141732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2980944"/>
            <a:ext cx="2926079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Has the governance risk been substantially resolved by the FY2024 10-K filing, or is the institutional discount durable through mid-2027?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58768" y="2889504"/>
            <a:ext cx="4041648" cy="1417320"/>
          </a:xfrm>
          <a:prstGeom prst="rect">
            <a:avLst/>
          </a:prstGeom>
          <a:solidFill>
            <a:srgbClr val="FFD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58768" y="2889504"/>
            <a:ext cx="54864" cy="1417320"/>
          </a:xfrm>
          <a:prstGeom prst="rect">
            <a:avLst/>
          </a:prstGeom>
          <a:solidFill>
            <a:srgbClr val="A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68496" y="2980944"/>
            <a:ext cx="3858768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The majority of HOLD analysts appear to treat the FY2024 10-K completion as the governance inflection — the worst behind, the stock able to rerate toward normal server hardware multiples as clean filings accumulate. The mean PT of $34.53 implies the discoun…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10144" y="2889504"/>
            <a:ext cx="4032504" cy="1417320"/>
          </a:xfrm>
          <a:prstGeom prst="rect">
            <a:avLst/>
          </a:prstGeom>
          <a:solidFill>
            <a:srgbClr val="C5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0144" y="2889504"/>
            <a:ext cx="54864" cy="141732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1" y="2980944"/>
            <a:ext cx="3849624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A single completed audit after an 8-month delay does not restore institutional eligibility or eliminate SEC scrutiny risk. Compliance-mandated institutional investors — the marginal buyer needed to close the $23→$35 gap — require 2-3 years of on-time, unqua…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343400"/>
            <a:ext cx="3108960" cy="1417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343400"/>
            <a:ext cx="54864" cy="141732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434840"/>
            <a:ext cx="2926079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Will SMCI sustain its AI server market position against DELL, HPE, and hyperscaler custom silicon, or is share loss an underpriced risk in consensus estimates?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58768" y="4343400"/>
            <a:ext cx="4041648" cy="1417320"/>
          </a:xfrm>
          <a:prstGeom prst="rect">
            <a:avLst/>
          </a:prstGeom>
          <a:solidFill>
            <a:srgbClr val="FFD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58768" y="4343400"/>
            <a:ext cx="54864" cy="1417320"/>
          </a:xfrm>
          <a:prstGeom prst="rect">
            <a:avLst/>
          </a:prstGeom>
          <a:solidFill>
            <a:srgbClr val="A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68496" y="4434840"/>
            <a:ext cx="3858768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Consensus revenue of $41.5B FY2026E and $50.3B FY2027E implicitly assumes SMCI retains or grows its share of AI infrastructure spending. The deceleration from 87% to 21% is modeled as macro-driven normalization, not share loss.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10144" y="4343400"/>
            <a:ext cx="4032504" cy="1417320"/>
          </a:xfrm>
          <a:prstGeom prst="rect">
            <a:avLst/>
          </a:prstGeom>
          <a:solidFill>
            <a:srgbClr val="C5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10144" y="4343400"/>
            <a:ext cx="54864" cy="141732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19871" y="4434840"/>
            <a:ext cx="3849624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At 8.66% gross margins, SMCI is structurally incentivized to compete on price rather than differentiation, creating a self-reinforcing margin compression loop: cut prices to win volume, lower margins, repeat. Simultaneously, Google TPU v5, Amazon Trainium2/…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870448"/>
            <a:ext cx="11183112" cy="27432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907024"/>
            <a:ext cx="45720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aramond"/>
              </a:rPr>
              <a:t>What You're Buying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6199632"/>
            <a:ext cx="5577840" cy="6035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• Gross margin collapsed 509bps in a single year (FY2024: 13.75% → FY2025: 8.66%) on revenue that nearly doubled from $14.99B to …
• Incremental gross profit FY24→FY25 was $368mm; incremental operating income was only $42mm — an 11.5% drop-through rate meaning…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6199632"/>
            <a:ext cx="5394960" cy="6035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• FY2024 10-K filed approximately 8 months after period end (2025-02-25 for June 2024 year-end) — the most severe reporting delay…
• NTM EV/EBITDA of 6.96x at $23.22 already prices in significant distress, but consensus at $34.53 implies ~11x — a level that re…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6876288"/>
            <a:ext cx="11183112" cy="45720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6949440"/>
            <a:ext cx="109728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1">
                <a:solidFill>
                  <a:srgbClr val="FFFFFF"/>
                </a:solidFill>
                <a:latin typeface="Garamond"/>
              </a:rPr>
              <a:t>We believe our investment theses position us to get into an excellent name at the right time.  HOLD  |  PT: $24.00  |  Expected Return: +3.4% over 12 months.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Catalyst Timeline &amp; Monitoring KPIs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SEC Filings, Earnings Calls, Bloomberg, CapIQ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118311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Catalyst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87552"/>
            <a:ext cx="11183112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042415"/>
          <a:ext cx="11183111" cy="2066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926080"/>
                <a:gridCol w="2560319"/>
                <a:gridCol w="1371600"/>
                <a:gridCol w="2770632"/>
              </a:tblGrid>
              <a:tr h="41330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Date / Timing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Event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Falsifiability Threshold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Est. Impact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Thesis Point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</a:tr>
              <a:tr h="4133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April–May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Hyperscaler Q1 2026 earnings — AI CapEx guidance for 2026 full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Sets demand backdrop f…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Revenue deceleration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33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2026-05-05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SMCI Q3 FY2026 earnings — gross margin and revenue trajectory first…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Binary ±15% depending …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Gross margin structural vs. cyclical debate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133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September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FY2025 10-K filing deadline — on-time clean opinion vs. delay/quali…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+10% on timely clean f…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Governance discount narrowing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331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H2 2026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SEC investigation resolution (timing uncertain)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-25% adverse enforceme…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Bear case governance trigger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310127"/>
            <a:ext cx="1118311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00ACB6"/>
                </a:solidFill>
                <a:latin typeface="Garamond"/>
              </a:rPr>
              <a:t>Monitoring KPIs — What to Watch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47872"/>
            <a:ext cx="11183112" cy="228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621023"/>
          <a:ext cx="111831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828800"/>
                <a:gridCol w="2286000"/>
                <a:gridCol w="2286000"/>
                <a:gridCol w="1673352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Metric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Current Level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Thesis Requires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Red Flag Threshold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Freq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Gross Margin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8.66% (FY2025 actual, 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Stabilization at ≥9% in FY2026 for base ca…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Any FY2026 quarter below 8% — bear case tr…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quarterly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10-K Filing Timeliness and Audit Opinion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FY2024 10-K filed ~8 m…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FY2025 10-K filed on time (~September 2026…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Any NT 10-K (notification of late filing) …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real-time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Revenue vs. Consensus ($41.5B FY2026E)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FY2025 actual: $28,057…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FY2026 revenue ≥$38B (8% below consensus) 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FY2026 revenue tracking below $35B (15%+ m…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quarterly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NTM EV/EBITDA Multiple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6.96x (consensus NTM E…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Stable 7.0-8.0x in base case; expansion to…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Compression below 5x EV/EBITDA — signals b…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monthly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SEC Investigation and Governance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FY2024 10-K filed; pre…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No new adverse SEC disclosures, no auditor…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Any 8-K Item 4.02 (auditor resignation), S…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real-time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6565392"/>
            <a:ext cx="11183112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1">
                <a:solidFill>
                  <a:srgbClr val="595959"/>
                </a:solidFill>
                <a:latin typeface="Garamond"/>
              </a:rPr>
              <a:t>Change of View Triggers: Q3 FY2026 gross margin ≥10% with quarterly revenue ≥$10.5B (above r…  |  FY2025 10-K filed on time with clean unqualified audit opinion and …  |  SEC enforcement action, formal investigation disclosure, or revenue…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