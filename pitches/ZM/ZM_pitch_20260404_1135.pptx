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/>
              <a:t>Revenue History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C2C39"/>
            </a:solidFill>
          </c:spPr>
          <c:cat>
            <c:strRef>
              <c:f>Sheet1!$A$2:$A$4</c:f>
              <c:strCache>
                <c:ptCount val="3"/>
                <c:pt idx="0">
                  <c:v>FY2024 (FY-2, ended Jan-31-2024)</c:v>
                </c:pt>
                <c:pt idx="1">
                  <c:v>FY2025 (FY-1, ended Jan-31-2025)</c:v>
                </c:pt>
                <c:pt idx="2">
                  <c:v>FY2026 (FY0, ended Jan-31-2026)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4527.224</c:v>
                </c:pt>
                <c:pt idx="1">
                  <c:v>4665.433</c:v>
                </c:pt>
                <c:pt idx="2">
                  <c:v>4868.769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0"/>
            <a:ext cx="1237183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61288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64592" cy="1161288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286000"/>
            <a:ext cx="164592" cy="1161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429000"/>
            <a:ext cx="164592" cy="1161288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572000"/>
            <a:ext cx="164592" cy="1161288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715000"/>
            <a:ext cx="164592" cy="1161288"/>
          </a:xfrm>
          <a:prstGeom prst="rect">
            <a:avLst/>
          </a:prstGeom>
          <a:solidFill>
            <a:srgbClr val="D8D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37943"/>
            <a:ext cx="4315968" cy="2505456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11680"/>
            <a:ext cx="4096512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aramond"/>
              </a:rPr>
              <a:t>Zoom Communications, Inc.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017520"/>
            <a:ext cx="4096512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aramond"/>
              </a:rPr>
              <a:t>NASDAQ: ZM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529584"/>
            <a:ext cx="4096512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Garamond"/>
              </a:rPr>
              <a:t>Real Estate  —  April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986784"/>
            <a:ext cx="228600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 i="0">
                <a:solidFill>
                  <a:srgbClr val="00AF50"/>
                </a:solidFill>
                <a:latin typeface="Garamond"/>
              </a:rPr>
              <a:t>Long: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65760"/>
            <a:ext cx="5971032" cy="6199632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502920"/>
            <a:ext cx="53035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Garamond"/>
              </a:rPr>
              <a:t>KEY METRICS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749808"/>
            <a:ext cx="5303520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859536"/>
            <a:ext cx="5303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amond"/>
              </a:rPr>
              <a:t>NYSE: ZM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170432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Current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170432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$82.36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517904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52-Wk 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1517904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N/A – 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1865376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Market Cap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865376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N/A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212848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Dividend Yield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212848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N/A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560320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Beta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560320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N/A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907791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Price 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907791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$100.00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3255263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Expected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255263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+22.2%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3602735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Conviction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3602735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6/5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3950207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amond"/>
              </a:rPr>
              <a:t>Time Horizon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3950207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Garamond"/>
              </a:rPr>
              <a:t>12 months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4343399"/>
            <a:ext cx="5303520" cy="2286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4462271"/>
            <a:ext cx="53035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  <a:latin typeface="Garamond"/>
              </a:rPr>
              <a:t>THESIS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4681727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CCCCC"/>
                </a:solidFill>
                <a:latin typeface="Garamond"/>
              </a:rPr>
              <a:t>CONSENSUS ASSUMES 7.56x EV/EBITDA is fair for 4% revenue growth. OUR VIEW: 10x+ warranted, as ROIC 21.6% (+13pts over WACC ~8.5%) and $7.76B net cash (32% mkt cap) are being wholly ignored.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5806440"/>
            <a:ext cx="53035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1" i="0">
                <a:solidFill>
                  <a:srgbClr val="00AF50"/>
                </a:solidFill>
                <a:latin typeface="Garamond"/>
              </a:rPr>
              <a:t>Verify: 6.0/10 PASS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8686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000000"/>
                </a:solidFill>
                <a:latin typeface="Garamond"/>
              </a:rPr>
              <a:t>CONFIDENTIAL — FOR INSTITUTIONAL INVESTOR USE ONLY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6492240"/>
            <a:ext cx="2743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 i="0">
                <a:solidFill>
                  <a:srgbClr val="595959"/>
                </a:solidFill>
                <a:latin typeface="Garamond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Company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CapIQ, LSEG, Investor 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53035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Business Description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9264"/>
            <a:ext cx="5303520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24128"/>
            <a:ext cx="5212080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Zoom Communications, Inc. (ZM) operates a cloud-based unified communications platform delivering video conferencing, persistent chat, phone (Zoom Phone), webinar/events, and contact center solutions. Revenue is generated primarily via SaaS subscriptions sold directly and through channel partners to enterprises, SMBs, and individual users. The business was built on a freemium funnel — free 40-minute meetings drive paid conversion — though the enterprise-led motion now dominates.
Revenue Drivers:
  • Zoom Meetings subscription (% of revenue N/A — segment breakdown not in provided data)
  • Zoom Phone (% of revenue N/A)
  • Zoom Webinars / Events (% of revenue N/A)
  • Zoom Contact Center (% of revenue N/A)
Model: Subscription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16352"/>
            <a:ext cx="53035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Key Financials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54096"/>
            <a:ext cx="5303520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127248"/>
            <a:ext cx="265176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3163824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Current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3163824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See Note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3127248"/>
            <a:ext cx="265176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2424" y="3163824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52-Wk 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3163824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N/A – N/A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529584"/>
            <a:ext cx="2651760" cy="38404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3566160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Market Cap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2848" y="3566160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N/A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3529584"/>
            <a:ext cx="2651760" cy="38404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92424" y="3566160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Revenue (LTM)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8" y="3566160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$4.9B (FY2026 (FY0, ended Jan-31-2026))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931920"/>
            <a:ext cx="265176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968496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EBIT Margin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2848" y="3968496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23.4%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7560" y="3931920"/>
            <a:ext cx="265176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92424" y="3968496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Gross Margin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0328" y="3968496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77.0%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334256"/>
            <a:ext cx="2651760" cy="38404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4370832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Net Debt/EBITDA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2848" y="4370832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-6.1x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4334256"/>
            <a:ext cx="2651760" cy="38404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92424" y="4370832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FCF Conversion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10328" y="4370832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N/A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736592"/>
            <a:ext cx="265176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" y="4773168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ROIC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12848" y="4773168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N/A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37560" y="4736592"/>
            <a:ext cx="265176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92424" y="4773168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Rev CAGR 3Y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10328" y="4773168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3.7%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5138928"/>
            <a:ext cx="2651760" cy="38404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4944" y="5175504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Dividend Yield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12848" y="5175504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N/A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37560" y="5138928"/>
            <a:ext cx="2651760" cy="38404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92424" y="5175504"/>
            <a:ext cx="1508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Beta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10328" y="5175504"/>
            <a:ext cx="1033271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1" i="0">
                <a:solidFill>
                  <a:srgbClr val="1C2C3A"/>
                </a:solidFill>
                <a:latin typeface="Garamond"/>
              </a:rPr>
              <a:t>N/A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731520"/>
            <a:ext cx="555955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Key Financials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969264"/>
            <a:ext cx="5559552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6263640" y="1024128"/>
          <a:ext cx="5559551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542031"/>
              </a:tblGrid>
              <a:tr h="2621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aramond"/>
                        </a:rPr>
                        <a:t>Metric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aramond"/>
                        </a:rPr>
                        <a:t>Value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Current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See Note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52-Wk Range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 – 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Market Cap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Dividend Yield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Beta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" name="TextBox 48"/>
          <p:cNvSpPr txBox="1"/>
          <p:nvPr/>
        </p:nvSpPr>
        <p:spPr>
          <a:xfrm>
            <a:off x="6263640" y="2724912"/>
            <a:ext cx="555955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00ACB6"/>
                </a:solidFill>
                <a:latin typeface="Garamond"/>
              </a:rPr>
              <a:t>vs. Peers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2962656"/>
            <a:ext cx="5559552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6263640" y="2999232"/>
          <a:ext cx="555955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591055"/>
                <a:gridCol w="1591055"/>
              </a:tblGrid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aramond"/>
                        </a:rPr>
                        <a:t>Metric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aramond"/>
                        </a:rPr>
                        <a:t>ZM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Garamond"/>
                        </a:rPr>
                        <a:t>Peer Median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EV/EBITDA NTM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-6.1x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P/E NTM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Rev 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EBITDA Margin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23.4%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Net Debt/EBITDA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-24.9x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6263640" y="4626864"/>
          <a:ext cx="5559552" cy="1783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3" name="Rectangle 52"/>
          <p:cNvSpPr/>
          <p:nvPr/>
        </p:nvSpPr>
        <p:spPr>
          <a:xfrm>
            <a:off x="640080" y="6492240"/>
            <a:ext cx="11183112" cy="1828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Annotated Price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515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Garamond"/>
              </a:rPr>
              <a:t>ZM vs. Benchmark — Key Events &amp; Catalysts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59536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LSEG Refinitiv, Bloomberg, Analyst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749039"/>
            <a:ext cx="10698480" cy="64008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3685031"/>
            <a:ext cx="128016" cy="192024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27632" y="3538728"/>
            <a:ext cx="18288" cy="210311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1810512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23160"/>
            <a:ext cx="1810512" cy="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59736"/>
            <a:ext cx="365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 i="0">
                <a:solidFill>
                  <a:srgbClr val="1C2C39"/>
                </a:solidFill>
                <a:latin typeface="Garamon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478024"/>
            <a:ext cx="1371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1C2C3A"/>
                </a:solidFill>
                <a:latin typeface="Garamond"/>
              </a:rPr>
              <a:t>— 2026-03-13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770632"/>
            <a:ext cx="1700784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Needham — reit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98648" y="3685031"/>
            <a:ext cx="128016" cy="192024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57400" y="3913631"/>
            <a:ext cx="1810512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7400" y="3913631"/>
            <a:ext cx="1810512" cy="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57400" y="3950207"/>
            <a:ext cx="365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 i="0">
                <a:solidFill>
                  <a:srgbClr val="1C2C39"/>
                </a:solidFill>
                <a:latin typeface="Garamon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1448" y="3968495"/>
            <a:ext cx="1371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1C2C3A"/>
                </a:solidFill>
                <a:latin typeface="Garamond"/>
              </a:rPr>
              <a:t>— 2026-02-26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12264" y="4261103"/>
            <a:ext cx="1700784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Bernstein — main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38344" y="3685031"/>
            <a:ext cx="128016" cy="192024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93208" y="3538728"/>
            <a:ext cx="18288" cy="210311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97096" y="2423160"/>
            <a:ext cx="1810512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97096" y="2423160"/>
            <a:ext cx="1810512" cy="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97096" y="2459736"/>
            <a:ext cx="365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 i="0">
                <a:solidFill>
                  <a:srgbClr val="1C2C39"/>
                </a:solidFill>
                <a:latin typeface="Garamon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1144" y="2478024"/>
            <a:ext cx="1371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1C2C3A"/>
                </a:solidFill>
                <a:latin typeface="Garamond"/>
              </a:rPr>
              <a:t>— 2026-02-26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59" y="2770632"/>
            <a:ext cx="1700784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Keybanc — main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3685031"/>
            <a:ext cx="128016" cy="192024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36792" y="3913631"/>
            <a:ext cx="1810512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36792" y="3913631"/>
            <a:ext cx="1810512" cy="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3950207"/>
            <a:ext cx="365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 i="0">
                <a:solidFill>
                  <a:srgbClr val="1C2C39"/>
                </a:solidFill>
                <a:latin typeface="Garamond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3968495"/>
            <a:ext cx="1371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1C2C3A"/>
                </a:solidFill>
                <a:latin typeface="Garamond"/>
              </a:rPr>
              <a:t>— May 20,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5" y="4261103"/>
            <a:ext cx="1700784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Q1 FY2027 earnings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17736" y="3685031"/>
            <a:ext cx="128016" cy="192024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72600" y="3538728"/>
            <a:ext cx="18288" cy="210311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76488" y="2423160"/>
            <a:ext cx="1810512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476488" y="2423160"/>
            <a:ext cx="1810512" cy="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2459736"/>
            <a:ext cx="365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 i="0">
                <a:solidFill>
                  <a:srgbClr val="1C2C39"/>
                </a:solidFill>
                <a:latin typeface="Garamond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0536" y="2478024"/>
            <a:ext cx="1371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1C2C3A"/>
                </a:solidFill>
                <a:latin typeface="Garamond"/>
              </a:rPr>
              <a:t>— Q1-Q2 FY2027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1352" y="2770632"/>
            <a:ext cx="1700784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Buyback acceleration announcement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43615" y="3685031"/>
            <a:ext cx="128016" cy="192024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02367" y="3913631"/>
            <a:ext cx="1810512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802367" y="3913631"/>
            <a:ext cx="1810512" cy="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02367" y="3950207"/>
            <a:ext cx="365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 i="0">
                <a:solidFill>
                  <a:srgbClr val="1C2C39"/>
                </a:solidFill>
                <a:latin typeface="Garamond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86415" y="3968495"/>
            <a:ext cx="1371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1C2C3A"/>
                </a:solidFill>
                <a:latin typeface="Garamond"/>
              </a:rPr>
              <a:t>— Q3 FY2027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57232" y="4261103"/>
            <a:ext cx="1700784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SBC falls below 14% of revenue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5376672"/>
            <a:ext cx="11183112" cy="3657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5440680"/>
            <a:ext cx="1371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amond"/>
              </a:rPr>
              <a:t>Takeaway: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94560" y="5440680"/>
            <a:ext cx="9509760" cy="2560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Garamond"/>
              </a:rPr>
              <a:t>CONSENSUS ASSUMES 7.56x EV/EBITDA is fair for 4% revenue growth. OUR VIEW: 10x+ warranted, as ROIC 21.6% (+13pts over WACC ~8.5%) and $7.76B net cash (32% mkt cap) are being wholly ignored.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5852160"/>
            <a:ext cx="137160" cy="1371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5833872"/>
            <a:ext cx="22860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30" b="0" i="0">
                <a:solidFill>
                  <a:srgbClr val="595959"/>
                </a:solidFill>
                <a:latin typeface="Garamond"/>
              </a:rPr>
              <a:t>ZM events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0" y="5852160"/>
            <a:ext cx="137160" cy="1371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83280" y="5833872"/>
            <a:ext cx="22860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30" b="0" i="0">
                <a:solidFill>
                  <a:srgbClr val="595959"/>
                </a:solidFill>
                <a:latin typeface="Garamond"/>
              </a:rPr>
              <a:t>Analyst actions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Industry Dynamics &amp; Competitive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CapIQ, Bloomberg, Industry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278892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749808"/>
            <a:ext cx="2788920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804671"/>
            <a:ext cx="2788920" cy="5532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 i="0">
                <a:solidFill>
                  <a:srgbClr val="1C2C3A"/>
                </a:solidFill>
                <a:latin typeface="Garamond"/>
              </a:rPr>
              <a:t>N/A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39596"/>
            <a:ext cx="2788920" cy="3822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Garamond"/>
              </a:rPr>
              <a:t>Total Addressable Market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7872" y="749808"/>
            <a:ext cx="278892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47872" y="749808"/>
            <a:ext cx="2788920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804671"/>
            <a:ext cx="2788920" cy="5532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 i="0">
                <a:solidFill>
                  <a:srgbClr val="1C2C3A"/>
                </a:solidFill>
                <a:latin typeface="Garamond"/>
              </a:rPr>
              <a:t>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1339596"/>
            <a:ext cx="2788920" cy="3822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Garamond"/>
              </a:rPr>
              <a:t>Cycle Position
mixed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5664" y="749808"/>
            <a:ext cx="278892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55664" y="749808"/>
            <a:ext cx="2788920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804671"/>
            <a:ext cx="2788920" cy="5532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 i="0">
                <a:solidFill>
                  <a:srgbClr val="1C2C3A"/>
                </a:solidFill>
                <a:latin typeface="Garamond"/>
              </a:rPr>
              <a:t>losing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339596"/>
            <a:ext cx="2788920" cy="3822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Garamond"/>
              </a:rPr>
              <a:t>Market Share Trend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63455" y="749808"/>
            <a:ext cx="278892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63455" y="749808"/>
            <a:ext cx="2788920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63455" y="804671"/>
            <a:ext cx="2788920" cy="5532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 i="0">
                <a:solidFill>
                  <a:srgbClr val="C00000"/>
                </a:solidFill>
                <a:latin typeface="Garamond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3455" y="1339596"/>
            <a:ext cx="2788920" cy="3822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Garamond"/>
              </a:rPr>
              <a:t>Disruption Risk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1819656"/>
            <a:ext cx="11183112" cy="27432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883664"/>
            <a:ext cx="54864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Structural Tailwinds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121408"/>
            <a:ext cx="5486400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2176272"/>
            <a:ext cx="5486400" cy="42062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2221991"/>
            <a:ext cx="5303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• Remote and hybrid work normalization post-pandemic: enterprise adoption of video collaboration is now structural, not temporary…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633472"/>
            <a:ext cx="5486400" cy="42062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2679191"/>
            <a:ext cx="5303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• Zoom Phone / UCaaS migration from on-premise PBX: global enterprise telephony installed base migrating to cloud remains a multi…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090672"/>
            <a:ext cx="5486400" cy="42062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3136391"/>
            <a:ext cx="5303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• AI integration in communications (Zoom AI Companion, real-time transcription, meeting summaries): AI features increase per-seat…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547872"/>
            <a:ext cx="5486400" cy="42062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593591"/>
            <a:ext cx="5303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• Contact center / CCaaS market growth: Zoom Contact Center competes in a segment that was growing at double-digit rates as of pr…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1883664"/>
            <a:ext cx="619963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00ACB6"/>
                </a:solidFill>
                <a:latin typeface="Garamond"/>
              </a:rPr>
              <a:t>Structural Headwinds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2121408"/>
            <a:ext cx="6199632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2176272"/>
            <a:ext cx="6199632" cy="42062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2221991"/>
            <a:ext cx="5980176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• Microsoft Teams bundling: Teams is included at no incremental cost in Microsoft 365, deployed at estimated 85%+ of Fortune 500 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2633472"/>
            <a:ext cx="6199632" cy="42062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3368" y="2679191"/>
            <a:ext cx="5980176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• Google Meet bundling in Workspace: similar dynamic in SMB and education segments.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090672"/>
            <a:ext cx="6199632" cy="420624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3368" y="3136391"/>
            <a:ext cx="5980176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• Post-pandemic demand normalization: Zoom revenue growth has decelerated from &gt;300% (FY2021) to ~4.4% (FY2026) — the pull-forwar…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3547872"/>
            <a:ext cx="6199632" cy="42062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73368" y="3593591"/>
            <a:ext cx="5980176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• AI commoditization of meeting transcription and summaries: features that Zoom charges premium for (AI Companion) are being embe…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507992"/>
            <a:ext cx="11183112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572000"/>
            <a:ext cx="91440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Porter's Five Forces   (1 = favorable for incumbents  ·  5 = unfavorable)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4864608"/>
            <a:ext cx="2240280" cy="7315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892040"/>
            <a:ext cx="22402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595959"/>
                </a:solidFill>
                <a:latin typeface="Garamond"/>
              </a:rPr>
              <a:t>Rivalry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17319" y="5120640"/>
            <a:ext cx="658368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17319" y="5138928"/>
            <a:ext cx="6583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4864608"/>
            <a:ext cx="2240280" cy="7315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53512" y="4892040"/>
            <a:ext cx="22402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595959"/>
                </a:solidFill>
                <a:latin typeface="Garamond"/>
              </a:rPr>
              <a:t>New Entrants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30752" y="5120640"/>
            <a:ext cx="658368" cy="274320"/>
          </a:xfrm>
          <a:prstGeom prst="rect">
            <a:avLst/>
          </a:prstGeom>
          <a:solidFill>
            <a:srgbClr val="00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30752" y="5138928"/>
            <a:ext cx="6583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66944" y="4864608"/>
            <a:ext cx="2240280" cy="7315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66944" y="4892040"/>
            <a:ext cx="22402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595959"/>
                </a:solidFill>
                <a:latin typeface="Garamond"/>
              </a:rPr>
              <a:t>Buyer Power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44184" y="5120640"/>
            <a:ext cx="658368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44184" y="5138928"/>
            <a:ext cx="6583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80376" y="4864608"/>
            <a:ext cx="2240280" cy="7315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80376" y="4892040"/>
            <a:ext cx="22402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595959"/>
                </a:solidFill>
                <a:latin typeface="Garamond"/>
              </a:rPr>
              <a:t>Supplier Power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57616" y="5120640"/>
            <a:ext cx="658368" cy="274320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57616" y="5138928"/>
            <a:ext cx="6583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93808" y="4864608"/>
            <a:ext cx="2240280" cy="7315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93808" y="4892040"/>
            <a:ext cx="22402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595959"/>
                </a:solidFill>
                <a:latin typeface="Garamond"/>
              </a:rPr>
              <a:t>Substitutes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671048" y="5120640"/>
            <a:ext cx="658368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671048" y="5138928"/>
            <a:ext cx="6583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5669280"/>
            <a:ext cx="11183112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Garamond"/>
              </a:rPr>
              <a:t>The UCaaS / enterprise video conferencing industry is in a post-bubble normalization phase. The pandemic created artificial demand acceleration that is now fully digested — Zoom's 4.4% revenue growth in FY26 vs. &gt;300%…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Market View vs. Our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CapIQ, Analyst Research, Bloomberg, SEC Filings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11183112" cy="530352"/>
          </a:xfrm>
          <a:prstGeom prst="rect">
            <a:avLst/>
          </a:prstGeom>
          <a:solidFill>
            <a:srgbClr val="EA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972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1C2C3A"/>
                </a:solidFill>
                <a:latin typeface="Garamond"/>
              </a:rPr>
              <a:t>The market misprices this name by applying the wrong analogy — our thesis exploits that gap.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60704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1">
                <a:solidFill>
                  <a:srgbClr val="595959"/>
                </a:solidFill>
                <a:latin typeface="Garamond"/>
              </a:rPr>
              <a:t>Recent: Needham → reit  |  Bernstein → main  |  Keybanc → main  |  BTIG → 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55046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Market View / Street Concern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5504688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298448"/>
            <a:ext cx="55046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00ACB6"/>
                </a:solidFill>
                <a:latin typeface="Garamond"/>
              </a:rPr>
              <a:t>Our 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1554480"/>
            <a:ext cx="5504688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645919"/>
            <a:ext cx="5504688" cy="2098548"/>
          </a:xfrm>
          <a:prstGeom prst="rect">
            <a:avLst/>
          </a:prstGeom>
          <a:solidFill>
            <a:srgbClr val="FA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645919"/>
            <a:ext cx="54864" cy="2098548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1700784"/>
            <a:ext cx="5321807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Keybanc: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956815"/>
            <a:ext cx="5303520" cy="17327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  <a:latin typeface="Garamond"/>
              </a:rPr>
              <a:t>Underweight (2026-02-26), PT ~$66; models accelerating enterprise churn toward terminal decline.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82512" y="1645919"/>
            <a:ext cx="5504688" cy="2098548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82512" y="1645919"/>
            <a:ext cx="54864" cy="2098548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700784"/>
            <a:ext cx="5321807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00ACB6"/>
                </a:solidFill>
                <a:latin typeface="Garamond"/>
              </a:rPr>
              <a:t>Our View: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956815"/>
            <a:ext cx="5303520" cy="17327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At $66 = 5.7x EV/EBITDA — below distressed EGHT — despite $7.76B net cash and ROIC 21.6%; arithmetically indefensible.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817620"/>
            <a:ext cx="5504688" cy="2098548"/>
          </a:xfrm>
          <a:prstGeom prst="rect">
            <a:avLst/>
          </a:prstGeom>
          <a:solidFill>
            <a:srgbClr val="F5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817620"/>
            <a:ext cx="54864" cy="2098548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872483"/>
            <a:ext cx="5321807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C2C3A"/>
                </a:solidFill>
                <a:latin typeface="Garamond"/>
              </a:rPr>
              <a:t>Bernstein: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128515"/>
            <a:ext cx="5303520" cy="17327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1">
                <a:solidFill>
                  <a:srgbClr val="000000"/>
                </a:solidFill>
                <a:latin typeface="Garamond"/>
              </a:rPr>
              <a:t>Market Perform (2026-02-26); implies margin expansion stalls, flat multiple from here.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82512" y="3817620"/>
            <a:ext cx="5504688" cy="2098548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82512" y="3817620"/>
            <a:ext cx="54864" cy="2098548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872483"/>
            <a:ext cx="5321807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00ACB6"/>
                </a:solidFill>
                <a:latin typeface="Garamond"/>
              </a:rPr>
              <a:t>Our View: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128515"/>
            <a:ext cx="5303520" cy="17327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EBIT expanded 600bps in FY0; sustained pace puts FY+1 EPS ~$6.20 vs. street's $5.87 — 5.6% upside to consensus.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035040"/>
            <a:ext cx="11183112" cy="45720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071616"/>
            <a:ext cx="109728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aramond"/>
              </a:rPr>
              <a:t>CONSENSUS ASSUMES 7.56x EV/EBITDA is fair for 4% revenue growth. OUR VIEW: 10x+ warranted, as ROIC 21.6% (+13pts over WACC ~8.5%) and $7.76B net cash (32% mkt cap) are being wholly ignored.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CapIQ, LSEG, DCF Analysis, Comparable Company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3566160" cy="3108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6384"/>
            <a:ext cx="35661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aramond"/>
              </a:rPr>
              <a:t>BEAR  (20%)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78992"/>
            <a:ext cx="3566160" cy="8046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15568"/>
            <a:ext cx="356616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 i="0">
                <a:solidFill>
                  <a:srgbClr val="C00000"/>
                </a:solidFill>
                <a:latin typeface="Garamond"/>
              </a:rPr>
              <a:t>See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72768"/>
            <a:ext cx="3566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Garamon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352544" y="749808"/>
            <a:ext cx="3566160" cy="31089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786384"/>
            <a:ext cx="35661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aramond"/>
              </a:rPr>
              <a:t>BASE  (55%)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1078992"/>
            <a:ext cx="3566160" cy="8046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2544" y="1115568"/>
            <a:ext cx="356616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 i="0">
                <a:solidFill>
                  <a:srgbClr val="1C2C39"/>
                </a:solidFill>
                <a:latin typeface="Garamond"/>
              </a:rPr>
              <a:t>See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2544" y="1572768"/>
            <a:ext cx="3566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Garamond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8065008" y="749808"/>
            <a:ext cx="3566160" cy="310896"/>
          </a:xfrm>
          <a:prstGeom prst="rect">
            <a:avLst/>
          </a:prstGeom>
          <a:solidFill>
            <a:srgbClr val="00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786384"/>
            <a:ext cx="35661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aramond"/>
              </a:rPr>
              <a:t>BULL  (25%)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8" y="1078992"/>
            <a:ext cx="3566160" cy="804672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8" y="1115568"/>
            <a:ext cx="356616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 i="0">
                <a:solidFill>
                  <a:srgbClr val="00AF50"/>
                </a:solidFill>
                <a:latin typeface="Garamond"/>
              </a:rPr>
              <a:t>See Note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1572768"/>
            <a:ext cx="3566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Garamond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048256"/>
            <a:ext cx="11183112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103120"/>
            <a:ext cx="68580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DCF Model — Year-by-Year  (Base Case)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340863"/>
            <a:ext cx="6858000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240280"/>
            <a:ext cx="6858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Garamond"/>
              </a:rPr>
              <a:t>Year-by-year DCF data not available.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103120"/>
            <a:ext cx="432511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Sensitivity: Implied Price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2340863"/>
            <a:ext cx="4325112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2121408"/>
            <a:ext cx="414223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Garamond"/>
              </a:rPr>
              <a:t>(WACC vs Exit Multiple)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423160"/>
            <a:ext cx="4325112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Garamond"/>
              </a:rPr>
              <a:t>Sensitivity table: data zeroed out — run DCF model to populate.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873752"/>
            <a:ext cx="432511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00ACB6"/>
                </a:solidFill>
                <a:latin typeface="Garamond"/>
              </a:rPr>
              <a:t>Comparable Company Analysis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5111496"/>
            <a:ext cx="4325112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680960" y="5148072"/>
          <a:ext cx="4325109" cy="1481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897"/>
                <a:gridCol w="1246801"/>
                <a:gridCol w="902856"/>
                <a:gridCol w="756679"/>
                <a:gridCol w="773876"/>
              </a:tblGrid>
              <a:tr h="246887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Garamond"/>
                        </a:rPr>
                        <a:t>Ticker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Garamond"/>
                        </a:rPr>
                        <a:t>Company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Garamond"/>
                        </a:rPr>
                        <a:t>EV/EBITDA NTM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Garamond"/>
                        </a:rPr>
                        <a:t>P/E NTM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Garamond"/>
                        </a:rPr>
                        <a:t>Implied PT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</a:tr>
              <a:tr h="246887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RNG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RingCentral, Inc.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6.3x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7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EGHT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8x8, Inc.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5.8x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46887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FIVN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Five9, Inc.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4.2x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7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MSFT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Microsoft Corporation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14.2x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46892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GOOGL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Alphabet Inc.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16.1x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Thesis I — 600bps/yr EBIT Expansion Is Structural and Priced as a Transient Event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CapIQ, Bloomberg, Investor Presentations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11183112" cy="292608"/>
          </a:xfrm>
          <a:prstGeom prst="rect">
            <a:avLst/>
          </a:prstGeom>
          <a:solidFill>
            <a:srgbClr val="EA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95528"/>
            <a:ext cx="10972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1">
                <a:solidFill>
                  <a:srgbClr val="1C2C3A"/>
                </a:solidFill>
                <a:latin typeface="Garamond"/>
              </a:rPr>
              <a:t>CONSENSUS ASSUMES 7.56x EV/EBITDA is fair for 4% revenue growth. OUR VIEW: 10x+ warranted, as ROIC 21.6% (+13pts over WACC ~8.5%) and $7.76B net cash (32% mkt cap) are being wholly ignored.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15568"/>
            <a:ext cx="11183112" cy="384048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70432"/>
            <a:ext cx="10972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aramond"/>
              </a:rPr>
              <a:t>600bps/yr EBIT Expansion Is Structural and Priced as a Transient 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66751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The Investment 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92224"/>
            <a:ext cx="6675120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83664"/>
            <a:ext cx="6675120" cy="329184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83664"/>
            <a:ext cx="36576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1938528"/>
            <a:ext cx="12344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C00000"/>
                </a:solidFill>
                <a:latin typeface="Garamond"/>
              </a:rPr>
              <a:t>Street believes: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1938528"/>
            <a:ext cx="52578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1C2C3A"/>
                </a:solidFill>
                <a:latin typeface="Garamond"/>
              </a:rPr>
              <a:t>Consensus prices EPS declining 0.81% FY0 despite 600bps EBIT expansion data; implies ~$0.33 EPS upside if margins sustain.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2267712"/>
            <a:ext cx="6492240" cy="9692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EBIT margin expanded 1,070bps in 2 years (12.8%→23.5%) while revenue grew only 3.7% CAGR, proving the expansion is fixed-cost deleveraging, not revenue leverage — EBITDA grew 36% on 4.4% revenue growth (8.2x operating leverage ratio). Consensus models FY0 EPS declining 0.81% ($5.87 vs $5.92), implying stagnation. Sustained expansion to 25% EBIT in FY+1 drives EPS ~$6.20, creating 5.6% upside to street estimates and justifying multiple re-rating.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328416"/>
            <a:ext cx="66751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3401568"/>
            <a:ext cx="6492240" cy="2377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• EBIT margin 12.8%→17.5%→23.5% on 3.7% revenue CAGR — fixed-cost leverage persists independent of revenue acceleration
• 8.2x operating leverage (EBITDA +36% on revenue +4.4%) — magnitude confirms structural, not cyclical, cost reduction
• SBC $761mm = 15.6% of revenue; 100bps reduction → ~$49mm incremental EBIT vs. street's flat EPS assumption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54480"/>
            <a:ext cx="432511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Key Data Points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1792224"/>
            <a:ext cx="4325112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1883664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1883664"/>
            <a:ext cx="36576" cy="100584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1938528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EBIT margin 12.8%→17.5%→23.5% on 3.7% revenue CAGR — fixed-cost leverage persists independent of revenue acceleration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2944368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79" y="2944368"/>
            <a:ext cx="36576" cy="100584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19" y="2999232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8.2x operating leverage (EBITDA +36% on revenue +4.4%) — magnitude confirms structural, not cyclical, cost reduction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4005072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79" y="4005072"/>
            <a:ext cx="36576" cy="100584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19" y="4059936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SBC $761mm = 15.6% of revenue; 100bps reduction → ~$49mm incremental EBIT vs. street's flat EPS assumption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852160"/>
            <a:ext cx="11183112" cy="438912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925312"/>
            <a:ext cx="1371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amond"/>
              </a:rPr>
              <a:t>Takeaway: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925312"/>
            <a:ext cx="95097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Garamond"/>
              </a:rPr>
              <a:t>May 20 Q1 FY2027 earnings: first data point confirming if 600bps/yr expansion continues or reverts.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327648"/>
            <a:ext cx="1118311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999999"/>
                </a:solidFill>
                <a:latin typeface="Garamond"/>
              </a:rPr>
              <a:t>PT: $100.00  |  EV Return: +22.2%  |  Slide 1 of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Thesis II — $7.76B Cash Fortress Provides a Value Floor Priced as Worthless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CapIQ, Bloomberg, Investor Presentations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11183112" cy="292608"/>
          </a:xfrm>
          <a:prstGeom prst="rect">
            <a:avLst/>
          </a:prstGeom>
          <a:solidFill>
            <a:srgbClr val="EA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95528"/>
            <a:ext cx="10972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1">
                <a:solidFill>
                  <a:srgbClr val="1C2C3A"/>
                </a:solidFill>
                <a:latin typeface="Garamond"/>
              </a:rPr>
              <a:t>CONSENSUS ASSUMES 7.56x EV/EBITDA is fair for 4% revenue growth. OUR VIEW: 10x+ warranted, as ROIC 21.6% (+13pts over WACC ~8.5%) and $7.76B net cash (32% mkt cap) are being wholly ignored.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15568"/>
            <a:ext cx="11183112" cy="384048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70432"/>
            <a:ext cx="10972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aramond"/>
              </a:rPr>
              <a:t>$7.76B Cash Fortress Provides a Value Floor Priced as Worthless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66751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00ACB6"/>
                </a:solidFill>
                <a:latin typeface="Garamond"/>
              </a:rPr>
              <a:t>The Investment 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92224"/>
            <a:ext cx="6675120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83664"/>
            <a:ext cx="6675120" cy="329184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83664"/>
            <a:ext cx="36576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1938528"/>
            <a:ext cx="12344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C00000"/>
                </a:solidFill>
                <a:latin typeface="Garamond"/>
              </a:rPr>
              <a:t>Street believes: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1938528"/>
            <a:ext cx="52578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1C2C3A"/>
                </a:solidFill>
                <a:latin typeface="Garamond"/>
              </a:rPr>
              <a:t>Street prices $7.76B cash (32% mkt cap) as inert; $1B annual buybacks drive ~3.3% annual EPS accretion at current price.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2267712"/>
            <a:ext cx="6492240" cy="1261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$7.76B net cash (32% of $24.3B mkt cap) generates ~$370mm investment income annually at 4.8%. Strip cash from EV: operating business = $16.5B EV / $1.96B FCF = 8.4x EV/FCF — pricing near-terminal decline for a 77% gross margin SaaS asset with ROIC 21.6%. Each $1B buyback at $82 retires ~3.3% of float, directly accreting per-share metrics. This floor is wholly unacknowledged at 7.56x NTM EV/EBITDA.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21024"/>
            <a:ext cx="66751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3694176"/>
            <a:ext cx="6492240" cy="20848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• $7.76B net cash = 32% of mkt cap; ex-cash EV/FCF = 8.4x for a 77% gross margin software business
• FCF conversion 103.3% ($1.96B FCF vs. $1.90B NI) — cash generation is real, not accounting-driven
• Net Debt/EBITDA -6.1x vs. peer RNG at net debt — enables $2B+ buyback program without leverage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54480"/>
            <a:ext cx="432511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00ACB6"/>
                </a:solidFill>
                <a:latin typeface="Garamond"/>
              </a:rPr>
              <a:t>Key Data Points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1792224"/>
            <a:ext cx="4325112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1883664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1883664"/>
            <a:ext cx="36576" cy="100584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1938528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$7.76B net cash = 32% of mkt cap; ex-cash EV/FCF = 8.4x for a 77% gross margin software business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2944368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79" y="2944368"/>
            <a:ext cx="36576" cy="100584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19" y="2999232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FCF conversion 103.3% ($1.96B FCF vs. $1.90B NI) — cash generation is real, not accounting-driven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4005072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79" y="4005072"/>
            <a:ext cx="36576" cy="100584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19" y="4059936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Net Debt/EBITDA -6.1x vs. peer RNG at net debt — enables $2B+ buyback program without leverage risk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852160"/>
            <a:ext cx="11183112" cy="438912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925312"/>
            <a:ext cx="1371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amond"/>
              </a:rPr>
              <a:t>Takeaway: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925312"/>
            <a:ext cx="95097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Garamond"/>
              </a:rPr>
              <a:t>May 2026 earnings: any buyback acceleration announcement is an immediate per-share re-rating catalyst.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327648"/>
            <a:ext cx="1118311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999999"/>
                </a:solidFill>
                <a:latin typeface="Garamond"/>
              </a:rPr>
              <a:t>PT: $100.00  |  EV Return: +22.2%  |  Slide 2 of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Thesis III — UCaaS Commoditization Is Fully Priced In; Platform Breadth Optionality Is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CapIQ, Bloomberg, Investor Presentations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11183112" cy="292608"/>
          </a:xfrm>
          <a:prstGeom prst="rect">
            <a:avLst/>
          </a:prstGeom>
          <a:solidFill>
            <a:srgbClr val="EA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95528"/>
            <a:ext cx="10972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1">
                <a:solidFill>
                  <a:srgbClr val="1C2C3A"/>
                </a:solidFill>
                <a:latin typeface="Garamond"/>
              </a:rPr>
              <a:t>CONSENSUS ASSUMES 7.56x EV/EBITDA is fair for 4% revenue growth. OUR VIEW: 10x+ warranted, as ROIC 21.6% (+13pts over WACC ~8.5%) and $7.76B net cash (32% mkt cap) are being wholly ignored.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15568"/>
            <a:ext cx="11183112" cy="384048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70432"/>
            <a:ext cx="10972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aramond"/>
              </a:rPr>
              <a:t>UCaaS Commoditization Is Fully Priced In; Platform Breadth Optionality Is 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66751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C03B"/>
                </a:solidFill>
                <a:latin typeface="Garamond"/>
              </a:rPr>
              <a:t>The Investment 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92224"/>
            <a:ext cx="6675120" cy="22860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83664"/>
            <a:ext cx="6675120" cy="329184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83664"/>
            <a:ext cx="36576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1938528"/>
            <a:ext cx="12344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C00000"/>
                </a:solidFill>
                <a:latin typeface="Garamond"/>
              </a:rPr>
              <a:t>Street believes: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1938528"/>
            <a:ext cx="52578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1C2C3A"/>
                </a:solidFill>
                <a:latin typeface="Garamond"/>
              </a:rPr>
              <a:t>Keybanc Underweight (PT ~$66 = 5.7x EV/EBITDA) models whole-platform decline; ROIC 21.6% disproves retained-base impairment narrative.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2267712"/>
            <a:ext cx="6492240" cy="1261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Teams bundling risk is real but already priced — 7.56x EV/EBITDA sits near trough UCaaS multiples (RNG 6.32x net debt, EGHT 5.84x distressed). What is NOT priced: ROIC 21.6% proves retained accounts are value-accretive despite competition. Contact Center, Zoom Phone, and AI Companion add compounding switching costs per account. If multi-product attach drives NRR above 100% in enterprise, the 4.4% headline growth understates true platform retention health.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21024"/>
            <a:ext cx="66751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3694176"/>
            <a:ext cx="6492240" cy="20848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• ROIC 21.6% ($896mm NOPAT / $4.1B invested capital) — value creation persists today despite Teams competition
• Gross margin expanded 120bps to 77.0% in FY0 — pricing/mix improvement in a 'commoditizing' market contradicts zero-differentiation thesis
• Revenue $4.87B growing 4.4% despite Microsoft/Google bundling — base is durable at scale, not rapidly eroding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54480"/>
            <a:ext cx="432511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C03B"/>
                </a:solidFill>
                <a:latin typeface="Garamond"/>
              </a:rPr>
              <a:t>Key Data Points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1792224"/>
            <a:ext cx="4325112" cy="22860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1883664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1883664"/>
            <a:ext cx="36576" cy="1005840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1938528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ROIC 21.6% ($896mm NOPAT / $4.1B invested capital) — value creation persists today despite Teams competition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2944368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79" y="2944368"/>
            <a:ext cx="36576" cy="1005840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19" y="2999232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Gross margin expanded 120bps to 77.0% in FY0 — pricing/mix improvement in a 'commoditizing' market contradicts zero-differentiation thesis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4005072"/>
            <a:ext cx="4325112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79" y="4005072"/>
            <a:ext cx="36576" cy="1005840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19" y="4059936"/>
            <a:ext cx="4187952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1C2C3A"/>
                </a:solidFill>
                <a:latin typeface="Garamond"/>
              </a:rPr>
              <a:t>Revenue $4.87B growing 4.4% despite Microsoft/Google bundling — base is durable at scale, not rapidly eroding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852160"/>
            <a:ext cx="11183112" cy="438912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925312"/>
            <a:ext cx="1371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amond"/>
              </a:rPr>
              <a:t>Takeaway: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925312"/>
            <a:ext cx="95097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Garamond"/>
              </a:rPr>
              <a:t>May 2026 earnings Contact Center/Phone ARR disclosure is the first data point enabling multi-product platform re-rating.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327648"/>
            <a:ext cx="1118311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999999"/>
                </a:solidFill>
                <a:latin typeface="Garamond"/>
              </a:rPr>
              <a:t>PT: $100.00  |  EV Return: +22.2%  |  Slide 3 of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Scenario Analysis  |  PT: $100.00  |  EV Return: +22.2%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CapIQ, LSEG, DCF Analysis, Comparable Company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11183112" cy="347472"/>
          </a:xfrm>
          <a:prstGeom prst="rect">
            <a:avLst/>
          </a:prstGeom>
          <a:solidFill>
            <a:srgbClr val="EA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1">
                <a:solidFill>
                  <a:srgbClr val="1C2C3A"/>
                </a:solidFill>
                <a:latin typeface="Garamond"/>
              </a:rPr>
              <a:t>CONSENSUS ASSUMES 7.56x EV/EBITDA is fair for 4% revenue growth. OUR VIEW: 10x+ warranted, as ROIC 21.6% (+13pts over WACC ~8.5%) and $7.76B net cash (32% mkt cap) are being wholly ignored.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70432"/>
            <a:ext cx="1118311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Garamond"/>
              </a:rPr>
              <a:t>25% × $125 (+51.8%) + 55% × $100 (+21.4%) + 20% × $72 (-12.6%) = $31.25 + $55.00 + $14.40 = $100.65 blended PT. Return = ($100.65 - $82.36) / $82.36 = +22.2%. Exceeds 15% BUY th…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17904"/>
            <a:ext cx="3721608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63624"/>
            <a:ext cx="372160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aramond"/>
              </a:rPr>
              <a:t>BEAR  |  20%  |  PT: $72.00  |  -12.6%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65376"/>
            <a:ext cx="3721608" cy="42976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938528"/>
            <a:ext cx="3502152" cy="4187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Two consecutive quarters revenue growth &lt;2%; EBIT margin stalls below 22% from defensive R&amp;D investment.
• FY+2 revenue $5,170mm (+1.9%); adj. EBITDA $2,100mm; 7x EV/EBITDA = $14,700mm EV + $8,000mm cash …
• Multiple floors at 7x (peer floor); institutional exit pressure on growth deceleration narrative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8848" y="1517904"/>
            <a:ext cx="3721608" cy="329184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563624"/>
            <a:ext cx="372160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aramond"/>
              </a:rPr>
              <a:t>BASE  |  55%  |  PT: $100.00  |  +21.4%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98848" y="1865376"/>
            <a:ext cx="3721608" cy="429768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1938528"/>
            <a:ext cx="3502152" cy="4187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Revenue grows 4-5% NTM in line with consensus; EBIT reaches 25%; multiple expands from 7.56x to 10x EV/EBITDA.
• FY+2 revenue $5,272mm (+4.0%); adj. EBITDA $2,270mm; 10x EV/EBITDA = $22,700mm EV + $8,700mm net …
• Buybacks $1.0-1.5B/yr; Teams risk contained to moderate attrition, not acceleration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57616" y="1517904"/>
            <a:ext cx="3721608" cy="329184"/>
          </a:xfrm>
          <a:prstGeom prst="rect">
            <a:avLst/>
          </a:prstGeom>
          <a:solidFill>
            <a:srgbClr val="00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1563624"/>
            <a:ext cx="372160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aramond"/>
              </a:rPr>
              <a:t>BULL  |  25%  |  PT: $125.00  |  +51.8%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57616" y="1865376"/>
            <a:ext cx="3721608" cy="4297680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1938528"/>
            <a:ext cx="3502152" cy="4187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Garamond"/>
              </a:rPr>
              <a:t>Contact Center ARR &gt;20% YoY at May 2026 earnings; $2B+ buyback announced; multiple re-rates to 12x.
• FY+2 revenue $5,380mm (+6.1%); adj. EBITDA $2,500mm; 12x NTM EV/EBITDA = $30,000mm EV + $9,700mm …
• SBC declines to 14% of revenue; EBIT margin reaches 27% in FY+3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236208"/>
            <a:ext cx="11183112" cy="292608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281928"/>
            <a:ext cx="10972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Garamond"/>
              </a:rPr>
              <a:t>Bear: 20%×-12.6%=-2.5%  +  Base: 55%×+21.4%=+11.8%  +  Bull: 25%×+51.8%=+12.9%  |  → EV Return: +22.2%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Risks &amp; Mitigants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Earnings Calls, CapIQ, Bloomberg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8"/>
            <a:ext cx="11183112" cy="292608"/>
          </a:xfrm>
          <a:prstGeom prst="rect">
            <a:avLst/>
          </a:prstGeom>
          <a:solidFill>
            <a:srgbClr val="EA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804672"/>
            <a:ext cx="10972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1">
                <a:solidFill>
                  <a:srgbClr val="1C2C3A"/>
                </a:solidFill>
                <a:latin typeface="Garamond"/>
              </a:rPr>
              <a:t>Market prices these risks at a higher probability than the underlying data supports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1508760" cy="27432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1097280"/>
            <a:ext cx="6400800" cy="27432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0224" y="1097280"/>
            <a:ext cx="1508760" cy="274320"/>
          </a:xfrm>
          <a:prstGeom prst="rect">
            <a:avLst/>
          </a:prstGeom>
          <a:solidFill>
            <a:srgbClr val="505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13848" y="1097280"/>
            <a:ext cx="1609344" cy="27432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133856"/>
            <a:ext cx="1399031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aramond"/>
              </a:rPr>
              <a:t>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9424" y="1133856"/>
            <a:ext cx="6291072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aramond"/>
              </a:rPr>
              <a:t>Risk Description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1133856"/>
            <a:ext cx="1399031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aramond"/>
              </a:rPr>
              <a:t>Prob /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68712" y="1133856"/>
            <a:ext cx="149961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aramond"/>
              </a:rPr>
              <a:t>Mitigants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408176"/>
            <a:ext cx="1508760" cy="1572768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481328"/>
            <a:ext cx="1508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aramon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993392"/>
            <a:ext cx="150876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Garamond"/>
              </a:rPr>
              <a:t>Bundling Displacement Revenue Stall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478024"/>
            <a:ext cx="150876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 i="0">
                <a:solidFill>
                  <a:srgbClr val="FFFF80"/>
                </a:solidFill>
                <a:latin typeface="Garamond"/>
              </a:rPr>
              <a:t>THESIS
KILLER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1408176"/>
            <a:ext cx="6400800" cy="157276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04288" y="1463040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Garamond"/>
              </a:rPr>
              <a:t>Risk: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4288" y="1700784"/>
            <a:ext cx="6181344" cy="12252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Microsoft Teams (included at no incremental cost inside M365, already deployed at the vast majority of Fortune 500 enterprises) and Google Meet (included in Workspace) create a structural price ceiling that makes Zoom's standalone video conferencing value proposition difficult to defend in the mass-market and mid-market segments. The r…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50224" y="1408176"/>
            <a:ext cx="1508760" cy="157276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1517904"/>
            <a:ext cx="1417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1C2C3A"/>
                </a:solidFill>
                <a:latin typeface="Garamond"/>
              </a:rPr>
              <a:t>Prob: 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1828800"/>
            <a:ext cx="1417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 i="0">
                <a:solidFill>
                  <a:srgbClr val="1C2C3A"/>
                </a:solidFill>
                <a:latin typeface="Garamond"/>
              </a:rPr>
              <a:t>Impact: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157984"/>
            <a:ext cx="14173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 i="0">
                <a:solidFill>
                  <a:srgbClr val="C00000"/>
                </a:solidFill>
                <a:latin typeface="Garamond"/>
              </a:rPr>
              <a:t>-35%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13848" y="1408176"/>
            <a:ext cx="1609344" cy="1572768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59568" y="1463040"/>
            <a:ext cx="148132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00B050"/>
                </a:solidFill>
                <a:latin typeface="Garamond"/>
              </a:rPr>
              <a:t>Mitigant: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59568" y="1700784"/>
            <a:ext cx="1481328" cy="12252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Zoom's competitive position is most durable in the large-enterprise cohort (&gt;1,000 seats) where its reliability track record, breadth of integrated products (Zoom Phone, Zoom Contact Center, Zoom Rooms), and dedicated…
Monitor: Sequential decline in Zoom's disclosed enterprise cu…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2980944"/>
            <a:ext cx="1508760" cy="1572768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054096"/>
            <a:ext cx="1508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aramond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566160"/>
            <a:ext cx="150876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Garamond"/>
              </a:rPr>
              <a:t>AI Companion Monetization Fails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94560" y="2980944"/>
            <a:ext cx="6400800" cy="157276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04288" y="3035808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Garamond"/>
              </a:rPr>
              <a:t>Risk: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04288" y="3273551"/>
            <a:ext cx="6181344" cy="12252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Zoom's bull case depends critically on AI Companion — meeting summaries, task extraction, agentic scheduling, and coaching features — creating a new monetization layer that re-accelerates ARPU growth and justifies a platform re-rating above the core video conferencing multiple. This thesis is structurally undermined by Microsoft Copilo…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50224" y="2980944"/>
            <a:ext cx="1508760" cy="157276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0" y="3090672"/>
            <a:ext cx="1417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1C2C3A"/>
                </a:solidFill>
                <a:latin typeface="Garamond"/>
              </a:rPr>
              <a:t>Prob: 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401568"/>
            <a:ext cx="1417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 i="0">
                <a:solidFill>
                  <a:srgbClr val="1C2C3A"/>
                </a:solidFill>
                <a:latin typeface="Garamond"/>
              </a:rPr>
              <a:t>Impact: 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3730752"/>
            <a:ext cx="14173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 i="0">
                <a:solidFill>
                  <a:srgbClr val="C00000"/>
                </a:solidFill>
                <a:latin typeface="Garamond"/>
              </a:rPr>
              <a:t>-22%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13848" y="2980944"/>
            <a:ext cx="1609344" cy="1572768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59568" y="3035808"/>
            <a:ext cx="148132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00B050"/>
                </a:solidFill>
                <a:latin typeface="Garamond"/>
              </a:rPr>
              <a:t>Mitigant: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59568" y="3273551"/>
            <a:ext cx="1481328" cy="12252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Zoom's AI surface area extends beyond meeting summarization into Zoom Contact Center (AI CSAT scoring, real-time agent assist, sentiment analysis) and Zoom Phone (AI call summaries, voicemail intelligence), which comp…
Monitor: Sequential decline in enterprise-segment ARPU for an…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553712"/>
            <a:ext cx="1508760" cy="1572768"/>
          </a:xfrm>
          <a:prstGeom prst="rect">
            <a:avLst/>
          </a:prstGeom>
          <a:solidFill>
            <a:srgbClr val="FFC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626864"/>
            <a:ext cx="1508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aramond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138928"/>
            <a:ext cx="150876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Garamond"/>
              </a:rPr>
              <a:t>Hidden NRR Deterioration and Ear…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94560" y="4553712"/>
            <a:ext cx="6400800" cy="157276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04288" y="4608576"/>
            <a:ext cx="914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Garamond"/>
              </a:rPr>
              <a:t>Risk: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04288" y="4846320"/>
            <a:ext cx="6181344" cy="12252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The three metrics most predictive of FCF sustainability in a mature SaaS business — net revenue retention rate, gross churn rate, and average contract length — are all N/A from provided inputs, which is itself a governance and disclosure risk for a company of Zoom's scale. Compounding this opacity, GAAP net income of $1,900M is reporte…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50224" y="4553712"/>
            <a:ext cx="1508760" cy="1572768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0" y="4663440"/>
            <a:ext cx="1417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1C2C3A"/>
                </a:solidFill>
                <a:latin typeface="Garamond"/>
              </a:rPr>
              <a:t>Prob: 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4974336"/>
            <a:ext cx="1417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 i="0">
                <a:solidFill>
                  <a:srgbClr val="1C2C3A"/>
                </a:solidFill>
                <a:latin typeface="Garamond"/>
              </a:rPr>
              <a:t>Impact: 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5303520"/>
            <a:ext cx="14173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 i="0">
                <a:solidFill>
                  <a:srgbClr val="C00000"/>
                </a:solidFill>
                <a:latin typeface="Garamond"/>
              </a:rPr>
              <a:t>-27%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213848" y="4553712"/>
            <a:ext cx="1609344" cy="1572768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59568" y="4608576"/>
            <a:ext cx="148132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00B050"/>
                </a:solidFill>
                <a:latin typeface="Garamond"/>
              </a:rPr>
              <a:t>Mitigant: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59568" y="4846320"/>
            <a:ext cx="1481328" cy="12252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The FCF conversion rate of 147% — significantly above 100% — is a balance sheet signal that is difficult to fabricate structurally: it implies deferred revenue is growing (customers prepaying in advance), which is inc…
Monitor: Sequential decline of &gt;5% in deferred revenue balanc…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6035040"/>
            <a:ext cx="11183112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1">
                <a:solidFill>
                  <a:srgbClr val="595959"/>
                </a:solidFill>
                <a:latin typeface="Garamond"/>
              </a:rPr>
              <a:t>What would make us wrong:  Zoom's net revenue retention rate (NRR) is at or above 105% for two consecuti…  |  Zoom Phone reaches 10 million active seats by end of FY27 (January 31, 2027),…  |  Microsoft Teams' share of new enterprise UCaaS deployments (measured by seat 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What You Need to Believe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CapIQ, Bloomberg, Investor 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1183112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1">
                <a:solidFill>
                  <a:srgbClr val="1C2C3A"/>
                </a:solidFill>
                <a:latin typeface="Garamond"/>
              </a:rPr>
              <a:t>We believe our investment theses position us to get into an excellent name at the right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3108960" cy="31089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124712"/>
            <a:ext cx="29992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Key Debate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8768" y="1097280"/>
            <a:ext cx="4041648" cy="310896"/>
          </a:xfrm>
          <a:prstGeom prst="rect">
            <a:avLst/>
          </a:prstGeom>
          <a:solidFill>
            <a:srgbClr val="A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13631" y="1124712"/>
            <a:ext cx="3931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Street 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0144" y="1097280"/>
            <a:ext cx="4032504" cy="310896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8" y="1124712"/>
            <a:ext cx="39227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aramond"/>
              </a:rPr>
              <a:t>Our 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435608"/>
            <a:ext cx="3108960" cy="1417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435608"/>
            <a:ext cx="54864" cy="141732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1527048"/>
            <a:ext cx="2926079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Will EBIT margin expansion continue or has it peaked at 23.5%?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58768" y="1435608"/>
            <a:ext cx="4041648" cy="1417320"/>
          </a:xfrm>
          <a:prstGeom prst="rect">
            <a:avLst/>
          </a:prstGeom>
          <a:solidFill>
            <a:srgbClr val="FFD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58768" y="1435608"/>
            <a:ext cx="54864" cy="1417320"/>
          </a:xfrm>
          <a:prstGeom prst="rect">
            <a:avLst/>
          </a:prstGeom>
          <a:solidFill>
            <a:srgbClr val="A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8496" y="1527048"/>
            <a:ext cx="3858768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Consensus EPS $5.87 FY0 (-0.81% vs. $5.92 prior year) implies margins flatten; R&amp;D or SBC reinvestment accelerates.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0144" y="1435608"/>
            <a:ext cx="4032504" cy="1417320"/>
          </a:xfrm>
          <a:prstGeom prst="rect">
            <a:avLst/>
          </a:prstGeom>
          <a:solidFill>
            <a:srgbClr val="C5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1435608"/>
            <a:ext cx="54864" cy="141732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1" y="1527048"/>
            <a:ext cx="3849624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EBIT reaches 25% in FY+1 as SBC drops ~100bps of revenue; falsifiable at May 20 earnings — drives EPS ~$6.20 vs. street $5.87.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889504"/>
            <a:ext cx="3108960" cy="14173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2889504"/>
            <a:ext cx="54864" cy="141732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2980944"/>
            <a:ext cx="2926079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Does $7.76B cash get deployed productively or remain inert?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58768" y="2889504"/>
            <a:ext cx="4041648" cy="1417320"/>
          </a:xfrm>
          <a:prstGeom prst="rect">
            <a:avLst/>
          </a:prstGeom>
          <a:solidFill>
            <a:srgbClr val="FFD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58768" y="2889504"/>
            <a:ext cx="54864" cy="1417320"/>
          </a:xfrm>
          <a:prstGeom prst="rect">
            <a:avLst/>
          </a:prstGeom>
          <a:solidFill>
            <a:srgbClr val="A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68496" y="2980944"/>
            <a:ext cx="3858768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Consensus PT $97.33 implies partial cash recognition but models near-zero EPS accretion from capital return activity.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10144" y="2889504"/>
            <a:ext cx="4032504" cy="1417320"/>
          </a:xfrm>
          <a:prstGeom prst="rect">
            <a:avLst/>
          </a:prstGeom>
          <a:solidFill>
            <a:srgbClr val="C5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0144" y="2889504"/>
            <a:ext cx="54864" cy="141732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1" y="2980944"/>
            <a:ext cx="3849624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$2B/yr buybacks retire ~8% of float in 2 years; at $5.87 EPS, accretion alone = ~$0.47/share without any operating improvement.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343400"/>
            <a:ext cx="3108960" cy="1417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343400"/>
            <a:ext cx="54864" cy="141732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434840"/>
            <a:ext cx="2926079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Is 4% revenue growth a ceiling or a floor with Contact Center/Phone upside?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58768" y="4343400"/>
            <a:ext cx="4041648" cy="1417320"/>
          </a:xfrm>
          <a:prstGeom prst="rect">
            <a:avLst/>
          </a:prstGeom>
          <a:solidFill>
            <a:srgbClr val="FFD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58768" y="4343400"/>
            <a:ext cx="54864" cy="1417320"/>
          </a:xfrm>
          <a:prstGeom prst="rect">
            <a:avLst/>
          </a:prstGeom>
          <a:solidFill>
            <a:srgbClr val="A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68496" y="4434840"/>
            <a:ext cx="3858768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Street models FY+2 revenue $5,272mm (+3.96%); consensus implies deceleration with no re-acceleration above 4% modeled.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10144" y="4343400"/>
            <a:ext cx="4032504" cy="1417320"/>
          </a:xfrm>
          <a:prstGeom prst="rect">
            <a:avLst/>
          </a:prstGeom>
          <a:solidFill>
            <a:srgbClr val="C5F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10144" y="4343400"/>
            <a:ext cx="54864" cy="141732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19871" y="4434840"/>
            <a:ext cx="3849624" cy="1271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Garamond"/>
              </a:rPr>
              <a:t>4% is the floor; CCaaS optionality, AI Companion upsell, and Phone ARR represent upside the base ignores — one re-acceleration quarter changes the narrative.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870448"/>
            <a:ext cx="11183112" cy="27432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907024"/>
            <a:ext cx="45720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amond"/>
              </a:rPr>
              <a:t>What You're Buying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199632"/>
            <a:ext cx="5577840" cy="6035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• EBIT margin 12.8%→23.5% in 2 years on 3.7% revenue CAGR — structural fixed-cost leverage, not top-line dependent — proves the e…
• ROIC 21.6% vs. estimated WACC ~8.5% = +13pt spread; RNG trades at 6.32x EV/EBITDA with net debt and 14% EBITDA margins vs. ZM's…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6199632"/>
            <a:ext cx="5394960" cy="6035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• $7.76B net cash = 32% of $24.3B mkt cap; ex-cash EV/FCF = 8.4x ($16.5B EV / $1.96B FCF) — pricing near-terminal decline for a 7…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6876288"/>
            <a:ext cx="11183112" cy="45720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6949440"/>
            <a:ext cx="109728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1">
                <a:solidFill>
                  <a:srgbClr val="FFFFFF"/>
                </a:solidFill>
                <a:latin typeface="Garamond"/>
              </a:rPr>
              <a:t>We believe our investment theses position us to get into an excellent name at the right time.  BUY  |  PT: $100.00  |  Expected Return: +21.4% over 12 months.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"/>
            <a:ext cx="107899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0" i="0">
                <a:solidFill>
                  <a:srgbClr val="1C2C3A"/>
                </a:solidFill>
                <a:latin typeface="Garamond"/>
              </a:rPr>
              <a:t>Catalyst Timeline &amp; Monitoring KPIs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11183112" cy="36576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656832"/>
            <a:ext cx="10515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Garamond"/>
              </a:rPr>
              <a:t>Sources: SEC Filings, Earnings Calls, Bloomberg, CapIQ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118311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C2C39"/>
                </a:solidFill>
                <a:latin typeface="Garamond"/>
              </a:rPr>
              <a:t>Catalyst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87552"/>
            <a:ext cx="11183112" cy="22860"/>
          </a:xfrm>
          <a:prstGeom prst="rect">
            <a:avLst/>
          </a:prstGeom>
          <a:solidFill>
            <a:srgbClr val="1C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042415"/>
          <a:ext cx="11183111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926080"/>
                <a:gridCol w="2560319"/>
                <a:gridCol w="1371600"/>
                <a:gridCol w="2770632"/>
              </a:tblGrid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Date / Timing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Event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Falsifiability Threshold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Est. Impact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Thesis Point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May 20,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Q1 FY2027 earnings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+8% if Contact Center/…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Platform breadth + margin expansion pillars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Q1-Q2 FY2027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Buyback acceleration announcement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+6% immediate; ~$0.47/…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Cash fortress pillar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Q3 FY2027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SBC falls below 14% of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+5% as real FCF yield 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Margin expansion pillar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907792"/>
            <a:ext cx="1118311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00ACB6"/>
                </a:solidFill>
                <a:latin typeface="Garamond"/>
              </a:rPr>
              <a:t>Monitoring KPIs — What to Watch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45536"/>
            <a:ext cx="11183112" cy="22860"/>
          </a:xfrm>
          <a:prstGeom prst="rect">
            <a:avLst/>
          </a:prstGeom>
          <a:solidFill>
            <a:srgbClr val="00AC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218688"/>
          <a:ext cx="11183112" cy="2066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828800"/>
                <a:gridCol w="2286000"/>
                <a:gridCol w="2286000"/>
                <a:gridCol w="1673352"/>
              </a:tblGrid>
              <a:tr h="41330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Metric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Current Level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Thesis Requires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Red Flag Threshold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aramond"/>
                        </a:rPr>
                        <a:t>Freq</a:t>
                      </a:r>
                    </a:p>
                  </a:txBody>
                  <a:tcPr>
                    <a:solidFill>
                      <a:srgbClr val="1C2C39"/>
                    </a:solidFill>
                  </a:tcPr>
                </a:tc>
              </a:tr>
              <a:tr h="4133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EBIT margin (quarterly)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23.5% FY0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≥24.5% Q1 FY2027 — confirms 600bps/yr traj…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&lt;22% — expansion reversed, downgrade trigger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quarterly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33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Revenue YoY growth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+4.4% FY0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≥4% NTM; re-acceleration toward 6% = bull 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&lt;2% two consecutive quarters — Teams displ…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quarterly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133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SBC as % of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15.6% ($761mm FY0)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&lt;14% confirms real FCF accretion above con…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&gt;17% — dilution accelerating, FCF quality 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quarterly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3311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Buyback $ deployed (annualized)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N/A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$1.5B+ annualized confirms capital return 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&lt;$500mm/yr — $7.76B cash sitting inert, th…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Garamond"/>
                        </a:rPr>
                        <a:t>quarterly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6565392"/>
            <a:ext cx="11183112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1">
                <a:solidFill>
                  <a:srgbClr val="595959"/>
                </a:solidFill>
                <a:latin typeface="Garamond"/>
              </a:rPr>
              <a:t>Change of View Triggers: EBIT margin below 22% in Q1 FY2027 (May 20, 2026 earnings)  |  Revenue re-accelerates above 6% with Contact Center/Phone NRR above…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91440"/>
            <a:ext cx="3474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i="0">
                <a:solidFill>
                  <a:srgbClr val="1C2C3A"/>
                </a:solidFill>
                <a:latin typeface="Garamond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