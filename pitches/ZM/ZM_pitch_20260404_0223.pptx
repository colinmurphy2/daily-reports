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900" b="1"/>
              <a:t>Revenue History ($M)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($M)</c:v>
                </c:pt>
              </c:strCache>
            </c:strRef>
          </c:tx>
          <c:spPr>
            <a:solidFill>
              <a:srgbClr val="1C2C39"/>
            </a:solidFill>
          </c:spPr>
          <c:cat>
            <c:strRef>
              <c:f>Sheet1!$A$2:$A$4</c:f>
              <c:strCache>
                <c:ptCount val="3"/>
                <c:pt idx="0">
                  <c:v>FY-2</c:v>
                </c:pt>
                <c:pt idx="1">
                  <c:v>FY-1</c:v>
                </c:pt>
                <c:pt idx="2">
                  <c:v>FY0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4527.224</c:v>
                </c:pt>
                <c:pt idx="1">
                  <c:v>4665.433</c:v>
                </c:pt>
                <c:pt idx="2">
                  <c:v>4868.769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0"/>
            <a:ext cx="12371832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161288"/>
          </a:xfrm>
          <a:prstGeom prst="rect">
            <a:avLst/>
          </a:prstGeom>
          <a:solidFill>
            <a:srgbClr val="FFC0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64592" cy="1161288"/>
          </a:xfrm>
          <a:prstGeom prst="rect">
            <a:avLst/>
          </a:prstGeom>
          <a:solidFill>
            <a:srgbClr val="00AC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2286000"/>
            <a:ext cx="164592" cy="116128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3429000"/>
            <a:ext cx="164592" cy="1161288"/>
          </a:xfrm>
          <a:prstGeom prst="rect">
            <a:avLst/>
          </a:prstGeom>
          <a:solidFill>
            <a:srgbClr val="1C2C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4572000"/>
            <a:ext cx="164592" cy="1161288"/>
          </a:xfrm>
          <a:prstGeom prst="rect">
            <a:avLst/>
          </a:prstGeom>
          <a:solidFill>
            <a:srgbClr val="00AC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5715000"/>
            <a:ext cx="164592" cy="1161288"/>
          </a:xfrm>
          <a:prstGeom prst="rect">
            <a:avLst/>
          </a:prstGeom>
          <a:solidFill>
            <a:srgbClr val="D8D9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1837943"/>
            <a:ext cx="4315968" cy="2505456"/>
          </a:xfrm>
          <a:prstGeom prst="rect">
            <a:avLst/>
          </a:prstGeom>
          <a:solidFill>
            <a:srgbClr val="252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2011680"/>
            <a:ext cx="4096512" cy="9601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Garamond"/>
              </a:rPr>
              <a:t>Zoom Communications, Inc.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3017520"/>
            <a:ext cx="4096512" cy="4754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aramond"/>
              </a:rPr>
              <a:t>NASDAQ: ZM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" y="3529584"/>
            <a:ext cx="4096512" cy="32918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Garamond"/>
              </a:rPr>
              <a:t>Real Estate  —  April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" y="3986784"/>
            <a:ext cx="2286000" cy="4754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200" b="1" i="0">
                <a:solidFill>
                  <a:srgbClr val="00AF50"/>
                </a:solidFill>
                <a:latin typeface="Garamond"/>
              </a:rPr>
              <a:t>Long: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0" y="365760"/>
            <a:ext cx="5971032" cy="6199632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72200" y="502920"/>
            <a:ext cx="5303520" cy="2377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 i="0">
                <a:solidFill>
                  <a:srgbClr val="888888"/>
                </a:solidFill>
                <a:latin typeface="Garamond"/>
              </a:rPr>
              <a:t>KEY METRICS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72200" y="749808"/>
            <a:ext cx="5303520" cy="22860"/>
          </a:xfrm>
          <a:prstGeom prst="rect">
            <a:avLst/>
          </a:prstGeom>
          <a:solidFill>
            <a:srgbClr val="00AC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72200" y="859536"/>
            <a:ext cx="530352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Garamond"/>
              </a:rPr>
              <a:t>NYSE: ZM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72200" y="1170432"/>
            <a:ext cx="29260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1" i="0">
                <a:solidFill>
                  <a:srgbClr val="AAAAAA"/>
                </a:solidFill>
                <a:latin typeface="Garamond"/>
              </a:rPr>
              <a:t>Current Price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98280" y="1170432"/>
            <a:ext cx="274320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  <a:latin typeface="Garamond"/>
              </a:rPr>
              <a:t>$82.36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72200" y="1517904"/>
            <a:ext cx="29260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1" i="0">
                <a:solidFill>
                  <a:srgbClr val="AAAAAA"/>
                </a:solidFill>
                <a:latin typeface="Garamond"/>
              </a:rPr>
              <a:t>52-Wk Range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98280" y="1517904"/>
            <a:ext cx="274320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  <a:latin typeface="Garamond"/>
              </a:rPr>
              <a:t>N/A – N/A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72200" y="1865376"/>
            <a:ext cx="29260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1" i="0">
                <a:solidFill>
                  <a:srgbClr val="AAAAAA"/>
                </a:solidFill>
                <a:latin typeface="Garamond"/>
              </a:rPr>
              <a:t>Market Cap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98280" y="1865376"/>
            <a:ext cx="274320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  <a:latin typeface="Garamond"/>
              </a:rPr>
              <a:t>N/A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72200" y="2212848"/>
            <a:ext cx="29260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1" i="0">
                <a:solidFill>
                  <a:srgbClr val="AAAAAA"/>
                </a:solidFill>
                <a:latin typeface="Garamond"/>
              </a:rPr>
              <a:t>Dividend Yield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98280" y="2212848"/>
            <a:ext cx="274320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  <a:latin typeface="Garamond"/>
              </a:rPr>
              <a:t>N/A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72200" y="2560320"/>
            <a:ext cx="29260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1" i="0">
                <a:solidFill>
                  <a:srgbClr val="AAAAAA"/>
                </a:solidFill>
                <a:latin typeface="Garamond"/>
              </a:rPr>
              <a:t>Beta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98280" y="2560320"/>
            <a:ext cx="274320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  <a:latin typeface="Garamond"/>
              </a:rPr>
              <a:t>N/A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72200" y="2907791"/>
            <a:ext cx="29260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1" i="0">
                <a:solidFill>
                  <a:srgbClr val="AAAAAA"/>
                </a:solidFill>
                <a:latin typeface="Garamond"/>
              </a:rPr>
              <a:t>Price Target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98280" y="2907791"/>
            <a:ext cx="274320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  <a:latin typeface="Garamond"/>
              </a:rPr>
              <a:t>$100.00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72200" y="3255263"/>
            <a:ext cx="29260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1" i="0">
                <a:solidFill>
                  <a:srgbClr val="AAAAAA"/>
                </a:solidFill>
                <a:latin typeface="Garamond"/>
              </a:rPr>
              <a:t>Expected Return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98280" y="3255263"/>
            <a:ext cx="274320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  <a:latin typeface="Garamond"/>
              </a:rPr>
              <a:t>+22.2%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72200" y="3602735"/>
            <a:ext cx="29260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1" i="0">
                <a:solidFill>
                  <a:srgbClr val="AAAAAA"/>
                </a:solidFill>
                <a:latin typeface="Garamond"/>
              </a:rPr>
              <a:t>Conviction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98280" y="3602735"/>
            <a:ext cx="274320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  <a:latin typeface="Garamond"/>
              </a:rPr>
              <a:t>6/5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72200" y="3950207"/>
            <a:ext cx="29260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1" i="0">
                <a:solidFill>
                  <a:srgbClr val="AAAAAA"/>
                </a:solidFill>
                <a:latin typeface="Garamond"/>
              </a:rPr>
              <a:t>Time Horizon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98280" y="3950207"/>
            <a:ext cx="274320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  <a:latin typeface="Garamond"/>
              </a:rPr>
              <a:t>12 months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72200" y="4343399"/>
            <a:ext cx="5303520" cy="22860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72200" y="4462271"/>
            <a:ext cx="530352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1" i="0">
                <a:solidFill>
                  <a:srgbClr val="888888"/>
                </a:solidFill>
                <a:latin typeface="Garamond"/>
              </a:rPr>
              <a:t>THESIS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72200" y="4681727"/>
            <a:ext cx="5303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CCCCCC"/>
                </a:solidFill>
                <a:latin typeface="Garamond"/>
              </a:rPr>
              <a:t>CONSENSUS ASSUMES 7.56x EV/EBITDA is fair for 4% revenue growth. OUR VIEW: 10x+ warranted, as ROIC 21.6% (+13pts over WACC ~8.5%) and $7.76B net cash (32% mkt cap) are being wholly ignored.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72200" y="5806440"/>
            <a:ext cx="530352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50" b="1" i="0">
                <a:solidFill>
                  <a:srgbClr val="FFC03B"/>
                </a:solidFill>
                <a:latin typeface="Garamond"/>
              </a:rPr>
              <a:t>Verify: 5.0/10 FAIL</a:t>
            </a:r>
          </a:p>
        </p:txBody>
      </p:sp>
      <p:sp>
        <p:nvSpPr>
          <p:cNvPr id="40" name="Rectangle 39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7200" y="6492240"/>
            <a:ext cx="868680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50" b="1" i="0">
                <a:solidFill>
                  <a:srgbClr val="000000"/>
                </a:solidFill>
                <a:latin typeface="Garamond"/>
              </a:rPr>
              <a:t>CONFIDENTIAL — FOR INSTITUTIONAL INVESTOR USE ONLY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44000" y="6492240"/>
            <a:ext cx="274320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50" b="0" i="0">
                <a:solidFill>
                  <a:srgbClr val="595959"/>
                </a:solidFill>
                <a:latin typeface="Garamond"/>
              </a:rPr>
              <a:t>April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73152"/>
            <a:ext cx="10789920" cy="5669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800" b="0" i="0">
                <a:solidFill>
                  <a:srgbClr val="1C2C3A"/>
                </a:solidFill>
                <a:latin typeface="Garamond"/>
              </a:rPr>
              <a:t>Company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658368"/>
            <a:ext cx="11183112" cy="36576"/>
          </a:xfrm>
          <a:prstGeom prst="rect">
            <a:avLst/>
          </a:prstGeom>
          <a:solidFill>
            <a:srgbClr val="1C2C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656832"/>
            <a:ext cx="1051560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1">
                <a:solidFill>
                  <a:srgbClr val="999999"/>
                </a:solidFill>
                <a:latin typeface="Garamond"/>
              </a:rPr>
              <a:t>Sources: SEC Filings, CapIQ, LSEG, Investor Presentations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31520"/>
            <a:ext cx="5303520" cy="2377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1" i="0">
                <a:solidFill>
                  <a:srgbClr val="1C2C39"/>
                </a:solidFill>
                <a:latin typeface="Garamond"/>
              </a:rPr>
              <a:t>Business Description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969264"/>
            <a:ext cx="5303520" cy="22860"/>
          </a:xfrm>
          <a:prstGeom prst="rect">
            <a:avLst/>
          </a:prstGeom>
          <a:solidFill>
            <a:srgbClr val="1C2C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024128"/>
            <a:ext cx="5212080" cy="17373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50" b="0" i="0">
                <a:solidFill>
                  <a:srgbClr val="000000"/>
                </a:solidFill>
                <a:latin typeface="Garamond"/>
              </a:rPr>
              <a:t>Zoom Communications, Inc. (formerly Zoom Video Communications) provides a cloud-native unified communications platform including video meetings, phone (Zoom Phone), webinars, contact center (Zoom Contact Center), and AI-assisted productivity tools. Revenue is primarily subscription-based, sold direct and through channel partners to enterprise and SMB customers globally. Fiscal year ends January 31.
Revenue Drivers:
  • Enterprise subscription licenses — share of total N/A (segment split not provided in av…
  • Online/self-serve subscription licenses — share of total N/A
  • Zoom Phone seats — contribution % N/A
  • Zoom Contact Center / Workvivo — contribution % N/A; identified as growth vectors in 10…
Model: Subscription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816352"/>
            <a:ext cx="5303520" cy="2377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1" i="0">
                <a:solidFill>
                  <a:srgbClr val="1C2C39"/>
                </a:solidFill>
                <a:latin typeface="Garamond"/>
              </a:rPr>
              <a:t>Key Financials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054096"/>
            <a:ext cx="5303520" cy="22860"/>
          </a:xfrm>
          <a:prstGeom prst="rect">
            <a:avLst/>
          </a:prstGeom>
          <a:solidFill>
            <a:srgbClr val="1C2C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3127248"/>
            <a:ext cx="2651760" cy="384048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" y="3163824"/>
            <a:ext cx="1508760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1" i="0">
                <a:solidFill>
                  <a:srgbClr val="1C2C3A"/>
                </a:solidFill>
                <a:latin typeface="Garamond"/>
              </a:rPr>
              <a:t>Current Price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12848" y="3163824"/>
            <a:ext cx="1033271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100" b="1" i="0">
                <a:solidFill>
                  <a:srgbClr val="1C2C3A"/>
                </a:solidFill>
                <a:latin typeface="Garamond"/>
              </a:rPr>
              <a:t>See Note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37560" y="3127248"/>
            <a:ext cx="2651760" cy="384048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92424" y="3163824"/>
            <a:ext cx="1508760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1" i="0">
                <a:solidFill>
                  <a:srgbClr val="1C2C3A"/>
                </a:solidFill>
                <a:latin typeface="Garamond"/>
              </a:rPr>
              <a:t>52-Wk Range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10328" y="3163824"/>
            <a:ext cx="1033271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100" b="1" i="0">
                <a:solidFill>
                  <a:srgbClr val="1C2C3A"/>
                </a:solidFill>
                <a:latin typeface="Garamond"/>
              </a:rPr>
              <a:t>N/A – N/A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3529584"/>
            <a:ext cx="2651760" cy="384048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4944" y="3566160"/>
            <a:ext cx="1508760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1" i="0">
                <a:solidFill>
                  <a:srgbClr val="1C2C3A"/>
                </a:solidFill>
                <a:latin typeface="Garamond"/>
              </a:rPr>
              <a:t>Market Cap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12848" y="3566160"/>
            <a:ext cx="1033271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100" b="1" i="0">
                <a:solidFill>
                  <a:srgbClr val="1C2C3A"/>
                </a:solidFill>
                <a:latin typeface="Garamond"/>
              </a:rPr>
              <a:t>N/A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337560" y="3529584"/>
            <a:ext cx="2651760" cy="384048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92424" y="3566160"/>
            <a:ext cx="1508760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1" i="0">
                <a:solidFill>
                  <a:srgbClr val="1C2C3A"/>
                </a:solidFill>
                <a:latin typeface="Garamond"/>
              </a:rPr>
              <a:t>Revenue (LTM)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10328" y="3566160"/>
            <a:ext cx="1033271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100" b="1" i="0">
                <a:solidFill>
                  <a:srgbClr val="1C2C3A"/>
                </a:solidFill>
                <a:latin typeface="Garamond"/>
              </a:rPr>
              <a:t>$4.9B (FY0)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3931920"/>
            <a:ext cx="2651760" cy="384048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4944" y="3968496"/>
            <a:ext cx="1508760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1" i="0">
                <a:solidFill>
                  <a:srgbClr val="1C2C3A"/>
                </a:solidFill>
                <a:latin typeface="Garamond"/>
              </a:rPr>
              <a:t>EBIT Margin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12848" y="3968496"/>
            <a:ext cx="1033271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100" b="1" i="0">
                <a:solidFill>
                  <a:srgbClr val="1C2C3A"/>
                </a:solidFill>
                <a:latin typeface="Garamond"/>
              </a:rPr>
              <a:t>23.5%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337560" y="3931920"/>
            <a:ext cx="2651760" cy="384048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392424" y="3968496"/>
            <a:ext cx="1508760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1" i="0">
                <a:solidFill>
                  <a:srgbClr val="1C2C3A"/>
                </a:solidFill>
                <a:latin typeface="Garamond"/>
              </a:rPr>
              <a:t>Gross Margin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10328" y="3968496"/>
            <a:ext cx="1033271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100" b="1" i="0">
                <a:solidFill>
                  <a:srgbClr val="1C2C3A"/>
                </a:solidFill>
                <a:latin typeface="Garamond"/>
              </a:rPr>
              <a:t>77.0%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" y="4334256"/>
            <a:ext cx="2651760" cy="384048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4944" y="4370832"/>
            <a:ext cx="1508760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1" i="0">
                <a:solidFill>
                  <a:srgbClr val="1C2C3A"/>
                </a:solidFill>
                <a:latin typeface="Garamond"/>
              </a:rPr>
              <a:t>Net Debt/EBITDA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12848" y="4370832"/>
            <a:ext cx="1033271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100" b="1" i="0">
                <a:solidFill>
                  <a:srgbClr val="1C2C3A"/>
                </a:solidFill>
                <a:latin typeface="Garamond"/>
              </a:rPr>
              <a:t>-6.1x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337560" y="4334256"/>
            <a:ext cx="2651760" cy="384048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392424" y="4370832"/>
            <a:ext cx="1508760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1" i="0">
                <a:solidFill>
                  <a:srgbClr val="1C2C3A"/>
                </a:solidFill>
                <a:latin typeface="Garamond"/>
              </a:rPr>
              <a:t>FCF Conversion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910328" y="4370832"/>
            <a:ext cx="1033271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100" b="1" i="0">
                <a:solidFill>
                  <a:srgbClr val="1C2C3A"/>
                </a:solidFill>
                <a:latin typeface="Garamond"/>
              </a:rPr>
              <a:t>N/A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" y="4736592"/>
            <a:ext cx="2651760" cy="384048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94944" y="4773168"/>
            <a:ext cx="1508760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1" i="0">
                <a:solidFill>
                  <a:srgbClr val="1C2C3A"/>
                </a:solidFill>
                <a:latin typeface="Garamond"/>
              </a:rPr>
              <a:t>ROIC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12848" y="4773168"/>
            <a:ext cx="1033271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100" b="1" i="0">
                <a:solidFill>
                  <a:srgbClr val="1C2C3A"/>
                </a:solidFill>
                <a:latin typeface="Garamond"/>
              </a:rPr>
              <a:t>N/A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337560" y="4736592"/>
            <a:ext cx="2651760" cy="384048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392424" y="4773168"/>
            <a:ext cx="1508760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1" i="0">
                <a:solidFill>
                  <a:srgbClr val="1C2C3A"/>
                </a:solidFill>
                <a:latin typeface="Garamond"/>
              </a:rPr>
              <a:t>Rev CAGR 3Y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910328" y="4773168"/>
            <a:ext cx="1033271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100" b="1" i="0">
                <a:solidFill>
                  <a:srgbClr val="1C2C3A"/>
                </a:solidFill>
                <a:latin typeface="Garamond"/>
              </a:rPr>
              <a:t>3.7%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0080" y="5138928"/>
            <a:ext cx="2651760" cy="384048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94944" y="5175504"/>
            <a:ext cx="1508760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1" i="0">
                <a:solidFill>
                  <a:srgbClr val="1C2C3A"/>
                </a:solidFill>
                <a:latin typeface="Garamond"/>
              </a:rPr>
              <a:t>Dividend Yield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212848" y="5175504"/>
            <a:ext cx="1033271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100" b="1" i="0">
                <a:solidFill>
                  <a:srgbClr val="1C2C3A"/>
                </a:solidFill>
                <a:latin typeface="Garamond"/>
              </a:rPr>
              <a:t>N/A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337560" y="5138928"/>
            <a:ext cx="2651760" cy="384048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392424" y="5175504"/>
            <a:ext cx="1508760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1" i="0">
                <a:solidFill>
                  <a:srgbClr val="1C2C3A"/>
                </a:solidFill>
                <a:latin typeface="Garamond"/>
              </a:rPr>
              <a:t>Beta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910328" y="5175504"/>
            <a:ext cx="1033271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100" b="1" i="0">
                <a:solidFill>
                  <a:srgbClr val="1C2C3A"/>
                </a:solidFill>
                <a:latin typeface="Garamond"/>
              </a:rPr>
              <a:t>N/A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63640" y="731520"/>
            <a:ext cx="5559552" cy="2377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1" i="0">
                <a:solidFill>
                  <a:srgbClr val="1C2C39"/>
                </a:solidFill>
                <a:latin typeface="Garamond"/>
              </a:rPr>
              <a:t>Key Financials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263640" y="969264"/>
            <a:ext cx="5559552" cy="22860"/>
          </a:xfrm>
          <a:prstGeom prst="rect">
            <a:avLst/>
          </a:prstGeom>
          <a:solidFill>
            <a:srgbClr val="1C2C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8" name="Table 47"/>
          <p:cNvGraphicFramePr>
            <a:graphicFrameLocks noGrp="1"/>
          </p:cNvGraphicFramePr>
          <p:nvPr/>
        </p:nvGraphicFramePr>
        <p:xfrm>
          <a:off x="6263640" y="1024128"/>
          <a:ext cx="5559551" cy="1572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  <a:gridCol w="2542031"/>
              </a:tblGrid>
              <a:tr h="262128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Garamond"/>
                        </a:rPr>
                        <a:t>Metric</a:t>
                      </a:r>
                    </a:p>
                  </a:txBody>
                  <a:tcPr>
                    <a:solidFill>
                      <a:srgbClr val="1C2C3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Garamond"/>
                        </a:rPr>
                        <a:t>Value</a:t>
                      </a:r>
                    </a:p>
                  </a:txBody>
                  <a:tcPr>
                    <a:solidFill>
                      <a:srgbClr val="1C2C39"/>
                    </a:solidFill>
                  </a:tcPr>
                </a:tc>
              </a:tr>
              <a:tr h="26212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Garamond"/>
                        </a:rPr>
                        <a:t>Current Price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Garamond"/>
                        </a:rPr>
                        <a:t>See Note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212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Garamond"/>
                        </a:rPr>
                        <a:t>52-Wk Range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Garamond"/>
                        </a:rPr>
                        <a:t>N/A – N/A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6212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Garamond"/>
                        </a:rPr>
                        <a:t>Market Cap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Garamond"/>
                        </a:rPr>
                        <a:t>N/A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212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Garamond"/>
                        </a:rPr>
                        <a:t>Dividend Yield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Garamond"/>
                        </a:rPr>
                        <a:t>N/A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6212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Garamond"/>
                        </a:rPr>
                        <a:t>Beta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Garamond"/>
                        </a:rPr>
                        <a:t>N/A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9" name="TextBox 48"/>
          <p:cNvSpPr txBox="1"/>
          <p:nvPr/>
        </p:nvSpPr>
        <p:spPr>
          <a:xfrm>
            <a:off x="6263640" y="2724912"/>
            <a:ext cx="5559552" cy="2377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1" i="0">
                <a:solidFill>
                  <a:srgbClr val="00ACB6"/>
                </a:solidFill>
                <a:latin typeface="Garamond"/>
              </a:rPr>
              <a:t>vs. Peers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263640" y="2962656"/>
            <a:ext cx="5559552" cy="22860"/>
          </a:xfrm>
          <a:prstGeom prst="rect">
            <a:avLst/>
          </a:prstGeom>
          <a:solidFill>
            <a:srgbClr val="00AC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1" name="Table 50"/>
          <p:cNvGraphicFramePr>
            <a:graphicFrameLocks noGrp="1"/>
          </p:cNvGraphicFramePr>
          <p:nvPr/>
        </p:nvGraphicFramePr>
        <p:xfrm>
          <a:off x="6263640" y="2999232"/>
          <a:ext cx="5559550" cy="1508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1591055"/>
                <a:gridCol w="1591055"/>
              </a:tblGrid>
              <a:tr h="25146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Garamond"/>
                        </a:rPr>
                        <a:t>Metric</a:t>
                      </a:r>
                    </a:p>
                  </a:txBody>
                  <a:tcPr>
                    <a:solidFill>
                      <a:srgbClr val="1C2C3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Garamond"/>
                        </a:rPr>
                        <a:t>ZM</a:t>
                      </a:r>
                    </a:p>
                  </a:txBody>
                  <a:tcPr>
                    <a:solidFill>
                      <a:srgbClr val="1C2C3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Garamond"/>
                        </a:rPr>
                        <a:t>Peer Median</a:t>
                      </a:r>
                    </a:p>
                  </a:txBody>
                  <a:tcPr>
                    <a:solidFill>
                      <a:srgbClr val="1C2C39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Garamond"/>
                        </a:rPr>
                        <a:t>EV/EBITDA NTM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Garamond"/>
                        </a:rPr>
                        <a:t>-6.1x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Garamond"/>
                        </a:rPr>
                        <a:t>N/A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Garamond"/>
                        </a:rPr>
                        <a:t>P/E NTM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Garamond"/>
                        </a:rPr>
                        <a:t>N/A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Garamond"/>
                        </a:rPr>
                        <a:t>N/A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Garamond"/>
                        </a:rPr>
                        <a:t>Rev Growth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Garamond"/>
                        </a:rPr>
                        <a:t>N/A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Garamond"/>
                        </a:rPr>
                        <a:t>N/A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Garamond"/>
                        </a:rPr>
                        <a:t>EBITDA Margin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Garamond"/>
                        </a:rPr>
                        <a:t>23.5%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Garamond"/>
                        </a:rPr>
                        <a:t>N/A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Garamond"/>
                        </a:rPr>
                        <a:t>Net Debt/EBITDA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Garamond"/>
                        </a:rPr>
                        <a:t>29.5x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Garamond"/>
                        </a:rPr>
                        <a:t>N/A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2" name="Chart 51"/>
          <p:cNvGraphicFramePr>
            <a:graphicFrameLocks noGrp="1"/>
          </p:cNvGraphicFramePr>
          <p:nvPr/>
        </p:nvGraphicFramePr>
        <p:xfrm>
          <a:off x="6263640" y="4626864"/>
          <a:ext cx="5559552" cy="1783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3" name="Rectangle 52"/>
          <p:cNvSpPr/>
          <p:nvPr/>
        </p:nvSpPr>
        <p:spPr>
          <a:xfrm>
            <a:off x="640080" y="6492240"/>
            <a:ext cx="11183112" cy="18288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20040" y="91440"/>
            <a:ext cx="347472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0" i="0">
                <a:solidFill>
                  <a:srgbClr val="1C2C3A"/>
                </a:solidFill>
                <a:latin typeface="Garamond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73152"/>
            <a:ext cx="10789920" cy="5669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800" b="0" i="0">
                <a:solidFill>
                  <a:srgbClr val="1C2C3A"/>
                </a:solidFill>
                <a:latin typeface="Garamond"/>
              </a:rPr>
              <a:t>Annotated Price Chart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21792"/>
            <a:ext cx="105156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0" i="1">
                <a:solidFill>
                  <a:srgbClr val="595959"/>
                </a:solidFill>
                <a:latin typeface="Garamond"/>
              </a:rPr>
              <a:t>ZM vs. Benchmark — Key Events &amp; Catalysts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859536"/>
            <a:ext cx="11183112" cy="36576"/>
          </a:xfrm>
          <a:prstGeom prst="rect">
            <a:avLst/>
          </a:prstGeom>
          <a:solidFill>
            <a:srgbClr val="1C2C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656832"/>
            <a:ext cx="1051560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1">
                <a:solidFill>
                  <a:srgbClr val="999999"/>
                </a:solidFill>
                <a:latin typeface="Garamond"/>
              </a:rPr>
              <a:t>Sources: LSEG Refinitiv, Bloomberg, Analyst Research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3749039"/>
            <a:ext cx="10698480" cy="64008"/>
          </a:xfrm>
          <a:prstGeom prst="rect">
            <a:avLst/>
          </a:prstGeom>
          <a:solidFill>
            <a:srgbClr val="1C2C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572768" y="3685031"/>
            <a:ext cx="128016" cy="192024"/>
          </a:xfrm>
          <a:prstGeom prst="rect">
            <a:avLst/>
          </a:prstGeom>
          <a:solidFill>
            <a:srgbClr val="00AC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627632" y="3538728"/>
            <a:ext cx="18288" cy="210311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2423160"/>
            <a:ext cx="1810512" cy="11155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2423160"/>
            <a:ext cx="1810512" cy="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459736"/>
            <a:ext cx="36576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800" b="1" i="0">
                <a:solidFill>
                  <a:srgbClr val="1C2C39"/>
                </a:solidFill>
                <a:latin typeface="Garamon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" y="2478024"/>
            <a:ext cx="137160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1" i="0">
                <a:solidFill>
                  <a:srgbClr val="1C2C3A"/>
                </a:solidFill>
                <a:latin typeface="Garamond"/>
              </a:rPr>
              <a:t>— 2026-03-13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" y="2770632"/>
            <a:ext cx="1700784" cy="7132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Garamond"/>
              </a:rPr>
              <a:t>Needham — reit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898648" y="3685031"/>
            <a:ext cx="128016" cy="192024"/>
          </a:xfrm>
          <a:prstGeom prst="rect">
            <a:avLst/>
          </a:prstGeom>
          <a:solidFill>
            <a:srgbClr val="00AC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057400" y="3913631"/>
            <a:ext cx="1810512" cy="11155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057400" y="3913631"/>
            <a:ext cx="1810512" cy="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057400" y="3950207"/>
            <a:ext cx="36576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800" b="1" i="0">
                <a:solidFill>
                  <a:srgbClr val="1C2C39"/>
                </a:solidFill>
                <a:latin typeface="Garamond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41448" y="3968495"/>
            <a:ext cx="137160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1" i="0">
                <a:solidFill>
                  <a:srgbClr val="1C2C3A"/>
                </a:solidFill>
                <a:latin typeface="Garamond"/>
              </a:rPr>
              <a:t>— 2026-02-26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12264" y="4261103"/>
            <a:ext cx="1700784" cy="7132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Garamond"/>
              </a:rPr>
              <a:t>Bernstein — main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38344" y="3685031"/>
            <a:ext cx="128016" cy="192024"/>
          </a:xfrm>
          <a:prstGeom prst="rect">
            <a:avLst/>
          </a:prstGeom>
          <a:solidFill>
            <a:srgbClr val="00AC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93208" y="3538728"/>
            <a:ext cx="18288" cy="210311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197096" y="2423160"/>
            <a:ext cx="1810512" cy="11155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197096" y="2423160"/>
            <a:ext cx="1810512" cy="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97096" y="2459736"/>
            <a:ext cx="36576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800" b="1" i="0">
                <a:solidFill>
                  <a:srgbClr val="1C2C39"/>
                </a:solidFill>
                <a:latin typeface="Garamond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81144" y="2478024"/>
            <a:ext cx="137160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1" i="0">
                <a:solidFill>
                  <a:srgbClr val="1C2C3A"/>
                </a:solidFill>
                <a:latin typeface="Garamond"/>
              </a:rPr>
              <a:t>— 2026-02-26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51959" y="2770632"/>
            <a:ext cx="1700784" cy="7132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Garamond"/>
              </a:rPr>
              <a:t>Keybanc — main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178040" y="3685031"/>
            <a:ext cx="128016" cy="192024"/>
          </a:xfrm>
          <a:prstGeom prst="rect">
            <a:avLst/>
          </a:prstGeom>
          <a:solidFill>
            <a:srgbClr val="00AC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36792" y="3913631"/>
            <a:ext cx="1810512" cy="11155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336792" y="3913631"/>
            <a:ext cx="1810512" cy="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36792" y="3950207"/>
            <a:ext cx="36576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800" b="1" i="0">
                <a:solidFill>
                  <a:srgbClr val="1C2C39"/>
                </a:solidFill>
                <a:latin typeface="Garamond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20840" y="3968495"/>
            <a:ext cx="137160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1" i="0">
                <a:solidFill>
                  <a:srgbClr val="1C2C3A"/>
                </a:solidFill>
                <a:latin typeface="Garamond"/>
              </a:rPr>
              <a:t>— May 20, 2026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91655" y="4261103"/>
            <a:ext cx="1700784" cy="7132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Garamond"/>
              </a:rPr>
              <a:t>Q1 FY2027 earnings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317736" y="3685031"/>
            <a:ext cx="128016" cy="192024"/>
          </a:xfrm>
          <a:prstGeom prst="rect">
            <a:avLst/>
          </a:prstGeom>
          <a:solidFill>
            <a:srgbClr val="00AC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372600" y="3538728"/>
            <a:ext cx="18288" cy="210311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476488" y="2423160"/>
            <a:ext cx="1810512" cy="11155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476488" y="2423160"/>
            <a:ext cx="1810512" cy="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476488" y="2459736"/>
            <a:ext cx="36576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800" b="1" i="0">
                <a:solidFill>
                  <a:srgbClr val="1C2C39"/>
                </a:solidFill>
                <a:latin typeface="Garamond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860536" y="2478024"/>
            <a:ext cx="137160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1" i="0">
                <a:solidFill>
                  <a:srgbClr val="1C2C3A"/>
                </a:solidFill>
                <a:latin typeface="Garamond"/>
              </a:rPr>
              <a:t>— Q1-Q2 FY2027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31352" y="2770632"/>
            <a:ext cx="1700784" cy="7132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Garamond"/>
              </a:rPr>
              <a:t>Buyback acceleration announcement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0643615" y="3685031"/>
            <a:ext cx="128016" cy="192024"/>
          </a:xfrm>
          <a:prstGeom prst="rect">
            <a:avLst/>
          </a:prstGeom>
          <a:solidFill>
            <a:srgbClr val="00AC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802367" y="3913631"/>
            <a:ext cx="1810512" cy="11155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9802367" y="3913631"/>
            <a:ext cx="1810512" cy="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802367" y="3950207"/>
            <a:ext cx="36576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800" b="1" i="0">
                <a:solidFill>
                  <a:srgbClr val="1C2C39"/>
                </a:solidFill>
                <a:latin typeface="Garamond"/>
              </a:rPr>
              <a:t>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186415" y="3968495"/>
            <a:ext cx="137160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1" i="0">
                <a:solidFill>
                  <a:srgbClr val="1C2C3A"/>
                </a:solidFill>
                <a:latin typeface="Garamond"/>
              </a:rPr>
              <a:t>— Q3 FY2027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857232" y="4261103"/>
            <a:ext cx="1700784" cy="7132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Garamond"/>
              </a:rPr>
              <a:t>SBC falls below 14% of revenue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40080" y="5376672"/>
            <a:ext cx="11183112" cy="365760"/>
          </a:xfrm>
          <a:prstGeom prst="rect">
            <a:avLst/>
          </a:prstGeom>
          <a:solidFill>
            <a:srgbClr val="1C2C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77240" y="5440680"/>
            <a:ext cx="137160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Garamond"/>
              </a:rPr>
              <a:t>Takeaway: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194560" y="5440680"/>
            <a:ext cx="9509760" cy="256032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 algn="l"/>
            <a:r>
              <a:rPr sz="1200" b="0" i="1">
                <a:solidFill>
                  <a:srgbClr val="FFFFFF"/>
                </a:solidFill>
                <a:latin typeface="Garamond"/>
              </a:rPr>
              <a:t>CONSENSUS ASSUMES 7.56x EV/EBITDA is fair for 4% revenue growth. OUR VIEW: 10x+ warranted, as ROIC 21.6% (+13pts over WACC ~8.5%) and $7.76B net cash (32% mkt cap) are being wholly ignored.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40080" y="5852160"/>
            <a:ext cx="137160" cy="137160"/>
          </a:xfrm>
          <a:prstGeom prst="rect">
            <a:avLst/>
          </a:prstGeom>
          <a:solidFill>
            <a:srgbClr val="1C2C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22960" y="5833872"/>
            <a:ext cx="228600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30" b="0" i="0">
                <a:solidFill>
                  <a:srgbClr val="595959"/>
                </a:solidFill>
                <a:latin typeface="Garamond"/>
              </a:rPr>
              <a:t>ZM events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200400" y="5852160"/>
            <a:ext cx="137160" cy="137160"/>
          </a:xfrm>
          <a:prstGeom prst="rect">
            <a:avLst/>
          </a:prstGeom>
          <a:solidFill>
            <a:srgbClr val="00AC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383280" y="5833872"/>
            <a:ext cx="228600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30" b="0" i="0">
                <a:solidFill>
                  <a:srgbClr val="595959"/>
                </a:solidFill>
                <a:latin typeface="Garamond"/>
              </a:rPr>
              <a:t>Analyst actions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20040" y="91440"/>
            <a:ext cx="347472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0" i="0">
                <a:solidFill>
                  <a:srgbClr val="1C2C3A"/>
                </a:solidFill>
                <a:latin typeface="Garamond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73152"/>
            <a:ext cx="10789920" cy="5669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800" b="0" i="0">
                <a:solidFill>
                  <a:srgbClr val="1C2C3A"/>
                </a:solidFill>
                <a:latin typeface="Garamond"/>
              </a:rPr>
              <a:t>Industry Dynamics &amp; Competitive Landscape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658368"/>
            <a:ext cx="11183112" cy="36576"/>
          </a:xfrm>
          <a:prstGeom prst="rect">
            <a:avLst/>
          </a:prstGeom>
          <a:solidFill>
            <a:srgbClr val="1C2C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656832"/>
            <a:ext cx="1051560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1">
                <a:solidFill>
                  <a:srgbClr val="999999"/>
                </a:solidFill>
                <a:latin typeface="Garamond"/>
              </a:rPr>
              <a:t>Sources: SEC Filings, CapIQ, Bloomberg, Industry Reports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749808"/>
            <a:ext cx="2788920" cy="100584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749808"/>
            <a:ext cx="2788920" cy="36576"/>
          </a:xfrm>
          <a:prstGeom prst="rect">
            <a:avLst/>
          </a:prstGeom>
          <a:solidFill>
            <a:srgbClr val="1C2C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804671"/>
            <a:ext cx="2788920" cy="55321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2600" b="1" i="0">
                <a:solidFill>
                  <a:srgbClr val="1C2C3A"/>
                </a:solidFill>
                <a:latin typeface="Garamond"/>
              </a:rPr>
              <a:t>N/A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39596"/>
            <a:ext cx="2788920" cy="38221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800" b="0" i="0">
                <a:solidFill>
                  <a:srgbClr val="595959"/>
                </a:solidFill>
                <a:latin typeface="Garamond"/>
              </a:rPr>
              <a:t>Total Addressable Market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7872" y="749808"/>
            <a:ext cx="2788920" cy="100584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47872" y="749808"/>
            <a:ext cx="2788920" cy="36576"/>
          </a:xfrm>
          <a:prstGeom prst="rect">
            <a:avLst/>
          </a:prstGeom>
          <a:solidFill>
            <a:srgbClr val="1C2C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47872" y="804671"/>
            <a:ext cx="2788920" cy="55321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2600" b="1" i="0">
                <a:solidFill>
                  <a:srgbClr val="1C2C3A"/>
                </a:solidFill>
                <a:latin typeface="Garamond"/>
              </a:rPr>
              <a:t>above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47872" y="1339596"/>
            <a:ext cx="2788920" cy="38221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800" b="0" i="0">
                <a:solidFill>
                  <a:srgbClr val="595959"/>
                </a:solidFill>
                <a:latin typeface="Garamond"/>
              </a:rPr>
              <a:t>Cycle Position
mixed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55664" y="749808"/>
            <a:ext cx="2788920" cy="100584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55664" y="749808"/>
            <a:ext cx="2788920" cy="36576"/>
          </a:xfrm>
          <a:prstGeom prst="rect">
            <a:avLst/>
          </a:prstGeom>
          <a:solidFill>
            <a:srgbClr val="1C2C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55664" y="804671"/>
            <a:ext cx="2788920" cy="55321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2600" b="1" i="0">
                <a:solidFill>
                  <a:srgbClr val="1C2C3A"/>
                </a:solidFill>
                <a:latin typeface="Garamond"/>
              </a:rPr>
              <a:t>losing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55664" y="1339596"/>
            <a:ext cx="2788920" cy="38221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800" b="0" i="0">
                <a:solidFill>
                  <a:srgbClr val="595959"/>
                </a:solidFill>
                <a:latin typeface="Garamond"/>
              </a:rPr>
              <a:t>Market Share Trend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363455" y="749808"/>
            <a:ext cx="2788920" cy="100584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363455" y="749808"/>
            <a:ext cx="2788920" cy="36576"/>
          </a:xfrm>
          <a:prstGeom prst="rect">
            <a:avLst/>
          </a:prstGeom>
          <a:solidFill>
            <a:srgbClr val="1C2C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63455" y="804671"/>
            <a:ext cx="2788920" cy="55321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2600" b="1" i="0">
                <a:solidFill>
                  <a:srgbClr val="C00000"/>
                </a:solidFill>
                <a:latin typeface="Garamond"/>
              </a:rPr>
              <a:t>HIGH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63455" y="1339596"/>
            <a:ext cx="2788920" cy="38221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800" b="0" i="0">
                <a:solidFill>
                  <a:srgbClr val="595959"/>
                </a:solidFill>
                <a:latin typeface="Garamond"/>
              </a:rPr>
              <a:t>Disruption Risk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1819656"/>
            <a:ext cx="11183112" cy="27432"/>
          </a:xfrm>
          <a:prstGeom prst="rect">
            <a:avLst/>
          </a:prstGeom>
          <a:solidFill>
            <a:srgbClr val="1C2C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1883664"/>
            <a:ext cx="5486400" cy="2377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1" i="0">
                <a:solidFill>
                  <a:srgbClr val="1C2C39"/>
                </a:solidFill>
                <a:latin typeface="Garamond"/>
              </a:rPr>
              <a:t>Structural Tailwinds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2121408"/>
            <a:ext cx="5486400" cy="22860"/>
          </a:xfrm>
          <a:prstGeom prst="rect">
            <a:avLst/>
          </a:prstGeom>
          <a:solidFill>
            <a:srgbClr val="1C2C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0080" y="2176272"/>
            <a:ext cx="5486400" cy="420624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9808" y="2221991"/>
            <a:ext cx="5303520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Garamond"/>
              </a:rPr>
              <a:t>• Remote/hybrid work normalization — structural demand floor for video and async collaboration tools established post-2020; rever…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2633472"/>
            <a:ext cx="5486400" cy="420624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9808" y="2679191"/>
            <a:ext cx="5303520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Garamond"/>
              </a:rPr>
              <a:t>• AI integration creating new productivity layers — Zoom AI Companion positioned as a margin-accretive upsell (contribution % N/A)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" y="3090672"/>
            <a:ext cx="5486400" cy="420624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9808" y="3136391"/>
            <a:ext cx="5303520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Garamond"/>
              </a:rPr>
              <a:t>• Contact center modernization (CCaaS) — enterprises migrating from legacy on-premise PBX and call center infrastructure to cloud…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" y="3547872"/>
            <a:ext cx="5486400" cy="420624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9808" y="3593591"/>
            <a:ext cx="5303520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Garamond"/>
              </a:rPr>
              <a:t>• SMB digitization in emerging markets — Online/self-serve segment exposed to global SMB growth (contribution N/A)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63640" y="1883664"/>
            <a:ext cx="6199632" cy="2377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1" i="0">
                <a:solidFill>
                  <a:srgbClr val="00ACB6"/>
                </a:solidFill>
                <a:latin typeface="Garamond"/>
              </a:rPr>
              <a:t>Structural Headwinds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63640" y="2121408"/>
            <a:ext cx="6199632" cy="22860"/>
          </a:xfrm>
          <a:prstGeom prst="rect">
            <a:avLst/>
          </a:prstGeom>
          <a:solidFill>
            <a:srgbClr val="00AC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263640" y="2176272"/>
            <a:ext cx="6199632" cy="420624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73368" y="2221991"/>
            <a:ext cx="5980176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Garamond"/>
              </a:rPr>
              <a:t>• Microsoft Teams bundled with M365 at zero incremental cost for 1B+ users — most significant structural headwind; displacing Zoo…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63640" y="2633472"/>
            <a:ext cx="6199632" cy="420624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73368" y="2679191"/>
            <a:ext cx="5980176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Garamond"/>
              </a:rPr>
              <a:t>• Google Meet bundled with Google Workspace — second bundled alternative compressing standalone video meeting pricing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263640" y="3090672"/>
            <a:ext cx="6199632" cy="420624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373368" y="3136391"/>
            <a:ext cx="5980176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Garamond"/>
              </a:rPr>
              <a:t>• Post-COVID demand normalization already evidenced in Zoom's own revenue trajectory: +4.4% FY2026 vs. peak growth rates above 30…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263640" y="3547872"/>
            <a:ext cx="6199632" cy="420624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73368" y="3593591"/>
            <a:ext cx="5980176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Garamond"/>
              </a:rPr>
              <a:t>• AI-native communication tools (asynchronous video, LLM-powered meeting summaries) potentially disrupting synchronous meeting mo…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40080" y="4507992"/>
            <a:ext cx="11183112" cy="27432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0080" y="4572000"/>
            <a:ext cx="914400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1" i="0">
                <a:solidFill>
                  <a:srgbClr val="1C2C3A"/>
                </a:solidFill>
                <a:latin typeface="Garamond"/>
              </a:rPr>
              <a:t>Porter's Five Forces   (1 = favorable for incumbents  ·  5 = unfavorable)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40080" y="4864608"/>
            <a:ext cx="2240280" cy="731520"/>
          </a:xfrm>
          <a:prstGeom prst="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0080" y="4892040"/>
            <a:ext cx="224028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900" b="1" i="0">
                <a:solidFill>
                  <a:srgbClr val="595959"/>
                </a:solidFill>
                <a:latin typeface="Garamond"/>
              </a:rPr>
              <a:t>Rivalry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417319" y="5120640"/>
            <a:ext cx="658368" cy="2743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417319" y="5138928"/>
            <a:ext cx="658368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Garamond"/>
              </a:rPr>
              <a:t>4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953512" y="4864608"/>
            <a:ext cx="2240280" cy="731520"/>
          </a:xfrm>
          <a:prstGeom prst="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953512" y="4892040"/>
            <a:ext cx="224028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900" b="1" i="0">
                <a:solidFill>
                  <a:srgbClr val="595959"/>
                </a:solidFill>
                <a:latin typeface="Garamond"/>
              </a:rPr>
              <a:t>New Entrants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730752" y="5120640"/>
            <a:ext cx="658368" cy="274320"/>
          </a:xfrm>
          <a:prstGeom prst="rect">
            <a:avLst/>
          </a:prstGeom>
          <a:solidFill>
            <a:srgbClr val="00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730752" y="5138928"/>
            <a:ext cx="658368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Garamond"/>
              </a:rPr>
              <a:t>2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266944" y="4864608"/>
            <a:ext cx="2240280" cy="731520"/>
          </a:xfrm>
          <a:prstGeom prst="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266944" y="4892040"/>
            <a:ext cx="224028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900" b="1" i="0">
                <a:solidFill>
                  <a:srgbClr val="595959"/>
                </a:solidFill>
                <a:latin typeface="Garamond"/>
              </a:rPr>
              <a:t>Buyer Power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044184" y="5120640"/>
            <a:ext cx="658368" cy="2743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044184" y="5138928"/>
            <a:ext cx="658368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Garamond"/>
              </a:rPr>
              <a:t>4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580376" y="4864608"/>
            <a:ext cx="2240280" cy="731520"/>
          </a:xfrm>
          <a:prstGeom prst="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580376" y="4892040"/>
            <a:ext cx="224028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900" b="1" i="0">
                <a:solidFill>
                  <a:srgbClr val="595959"/>
                </a:solidFill>
                <a:latin typeface="Garamond"/>
              </a:rPr>
              <a:t>Supplier Power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357616" y="5120640"/>
            <a:ext cx="658368" cy="274320"/>
          </a:xfrm>
          <a:prstGeom prst="rect">
            <a:avLst/>
          </a:prstGeom>
          <a:solidFill>
            <a:srgbClr val="FFC0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357616" y="5138928"/>
            <a:ext cx="658368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Garamond"/>
              </a:rPr>
              <a:t>3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893808" y="4864608"/>
            <a:ext cx="2240280" cy="731520"/>
          </a:xfrm>
          <a:prstGeom prst="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893808" y="4892040"/>
            <a:ext cx="224028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900" b="1" i="0">
                <a:solidFill>
                  <a:srgbClr val="595959"/>
                </a:solidFill>
                <a:latin typeface="Garamond"/>
              </a:rPr>
              <a:t>Substitutes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0671048" y="5120640"/>
            <a:ext cx="658368" cy="2743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0671048" y="5138928"/>
            <a:ext cx="658368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Garamond"/>
              </a:rPr>
              <a:t>4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40080" y="5669280"/>
            <a:ext cx="11183112" cy="4754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0" i="1">
                <a:solidFill>
                  <a:srgbClr val="595959"/>
                </a:solidFill>
                <a:latin typeface="Garamond"/>
              </a:rPr>
              <a:t>The UCaaS/video-first cloud communications industry is structurally challenged for standalone vendors. Microsoft and Google have effectively made synchronous video meetings a zero-marginal-cost utility bundled into th…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20040" y="91440"/>
            <a:ext cx="347472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0" i="0">
                <a:solidFill>
                  <a:srgbClr val="1C2C3A"/>
                </a:solidFill>
                <a:latin typeface="Garamond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73152"/>
            <a:ext cx="10789920" cy="5669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800" b="0" i="0">
                <a:solidFill>
                  <a:srgbClr val="1C2C3A"/>
                </a:solidFill>
                <a:latin typeface="Garamond"/>
              </a:rPr>
              <a:t>Market View vs. Our 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658368"/>
            <a:ext cx="11183112" cy="36576"/>
          </a:xfrm>
          <a:prstGeom prst="rect">
            <a:avLst/>
          </a:prstGeom>
          <a:solidFill>
            <a:srgbClr val="1C2C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656832"/>
            <a:ext cx="1051560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1">
                <a:solidFill>
                  <a:srgbClr val="999999"/>
                </a:solidFill>
                <a:latin typeface="Garamond"/>
              </a:rPr>
              <a:t>Sources: CapIQ, Analyst Research, Bloomberg, SEC Filings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749808"/>
            <a:ext cx="11183112" cy="530352"/>
          </a:xfrm>
          <a:prstGeom prst="rect">
            <a:avLst/>
          </a:prstGeom>
          <a:solidFill>
            <a:srgbClr val="EAEB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804672"/>
            <a:ext cx="1097280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100" b="1" i="0">
                <a:solidFill>
                  <a:srgbClr val="1C2C3A"/>
                </a:solidFill>
                <a:latin typeface="Garamond"/>
              </a:rPr>
              <a:t>The market misprices this name by applying the wrong analogy — our thesis exploits that gap.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060704"/>
            <a:ext cx="109728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900" b="0" i="1">
                <a:solidFill>
                  <a:srgbClr val="595959"/>
                </a:solidFill>
                <a:latin typeface="Garamond"/>
              </a:rPr>
              <a:t>Recent: Needham → reit  |  Bernstein → main  |  Keybanc → main  |  BTIG → main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298448"/>
            <a:ext cx="5504688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1" i="0">
                <a:solidFill>
                  <a:srgbClr val="1C2C39"/>
                </a:solidFill>
                <a:latin typeface="Garamond"/>
              </a:rPr>
              <a:t>Market View / Street Concern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554480"/>
            <a:ext cx="5504688" cy="22860"/>
          </a:xfrm>
          <a:prstGeom prst="rect">
            <a:avLst/>
          </a:prstGeom>
          <a:solidFill>
            <a:srgbClr val="1C2C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82512" y="1298448"/>
            <a:ext cx="5504688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1" i="0">
                <a:solidFill>
                  <a:srgbClr val="00ACB6"/>
                </a:solidFill>
                <a:latin typeface="Garamond"/>
              </a:rPr>
              <a:t>Our View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82512" y="1554480"/>
            <a:ext cx="5504688" cy="22860"/>
          </a:xfrm>
          <a:prstGeom prst="rect">
            <a:avLst/>
          </a:prstGeom>
          <a:solidFill>
            <a:srgbClr val="00AC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1645919"/>
            <a:ext cx="5504688" cy="2098548"/>
          </a:xfrm>
          <a:prstGeom prst="rect">
            <a:avLst/>
          </a:prstGeom>
          <a:solidFill>
            <a:srgbClr val="FA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1645919"/>
            <a:ext cx="54864" cy="2098548"/>
          </a:xfrm>
          <a:prstGeom prst="rect">
            <a:avLst/>
          </a:prstGeom>
          <a:solidFill>
            <a:srgbClr val="1C2C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" y="1700784"/>
            <a:ext cx="5321807" cy="2377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1" i="0">
                <a:solidFill>
                  <a:srgbClr val="1C2C3A"/>
                </a:solidFill>
                <a:latin typeface="Garamond"/>
              </a:rPr>
              <a:t>Keybanc: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1956815"/>
            <a:ext cx="5303520" cy="17327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  <a:latin typeface="Garamond"/>
              </a:rPr>
              <a:t>Underweight (2026-02-26), PT ~$66; models accelerating enterprise churn toward terminal decline.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82512" y="1645919"/>
            <a:ext cx="5504688" cy="2098548"/>
          </a:xfrm>
          <a:prstGeom prst="rect">
            <a:avLst/>
          </a:prstGeom>
          <a:solidFill>
            <a:srgbClr val="F0FB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82512" y="1645919"/>
            <a:ext cx="54864" cy="2098548"/>
          </a:xfrm>
          <a:prstGeom prst="rect">
            <a:avLst/>
          </a:prstGeom>
          <a:solidFill>
            <a:srgbClr val="00AC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1700784"/>
            <a:ext cx="5321807" cy="2377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1" i="0">
                <a:solidFill>
                  <a:srgbClr val="00ACB6"/>
                </a:solidFill>
                <a:latin typeface="Garamond"/>
              </a:rPr>
              <a:t>Our View: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1956815"/>
            <a:ext cx="5303520" cy="17327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Garamond"/>
              </a:rPr>
              <a:t>At $66 = 5.7x EV/EBITDA — below distressed EGHT — despite $7.76B net cash and ROIC 21.6%; arithmetically indefensible.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3817620"/>
            <a:ext cx="5504688" cy="2098548"/>
          </a:xfrm>
          <a:prstGeom prst="rect">
            <a:avLst/>
          </a:prstGeom>
          <a:solidFill>
            <a:srgbClr val="F5F1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" y="3817620"/>
            <a:ext cx="54864" cy="2098548"/>
          </a:xfrm>
          <a:prstGeom prst="rect">
            <a:avLst/>
          </a:prstGeom>
          <a:solidFill>
            <a:srgbClr val="1C2C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9808" y="3872483"/>
            <a:ext cx="5321807" cy="2377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1" i="0">
                <a:solidFill>
                  <a:srgbClr val="1C2C3A"/>
                </a:solidFill>
                <a:latin typeface="Garamond"/>
              </a:rPr>
              <a:t>Bernstein: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8" y="4128515"/>
            <a:ext cx="5303520" cy="17327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  <a:latin typeface="Garamond"/>
              </a:rPr>
              <a:t>Market Perform (2026-02-26); implies margin expansion stalls, flat multiple from here.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82512" y="3817620"/>
            <a:ext cx="5504688" cy="2098548"/>
          </a:xfrm>
          <a:prstGeom prst="rect">
            <a:avLst/>
          </a:prstGeom>
          <a:solidFill>
            <a:srgbClr val="E8F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382512" y="3817620"/>
            <a:ext cx="54864" cy="2098548"/>
          </a:xfrm>
          <a:prstGeom prst="rect">
            <a:avLst/>
          </a:prstGeom>
          <a:solidFill>
            <a:srgbClr val="00AC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92240" y="3872483"/>
            <a:ext cx="5321807" cy="2377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1" i="0">
                <a:solidFill>
                  <a:srgbClr val="00ACB6"/>
                </a:solidFill>
                <a:latin typeface="Garamond"/>
              </a:rPr>
              <a:t>Our View: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4128515"/>
            <a:ext cx="5303520" cy="17327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Garamond"/>
              </a:rPr>
              <a:t>EBIT expanded 600bps in FY0; sustained pace puts FY+1 EPS ~$6.20 vs. street's $5.87 — 5.6% upside to consensus.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" y="6035040"/>
            <a:ext cx="11183112" cy="457200"/>
          </a:xfrm>
          <a:prstGeom prst="rect">
            <a:avLst/>
          </a:prstGeom>
          <a:solidFill>
            <a:srgbClr val="1C2C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6071616"/>
            <a:ext cx="10972800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Garamond"/>
              </a:rPr>
              <a:t>CONSENSUS ASSUMES 7.56x EV/EBITDA is fair for 4% revenue growth. OUR VIEW: 10x+ warranted, as ROIC 21.6% (+13pts over WACC ~8.5%) and $7.76B net cash (32% mkt cap) are being wholly ignored.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" y="91440"/>
            <a:ext cx="347472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0" i="0">
                <a:solidFill>
                  <a:srgbClr val="1C2C3A"/>
                </a:solidFill>
                <a:latin typeface="Garamond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73152"/>
            <a:ext cx="10789920" cy="5669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800" b="0" i="0">
                <a:solidFill>
                  <a:srgbClr val="1C2C3A"/>
                </a:solidFill>
                <a:latin typeface="Garamond"/>
              </a:rPr>
              <a:t>Valuation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658368"/>
            <a:ext cx="11183112" cy="36576"/>
          </a:xfrm>
          <a:prstGeom prst="rect">
            <a:avLst/>
          </a:prstGeom>
          <a:solidFill>
            <a:srgbClr val="1C2C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656832"/>
            <a:ext cx="1051560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1">
                <a:solidFill>
                  <a:srgbClr val="999999"/>
                </a:solidFill>
                <a:latin typeface="Garamond"/>
              </a:rPr>
              <a:t>Sources: CapIQ, LSEG, DCF Analysis, Comparable Company Analysis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749808"/>
            <a:ext cx="3566160" cy="31089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786384"/>
            <a:ext cx="3566160" cy="2377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Garamond"/>
              </a:rPr>
              <a:t>BEAR  (20%)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078992"/>
            <a:ext cx="3566160" cy="804672"/>
          </a:xfrm>
          <a:prstGeom prst="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115568"/>
            <a:ext cx="3566160" cy="49377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2800" b="1" i="0">
                <a:solidFill>
                  <a:srgbClr val="C00000"/>
                </a:solidFill>
                <a:latin typeface="Garamond"/>
              </a:rPr>
              <a:t>See Note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572768"/>
            <a:ext cx="356616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900" b="0" i="0">
                <a:solidFill>
                  <a:srgbClr val="595959"/>
                </a:solidFill>
                <a:latin typeface="Garamond"/>
              </a:rPr>
              <a:t/>
            </a:r>
          </a:p>
        </p:txBody>
      </p:sp>
      <p:sp>
        <p:nvSpPr>
          <p:cNvPr id="10" name="Rectangle 9"/>
          <p:cNvSpPr/>
          <p:nvPr/>
        </p:nvSpPr>
        <p:spPr>
          <a:xfrm>
            <a:off x="4352544" y="749808"/>
            <a:ext cx="3566160" cy="310896"/>
          </a:xfrm>
          <a:prstGeom prst="rect">
            <a:avLst/>
          </a:prstGeom>
          <a:solidFill>
            <a:srgbClr val="1C2C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52544" y="786384"/>
            <a:ext cx="3566160" cy="2377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Garamond"/>
              </a:rPr>
              <a:t>BASE  (55%)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52544" y="1078992"/>
            <a:ext cx="3566160" cy="804672"/>
          </a:xfrm>
          <a:prstGeom prst="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52544" y="1115568"/>
            <a:ext cx="3566160" cy="49377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2800" b="1" i="0">
                <a:solidFill>
                  <a:srgbClr val="1C2C39"/>
                </a:solidFill>
                <a:latin typeface="Garamond"/>
              </a:rPr>
              <a:t>See Note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52544" y="1572768"/>
            <a:ext cx="356616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900" b="0" i="0">
                <a:solidFill>
                  <a:srgbClr val="595959"/>
                </a:solidFill>
                <a:latin typeface="Garamond"/>
              </a:rPr>
              <a:t/>
            </a:r>
          </a:p>
        </p:txBody>
      </p:sp>
      <p:sp>
        <p:nvSpPr>
          <p:cNvPr id="15" name="Rectangle 14"/>
          <p:cNvSpPr/>
          <p:nvPr/>
        </p:nvSpPr>
        <p:spPr>
          <a:xfrm>
            <a:off x="8065008" y="749808"/>
            <a:ext cx="3566160" cy="310896"/>
          </a:xfrm>
          <a:prstGeom prst="rect">
            <a:avLst/>
          </a:prstGeom>
          <a:solidFill>
            <a:srgbClr val="00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65008" y="786384"/>
            <a:ext cx="3566160" cy="2377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Garamond"/>
              </a:rPr>
              <a:t>BULL  (25%)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65008" y="1078992"/>
            <a:ext cx="3566160" cy="804672"/>
          </a:xfrm>
          <a:prstGeom prst="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65008" y="1115568"/>
            <a:ext cx="3566160" cy="49377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2800" b="1" i="0">
                <a:solidFill>
                  <a:srgbClr val="00AF50"/>
                </a:solidFill>
                <a:latin typeface="Garamond"/>
              </a:rPr>
              <a:t>See Note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65008" y="1572768"/>
            <a:ext cx="356616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900" b="0" i="0">
                <a:solidFill>
                  <a:srgbClr val="595959"/>
                </a:solidFill>
                <a:latin typeface="Garamond"/>
              </a:rPr>
              <a:t/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2048256"/>
            <a:ext cx="11183112" cy="27432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2103120"/>
            <a:ext cx="6858000" cy="2377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1" i="0">
                <a:solidFill>
                  <a:srgbClr val="1C2C39"/>
                </a:solidFill>
                <a:latin typeface="Garamond"/>
              </a:rPr>
              <a:t>DCF Model — Year-by-Year  (Base Case)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2340863"/>
            <a:ext cx="6858000" cy="22860"/>
          </a:xfrm>
          <a:prstGeom prst="rect">
            <a:avLst/>
          </a:prstGeom>
          <a:solidFill>
            <a:srgbClr val="1C2C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2240280"/>
            <a:ext cx="685800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0" i="0">
                <a:solidFill>
                  <a:srgbClr val="595959"/>
                </a:solidFill>
                <a:latin typeface="Garamond"/>
              </a:rPr>
              <a:t>Year-by-year DCF data not available.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80960" y="2103120"/>
            <a:ext cx="4325112" cy="2377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1" i="0">
                <a:solidFill>
                  <a:srgbClr val="1C2C39"/>
                </a:solidFill>
                <a:latin typeface="Garamond"/>
              </a:rPr>
              <a:t>Sensitivity: Implied Price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80960" y="2340863"/>
            <a:ext cx="4325112" cy="22860"/>
          </a:xfrm>
          <a:prstGeom prst="rect">
            <a:avLst/>
          </a:prstGeom>
          <a:solidFill>
            <a:srgbClr val="1C2C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0" y="2121408"/>
            <a:ext cx="4142232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50" b="0" i="0">
                <a:solidFill>
                  <a:srgbClr val="FFFFFF"/>
                </a:solidFill>
                <a:latin typeface="Garamond"/>
              </a:rPr>
              <a:t>(WACC vs Exit Multiple)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0" y="2423160"/>
            <a:ext cx="4325112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0" i="0">
                <a:solidFill>
                  <a:srgbClr val="595959"/>
                </a:solidFill>
                <a:latin typeface="Garamond"/>
              </a:rPr>
              <a:t>Sensitivity table: data zeroed out — run DCF model to populate.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80960" y="4873752"/>
            <a:ext cx="4325112" cy="2377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1" i="0">
                <a:solidFill>
                  <a:srgbClr val="00ACB6"/>
                </a:solidFill>
                <a:latin typeface="Garamond"/>
              </a:rPr>
              <a:t>Comparable Company Analysis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680960" y="5111496"/>
            <a:ext cx="4325112" cy="22860"/>
          </a:xfrm>
          <a:prstGeom prst="rect">
            <a:avLst/>
          </a:prstGeom>
          <a:solidFill>
            <a:srgbClr val="00AC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7680960" y="5148072"/>
          <a:ext cx="4325109" cy="14813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4897"/>
                <a:gridCol w="1246801"/>
                <a:gridCol w="902856"/>
                <a:gridCol w="756679"/>
                <a:gridCol w="773876"/>
              </a:tblGrid>
              <a:tr h="246887"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Garamond"/>
                        </a:rPr>
                        <a:t>Ticker</a:t>
                      </a:r>
                    </a:p>
                  </a:txBody>
                  <a:tcPr>
                    <a:solidFill>
                      <a:srgbClr val="1C2C3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Garamond"/>
                        </a:rPr>
                        <a:t>Company</a:t>
                      </a:r>
                    </a:p>
                  </a:txBody>
                  <a:tcPr>
                    <a:solidFill>
                      <a:srgbClr val="1C2C3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Garamond"/>
                        </a:rPr>
                        <a:t>EV/EBITDA NTM</a:t>
                      </a:r>
                    </a:p>
                  </a:txBody>
                  <a:tcPr>
                    <a:solidFill>
                      <a:srgbClr val="1C2C3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Garamond"/>
                        </a:rPr>
                        <a:t>P/E NTM</a:t>
                      </a:r>
                    </a:p>
                  </a:txBody>
                  <a:tcPr>
                    <a:solidFill>
                      <a:srgbClr val="1C2C3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Garamond"/>
                        </a:rPr>
                        <a:t>Implied PT</a:t>
                      </a:r>
                    </a:p>
                  </a:txBody>
                  <a:tcPr>
                    <a:solidFill>
                      <a:srgbClr val="1C2C39"/>
                    </a:solidFill>
                  </a:tcPr>
                </a:tc>
              </a:tr>
              <a:tr h="246887"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000000"/>
                          </a:solidFill>
                          <a:latin typeface="Garamond"/>
                        </a:rPr>
                        <a:t>RNG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000000"/>
                          </a:solidFill>
                          <a:latin typeface="Garamond"/>
                        </a:rPr>
                        <a:t>RingCentral, Inc.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000000"/>
                          </a:solidFill>
                          <a:latin typeface="Garamond"/>
                        </a:rPr>
                        <a:t>6.3x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000000"/>
                          </a:solidFill>
                          <a:latin typeface="Garamond"/>
                        </a:rPr>
                        <a:t>N/A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000000"/>
                          </a:solidFill>
                          <a:latin typeface="Garamond"/>
                        </a:rPr>
                        <a:t>N/A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46887"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000000"/>
                          </a:solidFill>
                          <a:latin typeface="Garamond"/>
                        </a:rPr>
                        <a:t>EGHT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000000"/>
                          </a:solidFill>
                          <a:latin typeface="Garamond"/>
                        </a:rPr>
                        <a:t>8x8, Inc.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000000"/>
                          </a:solidFill>
                          <a:latin typeface="Garamond"/>
                        </a:rPr>
                        <a:t>5.8x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000000"/>
                          </a:solidFill>
                          <a:latin typeface="Garamond"/>
                        </a:rPr>
                        <a:t>N/A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000000"/>
                          </a:solidFill>
                          <a:latin typeface="Garamond"/>
                        </a:rPr>
                        <a:t>N/A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46887"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000000"/>
                          </a:solidFill>
                          <a:latin typeface="Garamond"/>
                        </a:rPr>
                        <a:t>FIVN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000000"/>
                          </a:solidFill>
                          <a:latin typeface="Garamond"/>
                        </a:rPr>
                        <a:t>Five9, Inc.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000000"/>
                          </a:solidFill>
                          <a:latin typeface="Garamond"/>
                        </a:rPr>
                        <a:t>4.2x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000000"/>
                          </a:solidFill>
                          <a:latin typeface="Garamond"/>
                        </a:rPr>
                        <a:t>N/A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000000"/>
                          </a:solidFill>
                          <a:latin typeface="Garamond"/>
                        </a:rPr>
                        <a:t>N/A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46887"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000000"/>
                          </a:solidFill>
                          <a:latin typeface="Garamond"/>
                        </a:rPr>
                        <a:t>TWLO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000000"/>
                          </a:solidFill>
                          <a:latin typeface="Garamond"/>
                        </a:rPr>
                        <a:t>Twilio Inc.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000000"/>
                          </a:solidFill>
                          <a:latin typeface="Garamond"/>
                        </a:rPr>
                        <a:t>N/A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000000"/>
                          </a:solidFill>
                          <a:latin typeface="Garamond"/>
                        </a:rPr>
                        <a:t>N/A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000000"/>
                          </a:solidFill>
                          <a:latin typeface="Garamond"/>
                        </a:rPr>
                        <a:t>N/A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46892"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000000"/>
                          </a:solidFill>
                          <a:latin typeface="Garamond"/>
                        </a:rPr>
                        <a:t>NICE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000000"/>
                          </a:solidFill>
                          <a:latin typeface="Garamond"/>
                        </a:rPr>
                        <a:t>NICE Ltd.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000000"/>
                          </a:solidFill>
                          <a:latin typeface="Garamond"/>
                        </a:rPr>
                        <a:t>N/A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000000"/>
                          </a:solidFill>
                          <a:latin typeface="Garamond"/>
                        </a:rPr>
                        <a:t>N/A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000000"/>
                          </a:solidFill>
                          <a:latin typeface="Garamond"/>
                        </a:rPr>
                        <a:t>N/A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320040" y="91440"/>
            <a:ext cx="347472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0" i="0">
                <a:solidFill>
                  <a:srgbClr val="1C2C3A"/>
                </a:solidFill>
                <a:latin typeface="Garamond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73152"/>
            <a:ext cx="10789920" cy="5669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800" b="0" i="0">
                <a:solidFill>
                  <a:srgbClr val="1C2C3A"/>
                </a:solidFill>
                <a:latin typeface="Garamond"/>
              </a:rPr>
              <a:t>Thesis I — 600bps/yr EBIT Expansion Is Structural and Priced as a Transient Event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658368"/>
            <a:ext cx="11183112" cy="36576"/>
          </a:xfrm>
          <a:prstGeom prst="rect">
            <a:avLst/>
          </a:prstGeom>
          <a:solidFill>
            <a:srgbClr val="1C2C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656832"/>
            <a:ext cx="1051560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1">
                <a:solidFill>
                  <a:srgbClr val="999999"/>
                </a:solidFill>
                <a:latin typeface="Garamond"/>
              </a:rPr>
              <a:t>Sources: SEC Filings, CapIQ, Bloomberg, Investor Presentations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749808"/>
            <a:ext cx="11183112" cy="292608"/>
          </a:xfrm>
          <a:prstGeom prst="rect">
            <a:avLst/>
          </a:prstGeom>
          <a:solidFill>
            <a:srgbClr val="EAEB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795528"/>
            <a:ext cx="1097280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0" i="1">
                <a:solidFill>
                  <a:srgbClr val="1C2C3A"/>
                </a:solidFill>
                <a:latin typeface="Garamond"/>
              </a:rPr>
              <a:t>CONSENSUS ASSUMES 7.56x EV/EBITDA is fair for 4% revenue growth. OUR VIEW: 10x+ warranted, as ROIC 21.6% (+13pts over WACC ~8.5%) and $7.76B net cash (32% mkt cap) are being wholly ignored.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115568"/>
            <a:ext cx="11183112" cy="384048"/>
          </a:xfrm>
          <a:prstGeom prst="rect">
            <a:avLst/>
          </a:prstGeom>
          <a:solidFill>
            <a:srgbClr val="1C2C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170432"/>
            <a:ext cx="10972800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Garamond"/>
              </a:rPr>
              <a:t>600bps/yr EBIT Expansion Is Structural and Priced as a Transient Event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554480"/>
            <a:ext cx="6675120" cy="2377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1" i="0">
                <a:solidFill>
                  <a:srgbClr val="1C2C39"/>
                </a:solidFill>
                <a:latin typeface="Garamond"/>
              </a:rPr>
              <a:t>The Investment Case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1792224"/>
            <a:ext cx="6675120" cy="22860"/>
          </a:xfrm>
          <a:prstGeom prst="rect">
            <a:avLst/>
          </a:prstGeom>
          <a:solidFill>
            <a:srgbClr val="1C2C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883664"/>
            <a:ext cx="6675120" cy="329184"/>
          </a:xfrm>
          <a:prstGeom prst="rect">
            <a:avLst/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1883664"/>
            <a:ext cx="36576" cy="32918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19" y="1938528"/>
            <a:ext cx="1234440" cy="2377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 i="0">
                <a:solidFill>
                  <a:srgbClr val="C00000"/>
                </a:solidFill>
                <a:latin typeface="Garamond"/>
              </a:rPr>
              <a:t>Street believes: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65960" y="1938528"/>
            <a:ext cx="5257800" cy="2377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0" i="1">
                <a:solidFill>
                  <a:srgbClr val="1C2C3A"/>
                </a:solidFill>
                <a:latin typeface="Garamond"/>
              </a:rPr>
              <a:t>Consensus prices EPS declining 0.81% FY0 despite 600bps EBIT expansion data; implies ~$0.33 EPS upside if margins sustain.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19" y="2267712"/>
            <a:ext cx="6492240" cy="96926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50" b="0" i="0">
                <a:solidFill>
                  <a:srgbClr val="000000"/>
                </a:solidFill>
                <a:latin typeface="Garamond"/>
              </a:rPr>
              <a:t>EBIT margin expanded 1,070bps in 2 years (12.8%→23.5%) while revenue grew only 3.7% CAGR, proving the expansion is fixed-cost deleveraging, not revenue leverage — EBITDA grew 36% on 4.4% revenue growth (8.2x operating leverage ratio). Consensus models FY0 EPS declining 0.81% ($5.87 vs $5.92), implying stagnation. Sustained expansion to 25% EBIT in FY+1 drives EPS ~$6.20, creating 5.6% upside to street estimates and justifying multiple re-rating.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3328416"/>
            <a:ext cx="6675120" cy="1828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19" y="3401568"/>
            <a:ext cx="6492240" cy="2377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Garamond"/>
              </a:rPr>
              <a:t>• EBIT margin 12.8%→17.5%→23.5% on 3.7% revenue CAGR — fixed-cost leverage persists independent of revenue acceleration
• 8.2x operating leverage (EBITDA +36% on revenue +4.4%) — magnitude confirms structural, not cyclical, cost reduction
• SBC $761mm = 15.6% of revenue; 100bps reduction → ~$49mm incremental EBIT vs. street's flat EPS assumption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79" y="1554480"/>
            <a:ext cx="4325112" cy="2377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1" i="0">
                <a:solidFill>
                  <a:srgbClr val="1C2C39"/>
                </a:solidFill>
                <a:latin typeface="Garamond"/>
              </a:rPr>
              <a:t>Key Data Points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98079" y="1792224"/>
            <a:ext cx="4325112" cy="22860"/>
          </a:xfrm>
          <a:prstGeom prst="rect">
            <a:avLst/>
          </a:prstGeom>
          <a:solidFill>
            <a:srgbClr val="1C2C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498079" y="1883664"/>
            <a:ext cx="4325112" cy="100584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498079" y="1883664"/>
            <a:ext cx="36576" cy="1005840"/>
          </a:xfrm>
          <a:prstGeom prst="rect">
            <a:avLst/>
          </a:prstGeom>
          <a:solidFill>
            <a:srgbClr val="1C2C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89519" y="1938528"/>
            <a:ext cx="4187952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50" b="0" i="0">
                <a:solidFill>
                  <a:srgbClr val="1C2C3A"/>
                </a:solidFill>
                <a:latin typeface="Garamond"/>
              </a:rPr>
              <a:t>EBIT margin 12.8%→17.5%→23.5% on 3.7% revenue CAGR — fixed-cost leverage persists independent of revenue acceleration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98079" y="2944368"/>
            <a:ext cx="4325112" cy="100584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498079" y="2944368"/>
            <a:ext cx="36576" cy="1005840"/>
          </a:xfrm>
          <a:prstGeom prst="rect">
            <a:avLst/>
          </a:prstGeom>
          <a:solidFill>
            <a:srgbClr val="1C2C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89519" y="2999232"/>
            <a:ext cx="4187952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50" b="0" i="0">
                <a:solidFill>
                  <a:srgbClr val="1C2C3A"/>
                </a:solidFill>
                <a:latin typeface="Garamond"/>
              </a:rPr>
              <a:t>8.2x operating leverage (EBITDA +36% on revenue +4.4%) — magnitude confirms structural, not cyclical, cost reduction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498079" y="4005072"/>
            <a:ext cx="4325112" cy="100584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498079" y="4005072"/>
            <a:ext cx="36576" cy="1005840"/>
          </a:xfrm>
          <a:prstGeom prst="rect">
            <a:avLst/>
          </a:prstGeom>
          <a:solidFill>
            <a:srgbClr val="1C2C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589519" y="4059936"/>
            <a:ext cx="4187952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50" b="0" i="0">
                <a:solidFill>
                  <a:srgbClr val="1C2C3A"/>
                </a:solidFill>
                <a:latin typeface="Garamond"/>
              </a:rPr>
              <a:t>SBC $761mm = 15.6% of revenue; 100bps reduction → ~$49mm incremental EBIT vs. street's flat EPS assumption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5852160"/>
            <a:ext cx="11183112" cy="438912"/>
          </a:xfrm>
          <a:prstGeom prst="rect">
            <a:avLst/>
          </a:prstGeom>
          <a:solidFill>
            <a:srgbClr val="1C2C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" y="5925312"/>
            <a:ext cx="1371600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Garamond"/>
              </a:rPr>
              <a:t>Takeaway: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94560" y="5925312"/>
            <a:ext cx="9509760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0" i="1">
                <a:solidFill>
                  <a:srgbClr val="FFFFFF"/>
                </a:solidFill>
                <a:latin typeface="Garamond"/>
              </a:rPr>
              <a:t>May 20 Q1 FY2027 earnings: first data point confirming if 600bps/yr expansion continues or reverts.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6327648"/>
            <a:ext cx="11183112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 i="0">
                <a:solidFill>
                  <a:srgbClr val="999999"/>
                </a:solidFill>
                <a:latin typeface="Garamond"/>
              </a:rPr>
              <a:t>PT: $100.00  |  EV Return: +22.2%  |  Slide 1 of 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0040" y="91440"/>
            <a:ext cx="347472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0" i="0">
                <a:solidFill>
                  <a:srgbClr val="1C2C3A"/>
                </a:solidFill>
                <a:latin typeface="Garamond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73152"/>
            <a:ext cx="10789920" cy="5669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800" b="0" i="0">
                <a:solidFill>
                  <a:srgbClr val="1C2C3A"/>
                </a:solidFill>
                <a:latin typeface="Garamond"/>
              </a:rPr>
              <a:t>Thesis II — $7.76B Cash Fortress Provides a Value Floor Priced as Worthless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658368"/>
            <a:ext cx="11183112" cy="36576"/>
          </a:xfrm>
          <a:prstGeom prst="rect">
            <a:avLst/>
          </a:prstGeom>
          <a:solidFill>
            <a:srgbClr val="1C2C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656832"/>
            <a:ext cx="1051560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1">
                <a:solidFill>
                  <a:srgbClr val="999999"/>
                </a:solidFill>
                <a:latin typeface="Garamond"/>
              </a:rPr>
              <a:t>Sources: SEC Filings, CapIQ, Bloomberg, Investor Presentations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749808"/>
            <a:ext cx="11183112" cy="292608"/>
          </a:xfrm>
          <a:prstGeom prst="rect">
            <a:avLst/>
          </a:prstGeom>
          <a:solidFill>
            <a:srgbClr val="EAEB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795528"/>
            <a:ext cx="1097280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0" i="1">
                <a:solidFill>
                  <a:srgbClr val="1C2C3A"/>
                </a:solidFill>
                <a:latin typeface="Garamond"/>
              </a:rPr>
              <a:t>CONSENSUS ASSUMES 7.56x EV/EBITDA is fair for 4% revenue growth. OUR VIEW: 10x+ warranted, as ROIC 21.6% (+13pts over WACC ~8.5%) and $7.76B net cash (32% mkt cap) are being wholly ignored.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115568"/>
            <a:ext cx="11183112" cy="384048"/>
          </a:xfrm>
          <a:prstGeom prst="rect">
            <a:avLst/>
          </a:prstGeom>
          <a:solidFill>
            <a:srgbClr val="00AC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170432"/>
            <a:ext cx="10972800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Garamond"/>
              </a:rPr>
              <a:t>$7.76B Cash Fortress Provides a Value Floor Priced as Worthless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554480"/>
            <a:ext cx="6675120" cy="2377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1" i="0">
                <a:solidFill>
                  <a:srgbClr val="00ACB6"/>
                </a:solidFill>
                <a:latin typeface="Garamond"/>
              </a:rPr>
              <a:t>The Investment Case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1792224"/>
            <a:ext cx="6675120" cy="22860"/>
          </a:xfrm>
          <a:prstGeom prst="rect">
            <a:avLst/>
          </a:prstGeom>
          <a:solidFill>
            <a:srgbClr val="00AC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883664"/>
            <a:ext cx="6675120" cy="329184"/>
          </a:xfrm>
          <a:prstGeom prst="rect">
            <a:avLst/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1883664"/>
            <a:ext cx="36576" cy="32918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19" y="1938528"/>
            <a:ext cx="1234440" cy="2377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 i="0">
                <a:solidFill>
                  <a:srgbClr val="C00000"/>
                </a:solidFill>
                <a:latin typeface="Garamond"/>
              </a:rPr>
              <a:t>Street believes: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65960" y="1938528"/>
            <a:ext cx="5257800" cy="2377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0" i="1">
                <a:solidFill>
                  <a:srgbClr val="1C2C3A"/>
                </a:solidFill>
                <a:latin typeface="Garamond"/>
              </a:rPr>
              <a:t>Street prices $7.76B cash (32% mkt cap) as inert; $1B annual buybacks drive ~3.3% annual EPS accretion at current price.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19" y="2267712"/>
            <a:ext cx="6492240" cy="12618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50" b="0" i="0">
                <a:solidFill>
                  <a:srgbClr val="000000"/>
                </a:solidFill>
                <a:latin typeface="Garamond"/>
              </a:rPr>
              <a:t>$7.76B net cash (32% of $24.3B mkt cap) generates ~$370mm investment income annually at 4.8%. Strip cash from EV: operating business = $16.5B EV / $1.96B FCF = 8.4x EV/FCF — pricing near-terminal decline for a 77% gross margin SaaS asset with ROIC 21.6%. Each $1B buyback at $82 retires ~3.3% of float, directly accreting per-share metrics. This floor is wholly unacknowledged at 7.56x NTM EV/EBITDA.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3621024"/>
            <a:ext cx="6675120" cy="1828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19" y="3694176"/>
            <a:ext cx="6492240" cy="20848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Garamond"/>
              </a:rPr>
              <a:t>• $7.76B net cash = 32% of mkt cap; ex-cash EV/FCF = 8.4x for a 77% gross margin software business
• FCF conversion 103.3% ($1.96B FCF vs. $1.90B NI) — cash generation is real, not accounting-driven
• Net Debt/EBITDA -6.1x vs. peer RNG at net debt — enables $2B+ buyback program without leverage risk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79" y="1554480"/>
            <a:ext cx="4325112" cy="2377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1" i="0">
                <a:solidFill>
                  <a:srgbClr val="00ACB6"/>
                </a:solidFill>
                <a:latin typeface="Garamond"/>
              </a:rPr>
              <a:t>Key Data Points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98079" y="1792224"/>
            <a:ext cx="4325112" cy="22860"/>
          </a:xfrm>
          <a:prstGeom prst="rect">
            <a:avLst/>
          </a:prstGeom>
          <a:solidFill>
            <a:srgbClr val="00AC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498079" y="1883664"/>
            <a:ext cx="4325112" cy="100584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498079" y="1883664"/>
            <a:ext cx="36576" cy="1005840"/>
          </a:xfrm>
          <a:prstGeom prst="rect">
            <a:avLst/>
          </a:prstGeom>
          <a:solidFill>
            <a:srgbClr val="00AC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89519" y="1938528"/>
            <a:ext cx="4187952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50" b="0" i="0">
                <a:solidFill>
                  <a:srgbClr val="1C2C3A"/>
                </a:solidFill>
                <a:latin typeface="Garamond"/>
              </a:rPr>
              <a:t>$7.76B net cash = 32% of mkt cap; ex-cash EV/FCF = 8.4x for a 77% gross margin software business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98079" y="2944368"/>
            <a:ext cx="4325112" cy="100584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498079" y="2944368"/>
            <a:ext cx="36576" cy="1005840"/>
          </a:xfrm>
          <a:prstGeom prst="rect">
            <a:avLst/>
          </a:prstGeom>
          <a:solidFill>
            <a:srgbClr val="00AC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89519" y="2999232"/>
            <a:ext cx="4187952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50" b="0" i="0">
                <a:solidFill>
                  <a:srgbClr val="1C2C3A"/>
                </a:solidFill>
                <a:latin typeface="Garamond"/>
              </a:rPr>
              <a:t>FCF conversion 103.3% ($1.96B FCF vs. $1.90B NI) — cash generation is real, not accounting-driven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498079" y="4005072"/>
            <a:ext cx="4325112" cy="100584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498079" y="4005072"/>
            <a:ext cx="36576" cy="1005840"/>
          </a:xfrm>
          <a:prstGeom prst="rect">
            <a:avLst/>
          </a:prstGeom>
          <a:solidFill>
            <a:srgbClr val="00AC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589519" y="4059936"/>
            <a:ext cx="4187952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50" b="0" i="0">
                <a:solidFill>
                  <a:srgbClr val="1C2C3A"/>
                </a:solidFill>
                <a:latin typeface="Garamond"/>
              </a:rPr>
              <a:t>Net Debt/EBITDA -6.1x vs. peer RNG at net debt — enables $2B+ buyback program without leverage risk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5852160"/>
            <a:ext cx="11183112" cy="438912"/>
          </a:xfrm>
          <a:prstGeom prst="rect">
            <a:avLst/>
          </a:prstGeom>
          <a:solidFill>
            <a:srgbClr val="00AC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" y="5925312"/>
            <a:ext cx="1371600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Garamond"/>
              </a:rPr>
              <a:t>Takeaway: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94560" y="5925312"/>
            <a:ext cx="9509760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0" i="1">
                <a:solidFill>
                  <a:srgbClr val="FFFFFF"/>
                </a:solidFill>
                <a:latin typeface="Garamond"/>
              </a:rPr>
              <a:t>May 2026 earnings: any buyback acceleration announcement is an immediate per-share re-rating catalyst.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6327648"/>
            <a:ext cx="11183112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 i="0">
                <a:solidFill>
                  <a:srgbClr val="999999"/>
                </a:solidFill>
                <a:latin typeface="Garamond"/>
              </a:rPr>
              <a:t>PT: $100.00  |  EV Return: +22.2%  |  Slide 2 of 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0040" y="91440"/>
            <a:ext cx="347472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0" i="0">
                <a:solidFill>
                  <a:srgbClr val="1C2C3A"/>
                </a:solidFill>
                <a:latin typeface="Garamond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73152"/>
            <a:ext cx="10789920" cy="5669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800" b="0" i="0">
                <a:solidFill>
                  <a:srgbClr val="1C2C3A"/>
                </a:solidFill>
                <a:latin typeface="Garamond"/>
              </a:rPr>
              <a:t>Thesis III — UCaaS Commoditization Is Fully Priced In; Platform Breadth Optionality Is Not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658368"/>
            <a:ext cx="11183112" cy="36576"/>
          </a:xfrm>
          <a:prstGeom prst="rect">
            <a:avLst/>
          </a:prstGeom>
          <a:solidFill>
            <a:srgbClr val="1C2C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656832"/>
            <a:ext cx="1051560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1">
                <a:solidFill>
                  <a:srgbClr val="999999"/>
                </a:solidFill>
                <a:latin typeface="Garamond"/>
              </a:rPr>
              <a:t>Sources: SEC Filings, CapIQ, Bloomberg, Investor Presentations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749808"/>
            <a:ext cx="11183112" cy="292608"/>
          </a:xfrm>
          <a:prstGeom prst="rect">
            <a:avLst/>
          </a:prstGeom>
          <a:solidFill>
            <a:srgbClr val="EAEB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795528"/>
            <a:ext cx="1097280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0" i="1">
                <a:solidFill>
                  <a:srgbClr val="1C2C3A"/>
                </a:solidFill>
                <a:latin typeface="Garamond"/>
              </a:rPr>
              <a:t>CONSENSUS ASSUMES 7.56x EV/EBITDA is fair for 4% revenue growth. OUR VIEW: 10x+ warranted, as ROIC 21.6% (+13pts over WACC ~8.5%) and $7.76B net cash (32% mkt cap) are being wholly ignored.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115568"/>
            <a:ext cx="11183112" cy="384048"/>
          </a:xfrm>
          <a:prstGeom prst="rect">
            <a:avLst/>
          </a:prstGeom>
          <a:solidFill>
            <a:srgbClr val="FFC0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170432"/>
            <a:ext cx="10972800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Garamond"/>
              </a:rPr>
              <a:t>UCaaS Commoditization Is Fully Priced In; Platform Breadth Optionality Is Not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554480"/>
            <a:ext cx="6675120" cy="2377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1" i="0">
                <a:solidFill>
                  <a:srgbClr val="FFC03B"/>
                </a:solidFill>
                <a:latin typeface="Garamond"/>
              </a:rPr>
              <a:t>The Investment Case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1792224"/>
            <a:ext cx="6675120" cy="22860"/>
          </a:xfrm>
          <a:prstGeom prst="rect">
            <a:avLst/>
          </a:prstGeom>
          <a:solidFill>
            <a:srgbClr val="FFC0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883664"/>
            <a:ext cx="6675120" cy="329184"/>
          </a:xfrm>
          <a:prstGeom prst="rect">
            <a:avLst/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1883664"/>
            <a:ext cx="36576" cy="32918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19" y="1938528"/>
            <a:ext cx="1234440" cy="2377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 i="0">
                <a:solidFill>
                  <a:srgbClr val="C00000"/>
                </a:solidFill>
                <a:latin typeface="Garamond"/>
              </a:rPr>
              <a:t>Street believes: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65960" y="1938528"/>
            <a:ext cx="5257800" cy="2377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0" i="1">
                <a:solidFill>
                  <a:srgbClr val="1C2C3A"/>
                </a:solidFill>
                <a:latin typeface="Garamond"/>
              </a:rPr>
              <a:t>Keybanc Underweight (PT ~$66 = 5.7x EV/EBITDA) models whole-platform decline; ROIC 21.6% disproves retained-base impairment narrative.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19" y="2267712"/>
            <a:ext cx="6492240" cy="12618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50" b="0" i="0">
                <a:solidFill>
                  <a:srgbClr val="000000"/>
                </a:solidFill>
                <a:latin typeface="Garamond"/>
              </a:rPr>
              <a:t>Teams bundling risk is real but already priced — 7.56x EV/EBITDA sits near trough UCaaS multiples (RNG 6.32x net debt, EGHT 5.84x distressed). What is NOT priced: ROIC 21.6% proves retained accounts are value-accretive despite competition. Contact Center, Zoom Phone, and AI Companion add compounding switching costs per account. If multi-product attach drives NRR above 100% in enterprise, the 4.4% headline growth understates true platform retention health.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3621024"/>
            <a:ext cx="6675120" cy="1828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19" y="3694176"/>
            <a:ext cx="6492240" cy="20848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Garamond"/>
              </a:rPr>
              <a:t>• ROIC 21.6% ($896mm NOPAT / $4.1B invested capital) — value creation persists today despite Teams competition
• Gross margin expanded 120bps to 77.0% in FY0 — pricing/mix improvement in a 'commoditizing' market contradicts zero-differentiation thesis
• Revenue $4.87B growing 4.4% despite Microsoft/Google bundling — base is durable at scale, not rapidly eroding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79" y="1554480"/>
            <a:ext cx="4325112" cy="2377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1" i="0">
                <a:solidFill>
                  <a:srgbClr val="FFC03B"/>
                </a:solidFill>
                <a:latin typeface="Garamond"/>
              </a:rPr>
              <a:t>Key Data Points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98079" y="1792224"/>
            <a:ext cx="4325112" cy="22860"/>
          </a:xfrm>
          <a:prstGeom prst="rect">
            <a:avLst/>
          </a:prstGeom>
          <a:solidFill>
            <a:srgbClr val="FFC0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498079" y="1883664"/>
            <a:ext cx="4325112" cy="100584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498079" y="1883664"/>
            <a:ext cx="36576" cy="1005840"/>
          </a:xfrm>
          <a:prstGeom prst="rect">
            <a:avLst/>
          </a:prstGeom>
          <a:solidFill>
            <a:srgbClr val="FFC0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89519" y="1938528"/>
            <a:ext cx="4187952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50" b="0" i="0">
                <a:solidFill>
                  <a:srgbClr val="1C2C3A"/>
                </a:solidFill>
                <a:latin typeface="Garamond"/>
              </a:rPr>
              <a:t>ROIC 21.6% ($896mm NOPAT / $4.1B invested capital) — value creation persists today despite Teams competition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98079" y="2944368"/>
            <a:ext cx="4325112" cy="100584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498079" y="2944368"/>
            <a:ext cx="36576" cy="1005840"/>
          </a:xfrm>
          <a:prstGeom prst="rect">
            <a:avLst/>
          </a:prstGeom>
          <a:solidFill>
            <a:srgbClr val="FFC0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89519" y="2999232"/>
            <a:ext cx="4187952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50" b="0" i="0">
                <a:solidFill>
                  <a:srgbClr val="1C2C3A"/>
                </a:solidFill>
                <a:latin typeface="Garamond"/>
              </a:rPr>
              <a:t>Gross margin expanded 120bps to 77.0% in FY0 — pricing/mix improvement in a 'commoditizing' market contradicts zero-differentiation thesis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498079" y="4005072"/>
            <a:ext cx="4325112" cy="100584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498079" y="4005072"/>
            <a:ext cx="36576" cy="1005840"/>
          </a:xfrm>
          <a:prstGeom prst="rect">
            <a:avLst/>
          </a:prstGeom>
          <a:solidFill>
            <a:srgbClr val="FFC0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589519" y="4059936"/>
            <a:ext cx="4187952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50" b="0" i="0">
                <a:solidFill>
                  <a:srgbClr val="1C2C3A"/>
                </a:solidFill>
                <a:latin typeface="Garamond"/>
              </a:rPr>
              <a:t>Revenue $4.87B growing 4.4% despite Microsoft/Google bundling — base is durable at scale, not rapidly eroding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5852160"/>
            <a:ext cx="11183112" cy="438912"/>
          </a:xfrm>
          <a:prstGeom prst="rect">
            <a:avLst/>
          </a:prstGeom>
          <a:solidFill>
            <a:srgbClr val="FFC0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" y="5925312"/>
            <a:ext cx="1371600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Garamond"/>
              </a:rPr>
              <a:t>Takeaway: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94560" y="5925312"/>
            <a:ext cx="9509760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0" i="1">
                <a:solidFill>
                  <a:srgbClr val="FFFFFF"/>
                </a:solidFill>
                <a:latin typeface="Garamond"/>
              </a:rPr>
              <a:t>May 2026 earnings Contact Center/Phone ARR disclosure is the first data point enabling multi-product platform re-rating.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6327648"/>
            <a:ext cx="11183112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 i="0">
                <a:solidFill>
                  <a:srgbClr val="999999"/>
                </a:solidFill>
                <a:latin typeface="Garamond"/>
              </a:rPr>
              <a:t>PT: $100.00  |  EV Return: +22.2%  |  Slide 3 of 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0040" y="91440"/>
            <a:ext cx="347472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0" i="0">
                <a:solidFill>
                  <a:srgbClr val="1C2C3A"/>
                </a:solidFill>
                <a:latin typeface="Garamond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73152"/>
            <a:ext cx="10789920" cy="5669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800" b="0" i="0">
                <a:solidFill>
                  <a:srgbClr val="1C2C3A"/>
                </a:solidFill>
                <a:latin typeface="Garamond"/>
              </a:rPr>
              <a:t>Scenario Analysis  |  PT: $100.00  |  EV Return: +22.2%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658368"/>
            <a:ext cx="11183112" cy="36576"/>
          </a:xfrm>
          <a:prstGeom prst="rect">
            <a:avLst/>
          </a:prstGeom>
          <a:solidFill>
            <a:srgbClr val="1C2C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656832"/>
            <a:ext cx="1051560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1">
                <a:solidFill>
                  <a:srgbClr val="999999"/>
                </a:solidFill>
                <a:latin typeface="Garamond"/>
              </a:rPr>
              <a:t>Sources: CapIQ, LSEG, DCF Analysis, Comparable Company Analysis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749808"/>
            <a:ext cx="11183112" cy="347472"/>
          </a:xfrm>
          <a:prstGeom prst="rect">
            <a:avLst/>
          </a:prstGeom>
          <a:solidFill>
            <a:srgbClr val="EAEB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804672"/>
            <a:ext cx="1097280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0" i="1">
                <a:solidFill>
                  <a:srgbClr val="1C2C3A"/>
                </a:solidFill>
                <a:latin typeface="Garamond"/>
              </a:rPr>
              <a:t>CONSENSUS ASSUMES 7.56x EV/EBITDA is fair for 4% revenue growth. OUR VIEW: 10x+ warranted, as ROIC 21.6% (+13pts over WACC ~8.5%) and $7.76B net cash (32% mkt cap) are being wholly ignored.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170432"/>
            <a:ext cx="11183112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0" i="1">
                <a:solidFill>
                  <a:srgbClr val="595959"/>
                </a:solidFill>
                <a:latin typeface="Garamond"/>
              </a:rPr>
              <a:t>25% × $125 (+51.8%) + 55% × $100 (+21.4%) + 20% × $72 (-12.6%) = $31.25 + $55.00 + $14.40 = $100.65 blended PT. Return = ($100.65 - $82.36) / $82.36 = +22.2%. Exceeds 15% BUY th…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517904"/>
            <a:ext cx="3721608" cy="32918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563624"/>
            <a:ext cx="3721608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Garamond"/>
              </a:rPr>
              <a:t>BEAR  |  20%  |  PT: $72.00  |  -12.6%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1865376"/>
            <a:ext cx="3721608" cy="4297680"/>
          </a:xfrm>
          <a:prstGeom prst="rect">
            <a:avLst/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1938528"/>
            <a:ext cx="3502152" cy="418795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Garamond"/>
              </a:rPr>
              <a:t>Two consecutive quarters revenue growth &lt;2%; EBIT margin stalls below 22% from defensive R&amp;D investment.
• FY+2 revenue $5,170mm (+1.9%); adj. EBITDA $2,100mm; 7x EV/EBITDA = $14,700mm EV + $8,000mm cash …
• Multiple floors at 7x (peer floor); institutional exit pressure on growth deceleration narrative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98848" y="1517904"/>
            <a:ext cx="3721608" cy="329184"/>
          </a:xfrm>
          <a:prstGeom prst="rect">
            <a:avLst/>
          </a:prstGeom>
          <a:solidFill>
            <a:srgbClr val="1C2C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98848" y="1563624"/>
            <a:ext cx="3721608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Garamond"/>
              </a:rPr>
              <a:t>BASE  |  55%  |  PT: $100.00  |  +21.4%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98848" y="1865376"/>
            <a:ext cx="3721608" cy="4297680"/>
          </a:xfrm>
          <a:prstGeom prst="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08576" y="1938528"/>
            <a:ext cx="3502152" cy="418795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Garamond"/>
              </a:rPr>
              <a:t>Revenue grows 4-5% NTM in line with consensus; EBIT reaches 25%; multiple expands from 7.56x to 10x EV/EBITDA.
• FY+2 revenue $5,272mm (+4.0%); adj. EBITDA $2,270mm; 10x EV/EBITDA = $22,700mm EV + $8,700mm net …
• Buybacks $1.0-1.5B/yr; Teams risk contained to moderate attrition, not acceleration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357616" y="1517904"/>
            <a:ext cx="3721608" cy="329184"/>
          </a:xfrm>
          <a:prstGeom prst="rect">
            <a:avLst/>
          </a:prstGeom>
          <a:solidFill>
            <a:srgbClr val="00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57616" y="1563624"/>
            <a:ext cx="3721608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Garamond"/>
              </a:rPr>
              <a:t>BULL  |  25%  |  PT: $125.00  |  +51.8%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357616" y="1865376"/>
            <a:ext cx="3721608" cy="4297680"/>
          </a:xfrm>
          <a:prstGeom prst="rect">
            <a:avLst/>
          </a:prstGeom>
          <a:solidFill>
            <a:srgbClr val="F0FB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67344" y="1938528"/>
            <a:ext cx="3502152" cy="418795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Garamond"/>
              </a:rPr>
              <a:t>Contact Center ARR &gt;20% YoY at May 2026 earnings; $2B+ buyback announced; multiple re-rates to 12x.
• FY+2 revenue $5,380mm (+6.1%); adj. EBITDA $2,500mm; 12x NTM EV/EBITDA = $30,000mm EV + $9,700mm …
• SBC declines to 14% of revenue; EBIT margin reaches 27% in FY+3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6236208"/>
            <a:ext cx="11183112" cy="292608"/>
          </a:xfrm>
          <a:prstGeom prst="rect">
            <a:avLst/>
          </a:prstGeom>
          <a:solidFill>
            <a:srgbClr val="1C2C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6281928"/>
            <a:ext cx="1097280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Garamond"/>
              </a:rPr>
              <a:t>Bear: 20%×-12.6%=-2.5%  +  Base: 55%×+21.4%=+11.8%  +  Bull: 25%×+51.8%=+12.9%  |  → EV Return: +22.2%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" y="91440"/>
            <a:ext cx="347472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0" i="0">
                <a:solidFill>
                  <a:srgbClr val="1C2C3A"/>
                </a:solidFill>
                <a:latin typeface="Garamond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73152"/>
            <a:ext cx="10789920" cy="5669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800" b="0" i="0">
                <a:solidFill>
                  <a:srgbClr val="1C2C3A"/>
                </a:solidFill>
                <a:latin typeface="Garamond"/>
              </a:rPr>
              <a:t>Risks &amp; Mitigants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658368"/>
            <a:ext cx="11183112" cy="36576"/>
          </a:xfrm>
          <a:prstGeom prst="rect">
            <a:avLst/>
          </a:prstGeom>
          <a:solidFill>
            <a:srgbClr val="1C2C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656832"/>
            <a:ext cx="1051560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1">
                <a:solidFill>
                  <a:srgbClr val="999999"/>
                </a:solidFill>
                <a:latin typeface="Garamond"/>
              </a:rPr>
              <a:t>Sources: SEC Filings, Earnings Calls, CapIQ, Bloomberg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749808"/>
            <a:ext cx="11183112" cy="292608"/>
          </a:xfrm>
          <a:prstGeom prst="rect">
            <a:avLst/>
          </a:prstGeom>
          <a:solidFill>
            <a:srgbClr val="EAEB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804672"/>
            <a:ext cx="1097280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100" b="1" i="1">
                <a:solidFill>
                  <a:srgbClr val="1C2C3A"/>
                </a:solidFill>
                <a:latin typeface="Garamond"/>
              </a:rPr>
              <a:t>Market prices these risks at a higher probability than the underlying data supports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097280"/>
            <a:ext cx="1508760" cy="274320"/>
          </a:xfrm>
          <a:prstGeom prst="rect">
            <a:avLst/>
          </a:prstGeom>
          <a:solidFill>
            <a:srgbClr val="1C2C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194560" y="1097280"/>
            <a:ext cx="6400800" cy="274320"/>
          </a:xfrm>
          <a:prstGeom prst="rect">
            <a:avLst/>
          </a:prstGeom>
          <a:solidFill>
            <a:srgbClr val="1C2C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50224" y="1097280"/>
            <a:ext cx="1508760" cy="274320"/>
          </a:xfrm>
          <a:prstGeom prst="rect">
            <a:avLst/>
          </a:prstGeom>
          <a:solidFill>
            <a:srgbClr val="505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213848" y="1097280"/>
            <a:ext cx="1609344" cy="274320"/>
          </a:xfrm>
          <a:prstGeom prst="rect">
            <a:avLst/>
          </a:prstGeom>
          <a:solidFill>
            <a:srgbClr val="00AC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" y="1133856"/>
            <a:ext cx="1399031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Garamond"/>
              </a:rPr>
              <a:t>#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9424" y="1133856"/>
            <a:ext cx="6291072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Garamond"/>
              </a:rPr>
              <a:t>Risk Description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05088" y="1133856"/>
            <a:ext cx="1399031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Garamond"/>
              </a:rPr>
              <a:t>Prob / Impact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68712" y="1133856"/>
            <a:ext cx="1499616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Garamond"/>
              </a:rPr>
              <a:t>Mitigants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1408176"/>
            <a:ext cx="1508760" cy="1572768"/>
          </a:xfrm>
          <a:prstGeom prst="rect">
            <a:avLst/>
          </a:prstGeom>
          <a:solidFill>
            <a:srgbClr val="1C2C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1481328"/>
            <a:ext cx="150876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Garamond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1993392"/>
            <a:ext cx="1508760" cy="98755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Garamond"/>
              </a:rPr>
              <a:t>Microsoft Copilot Meeting Cannib…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2478024"/>
            <a:ext cx="1508760" cy="43891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800" b="1" i="0">
                <a:solidFill>
                  <a:srgbClr val="FFFF80"/>
                </a:solidFill>
                <a:latin typeface="Garamond"/>
              </a:rPr>
              <a:t>THESIS
KILLER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194560" y="1408176"/>
            <a:ext cx="6400800" cy="1572768"/>
          </a:xfrm>
          <a:prstGeom prst="rect">
            <a:avLst/>
          </a:prstGeom>
          <a:solidFill>
            <a:srgbClr val="FF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304288" y="1463040"/>
            <a:ext cx="91440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1" i="0">
                <a:solidFill>
                  <a:srgbClr val="C00000"/>
                </a:solidFill>
                <a:latin typeface="Garamond"/>
              </a:rPr>
              <a:t>Risk: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04288" y="1700784"/>
            <a:ext cx="6181344" cy="1225295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50" b="0" i="0">
                <a:solidFill>
                  <a:srgbClr val="000000"/>
                </a:solidFill>
                <a:latin typeface="Garamond"/>
              </a:rPr>
              <a:t>Microsoft's bundled strategy poses an existential threat to Zoom's core revenue base in a way that is already observable in ZM's deceleration to 4.4% YoY growth. Teams is included at zero marginal cost in every M365 enterprise subscription, and the rollout of Copilot's AI meeting capabilities — real-time transcription, action item extr…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650224" y="1408176"/>
            <a:ext cx="1508760" cy="1572768"/>
          </a:xfrm>
          <a:prstGeom prst="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0" y="1517904"/>
            <a:ext cx="141732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000" b="1" i="0">
                <a:solidFill>
                  <a:srgbClr val="1C2C3A"/>
                </a:solidFill>
                <a:latin typeface="Garamond"/>
              </a:rPr>
              <a:t>Prob: 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0" y="1828800"/>
            <a:ext cx="141732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000" b="0" i="0">
                <a:solidFill>
                  <a:srgbClr val="1C2C3A"/>
                </a:solidFill>
                <a:latin typeface="Garamond"/>
              </a:rPr>
              <a:t>Impact: 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0" y="2157984"/>
            <a:ext cx="1417320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600" b="1" i="0">
                <a:solidFill>
                  <a:srgbClr val="00AF50"/>
                </a:solidFill>
                <a:latin typeface="Garamond"/>
              </a:rPr>
              <a:t>+45%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213848" y="1408176"/>
            <a:ext cx="1609344" cy="1572768"/>
          </a:xfrm>
          <a:prstGeom prst="rect">
            <a:avLst/>
          </a:prstGeom>
          <a:solidFill>
            <a:srgbClr val="F0FB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259568" y="1463040"/>
            <a:ext cx="1481328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1" i="0">
                <a:solidFill>
                  <a:srgbClr val="00B050"/>
                </a:solidFill>
                <a:latin typeface="Garamond"/>
              </a:rPr>
              <a:t>Mitigant: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59568" y="1700784"/>
            <a:ext cx="1481328" cy="1225295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Garamond"/>
              </a:rPr>
              <a:t>Zoom's installed base of 220,000+ enterprise accounts operates under multi-year contracts, and deep platform integration across Zoom Phone, Rooms, and Contact Center creates switching friction that pure meeting displa…
Monitor: Enterprise net dollar retention rate declining below…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2980944"/>
            <a:ext cx="1508760" cy="1572768"/>
          </a:xfrm>
          <a:prstGeom prst="rect">
            <a:avLst/>
          </a:prstGeom>
          <a:solidFill>
            <a:srgbClr val="00AC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3054096"/>
            <a:ext cx="150876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Garamond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3566160"/>
            <a:ext cx="1508760" cy="98755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Garamond"/>
              </a:rPr>
              <a:t>Revenue Stall Triggers Value Tra…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194560" y="2980944"/>
            <a:ext cx="6400800" cy="1572768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304288" y="3035808"/>
            <a:ext cx="91440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1" i="0">
                <a:solidFill>
                  <a:srgbClr val="C00000"/>
                </a:solidFill>
                <a:latin typeface="Garamond"/>
              </a:rPr>
              <a:t>Risk: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304288" y="3273551"/>
            <a:ext cx="6181344" cy="1225295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50" b="0" i="0">
                <a:solidFill>
                  <a:srgbClr val="000000"/>
                </a:solidFill>
                <a:latin typeface="Garamond"/>
              </a:rPr>
              <a:t>Zoom's revenue growth has decelerated to 4.4% YoY in FY2026 and the ROIC-WACC spread sits at approximately 0%, meaning the business is creating no incremental economic value on new capital deployed — a structural warning sign that the market is already discounting in a compressed valuation range. The investment thesis requires growth r…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650224" y="2980944"/>
            <a:ext cx="1508760" cy="1572768"/>
          </a:xfrm>
          <a:prstGeom prst="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686800" y="3090672"/>
            <a:ext cx="141732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000" b="1" i="0">
                <a:solidFill>
                  <a:srgbClr val="1C2C3A"/>
                </a:solidFill>
                <a:latin typeface="Garamond"/>
              </a:rPr>
              <a:t>Prob: 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86800" y="3401568"/>
            <a:ext cx="141732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000" b="0" i="0">
                <a:solidFill>
                  <a:srgbClr val="1C2C3A"/>
                </a:solidFill>
                <a:latin typeface="Garamond"/>
              </a:rPr>
              <a:t>Impact: 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86800" y="3730752"/>
            <a:ext cx="1417320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600" b="1" i="0">
                <a:solidFill>
                  <a:srgbClr val="00AF50"/>
                </a:solidFill>
                <a:latin typeface="Garamond"/>
              </a:rPr>
              <a:t>+30%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0213848" y="2980944"/>
            <a:ext cx="1609344" cy="1572768"/>
          </a:xfrm>
          <a:prstGeom prst="rect">
            <a:avLst/>
          </a:prstGeom>
          <a:solidFill>
            <a:srgbClr val="F0FB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259568" y="3035808"/>
            <a:ext cx="1481328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1" i="0">
                <a:solidFill>
                  <a:srgbClr val="00B050"/>
                </a:solidFill>
                <a:latin typeface="Garamond"/>
              </a:rPr>
              <a:t>Mitigant: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259568" y="3273551"/>
            <a:ext cx="1481328" cy="1225295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Garamond"/>
              </a:rPr>
              <a:t>Zoom's net cash position (net debt/EBITDA of -6.09x implies approximately $6-7B of net cash) and FCF conversion of 147% provide substantial buyback firepower that mechanically supports EPS growth at 5-7% annually even…
Monitor: Two consecutive quarters of total reported revenue g…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40080" y="4553712"/>
            <a:ext cx="1508760" cy="1572768"/>
          </a:xfrm>
          <a:prstGeom prst="rect">
            <a:avLst/>
          </a:prstGeom>
          <a:solidFill>
            <a:srgbClr val="FFC0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0080" y="4626864"/>
            <a:ext cx="150876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Garamond"/>
              </a:rPr>
              <a:t>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080" y="5138928"/>
            <a:ext cx="1508760" cy="98755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Garamond"/>
              </a:rPr>
              <a:t>AI Feature Commoditization Kills…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194560" y="4553712"/>
            <a:ext cx="6400800" cy="1572768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304288" y="4608576"/>
            <a:ext cx="91440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1" i="0">
                <a:solidFill>
                  <a:srgbClr val="C00000"/>
                </a:solidFill>
                <a:latin typeface="Garamond"/>
              </a:rPr>
              <a:t>Risk: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304288" y="4846320"/>
            <a:ext cx="6181344" cy="1225295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50" b="0" i="0">
                <a:solidFill>
                  <a:srgbClr val="000000"/>
                </a:solidFill>
                <a:latin typeface="Garamond"/>
              </a:rPr>
              <a:t>The primary bull case for ZM rests on AI Companion driving meaningful ARPU expansion and justifying a re-rating toward a higher-value platform multiple, but this thesis is directly threatened by the pace at which meeting AI capabilities are being commoditized by open-source models. OpenAI's Whisper already provides state-of-the-art mee…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650224" y="4553712"/>
            <a:ext cx="1508760" cy="1572768"/>
          </a:xfrm>
          <a:prstGeom prst="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686800" y="4663440"/>
            <a:ext cx="141732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000" b="1" i="0">
                <a:solidFill>
                  <a:srgbClr val="1C2C3A"/>
                </a:solidFill>
                <a:latin typeface="Garamond"/>
              </a:rPr>
              <a:t>Prob: M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686800" y="4974336"/>
            <a:ext cx="141732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000" b="0" i="0">
                <a:solidFill>
                  <a:srgbClr val="1C2C3A"/>
                </a:solidFill>
                <a:latin typeface="Garamond"/>
              </a:rPr>
              <a:t>Impact: M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686800" y="5303520"/>
            <a:ext cx="1417320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600" b="1" i="0">
                <a:solidFill>
                  <a:srgbClr val="00AF50"/>
                </a:solidFill>
                <a:latin typeface="Garamond"/>
              </a:rPr>
              <a:t>+22%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0213848" y="4553712"/>
            <a:ext cx="1609344" cy="1572768"/>
          </a:xfrm>
          <a:prstGeom prst="rect">
            <a:avLst/>
          </a:prstGeom>
          <a:solidFill>
            <a:srgbClr val="F0FB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0259568" y="4608576"/>
            <a:ext cx="1481328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1" i="0">
                <a:solidFill>
                  <a:srgbClr val="00B050"/>
                </a:solidFill>
                <a:latin typeface="Garamond"/>
              </a:rPr>
              <a:t>Mitigant: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259568" y="4846320"/>
            <a:ext cx="1481328" cy="1225295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Garamond"/>
              </a:rPr>
              <a:t>Zoom's competitive defensibility in AI is less about underlying model quality and more about proprietary data and workflow integration depth — Zoom's models are trained on billions of enterprise meeting minutes, givin…
Monitor: Google or Microsoft announces meeting AI capabilitie…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40080" y="6035040"/>
            <a:ext cx="11183112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50" b="0" i="1">
                <a:solidFill>
                  <a:srgbClr val="595959"/>
                </a:solidFill>
                <a:latin typeface="Garamond"/>
              </a:rPr>
              <a:t>What would make us wrong:  Enterprise net dollar retention rate prints above 108% for two consecutive fi…  |  Total reported revenue growth re-accelerates to above 8% YoY on an organic ba…  |  Microsoft announces a pricing restructuring that introduces a per-seat charge…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20040" y="91440"/>
            <a:ext cx="347472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0" i="0">
                <a:solidFill>
                  <a:srgbClr val="1C2C3A"/>
                </a:solidFill>
                <a:latin typeface="Garamond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73152"/>
            <a:ext cx="10789920" cy="5669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800" b="0" i="0">
                <a:solidFill>
                  <a:srgbClr val="1C2C3A"/>
                </a:solidFill>
                <a:latin typeface="Garamond"/>
              </a:rPr>
              <a:t>What You Need to Believe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658368"/>
            <a:ext cx="11183112" cy="36576"/>
          </a:xfrm>
          <a:prstGeom prst="rect">
            <a:avLst/>
          </a:prstGeom>
          <a:solidFill>
            <a:srgbClr val="1C2C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656832"/>
            <a:ext cx="1051560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1">
                <a:solidFill>
                  <a:srgbClr val="999999"/>
                </a:solidFill>
                <a:latin typeface="Garamond"/>
              </a:rPr>
              <a:t>Sources: SEC Filings, CapIQ, Bloomberg, Investor Presentations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49808"/>
            <a:ext cx="11183112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200" b="1" i="1">
                <a:solidFill>
                  <a:srgbClr val="1C2C3A"/>
                </a:solidFill>
                <a:latin typeface="Garamond"/>
              </a:rPr>
              <a:t>We believe our investment theses position us to get into an excellent name at the right time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097280"/>
            <a:ext cx="3108960" cy="310896"/>
          </a:xfrm>
          <a:prstGeom prst="rect">
            <a:avLst/>
          </a:prstGeom>
          <a:solidFill>
            <a:srgbClr val="1C2C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4944" y="1124712"/>
            <a:ext cx="2999232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Garamond"/>
              </a:rPr>
              <a:t>Key Debate</a:t>
            </a:r>
          </a:p>
        </p:txBody>
      </p:sp>
      <p:sp>
        <p:nvSpPr>
          <p:cNvPr id="8" name="Rectangle 7"/>
          <p:cNvSpPr/>
          <p:nvPr/>
        </p:nvSpPr>
        <p:spPr>
          <a:xfrm>
            <a:off x="3858768" y="1097280"/>
            <a:ext cx="4041648" cy="310896"/>
          </a:xfrm>
          <a:prstGeom prst="rect">
            <a:avLst/>
          </a:prstGeom>
          <a:solidFill>
            <a:srgbClr val="A0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13631" y="1124712"/>
            <a:ext cx="393192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Garamond"/>
              </a:rPr>
              <a:t>Street View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10144" y="1097280"/>
            <a:ext cx="4032504" cy="310896"/>
          </a:xfrm>
          <a:prstGeom prst="rect">
            <a:avLst/>
          </a:prstGeom>
          <a:solidFill>
            <a:srgbClr val="00AC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65008" y="1124712"/>
            <a:ext cx="3922776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Garamond"/>
              </a:rPr>
              <a:t>Our View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1435608"/>
            <a:ext cx="3108960" cy="141732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1435608"/>
            <a:ext cx="54864" cy="1417320"/>
          </a:xfrm>
          <a:prstGeom prst="rect">
            <a:avLst/>
          </a:prstGeom>
          <a:solidFill>
            <a:srgbClr val="1C2C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" y="1527048"/>
            <a:ext cx="2926079" cy="127101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50" b="0" i="0">
                <a:solidFill>
                  <a:srgbClr val="000000"/>
                </a:solidFill>
                <a:latin typeface="Garamond"/>
              </a:rPr>
              <a:t>Will EBIT margin expansion continue or has it peaked at 23.5%?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858768" y="1435608"/>
            <a:ext cx="4041648" cy="1417320"/>
          </a:xfrm>
          <a:prstGeom prst="rect">
            <a:avLst/>
          </a:prstGeom>
          <a:solidFill>
            <a:srgbClr val="FFD2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858768" y="1435608"/>
            <a:ext cx="54864" cy="1417320"/>
          </a:xfrm>
          <a:prstGeom prst="rect">
            <a:avLst/>
          </a:prstGeom>
          <a:solidFill>
            <a:srgbClr val="A0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968496" y="1527048"/>
            <a:ext cx="3858768" cy="127101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50" b="0" i="0">
                <a:solidFill>
                  <a:srgbClr val="000000"/>
                </a:solidFill>
                <a:latin typeface="Garamond"/>
              </a:rPr>
              <a:t>Consensus EPS $5.87 FY0 (-0.81% vs. $5.92 prior year) implies margins flatten; R&amp;D or SBC reinvestment accelerates.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10144" y="1435608"/>
            <a:ext cx="4032504" cy="1417320"/>
          </a:xfrm>
          <a:prstGeom prst="rect">
            <a:avLst/>
          </a:prstGeom>
          <a:solidFill>
            <a:srgbClr val="C5F1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10144" y="1435608"/>
            <a:ext cx="54864" cy="1417320"/>
          </a:xfrm>
          <a:prstGeom prst="rect">
            <a:avLst/>
          </a:prstGeom>
          <a:solidFill>
            <a:srgbClr val="00AC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19871" y="1527048"/>
            <a:ext cx="3849624" cy="127101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50" b="0" i="0">
                <a:solidFill>
                  <a:srgbClr val="000000"/>
                </a:solidFill>
                <a:latin typeface="Garamond"/>
              </a:rPr>
              <a:t>EBIT reaches 25% in FY+1 as SBC drops ~100bps of revenue; falsifiable at May 20 earnings — drives EPS ~$6.20 vs. street $5.87.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2889504"/>
            <a:ext cx="3108960" cy="141732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" y="2889504"/>
            <a:ext cx="54864" cy="1417320"/>
          </a:xfrm>
          <a:prstGeom prst="rect">
            <a:avLst/>
          </a:prstGeom>
          <a:solidFill>
            <a:srgbClr val="1C2C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9808" y="2980944"/>
            <a:ext cx="2926079" cy="127101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50" b="0" i="0">
                <a:solidFill>
                  <a:srgbClr val="000000"/>
                </a:solidFill>
                <a:latin typeface="Garamond"/>
              </a:rPr>
              <a:t>Does $7.76B cash get deployed productively or remain inert?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858768" y="2889504"/>
            <a:ext cx="4041648" cy="1417320"/>
          </a:xfrm>
          <a:prstGeom prst="rect">
            <a:avLst/>
          </a:prstGeom>
          <a:solidFill>
            <a:srgbClr val="FFD2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858768" y="2889504"/>
            <a:ext cx="54864" cy="1417320"/>
          </a:xfrm>
          <a:prstGeom prst="rect">
            <a:avLst/>
          </a:prstGeom>
          <a:solidFill>
            <a:srgbClr val="A0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968496" y="2980944"/>
            <a:ext cx="3858768" cy="127101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50" b="0" i="0">
                <a:solidFill>
                  <a:srgbClr val="000000"/>
                </a:solidFill>
                <a:latin typeface="Garamond"/>
              </a:rPr>
              <a:t>Consensus PT $97.33 implies partial cash recognition but models near-zero EPS accretion from capital return activity.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010144" y="2889504"/>
            <a:ext cx="4032504" cy="1417320"/>
          </a:xfrm>
          <a:prstGeom prst="rect">
            <a:avLst/>
          </a:prstGeom>
          <a:solidFill>
            <a:srgbClr val="C5F1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10144" y="2889504"/>
            <a:ext cx="54864" cy="1417320"/>
          </a:xfrm>
          <a:prstGeom prst="rect">
            <a:avLst/>
          </a:prstGeom>
          <a:solidFill>
            <a:srgbClr val="00AC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19871" y="2980944"/>
            <a:ext cx="3849624" cy="127101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50" b="0" i="0">
                <a:solidFill>
                  <a:srgbClr val="000000"/>
                </a:solidFill>
                <a:latin typeface="Garamond"/>
              </a:rPr>
              <a:t>$2B/yr buybacks retire ~8% of float in 2 years; at $5.87 EPS, accretion alone = ~$0.47/share without any operating improvement.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" y="4343400"/>
            <a:ext cx="3108960" cy="141732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40080" y="4343400"/>
            <a:ext cx="54864" cy="1417320"/>
          </a:xfrm>
          <a:prstGeom prst="rect">
            <a:avLst/>
          </a:prstGeom>
          <a:solidFill>
            <a:srgbClr val="1C2C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49808" y="4434840"/>
            <a:ext cx="2926079" cy="127101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50" b="0" i="0">
                <a:solidFill>
                  <a:srgbClr val="000000"/>
                </a:solidFill>
                <a:latin typeface="Garamond"/>
              </a:rPr>
              <a:t>Is 4% revenue growth a ceiling or a floor with Contact Center/Phone upside?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858768" y="4343400"/>
            <a:ext cx="4041648" cy="1417320"/>
          </a:xfrm>
          <a:prstGeom prst="rect">
            <a:avLst/>
          </a:prstGeom>
          <a:solidFill>
            <a:srgbClr val="FFD2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858768" y="4343400"/>
            <a:ext cx="54864" cy="1417320"/>
          </a:xfrm>
          <a:prstGeom prst="rect">
            <a:avLst/>
          </a:prstGeom>
          <a:solidFill>
            <a:srgbClr val="A0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968496" y="4434840"/>
            <a:ext cx="3858768" cy="127101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50" b="0" i="0">
                <a:solidFill>
                  <a:srgbClr val="000000"/>
                </a:solidFill>
                <a:latin typeface="Garamond"/>
              </a:rPr>
              <a:t>Street models FY+2 revenue $5,272mm (+3.96%); consensus implies deceleration with no re-acceleration above 4% modeled.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010144" y="4343400"/>
            <a:ext cx="4032504" cy="1417320"/>
          </a:xfrm>
          <a:prstGeom prst="rect">
            <a:avLst/>
          </a:prstGeom>
          <a:solidFill>
            <a:srgbClr val="C5F1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010144" y="4343400"/>
            <a:ext cx="54864" cy="1417320"/>
          </a:xfrm>
          <a:prstGeom prst="rect">
            <a:avLst/>
          </a:prstGeom>
          <a:solidFill>
            <a:srgbClr val="00AC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119871" y="4434840"/>
            <a:ext cx="3849624" cy="127101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50" b="0" i="0">
                <a:solidFill>
                  <a:srgbClr val="000000"/>
                </a:solidFill>
                <a:latin typeface="Garamond"/>
              </a:rPr>
              <a:t>4% is the floor; CCaaS optionality, AI Companion upsell, and Phone ARR represent upside the base ignores — one re-acceleration quarter changes the narrative.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0080" y="5870448"/>
            <a:ext cx="11183112" cy="274320"/>
          </a:xfrm>
          <a:prstGeom prst="rect">
            <a:avLst/>
          </a:prstGeom>
          <a:solidFill>
            <a:srgbClr val="1C2C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77240" y="5907024"/>
            <a:ext cx="457200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Garamond"/>
              </a:rPr>
              <a:t>What You're Buying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5800" y="6199632"/>
            <a:ext cx="5577840" cy="60350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Garamond"/>
              </a:rPr>
              <a:t>• EBIT margin 12.8%→23.5% in 2 years on 3.7% revenue CAGR — structural fixed-cost leverage, not top-line dependent — proves the e…
• ROIC 21.6% vs. estimated WACC ~8.5% = +13pt spread; RNG trades at 6.32x EV/EBITDA with net debt and 14% EBITDA margins vs. ZM's…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55080" y="6199632"/>
            <a:ext cx="5394960" cy="60350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Garamond"/>
              </a:rPr>
              <a:t>• $7.76B net cash = 32% of $24.3B mkt cap; ex-cash EV/FCF = 8.4x ($16.5B EV / $1.96B FCF) — pricing near-terminal decline for a 7…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40080" y="6876288"/>
            <a:ext cx="11183112" cy="457200"/>
          </a:xfrm>
          <a:prstGeom prst="rect">
            <a:avLst/>
          </a:prstGeom>
          <a:solidFill>
            <a:srgbClr val="1C2C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77240" y="6949440"/>
            <a:ext cx="10972800" cy="32918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100" b="1" i="1">
                <a:solidFill>
                  <a:srgbClr val="FFFFFF"/>
                </a:solidFill>
                <a:latin typeface="Garamond"/>
              </a:rPr>
              <a:t>We believe our investment theses position us to get into an excellent name at the right time.  BUY  |  PT: $100.00  |  Expected Return: +21.4% over 12 months.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20040" y="91440"/>
            <a:ext cx="347472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0" i="0">
                <a:solidFill>
                  <a:srgbClr val="1C2C3A"/>
                </a:solidFill>
                <a:latin typeface="Garamond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73152"/>
            <a:ext cx="10789920" cy="5669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800" b="0" i="0">
                <a:solidFill>
                  <a:srgbClr val="1C2C3A"/>
                </a:solidFill>
                <a:latin typeface="Garamond"/>
              </a:rPr>
              <a:t>Catalyst Timeline &amp; Monitoring KPIs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658368"/>
            <a:ext cx="11183112" cy="36576"/>
          </a:xfrm>
          <a:prstGeom prst="rect">
            <a:avLst/>
          </a:prstGeom>
          <a:solidFill>
            <a:srgbClr val="1C2C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656832"/>
            <a:ext cx="1051560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1">
                <a:solidFill>
                  <a:srgbClr val="999999"/>
                </a:solidFill>
                <a:latin typeface="Garamond"/>
              </a:rPr>
              <a:t>Sources: SEC Filings, Earnings Calls, Bloomberg, CapIQ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49808"/>
            <a:ext cx="11183112" cy="2377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1" i="0">
                <a:solidFill>
                  <a:srgbClr val="1C2C39"/>
                </a:solidFill>
                <a:latin typeface="Garamond"/>
              </a:rPr>
              <a:t>Catalyst Timeline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987552"/>
            <a:ext cx="11183112" cy="22860"/>
          </a:xfrm>
          <a:prstGeom prst="rect">
            <a:avLst/>
          </a:prstGeom>
          <a:solidFill>
            <a:srgbClr val="1C2C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042415"/>
          <a:ext cx="11183111" cy="16642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2926080"/>
                <a:gridCol w="2560319"/>
                <a:gridCol w="1371600"/>
                <a:gridCol w="2770632"/>
              </a:tblGrid>
              <a:tr h="416052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aramond"/>
                        </a:rPr>
                        <a:t>Date / Timing</a:t>
                      </a:r>
                    </a:p>
                  </a:txBody>
                  <a:tcPr>
                    <a:solidFill>
                      <a:srgbClr val="1C2C3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aramond"/>
                        </a:rPr>
                        <a:t>Event</a:t>
                      </a:r>
                    </a:p>
                  </a:txBody>
                  <a:tcPr>
                    <a:solidFill>
                      <a:srgbClr val="1C2C3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aramond"/>
                        </a:rPr>
                        <a:t>Falsifiability Threshold</a:t>
                      </a:r>
                    </a:p>
                  </a:txBody>
                  <a:tcPr>
                    <a:solidFill>
                      <a:srgbClr val="1C2C3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aramond"/>
                        </a:rPr>
                        <a:t>Est. Impact</a:t>
                      </a:r>
                    </a:p>
                  </a:txBody>
                  <a:tcPr>
                    <a:solidFill>
                      <a:srgbClr val="1C2C3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aramond"/>
                        </a:rPr>
                        <a:t>Thesis Point</a:t>
                      </a:r>
                    </a:p>
                  </a:txBody>
                  <a:tcPr>
                    <a:solidFill>
                      <a:srgbClr val="1C2C39"/>
                    </a:solidFill>
                  </a:tcPr>
                </a:tc>
              </a:tr>
              <a:tr h="4160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Garamond"/>
                        </a:rPr>
                        <a:t>May 20, 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Garamond"/>
                        </a:rPr>
                        <a:t>Q1 FY2027 earnings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Garamond"/>
                        </a:rPr>
                        <a:t>N/A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Garamond"/>
                        </a:rPr>
                        <a:t>+8% if Contact Center/…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Garamond"/>
                        </a:rPr>
                        <a:t>Platform breadth + margin expansion pillars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60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Garamond"/>
                        </a:rPr>
                        <a:t>Q1-Q2 FY2027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Garamond"/>
                        </a:rPr>
                        <a:t>Buyback acceleration announcement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Garamond"/>
                        </a:rPr>
                        <a:t>N/A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Garamond"/>
                        </a:rPr>
                        <a:t>+6% immediate; ~$0.47/…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Garamond"/>
                        </a:rPr>
                        <a:t>Cash fortress pillar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4160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Garamond"/>
                        </a:rPr>
                        <a:t>Q3 FY2027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Garamond"/>
                        </a:rPr>
                        <a:t>SBC falls below 14% of revenue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Garamond"/>
                        </a:rPr>
                        <a:t>N/A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Garamond"/>
                        </a:rPr>
                        <a:t>+5% as real FCF yield 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Garamond"/>
                        </a:rPr>
                        <a:t>Margin expansion pillar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2907792"/>
            <a:ext cx="11183112" cy="2377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1" i="0">
                <a:solidFill>
                  <a:srgbClr val="00ACB6"/>
                </a:solidFill>
                <a:latin typeface="Garamond"/>
              </a:rPr>
              <a:t>Monitoring KPIs — What to Watch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145536"/>
            <a:ext cx="11183112" cy="22860"/>
          </a:xfrm>
          <a:prstGeom prst="rect">
            <a:avLst/>
          </a:prstGeom>
          <a:solidFill>
            <a:srgbClr val="00AC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40080" y="3218688"/>
          <a:ext cx="11183112" cy="206654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1828800"/>
                <a:gridCol w="2286000"/>
                <a:gridCol w="2286000"/>
                <a:gridCol w="1673352"/>
              </a:tblGrid>
              <a:tr h="413308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aramond"/>
                        </a:rPr>
                        <a:t>Metric</a:t>
                      </a:r>
                    </a:p>
                  </a:txBody>
                  <a:tcPr>
                    <a:solidFill>
                      <a:srgbClr val="1C2C3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aramond"/>
                        </a:rPr>
                        <a:t>Current Level</a:t>
                      </a:r>
                    </a:p>
                  </a:txBody>
                  <a:tcPr>
                    <a:solidFill>
                      <a:srgbClr val="1C2C3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aramond"/>
                        </a:rPr>
                        <a:t>Thesis Requires</a:t>
                      </a:r>
                    </a:p>
                  </a:txBody>
                  <a:tcPr>
                    <a:solidFill>
                      <a:srgbClr val="1C2C3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aramond"/>
                        </a:rPr>
                        <a:t>Red Flag Threshold</a:t>
                      </a:r>
                    </a:p>
                  </a:txBody>
                  <a:tcPr>
                    <a:solidFill>
                      <a:srgbClr val="1C2C3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aramond"/>
                        </a:rPr>
                        <a:t>Freq</a:t>
                      </a:r>
                    </a:p>
                  </a:txBody>
                  <a:tcPr>
                    <a:solidFill>
                      <a:srgbClr val="1C2C39"/>
                    </a:solidFill>
                  </a:tcPr>
                </a:tc>
              </a:tr>
              <a:tr h="413308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Garamond"/>
                        </a:rPr>
                        <a:t>EBIT margin (quarterly)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Garamond"/>
                        </a:rPr>
                        <a:t>23.5% FY0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Garamond"/>
                        </a:rPr>
                        <a:t>≥24.5% Q1 FY2027 — confirms 600bps/yr traj…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Garamond"/>
                        </a:rPr>
                        <a:t>&lt;22% — expansion reversed, downgrade trigger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Garamond"/>
                        </a:rPr>
                        <a:t>quarterly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3308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Garamond"/>
                        </a:rPr>
                        <a:t>Revenue YoY growth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Garamond"/>
                        </a:rPr>
                        <a:t>+4.4% FY0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Garamond"/>
                        </a:rPr>
                        <a:t>≥4% NTM; re-acceleration toward 6% = bull …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Garamond"/>
                        </a:rPr>
                        <a:t>&lt;2% two consecutive quarters — Teams displ…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Garamond"/>
                        </a:rPr>
                        <a:t>quarterly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413308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Garamond"/>
                        </a:rPr>
                        <a:t>SBC as % of revenue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Garamond"/>
                        </a:rPr>
                        <a:t>15.6% ($761mm FY0)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Garamond"/>
                        </a:rPr>
                        <a:t>&lt;14% confirms real FCF accretion above con…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Garamond"/>
                        </a:rPr>
                        <a:t>&gt;17% — dilution accelerating, FCF quality 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Garamond"/>
                        </a:rPr>
                        <a:t>quarterly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3311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Garamond"/>
                        </a:rPr>
                        <a:t>Buyback $ deployed (annualized)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Garamond"/>
                        </a:rPr>
                        <a:t>N/A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Garamond"/>
                        </a:rPr>
                        <a:t>$1.5B+ annualized confirms capital return …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Garamond"/>
                        </a:rPr>
                        <a:t>&lt;$500mm/yr — $7.76B cash sitting inert, th…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Garamond"/>
                        </a:rPr>
                        <a:t>quarterly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40080" y="6565392"/>
            <a:ext cx="11183112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50" b="0" i="1">
                <a:solidFill>
                  <a:srgbClr val="595959"/>
                </a:solidFill>
                <a:latin typeface="Garamond"/>
              </a:rPr>
              <a:t>Change of View Triggers: EBIT margin below 22% in Q1 FY2027 (May 20, 2026 earnings)  |  Revenue re-accelerates above 6% with Contact Center/Phone NRR above…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91440"/>
            <a:ext cx="347472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0" i="0">
                <a:solidFill>
                  <a:srgbClr val="1C2C3A"/>
                </a:solidFill>
                <a:latin typeface="Garamond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