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t>Revenue History ($M)</a:t>
            </a:r>
          </a:p>
        </c:rich>
      </c:tx>
      <c:layout/>
      <c:overlay val="0"/>
    </c:title>
    <c:autoTitleDeleted val="0"/>
    <c:plotArea>
      <c:barChart>
        <c:barDir val="col"/>
        <c:grouping val="clustered"/>
        <c:ser>
          <c:idx val="0"/>
          <c:order val="0"/>
          <c:tx>
            <c:strRef>
              <c:f>Sheet1!$B$1</c:f>
              <c:strCache>
                <c:ptCount val="1"/>
                <c:pt idx="0">
                  <c:v>Revenue ($M)</c:v>
                </c:pt>
              </c:strCache>
            </c:strRef>
          </c:tx>
          <c:spPr>
            <a:solidFill>
              <a:srgbClr val="1C2C39"/>
            </a:solidFill>
          </c:spPr>
          <c:cat>
            <c:strRef>
              <c:f>Sheet1!$A$2:$A$4</c:f>
              <c:strCache>
                <c:ptCount val="3"/>
                <c:pt idx="0">
                  <c:v>FY2023</c:v>
                </c:pt>
                <c:pt idx="1">
                  <c:v>FY2024</c:v>
                </c:pt>
                <c:pt idx="2">
                  <c:v>FY2025</c:v>
                </c:pt>
              </c:strCache>
            </c:strRef>
          </c:cat>
          <c:val>
            <c:numRef>
              <c:f>Sheet1!$B$2:$B$4</c:f>
              <c:numCache>
                <c:formatCode>General</c:formatCode>
                <c:ptCount val="3"/>
                <c:pt idx="0">
                  <c:v>2711.584</c:v>
                </c:pt>
                <c:pt idx="1">
                  <c:v>2679.634</c:v>
                </c:pt>
                <c:pt idx="2">
                  <c:v>2815.139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91440" y="0"/>
            <a:ext cx="12371832"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1161288"/>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64592" cy="116128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286000"/>
            <a:ext cx="164592" cy="116128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429000"/>
            <a:ext cx="164592" cy="116128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572000"/>
            <a:ext cx="164592" cy="116128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5715000"/>
            <a:ext cx="164592" cy="1161288"/>
          </a:xfrm>
          <a:prstGeom prst="rect">
            <a:avLst/>
          </a:prstGeom>
          <a:solidFill>
            <a:srgbClr val="D8D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837943"/>
            <a:ext cx="4315968" cy="2505456"/>
          </a:xfrm>
          <a:prstGeom prst="rect">
            <a:avLst/>
          </a:prstGeom>
          <a:solidFill>
            <a:srgbClr val="2525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011680"/>
            <a:ext cx="4096512" cy="960120"/>
          </a:xfrm>
          <a:prstGeom prst="rect">
            <a:avLst/>
          </a:prstGeom>
          <a:noFill/>
        </p:spPr>
        <p:txBody>
          <a:bodyPr wrap="square">
            <a:normAutofit/>
          </a:bodyPr>
          <a:lstStyle/>
          <a:p>
            <a:pPr algn="l"/>
            <a:r>
              <a:rPr sz="3200" b="1" i="0">
                <a:solidFill>
                  <a:srgbClr val="FFFFFF"/>
                </a:solidFill>
                <a:latin typeface="Garamond"/>
              </a:rPr>
              <a:t>SBA COMMUNICATIONS CORP</a:t>
            </a:r>
          </a:p>
        </p:txBody>
      </p:sp>
      <p:sp>
        <p:nvSpPr>
          <p:cNvPr id="11" name="TextBox 10"/>
          <p:cNvSpPr txBox="1"/>
          <p:nvPr/>
        </p:nvSpPr>
        <p:spPr>
          <a:xfrm>
            <a:off x="877824" y="3017520"/>
            <a:ext cx="4096512" cy="475488"/>
          </a:xfrm>
          <a:prstGeom prst="rect">
            <a:avLst/>
          </a:prstGeom>
          <a:noFill/>
        </p:spPr>
        <p:txBody>
          <a:bodyPr wrap="square">
            <a:normAutofit/>
          </a:bodyPr>
          <a:lstStyle/>
          <a:p>
            <a:pPr algn="l"/>
            <a:r>
              <a:rPr sz="2800" b="0" i="0">
                <a:solidFill>
                  <a:srgbClr val="FFFFFF"/>
                </a:solidFill>
                <a:latin typeface="Garamond"/>
              </a:rPr>
              <a:t>NASDAQ: SBAC</a:t>
            </a:r>
          </a:p>
        </p:txBody>
      </p:sp>
      <p:sp>
        <p:nvSpPr>
          <p:cNvPr id="12" name="TextBox 11"/>
          <p:cNvSpPr txBox="1"/>
          <p:nvPr/>
        </p:nvSpPr>
        <p:spPr>
          <a:xfrm>
            <a:off x="877824" y="3529584"/>
            <a:ext cx="4096512" cy="329184"/>
          </a:xfrm>
          <a:prstGeom prst="rect">
            <a:avLst/>
          </a:prstGeom>
          <a:noFill/>
        </p:spPr>
        <p:txBody>
          <a:bodyPr wrap="square">
            <a:normAutofit/>
          </a:bodyPr>
          <a:lstStyle/>
          <a:p>
            <a:pPr algn="l"/>
            <a:r>
              <a:rPr sz="1600" b="0" i="0">
                <a:solidFill>
                  <a:srgbClr val="FFFFFF"/>
                </a:solidFill>
                <a:latin typeface="Garamond"/>
              </a:rPr>
              <a:t>Real Estate  —  April 2026</a:t>
            </a:r>
          </a:p>
        </p:txBody>
      </p:sp>
      <p:sp>
        <p:nvSpPr>
          <p:cNvPr id="13" name="TextBox 12"/>
          <p:cNvSpPr txBox="1"/>
          <p:nvPr/>
        </p:nvSpPr>
        <p:spPr>
          <a:xfrm>
            <a:off x="877824" y="3986784"/>
            <a:ext cx="2286000" cy="475488"/>
          </a:xfrm>
          <a:prstGeom prst="rect">
            <a:avLst/>
          </a:prstGeom>
          <a:noFill/>
        </p:spPr>
        <p:txBody>
          <a:bodyPr wrap="square">
            <a:normAutofit/>
          </a:bodyPr>
          <a:lstStyle/>
          <a:p>
            <a:pPr algn="l"/>
            <a:r>
              <a:rPr sz="2200" b="1" i="0">
                <a:solidFill>
                  <a:srgbClr val="FFC03B"/>
                </a:solidFill>
                <a:latin typeface="Garamond"/>
              </a:rPr>
              <a:t>Hold:</a:t>
            </a:r>
          </a:p>
        </p:txBody>
      </p:sp>
      <p:sp>
        <p:nvSpPr>
          <p:cNvPr id="14" name="Rectangle 13"/>
          <p:cNvSpPr/>
          <p:nvPr/>
        </p:nvSpPr>
        <p:spPr>
          <a:xfrm>
            <a:off x="5943600" y="365760"/>
            <a:ext cx="5971032" cy="6199632"/>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502920"/>
            <a:ext cx="5303520" cy="237744"/>
          </a:xfrm>
          <a:prstGeom prst="rect">
            <a:avLst/>
          </a:prstGeom>
          <a:noFill/>
        </p:spPr>
        <p:txBody>
          <a:bodyPr wrap="square">
            <a:normAutofit/>
          </a:bodyPr>
          <a:lstStyle/>
          <a:p>
            <a:pPr algn="l"/>
            <a:r>
              <a:rPr sz="900" b="1" i="0">
                <a:solidFill>
                  <a:srgbClr val="888888"/>
                </a:solidFill>
                <a:latin typeface="Garamond"/>
              </a:rPr>
              <a:t>KEY METRICS</a:t>
            </a:r>
          </a:p>
        </p:txBody>
      </p:sp>
      <p:sp>
        <p:nvSpPr>
          <p:cNvPr id="16" name="Rectangle 15"/>
          <p:cNvSpPr/>
          <p:nvPr/>
        </p:nvSpPr>
        <p:spPr>
          <a:xfrm>
            <a:off x="6172200" y="749808"/>
            <a:ext cx="5303520"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859536"/>
            <a:ext cx="5303520" cy="274320"/>
          </a:xfrm>
          <a:prstGeom prst="rect">
            <a:avLst/>
          </a:prstGeom>
          <a:noFill/>
        </p:spPr>
        <p:txBody>
          <a:bodyPr wrap="square">
            <a:normAutofit/>
          </a:bodyPr>
          <a:lstStyle/>
          <a:p>
            <a:pPr algn="l"/>
            <a:r>
              <a:rPr sz="1100" b="1" i="0">
                <a:solidFill>
                  <a:srgbClr val="FFFFFF"/>
                </a:solidFill>
                <a:latin typeface="Garamond"/>
              </a:rPr>
              <a:t>NYSE: SBAC</a:t>
            </a:r>
          </a:p>
        </p:txBody>
      </p:sp>
      <p:sp>
        <p:nvSpPr>
          <p:cNvPr id="18" name="TextBox 17"/>
          <p:cNvSpPr txBox="1"/>
          <p:nvPr/>
        </p:nvSpPr>
        <p:spPr>
          <a:xfrm>
            <a:off x="6172200" y="1170432"/>
            <a:ext cx="2926080" cy="274320"/>
          </a:xfrm>
          <a:prstGeom prst="rect">
            <a:avLst/>
          </a:prstGeom>
          <a:noFill/>
        </p:spPr>
        <p:txBody>
          <a:bodyPr wrap="square">
            <a:normAutofit/>
          </a:bodyPr>
          <a:lstStyle/>
          <a:p>
            <a:pPr algn="l"/>
            <a:r>
              <a:rPr sz="1000" b="1" i="0">
                <a:solidFill>
                  <a:srgbClr val="AAAAAA"/>
                </a:solidFill>
                <a:latin typeface="Garamond"/>
              </a:rPr>
              <a:t>Current Price</a:t>
            </a:r>
          </a:p>
        </p:txBody>
      </p:sp>
      <p:sp>
        <p:nvSpPr>
          <p:cNvPr id="19" name="TextBox 18"/>
          <p:cNvSpPr txBox="1"/>
          <p:nvPr/>
        </p:nvSpPr>
        <p:spPr>
          <a:xfrm>
            <a:off x="9098280" y="1170432"/>
            <a:ext cx="2743200" cy="274320"/>
          </a:xfrm>
          <a:prstGeom prst="rect">
            <a:avLst/>
          </a:prstGeom>
          <a:noFill/>
        </p:spPr>
        <p:txBody>
          <a:bodyPr wrap="square">
            <a:normAutofit/>
          </a:bodyPr>
          <a:lstStyle/>
          <a:p>
            <a:pPr algn="r"/>
            <a:r>
              <a:rPr sz="1100" b="1" i="0">
                <a:solidFill>
                  <a:srgbClr val="FFFFFF"/>
                </a:solidFill>
                <a:latin typeface="Garamond"/>
              </a:rPr>
              <a:t>$190.00</a:t>
            </a:r>
          </a:p>
        </p:txBody>
      </p:sp>
      <p:sp>
        <p:nvSpPr>
          <p:cNvPr id="20" name="TextBox 19"/>
          <p:cNvSpPr txBox="1"/>
          <p:nvPr/>
        </p:nvSpPr>
        <p:spPr>
          <a:xfrm>
            <a:off x="6172200" y="1517904"/>
            <a:ext cx="2926080" cy="274320"/>
          </a:xfrm>
          <a:prstGeom prst="rect">
            <a:avLst/>
          </a:prstGeom>
          <a:noFill/>
        </p:spPr>
        <p:txBody>
          <a:bodyPr wrap="square">
            <a:normAutofit/>
          </a:bodyPr>
          <a:lstStyle/>
          <a:p>
            <a:pPr algn="l"/>
            <a:r>
              <a:rPr sz="1000" b="1" i="0">
                <a:solidFill>
                  <a:srgbClr val="AAAAAA"/>
                </a:solidFill>
                <a:latin typeface="Garamond"/>
              </a:rPr>
              <a:t>52-Wk Range</a:t>
            </a:r>
          </a:p>
        </p:txBody>
      </p:sp>
      <p:sp>
        <p:nvSpPr>
          <p:cNvPr id="21" name="TextBox 20"/>
          <p:cNvSpPr txBox="1"/>
          <p:nvPr/>
        </p:nvSpPr>
        <p:spPr>
          <a:xfrm>
            <a:off x="9098280" y="1517904"/>
            <a:ext cx="2743200" cy="274320"/>
          </a:xfrm>
          <a:prstGeom prst="rect">
            <a:avLst/>
          </a:prstGeom>
          <a:noFill/>
        </p:spPr>
        <p:txBody>
          <a:bodyPr wrap="square">
            <a:normAutofit/>
          </a:bodyPr>
          <a:lstStyle/>
          <a:p>
            <a:pPr algn="r"/>
            <a:r>
              <a:rPr sz="1100" b="1" i="0">
                <a:solidFill>
                  <a:srgbClr val="FFFFFF"/>
                </a:solidFill>
                <a:latin typeface="Garamond"/>
              </a:rPr>
              <a:t>N/A – N/A</a:t>
            </a:r>
          </a:p>
        </p:txBody>
      </p:sp>
      <p:sp>
        <p:nvSpPr>
          <p:cNvPr id="22" name="TextBox 21"/>
          <p:cNvSpPr txBox="1"/>
          <p:nvPr/>
        </p:nvSpPr>
        <p:spPr>
          <a:xfrm>
            <a:off x="6172200" y="1865376"/>
            <a:ext cx="2926080" cy="274320"/>
          </a:xfrm>
          <a:prstGeom prst="rect">
            <a:avLst/>
          </a:prstGeom>
          <a:noFill/>
        </p:spPr>
        <p:txBody>
          <a:bodyPr wrap="square">
            <a:normAutofit/>
          </a:bodyPr>
          <a:lstStyle/>
          <a:p>
            <a:pPr algn="l"/>
            <a:r>
              <a:rPr sz="1000" b="1" i="0">
                <a:solidFill>
                  <a:srgbClr val="AAAAAA"/>
                </a:solidFill>
                <a:latin typeface="Garamond"/>
              </a:rPr>
              <a:t>Market Cap</a:t>
            </a:r>
          </a:p>
        </p:txBody>
      </p:sp>
      <p:sp>
        <p:nvSpPr>
          <p:cNvPr id="23" name="TextBox 22"/>
          <p:cNvSpPr txBox="1"/>
          <p:nvPr/>
        </p:nvSpPr>
        <p:spPr>
          <a:xfrm>
            <a:off x="9098280" y="1865376"/>
            <a:ext cx="2743200" cy="274320"/>
          </a:xfrm>
          <a:prstGeom prst="rect">
            <a:avLst/>
          </a:prstGeom>
          <a:noFill/>
        </p:spPr>
        <p:txBody>
          <a:bodyPr wrap="square">
            <a:normAutofit/>
          </a:bodyPr>
          <a:lstStyle/>
          <a:p>
            <a:pPr algn="r"/>
            <a:r>
              <a:rPr sz="1100" b="1" i="0">
                <a:solidFill>
                  <a:srgbClr val="FFFFFF"/>
                </a:solidFill>
                <a:latin typeface="Garamond"/>
              </a:rPr>
              <a:t>N/A</a:t>
            </a:r>
          </a:p>
        </p:txBody>
      </p:sp>
      <p:sp>
        <p:nvSpPr>
          <p:cNvPr id="24" name="TextBox 23"/>
          <p:cNvSpPr txBox="1"/>
          <p:nvPr/>
        </p:nvSpPr>
        <p:spPr>
          <a:xfrm>
            <a:off x="6172200" y="2212848"/>
            <a:ext cx="2926080" cy="274320"/>
          </a:xfrm>
          <a:prstGeom prst="rect">
            <a:avLst/>
          </a:prstGeom>
          <a:noFill/>
        </p:spPr>
        <p:txBody>
          <a:bodyPr wrap="square">
            <a:normAutofit/>
          </a:bodyPr>
          <a:lstStyle/>
          <a:p>
            <a:pPr algn="l"/>
            <a:r>
              <a:rPr sz="1000" b="1" i="0">
                <a:solidFill>
                  <a:srgbClr val="AAAAAA"/>
                </a:solidFill>
                <a:latin typeface="Garamond"/>
              </a:rPr>
              <a:t>Dividend Yield</a:t>
            </a:r>
          </a:p>
        </p:txBody>
      </p:sp>
      <p:sp>
        <p:nvSpPr>
          <p:cNvPr id="25" name="TextBox 24"/>
          <p:cNvSpPr txBox="1"/>
          <p:nvPr/>
        </p:nvSpPr>
        <p:spPr>
          <a:xfrm>
            <a:off x="9098280" y="2212848"/>
            <a:ext cx="2743200" cy="274320"/>
          </a:xfrm>
          <a:prstGeom prst="rect">
            <a:avLst/>
          </a:prstGeom>
          <a:noFill/>
        </p:spPr>
        <p:txBody>
          <a:bodyPr wrap="square">
            <a:normAutofit/>
          </a:bodyPr>
          <a:lstStyle/>
          <a:p>
            <a:pPr algn="r"/>
            <a:r>
              <a:rPr sz="1100" b="1" i="0">
                <a:solidFill>
                  <a:srgbClr val="FFFFFF"/>
                </a:solidFill>
                <a:latin typeface="Garamond"/>
              </a:rPr>
              <a:t>N/A</a:t>
            </a:r>
          </a:p>
        </p:txBody>
      </p:sp>
      <p:sp>
        <p:nvSpPr>
          <p:cNvPr id="26" name="TextBox 25"/>
          <p:cNvSpPr txBox="1"/>
          <p:nvPr/>
        </p:nvSpPr>
        <p:spPr>
          <a:xfrm>
            <a:off x="6172200" y="2560320"/>
            <a:ext cx="2926080" cy="274320"/>
          </a:xfrm>
          <a:prstGeom prst="rect">
            <a:avLst/>
          </a:prstGeom>
          <a:noFill/>
        </p:spPr>
        <p:txBody>
          <a:bodyPr wrap="square">
            <a:normAutofit/>
          </a:bodyPr>
          <a:lstStyle/>
          <a:p>
            <a:pPr algn="l"/>
            <a:r>
              <a:rPr sz="1000" b="1" i="0">
                <a:solidFill>
                  <a:srgbClr val="AAAAAA"/>
                </a:solidFill>
                <a:latin typeface="Garamond"/>
              </a:rPr>
              <a:t>Beta</a:t>
            </a:r>
          </a:p>
        </p:txBody>
      </p:sp>
      <p:sp>
        <p:nvSpPr>
          <p:cNvPr id="27" name="TextBox 26"/>
          <p:cNvSpPr txBox="1"/>
          <p:nvPr/>
        </p:nvSpPr>
        <p:spPr>
          <a:xfrm>
            <a:off x="9098280" y="2560320"/>
            <a:ext cx="2743200" cy="274320"/>
          </a:xfrm>
          <a:prstGeom prst="rect">
            <a:avLst/>
          </a:prstGeom>
          <a:noFill/>
        </p:spPr>
        <p:txBody>
          <a:bodyPr wrap="square">
            <a:normAutofit/>
          </a:bodyPr>
          <a:lstStyle/>
          <a:p>
            <a:pPr algn="r"/>
            <a:r>
              <a:rPr sz="1100" b="1" i="0">
                <a:solidFill>
                  <a:srgbClr val="FFFFFF"/>
                </a:solidFill>
                <a:latin typeface="Garamond"/>
              </a:rPr>
              <a:t>0.83</a:t>
            </a:r>
          </a:p>
        </p:txBody>
      </p:sp>
      <p:sp>
        <p:nvSpPr>
          <p:cNvPr id="28" name="TextBox 27"/>
          <p:cNvSpPr txBox="1"/>
          <p:nvPr/>
        </p:nvSpPr>
        <p:spPr>
          <a:xfrm>
            <a:off x="6172200" y="2907791"/>
            <a:ext cx="2926080" cy="274320"/>
          </a:xfrm>
          <a:prstGeom prst="rect">
            <a:avLst/>
          </a:prstGeom>
          <a:noFill/>
        </p:spPr>
        <p:txBody>
          <a:bodyPr wrap="square">
            <a:normAutofit/>
          </a:bodyPr>
          <a:lstStyle/>
          <a:p>
            <a:pPr algn="l"/>
            <a:r>
              <a:rPr sz="1000" b="1" i="0">
                <a:solidFill>
                  <a:srgbClr val="AAAAAA"/>
                </a:solidFill>
                <a:latin typeface="Garamond"/>
              </a:rPr>
              <a:t>Price Target</a:t>
            </a:r>
          </a:p>
        </p:txBody>
      </p:sp>
      <p:sp>
        <p:nvSpPr>
          <p:cNvPr id="29" name="TextBox 28"/>
          <p:cNvSpPr txBox="1"/>
          <p:nvPr/>
        </p:nvSpPr>
        <p:spPr>
          <a:xfrm>
            <a:off x="9098280" y="2907791"/>
            <a:ext cx="2743200" cy="274320"/>
          </a:xfrm>
          <a:prstGeom prst="rect">
            <a:avLst/>
          </a:prstGeom>
          <a:noFill/>
        </p:spPr>
        <p:txBody>
          <a:bodyPr wrap="square">
            <a:normAutofit/>
          </a:bodyPr>
          <a:lstStyle/>
          <a:p>
            <a:pPr algn="r"/>
            <a:r>
              <a:rPr sz="1100" b="1" i="0">
                <a:solidFill>
                  <a:srgbClr val="FFFFFF"/>
                </a:solidFill>
                <a:latin typeface="Garamond"/>
              </a:rPr>
              <a:t>$210.00</a:t>
            </a:r>
          </a:p>
        </p:txBody>
      </p:sp>
      <p:sp>
        <p:nvSpPr>
          <p:cNvPr id="30" name="TextBox 29"/>
          <p:cNvSpPr txBox="1"/>
          <p:nvPr/>
        </p:nvSpPr>
        <p:spPr>
          <a:xfrm>
            <a:off x="6172200" y="3255263"/>
            <a:ext cx="2926080" cy="274320"/>
          </a:xfrm>
          <a:prstGeom prst="rect">
            <a:avLst/>
          </a:prstGeom>
          <a:noFill/>
        </p:spPr>
        <p:txBody>
          <a:bodyPr wrap="square">
            <a:normAutofit/>
          </a:bodyPr>
          <a:lstStyle/>
          <a:p>
            <a:pPr algn="l"/>
            <a:r>
              <a:rPr sz="1000" b="1" i="0">
                <a:solidFill>
                  <a:srgbClr val="AAAAAA"/>
                </a:solidFill>
                <a:latin typeface="Garamond"/>
              </a:rPr>
              <a:t>Expected Return</a:t>
            </a:r>
          </a:p>
        </p:txBody>
      </p:sp>
      <p:sp>
        <p:nvSpPr>
          <p:cNvPr id="31" name="TextBox 30"/>
          <p:cNvSpPr txBox="1"/>
          <p:nvPr/>
        </p:nvSpPr>
        <p:spPr>
          <a:xfrm>
            <a:off x="9098280" y="3255263"/>
            <a:ext cx="2743200" cy="274320"/>
          </a:xfrm>
          <a:prstGeom prst="rect">
            <a:avLst/>
          </a:prstGeom>
          <a:noFill/>
        </p:spPr>
        <p:txBody>
          <a:bodyPr wrap="square">
            <a:normAutofit/>
          </a:bodyPr>
          <a:lstStyle/>
          <a:p>
            <a:pPr algn="r"/>
            <a:r>
              <a:rPr sz="1100" b="1" i="0">
                <a:solidFill>
                  <a:srgbClr val="FFFFFF"/>
                </a:solidFill>
                <a:latin typeface="Garamond"/>
              </a:rPr>
              <a:t>-1.5%</a:t>
            </a:r>
          </a:p>
        </p:txBody>
      </p:sp>
      <p:sp>
        <p:nvSpPr>
          <p:cNvPr id="32" name="TextBox 31"/>
          <p:cNvSpPr txBox="1"/>
          <p:nvPr/>
        </p:nvSpPr>
        <p:spPr>
          <a:xfrm>
            <a:off x="6172200" y="3602735"/>
            <a:ext cx="2926080" cy="274320"/>
          </a:xfrm>
          <a:prstGeom prst="rect">
            <a:avLst/>
          </a:prstGeom>
          <a:noFill/>
        </p:spPr>
        <p:txBody>
          <a:bodyPr wrap="square">
            <a:normAutofit/>
          </a:bodyPr>
          <a:lstStyle/>
          <a:p>
            <a:pPr algn="l"/>
            <a:r>
              <a:rPr sz="1000" b="1" i="0">
                <a:solidFill>
                  <a:srgbClr val="AAAAAA"/>
                </a:solidFill>
                <a:latin typeface="Garamond"/>
              </a:rPr>
              <a:t>Conviction</a:t>
            </a:r>
          </a:p>
        </p:txBody>
      </p:sp>
      <p:sp>
        <p:nvSpPr>
          <p:cNvPr id="33" name="TextBox 32"/>
          <p:cNvSpPr txBox="1"/>
          <p:nvPr/>
        </p:nvSpPr>
        <p:spPr>
          <a:xfrm>
            <a:off x="9098280" y="3602735"/>
            <a:ext cx="2743200" cy="274320"/>
          </a:xfrm>
          <a:prstGeom prst="rect">
            <a:avLst/>
          </a:prstGeom>
          <a:noFill/>
        </p:spPr>
        <p:txBody>
          <a:bodyPr wrap="square">
            <a:normAutofit/>
          </a:bodyPr>
          <a:lstStyle/>
          <a:p>
            <a:pPr algn="r"/>
            <a:r>
              <a:rPr sz="1100" b="1" i="0">
                <a:solidFill>
                  <a:srgbClr val="FFFFFF"/>
                </a:solidFill>
                <a:latin typeface="Garamond"/>
              </a:rPr>
              <a:t>4/5</a:t>
            </a:r>
          </a:p>
        </p:txBody>
      </p:sp>
      <p:sp>
        <p:nvSpPr>
          <p:cNvPr id="34" name="TextBox 33"/>
          <p:cNvSpPr txBox="1"/>
          <p:nvPr/>
        </p:nvSpPr>
        <p:spPr>
          <a:xfrm>
            <a:off x="6172200" y="3950207"/>
            <a:ext cx="2926080" cy="274320"/>
          </a:xfrm>
          <a:prstGeom prst="rect">
            <a:avLst/>
          </a:prstGeom>
          <a:noFill/>
        </p:spPr>
        <p:txBody>
          <a:bodyPr wrap="square">
            <a:normAutofit/>
          </a:bodyPr>
          <a:lstStyle/>
          <a:p>
            <a:pPr algn="l"/>
            <a:r>
              <a:rPr sz="1000" b="1" i="0">
                <a:solidFill>
                  <a:srgbClr val="AAAAAA"/>
                </a:solidFill>
                <a:latin typeface="Garamond"/>
              </a:rPr>
              <a:t>Time Horizon</a:t>
            </a:r>
          </a:p>
        </p:txBody>
      </p:sp>
      <p:sp>
        <p:nvSpPr>
          <p:cNvPr id="35" name="TextBox 34"/>
          <p:cNvSpPr txBox="1"/>
          <p:nvPr/>
        </p:nvSpPr>
        <p:spPr>
          <a:xfrm>
            <a:off x="9098280" y="3950207"/>
            <a:ext cx="2743200" cy="274320"/>
          </a:xfrm>
          <a:prstGeom prst="rect">
            <a:avLst/>
          </a:prstGeom>
          <a:noFill/>
        </p:spPr>
        <p:txBody>
          <a:bodyPr wrap="square">
            <a:normAutofit/>
          </a:bodyPr>
          <a:lstStyle/>
          <a:p>
            <a:pPr algn="r"/>
            <a:r>
              <a:rPr sz="1100" b="1" i="0">
                <a:solidFill>
                  <a:srgbClr val="FFFFFF"/>
                </a:solidFill>
                <a:latin typeface="Garamond"/>
              </a:rPr>
              <a:t>12 months</a:t>
            </a:r>
          </a:p>
        </p:txBody>
      </p:sp>
      <p:sp>
        <p:nvSpPr>
          <p:cNvPr id="36" name="Rectangle 35"/>
          <p:cNvSpPr/>
          <p:nvPr/>
        </p:nvSpPr>
        <p:spPr>
          <a:xfrm>
            <a:off x="6172200" y="4343399"/>
            <a:ext cx="5303520" cy="228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4462271"/>
            <a:ext cx="5303520" cy="201168"/>
          </a:xfrm>
          <a:prstGeom prst="rect">
            <a:avLst/>
          </a:prstGeom>
          <a:noFill/>
        </p:spPr>
        <p:txBody>
          <a:bodyPr wrap="square">
            <a:normAutofit/>
          </a:bodyPr>
          <a:lstStyle/>
          <a:p>
            <a:pPr algn="l"/>
            <a:r>
              <a:rPr sz="800" b="1" i="0">
                <a:solidFill>
                  <a:srgbClr val="888888"/>
                </a:solidFill>
                <a:latin typeface="Garamond"/>
              </a:rPr>
              <a:t>THESIS</a:t>
            </a:r>
          </a:p>
        </p:txBody>
      </p:sp>
      <p:sp>
        <p:nvSpPr>
          <p:cNvPr id="38" name="TextBox 37"/>
          <p:cNvSpPr txBox="1"/>
          <p:nvPr/>
        </p:nvSpPr>
        <p:spPr>
          <a:xfrm>
            <a:off x="6172200" y="4681727"/>
            <a:ext cx="5303520" cy="1097280"/>
          </a:xfrm>
          <a:prstGeom prst="rect">
            <a:avLst/>
          </a:prstGeom>
          <a:noFill/>
        </p:spPr>
        <p:txBody>
          <a:bodyPr wrap="square">
            <a:spAutoFit/>
          </a:bodyPr>
          <a:lstStyle/>
          <a:p>
            <a:pPr algn="l"/>
            <a:r>
              <a:rPr sz="950" b="0" i="1">
                <a:solidFill>
                  <a:srgbClr val="CCCCCC"/>
                </a:solidFill>
                <a:latin typeface="Garamond"/>
              </a:rPr>
              <a:t>CONSENSUS ASSUMES 68.0% EBITDA margin FY2026 ($1,929mm on $2,838mm rev). OUR VIEW: 0.2x FY2025 operating leverage implies $1,840mm — a $89mm miss — making current 19x EV/EBITDA fairly priced at best.</a:t>
            </a:r>
          </a:p>
        </p:txBody>
      </p:sp>
      <p:sp>
        <p:nvSpPr>
          <p:cNvPr id="39" name="TextBox 38"/>
          <p:cNvSpPr txBox="1"/>
          <p:nvPr/>
        </p:nvSpPr>
        <p:spPr>
          <a:xfrm>
            <a:off x="6172200" y="5806440"/>
            <a:ext cx="5303520" cy="256032"/>
          </a:xfrm>
          <a:prstGeom prst="rect">
            <a:avLst/>
          </a:prstGeom>
          <a:noFill/>
        </p:spPr>
        <p:txBody>
          <a:bodyPr wrap="square">
            <a:normAutofit/>
          </a:bodyPr>
          <a:lstStyle/>
          <a:p>
            <a:pPr algn="r"/>
            <a:r>
              <a:rPr sz="850" b="1" i="0">
                <a:solidFill>
                  <a:srgbClr val="00AF50"/>
                </a:solidFill>
                <a:latin typeface="Garamond"/>
              </a:rPr>
              <a:t>Verify: 6.3/10 PASS</a:t>
            </a:r>
          </a:p>
        </p:txBody>
      </p:sp>
      <p:sp>
        <p:nvSpPr>
          <p:cNvPr id="40" name="Rectangle 39"/>
          <p:cNvSpPr/>
          <p:nvPr/>
        </p:nvSpPr>
        <p:spPr>
          <a:xfrm>
            <a:off x="0" y="6400800"/>
            <a:ext cx="1218895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492240"/>
            <a:ext cx="8686800" cy="256032"/>
          </a:xfrm>
          <a:prstGeom prst="rect">
            <a:avLst/>
          </a:prstGeom>
          <a:noFill/>
        </p:spPr>
        <p:txBody>
          <a:bodyPr wrap="square">
            <a:normAutofit/>
          </a:bodyPr>
          <a:lstStyle/>
          <a:p>
            <a:pPr algn="l"/>
            <a:r>
              <a:rPr sz="850" b="1" i="0">
                <a:solidFill>
                  <a:srgbClr val="000000"/>
                </a:solidFill>
                <a:latin typeface="Garamond"/>
              </a:rPr>
              <a:t>CONFIDENTIAL — FOR INSTITUTIONAL INVESTOR USE ONLY</a:t>
            </a:r>
          </a:p>
        </p:txBody>
      </p:sp>
      <p:sp>
        <p:nvSpPr>
          <p:cNvPr id="42" name="TextBox 41"/>
          <p:cNvSpPr txBox="1"/>
          <p:nvPr/>
        </p:nvSpPr>
        <p:spPr>
          <a:xfrm>
            <a:off x="9144000" y="6492240"/>
            <a:ext cx="2743200" cy="256032"/>
          </a:xfrm>
          <a:prstGeom prst="rect">
            <a:avLst/>
          </a:prstGeom>
          <a:noFill/>
        </p:spPr>
        <p:txBody>
          <a:bodyPr wrap="square">
            <a:normAutofit/>
          </a:bodyPr>
          <a:lstStyle/>
          <a:p>
            <a:pPr algn="r"/>
            <a:r>
              <a:rPr sz="850" b="0" i="0">
                <a:solidFill>
                  <a:srgbClr val="595959"/>
                </a:solidFill>
                <a:latin typeface="Garamond"/>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Company Overview</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LSEG, Investor Presentations</a:t>
            </a:r>
          </a:p>
        </p:txBody>
      </p:sp>
      <p:sp>
        <p:nvSpPr>
          <p:cNvPr id="5" name="TextBox 4"/>
          <p:cNvSpPr txBox="1"/>
          <p:nvPr/>
        </p:nvSpPr>
        <p:spPr>
          <a:xfrm>
            <a:off x="640080" y="731520"/>
            <a:ext cx="5303520" cy="237744"/>
          </a:xfrm>
          <a:prstGeom prst="rect">
            <a:avLst/>
          </a:prstGeom>
          <a:noFill/>
        </p:spPr>
        <p:txBody>
          <a:bodyPr wrap="square">
            <a:normAutofit/>
          </a:bodyPr>
          <a:lstStyle/>
          <a:p>
            <a:pPr algn="l"/>
            <a:r>
              <a:rPr sz="1400" b="1" i="0">
                <a:solidFill>
                  <a:srgbClr val="1C2C39"/>
                </a:solidFill>
                <a:latin typeface="Garamond"/>
              </a:rPr>
              <a:t>Business Description</a:t>
            </a:r>
          </a:p>
        </p:txBody>
      </p:sp>
      <p:sp>
        <p:nvSpPr>
          <p:cNvPr id="6" name="Rectangle 5"/>
          <p:cNvSpPr/>
          <p:nvPr/>
        </p:nvSpPr>
        <p:spPr>
          <a:xfrm>
            <a:off x="640080" y="969264"/>
            <a:ext cx="5303520"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024128"/>
            <a:ext cx="5212080" cy="1737360"/>
          </a:xfrm>
          <a:prstGeom prst="rect">
            <a:avLst/>
          </a:prstGeom>
          <a:noFill/>
        </p:spPr>
        <p:txBody>
          <a:bodyPr wrap="square">
            <a:normAutofit/>
          </a:bodyPr>
          <a:lstStyle/>
          <a:p>
            <a:pPr algn="l"/>
            <a:r>
              <a:rPr sz="1050" b="0" i="0">
                <a:solidFill>
                  <a:srgbClr val="000000"/>
                </a:solidFill>
                <a:latin typeface="Garamond"/>
              </a:rPr>
              <a:t>SBA Communications is an independent owner-operator of wireless communications infrastructure — towers, rooftops, and related structures — that leases antenna space to wireless carriers under long-term contracts. As of December 31, 2025, SBAC owned 46,328 towers with principal operations in the US and territories, plus South America, Central America, and Africa. In FY2025 the company completed a significant portfolio rationalization, divesting all Philippines and Colombia operations and subst…
Revenue Drivers:
  • Site leasing: 97.9% of total segment operating profit (FY2025, per 10-K MD&amp;A)
  • Site development services: ~2.1% of total segment operating profit (FY2025, residual)
Model: Recurring Service</a:t>
            </a:r>
          </a:p>
        </p:txBody>
      </p:sp>
      <p:sp>
        <p:nvSpPr>
          <p:cNvPr id="8" name="TextBox 7"/>
          <p:cNvSpPr txBox="1"/>
          <p:nvPr/>
        </p:nvSpPr>
        <p:spPr>
          <a:xfrm>
            <a:off x="640080" y="2816352"/>
            <a:ext cx="5303520" cy="237744"/>
          </a:xfrm>
          <a:prstGeom prst="rect">
            <a:avLst/>
          </a:prstGeom>
          <a:noFill/>
        </p:spPr>
        <p:txBody>
          <a:bodyPr wrap="square">
            <a:normAutofit/>
          </a:bodyPr>
          <a:lstStyle/>
          <a:p>
            <a:pPr algn="l"/>
            <a:r>
              <a:rPr sz="1400" b="1" i="0">
                <a:solidFill>
                  <a:srgbClr val="1C2C39"/>
                </a:solidFill>
                <a:latin typeface="Garamond"/>
              </a:rPr>
              <a:t>Key Financials</a:t>
            </a:r>
          </a:p>
        </p:txBody>
      </p:sp>
      <p:sp>
        <p:nvSpPr>
          <p:cNvPr id="9" name="Rectangle 8"/>
          <p:cNvSpPr/>
          <p:nvPr/>
        </p:nvSpPr>
        <p:spPr>
          <a:xfrm>
            <a:off x="640080" y="3054096"/>
            <a:ext cx="5303520"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127248"/>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163824"/>
            <a:ext cx="1508760" cy="310896"/>
          </a:xfrm>
          <a:prstGeom prst="rect">
            <a:avLst/>
          </a:prstGeom>
          <a:noFill/>
        </p:spPr>
        <p:txBody>
          <a:bodyPr wrap="square">
            <a:normAutofit/>
          </a:bodyPr>
          <a:lstStyle/>
          <a:p>
            <a:pPr algn="l"/>
            <a:r>
              <a:rPr sz="1000" b="1" i="0">
                <a:solidFill>
                  <a:srgbClr val="1C2C3A"/>
                </a:solidFill>
                <a:latin typeface="Garamond"/>
              </a:rPr>
              <a:t>Current Price</a:t>
            </a:r>
          </a:p>
        </p:txBody>
      </p:sp>
      <p:sp>
        <p:nvSpPr>
          <p:cNvPr id="12" name="TextBox 11"/>
          <p:cNvSpPr txBox="1"/>
          <p:nvPr/>
        </p:nvSpPr>
        <p:spPr>
          <a:xfrm>
            <a:off x="2212848" y="3163824"/>
            <a:ext cx="1033271" cy="310896"/>
          </a:xfrm>
          <a:prstGeom prst="rect">
            <a:avLst/>
          </a:prstGeom>
          <a:noFill/>
        </p:spPr>
        <p:txBody>
          <a:bodyPr wrap="square">
            <a:normAutofit/>
          </a:bodyPr>
          <a:lstStyle/>
          <a:p>
            <a:pPr algn="r"/>
            <a:r>
              <a:rPr sz="1100" b="1" i="0">
                <a:solidFill>
                  <a:srgbClr val="1C2C3A"/>
                </a:solidFill>
                <a:latin typeface="Garamond"/>
              </a:rPr>
              <a:t>$190.00</a:t>
            </a:r>
          </a:p>
        </p:txBody>
      </p:sp>
      <p:sp>
        <p:nvSpPr>
          <p:cNvPr id="13" name="Rectangle 12"/>
          <p:cNvSpPr/>
          <p:nvPr/>
        </p:nvSpPr>
        <p:spPr>
          <a:xfrm>
            <a:off x="3337560" y="3127248"/>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92424" y="3163824"/>
            <a:ext cx="1508760" cy="310896"/>
          </a:xfrm>
          <a:prstGeom prst="rect">
            <a:avLst/>
          </a:prstGeom>
          <a:noFill/>
        </p:spPr>
        <p:txBody>
          <a:bodyPr wrap="square">
            <a:normAutofit/>
          </a:bodyPr>
          <a:lstStyle/>
          <a:p>
            <a:pPr algn="l"/>
            <a:r>
              <a:rPr sz="1000" b="1" i="0">
                <a:solidFill>
                  <a:srgbClr val="1C2C3A"/>
                </a:solidFill>
                <a:latin typeface="Garamond"/>
              </a:rPr>
              <a:t>52-Wk Range</a:t>
            </a:r>
          </a:p>
        </p:txBody>
      </p:sp>
      <p:sp>
        <p:nvSpPr>
          <p:cNvPr id="15" name="TextBox 14"/>
          <p:cNvSpPr txBox="1"/>
          <p:nvPr/>
        </p:nvSpPr>
        <p:spPr>
          <a:xfrm>
            <a:off x="4910328" y="3163824"/>
            <a:ext cx="1033271" cy="310896"/>
          </a:xfrm>
          <a:prstGeom prst="rect">
            <a:avLst/>
          </a:prstGeom>
          <a:noFill/>
        </p:spPr>
        <p:txBody>
          <a:bodyPr wrap="square">
            <a:normAutofit/>
          </a:bodyPr>
          <a:lstStyle/>
          <a:p>
            <a:pPr algn="r"/>
            <a:r>
              <a:rPr sz="1100" b="1" i="0">
                <a:solidFill>
                  <a:srgbClr val="1C2C3A"/>
                </a:solidFill>
                <a:latin typeface="Garamond"/>
              </a:rPr>
              <a:t>N/A – N/A</a:t>
            </a:r>
          </a:p>
        </p:txBody>
      </p:sp>
      <p:sp>
        <p:nvSpPr>
          <p:cNvPr id="16" name="Rectangle 15"/>
          <p:cNvSpPr/>
          <p:nvPr/>
        </p:nvSpPr>
        <p:spPr>
          <a:xfrm>
            <a:off x="640080" y="3529584"/>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3566160"/>
            <a:ext cx="1508760" cy="310896"/>
          </a:xfrm>
          <a:prstGeom prst="rect">
            <a:avLst/>
          </a:prstGeom>
          <a:noFill/>
        </p:spPr>
        <p:txBody>
          <a:bodyPr wrap="square">
            <a:normAutofit/>
          </a:bodyPr>
          <a:lstStyle/>
          <a:p>
            <a:pPr algn="l"/>
            <a:r>
              <a:rPr sz="1000" b="1" i="0">
                <a:solidFill>
                  <a:srgbClr val="1C2C3A"/>
                </a:solidFill>
                <a:latin typeface="Garamond"/>
              </a:rPr>
              <a:t>Market Cap</a:t>
            </a:r>
          </a:p>
        </p:txBody>
      </p:sp>
      <p:sp>
        <p:nvSpPr>
          <p:cNvPr id="18" name="TextBox 17"/>
          <p:cNvSpPr txBox="1"/>
          <p:nvPr/>
        </p:nvSpPr>
        <p:spPr>
          <a:xfrm>
            <a:off x="2212848" y="3566160"/>
            <a:ext cx="1033271" cy="310896"/>
          </a:xfrm>
          <a:prstGeom prst="rect">
            <a:avLst/>
          </a:prstGeom>
          <a:noFill/>
        </p:spPr>
        <p:txBody>
          <a:bodyPr wrap="square">
            <a:normAutofit/>
          </a:bodyPr>
          <a:lstStyle/>
          <a:p>
            <a:pPr algn="r"/>
            <a:r>
              <a:rPr sz="1100" b="1" i="0">
                <a:solidFill>
                  <a:srgbClr val="1C2C3A"/>
                </a:solidFill>
                <a:latin typeface="Garamond"/>
              </a:rPr>
              <a:t>N/A</a:t>
            </a:r>
          </a:p>
        </p:txBody>
      </p:sp>
      <p:sp>
        <p:nvSpPr>
          <p:cNvPr id="19" name="Rectangle 18"/>
          <p:cNvSpPr/>
          <p:nvPr/>
        </p:nvSpPr>
        <p:spPr>
          <a:xfrm>
            <a:off x="3337560" y="3529584"/>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92424" y="3566160"/>
            <a:ext cx="1508760" cy="310896"/>
          </a:xfrm>
          <a:prstGeom prst="rect">
            <a:avLst/>
          </a:prstGeom>
          <a:noFill/>
        </p:spPr>
        <p:txBody>
          <a:bodyPr wrap="square">
            <a:normAutofit/>
          </a:bodyPr>
          <a:lstStyle/>
          <a:p>
            <a:pPr algn="l"/>
            <a:r>
              <a:rPr sz="1000" b="1" i="0">
                <a:solidFill>
                  <a:srgbClr val="1C2C3A"/>
                </a:solidFill>
                <a:latin typeface="Garamond"/>
              </a:rPr>
              <a:t>Revenue (LTM)</a:t>
            </a:r>
          </a:p>
        </p:txBody>
      </p:sp>
      <p:sp>
        <p:nvSpPr>
          <p:cNvPr id="21" name="TextBox 20"/>
          <p:cNvSpPr txBox="1"/>
          <p:nvPr/>
        </p:nvSpPr>
        <p:spPr>
          <a:xfrm>
            <a:off x="4910328" y="3566160"/>
            <a:ext cx="1033271" cy="310896"/>
          </a:xfrm>
          <a:prstGeom prst="rect">
            <a:avLst/>
          </a:prstGeom>
          <a:noFill/>
        </p:spPr>
        <p:txBody>
          <a:bodyPr wrap="square">
            <a:normAutofit/>
          </a:bodyPr>
          <a:lstStyle/>
          <a:p>
            <a:pPr algn="r"/>
            <a:r>
              <a:rPr sz="1100" b="1" i="0">
                <a:solidFill>
                  <a:srgbClr val="1C2C3A"/>
                </a:solidFill>
                <a:latin typeface="Garamond"/>
              </a:rPr>
              <a:t>$2.8B (FY2025)</a:t>
            </a:r>
          </a:p>
        </p:txBody>
      </p:sp>
      <p:sp>
        <p:nvSpPr>
          <p:cNvPr id="22" name="Rectangle 21"/>
          <p:cNvSpPr/>
          <p:nvPr/>
        </p:nvSpPr>
        <p:spPr>
          <a:xfrm>
            <a:off x="640080" y="3931920"/>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3968496"/>
            <a:ext cx="1508760" cy="310896"/>
          </a:xfrm>
          <a:prstGeom prst="rect">
            <a:avLst/>
          </a:prstGeom>
          <a:noFill/>
        </p:spPr>
        <p:txBody>
          <a:bodyPr wrap="square">
            <a:normAutofit/>
          </a:bodyPr>
          <a:lstStyle/>
          <a:p>
            <a:pPr algn="l"/>
            <a:r>
              <a:rPr sz="1000" b="1" i="0">
                <a:solidFill>
                  <a:srgbClr val="1C2C3A"/>
                </a:solidFill>
                <a:latin typeface="Garamond"/>
              </a:rPr>
              <a:t>EBIT Margin</a:t>
            </a:r>
          </a:p>
        </p:txBody>
      </p:sp>
      <p:sp>
        <p:nvSpPr>
          <p:cNvPr id="24" name="TextBox 23"/>
          <p:cNvSpPr txBox="1"/>
          <p:nvPr/>
        </p:nvSpPr>
        <p:spPr>
          <a:xfrm>
            <a:off x="2212848" y="3968496"/>
            <a:ext cx="1033271" cy="310896"/>
          </a:xfrm>
          <a:prstGeom prst="rect">
            <a:avLst/>
          </a:prstGeom>
          <a:noFill/>
        </p:spPr>
        <p:txBody>
          <a:bodyPr wrap="square">
            <a:normAutofit/>
          </a:bodyPr>
          <a:lstStyle/>
          <a:p>
            <a:pPr algn="r"/>
            <a:r>
              <a:rPr sz="1100" b="1" i="0">
                <a:solidFill>
                  <a:srgbClr val="1C2C3A"/>
                </a:solidFill>
                <a:latin typeface="Garamond"/>
              </a:rPr>
              <a:t>53.9%</a:t>
            </a:r>
          </a:p>
        </p:txBody>
      </p:sp>
      <p:sp>
        <p:nvSpPr>
          <p:cNvPr id="25" name="Rectangle 24"/>
          <p:cNvSpPr/>
          <p:nvPr/>
        </p:nvSpPr>
        <p:spPr>
          <a:xfrm>
            <a:off x="3337560" y="3931920"/>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92424" y="3968496"/>
            <a:ext cx="1508760" cy="310896"/>
          </a:xfrm>
          <a:prstGeom prst="rect">
            <a:avLst/>
          </a:prstGeom>
          <a:noFill/>
        </p:spPr>
        <p:txBody>
          <a:bodyPr wrap="square">
            <a:normAutofit/>
          </a:bodyPr>
          <a:lstStyle/>
          <a:p>
            <a:pPr algn="l"/>
            <a:r>
              <a:rPr sz="1000" b="1" i="0">
                <a:solidFill>
                  <a:srgbClr val="1C2C3A"/>
                </a:solidFill>
                <a:latin typeface="Garamond"/>
              </a:rPr>
              <a:t>Gross Margin</a:t>
            </a:r>
          </a:p>
        </p:txBody>
      </p:sp>
      <p:sp>
        <p:nvSpPr>
          <p:cNvPr id="27" name="TextBox 26"/>
          <p:cNvSpPr txBox="1"/>
          <p:nvPr/>
        </p:nvSpPr>
        <p:spPr>
          <a:xfrm>
            <a:off x="4910328" y="3968496"/>
            <a:ext cx="1033271" cy="310896"/>
          </a:xfrm>
          <a:prstGeom prst="rect">
            <a:avLst/>
          </a:prstGeom>
          <a:noFill/>
        </p:spPr>
        <p:txBody>
          <a:bodyPr wrap="square">
            <a:normAutofit/>
          </a:bodyPr>
          <a:lstStyle/>
          <a:p>
            <a:pPr algn="r"/>
            <a:r>
              <a:rPr sz="1100" b="1" i="0">
                <a:solidFill>
                  <a:srgbClr val="1C2C3A"/>
                </a:solidFill>
                <a:latin typeface="Garamond"/>
              </a:rPr>
              <a:t>74.5%</a:t>
            </a:r>
          </a:p>
        </p:txBody>
      </p:sp>
      <p:sp>
        <p:nvSpPr>
          <p:cNvPr id="28" name="Rectangle 27"/>
          <p:cNvSpPr/>
          <p:nvPr/>
        </p:nvSpPr>
        <p:spPr>
          <a:xfrm>
            <a:off x="640080" y="4334256"/>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4370832"/>
            <a:ext cx="1508760" cy="310896"/>
          </a:xfrm>
          <a:prstGeom prst="rect">
            <a:avLst/>
          </a:prstGeom>
          <a:noFill/>
        </p:spPr>
        <p:txBody>
          <a:bodyPr wrap="square">
            <a:normAutofit/>
          </a:bodyPr>
          <a:lstStyle/>
          <a:p>
            <a:pPr algn="l"/>
            <a:r>
              <a:rPr sz="1000" b="1" i="0">
                <a:solidFill>
                  <a:srgbClr val="1C2C3A"/>
                </a:solidFill>
                <a:latin typeface="Garamond"/>
              </a:rPr>
              <a:t>Net Debt/EBITDA</a:t>
            </a:r>
          </a:p>
        </p:txBody>
      </p:sp>
      <p:sp>
        <p:nvSpPr>
          <p:cNvPr id="30" name="TextBox 29"/>
          <p:cNvSpPr txBox="1"/>
          <p:nvPr/>
        </p:nvSpPr>
        <p:spPr>
          <a:xfrm>
            <a:off x="2212848" y="4370832"/>
            <a:ext cx="1033271" cy="310896"/>
          </a:xfrm>
          <a:prstGeom prst="rect">
            <a:avLst/>
          </a:prstGeom>
          <a:noFill/>
        </p:spPr>
        <p:txBody>
          <a:bodyPr wrap="square">
            <a:normAutofit/>
          </a:bodyPr>
          <a:lstStyle/>
          <a:p>
            <a:pPr algn="r"/>
            <a:r>
              <a:rPr sz="1100" b="1" i="0">
                <a:solidFill>
                  <a:srgbClr val="1C2C3A"/>
                </a:solidFill>
                <a:latin typeface="Garamond"/>
              </a:rPr>
              <a:t>8.3x</a:t>
            </a:r>
          </a:p>
        </p:txBody>
      </p:sp>
      <p:sp>
        <p:nvSpPr>
          <p:cNvPr id="31" name="Rectangle 30"/>
          <p:cNvSpPr/>
          <p:nvPr/>
        </p:nvSpPr>
        <p:spPr>
          <a:xfrm>
            <a:off x="3337560" y="4334256"/>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92424" y="4370832"/>
            <a:ext cx="1508760" cy="310896"/>
          </a:xfrm>
          <a:prstGeom prst="rect">
            <a:avLst/>
          </a:prstGeom>
          <a:noFill/>
        </p:spPr>
        <p:txBody>
          <a:bodyPr wrap="square">
            <a:normAutofit/>
          </a:bodyPr>
          <a:lstStyle/>
          <a:p>
            <a:pPr algn="l"/>
            <a:r>
              <a:rPr sz="1000" b="1" i="0">
                <a:solidFill>
                  <a:srgbClr val="1C2C3A"/>
                </a:solidFill>
                <a:latin typeface="Garamond"/>
              </a:rPr>
              <a:t>FCF Conversion</a:t>
            </a:r>
          </a:p>
        </p:txBody>
      </p:sp>
      <p:sp>
        <p:nvSpPr>
          <p:cNvPr id="33" name="TextBox 32"/>
          <p:cNvSpPr txBox="1"/>
          <p:nvPr/>
        </p:nvSpPr>
        <p:spPr>
          <a:xfrm>
            <a:off x="4910328" y="4370832"/>
            <a:ext cx="1033271" cy="310896"/>
          </a:xfrm>
          <a:prstGeom prst="rect">
            <a:avLst/>
          </a:prstGeom>
          <a:noFill/>
        </p:spPr>
        <p:txBody>
          <a:bodyPr wrap="square">
            <a:normAutofit/>
          </a:bodyPr>
          <a:lstStyle/>
          <a:p>
            <a:pPr algn="r"/>
            <a:r>
              <a:rPr sz="1100" b="1" i="0">
                <a:solidFill>
                  <a:srgbClr val="1C2C3A"/>
                </a:solidFill>
                <a:latin typeface="Garamond"/>
              </a:rPr>
              <a:t>N/A</a:t>
            </a:r>
          </a:p>
        </p:txBody>
      </p:sp>
      <p:sp>
        <p:nvSpPr>
          <p:cNvPr id="34" name="Rectangle 33"/>
          <p:cNvSpPr/>
          <p:nvPr/>
        </p:nvSpPr>
        <p:spPr>
          <a:xfrm>
            <a:off x="640080" y="4736592"/>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4773168"/>
            <a:ext cx="1508760" cy="310896"/>
          </a:xfrm>
          <a:prstGeom prst="rect">
            <a:avLst/>
          </a:prstGeom>
          <a:noFill/>
        </p:spPr>
        <p:txBody>
          <a:bodyPr wrap="square">
            <a:normAutofit/>
          </a:bodyPr>
          <a:lstStyle/>
          <a:p>
            <a:pPr algn="l"/>
            <a:r>
              <a:rPr sz="1000" b="1" i="0">
                <a:solidFill>
                  <a:srgbClr val="1C2C3A"/>
                </a:solidFill>
                <a:latin typeface="Garamond"/>
              </a:rPr>
              <a:t>ROIC</a:t>
            </a:r>
          </a:p>
        </p:txBody>
      </p:sp>
      <p:sp>
        <p:nvSpPr>
          <p:cNvPr id="36" name="TextBox 35"/>
          <p:cNvSpPr txBox="1"/>
          <p:nvPr/>
        </p:nvSpPr>
        <p:spPr>
          <a:xfrm>
            <a:off x="2212848" y="4773168"/>
            <a:ext cx="1033271" cy="310896"/>
          </a:xfrm>
          <a:prstGeom prst="rect">
            <a:avLst/>
          </a:prstGeom>
          <a:noFill/>
        </p:spPr>
        <p:txBody>
          <a:bodyPr wrap="square">
            <a:normAutofit/>
          </a:bodyPr>
          <a:lstStyle/>
          <a:p>
            <a:pPr algn="r"/>
            <a:r>
              <a:rPr sz="1100" b="1" i="0">
                <a:solidFill>
                  <a:srgbClr val="1C2C3A"/>
                </a:solidFill>
                <a:latin typeface="Garamond"/>
              </a:rPr>
              <a:t>N/A</a:t>
            </a:r>
          </a:p>
        </p:txBody>
      </p:sp>
      <p:sp>
        <p:nvSpPr>
          <p:cNvPr id="37" name="Rectangle 36"/>
          <p:cNvSpPr/>
          <p:nvPr/>
        </p:nvSpPr>
        <p:spPr>
          <a:xfrm>
            <a:off x="3337560" y="4736592"/>
            <a:ext cx="2651760" cy="38404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92424" y="4773168"/>
            <a:ext cx="1508760" cy="310896"/>
          </a:xfrm>
          <a:prstGeom prst="rect">
            <a:avLst/>
          </a:prstGeom>
          <a:noFill/>
        </p:spPr>
        <p:txBody>
          <a:bodyPr wrap="square">
            <a:normAutofit/>
          </a:bodyPr>
          <a:lstStyle/>
          <a:p>
            <a:pPr algn="l"/>
            <a:r>
              <a:rPr sz="1000" b="1" i="0">
                <a:solidFill>
                  <a:srgbClr val="1C2C3A"/>
                </a:solidFill>
                <a:latin typeface="Garamond"/>
              </a:rPr>
              <a:t>Rev CAGR 3Y</a:t>
            </a:r>
          </a:p>
        </p:txBody>
      </p:sp>
      <p:sp>
        <p:nvSpPr>
          <p:cNvPr id="39" name="TextBox 38"/>
          <p:cNvSpPr txBox="1"/>
          <p:nvPr/>
        </p:nvSpPr>
        <p:spPr>
          <a:xfrm>
            <a:off x="4910328" y="4773168"/>
            <a:ext cx="1033271" cy="310896"/>
          </a:xfrm>
          <a:prstGeom prst="rect">
            <a:avLst/>
          </a:prstGeom>
          <a:noFill/>
        </p:spPr>
        <p:txBody>
          <a:bodyPr wrap="square">
            <a:normAutofit/>
          </a:bodyPr>
          <a:lstStyle/>
          <a:p>
            <a:pPr algn="r"/>
            <a:r>
              <a:rPr sz="1100" b="1" i="0">
                <a:solidFill>
                  <a:srgbClr val="1C2C3A"/>
                </a:solidFill>
                <a:latin typeface="Garamond"/>
              </a:rPr>
              <a:t>1.9%</a:t>
            </a:r>
          </a:p>
        </p:txBody>
      </p:sp>
      <p:sp>
        <p:nvSpPr>
          <p:cNvPr id="40" name="Rectangle 39"/>
          <p:cNvSpPr/>
          <p:nvPr/>
        </p:nvSpPr>
        <p:spPr>
          <a:xfrm>
            <a:off x="640080" y="5138928"/>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 y="5175504"/>
            <a:ext cx="1508760" cy="310896"/>
          </a:xfrm>
          <a:prstGeom prst="rect">
            <a:avLst/>
          </a:prstGeom>
          <a:noFill/>
        </p:spPr>
        <p:txBody>
          <a:bodyPr wrap="square">
            <a:normAutofit/>
          </a:bodyPr>
          <a:lstStyle/>
          <a:p>
            <a:pPr algn="l"/>
            <a:r>
              <a:rPr sz="1000" b="1" i="0">
                <a:solidFill>
                  <a:srgbClr val="1C2C3A"/>
                </a:solidFill>
                <a:latin typeface="Garamond"/>
              </a:rPr>
              <a:t>Dividend Yield</a:t>
            </a:r>
          </a:p>
        </p:txBody>
      </p:sp>
      <p:sp>
        <p:nvSpPr>
          <p:cNvPr id="42" name="TextBox 41"/>
          <p:cNvSpPr txBox="1"/>
          <p:nvPr/>
        </p:nvSpPr>
        <p:spPr>
          <a:xfrm>
            <a:off x="2212848" y="5175504"/>
            <a:ext cx="1033271" cy="310896"/>
          </a:xfrm>
          <a:prstGeom prst="rect">
            <a:avLst/>
          </a:prstGeom>
          <a:noFill/>
        </p:spPr>
        <p:txBody>
          <a:bodyPr wrap="square">
            <a:normAutofit/>
          </a:bodyPr>
          <a:lstStyle/>
          <a:p>
            <a:pPr algn="r"/>
            <a:r>
              <a:rPr sz="1100" b="1" i="0">
                <a:solidFill>
                  <a:srgbClr val="1C2C3A"/>
                </a:solidFill>
                <a:latin typeface="Garamond"/>
              </a:rPr>
              <a:t>N/A</a:t>
            </a:r>
          </a:p>
        </p:txBody>
      </p:sp>
      <p:sp>
        <p:nvSpPr>
          <p:cNvPr id="43" name="Rectangle 42"/>
          <p:cNvSpPr/>
          <p:nvPr/>
        </p:nvSpPr>
        <p:spPr>
          <a:xfrm>
            <a:off x="3337560" y="5138928"/>
            <a:ext cx="2651760" cy="38404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92424" y="5175504"/>
            <a:ext cx="1508760" cy="310896"/>
          </a:xfrm>
          <a:prstGeom prst="rect">
            <a:avLst/>
          </a:prstGeom>
          <a:noFill/>
        </p:spPr>
        <p:txBody>
          <a:bodyPr wrap="square">
            <a:normAutofit/>
          </a:bodyPr>
          <a:lstStyle/>
          <a:p>
            <a:pPr algn="l"/>
            <a:r>
              <a:rPr sz="1000" b="1" i="0">
                <a:solidFill>
                  <a:srgbClr val="1C2C3A"/>
                </a:solidFill>
                <a:latin typeface="Garamond"/>
              </a:rPr>
              <a:t>Beta</a:t>
            </a:r>
          </a:p>
        </p:txBody>
      </p:sp>
      <p:sp>
        <p:nvSpPr>
          <p:cNvPr id="45" name="TextBox 44"/>
          <p:cNvSpPr txBox="1"/>
          <p:nvPr/>
        </p:nvSpPr>
        <p:spPr>
          <a:xfrm>
            <a:off x="4910328" y="5175504"/>
            <a:ext cx="1033271" cy="310896"/>
          </a:xfrm>
          <a:prstGeom prst="rect">
            <a:avLst/>
          </a:prstGeom>
          <a:noFill/>
        </p:spPr>
        <p:txBody>
          <a:bodyPr wrap="square">
            <a:normAutofit/>
          </a:bodyPr>
          <a:lstStyle/>
          <a:p>
            <a:pPr algn="r"/>
            <a:r>
              <a:rPr sz="1100" b="1" i="0">
                <a:solidFill>
                  <a:srgbClr val="1C2C3A"/>
                </a:solidFill>
                <a:latin typeface="Garamond"/>
              </a:rPr>
              <a:t>0.83</a:t>
            </a:r>
          </a:p>
        </p:txBody>
      </p:sp>
      <p:sp>
        <p:nvSpPr>
          <p:cNvPr id="46" name="TextBox 45"/>
          <p:cNvSpPr txBox="1"/>
          <p:nvPr/>
        </p:nvSpPr>
        <p:spPr>
          <a:xfrm>
            <a:off x="6263640" y="731520"/>
            <a:ext cx="5559552" cy="237744"/>
          </a:xfrm>
          <a:prstGeom prst="rect">
            <a:avLst/>
          </a:prstGeom>
          <a:noFill/>
        </p:spPr>
        <p:txBody>
          <a:bodyPr wrap="square">
            <a:normAutofit/>
          </a:bodyPr>
          <a:lstStyle/>
          <a:p>
            <a:pPr algn="l"/>
            <a:r>
              <a:rPr sz="1400" b="1" i="0">
                <a:solidFill>
                  <a:srgbClr val="1C2C39"/>
                </a:solidFill>
                <a:latin typeface="Garamond"/>
              </a:rPr>
              <a:t>Key Financials</a:t>
            </a:r>
          </a:p>
        </p:txBody>
      </p:sp>
      <p:sp>
        <p:nvSpPr>
          <p:cNvPr id="47" name="Rectangle 46"/>
          <p:cNvSpPr/>
          <p:nvPr/>
        </p:nvSpPr>
        <p:spPr>
          <a:xfrm>
            <a:off x="6263640" y="969264"/>
            <a:ext cx="5559552"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8" name="Table 47"/>
          <p:cNvGraphicFramePr>
            <a:graphicFrameLocks noGrp="1"/>
          </p:cNvGraphicFramePr>
          <p:nvPr/>
        </p:nvGraphicFramePr>
        <p:xfrm>
          <a:off x="6263640" y="1024128"/>
          <a:ext cx="5559551" cy="1572768"/>
        </p:xfrm>
        <a:graphic>
          <a:graphicData uri="http://schemas.openxmlformats.org/drawingml/2006/table">
            <a:tbl>
              <a:tblPr firstRow="1" bandRow="1">
                <a:tableStyleId>{5C22544A-7EE6-4342-B048-85BDC9FD1C3A}</a:tableStyleId>
              </a:tblPr>
              <a:tblGrid>
                <a:gridCol w="3017520"/>
                <a:gridCol w="2542031"/>
              </a:tblGrid>
              <a:tr h="262128">
                <a:tc>
                  <a:txBody>
                    <a:bodyPr/>
                    <a:lstStyle/>
                    <a:p>
                      <a:pPr algn="ctr"/>
                      <a:r>
                        <a:rPr sz="1000" b="1">
                          <a:solidFill>
                            <a:srgbClr val="FFFFFF"/>
                          </a:solidFill>
                          <a:latin typeface="Garamond"/>
                        </a:rPr>
                        <a:t>Metric</a:t>
                      </a:r>
                    </a:p>
                  </a:txBody>
                  <a:tcPr>
                    <a:solidFill>
                      <a:srgbClr val="1C2C39"/>
                    </a:solidFill>
                  </a:tcPr>
                </a:tc>
                <a:tc>
                  <a:txBody>
                    <a:bodyPr/>
                    <a:lstStyle/>
                    <a:p>
                      <a:pPr algn="ctr"/>
                      <a:r>
                        <a:rPr sz="1000" b="1">
                          <a:solidFill>
                            <a:srgbClr val="FFFFFF"/>
                          </a:solidFill>
                          <a:latin typeface="Garamond"/>
                        </a:rPr>
                        <a:t>Value</a:t>
                      </a:r>
                    </a:p>
                  </a:txBody>
                  <a:tcPr>
                    <a:solidFill>
                      <a:srgbClr val="1C2C39"/>
                    </a:solidFill>
                  </a:tcPr>
                </a:tc>
              </a:tr>
              <a:tr h="262128">
                <a:tc>
                  <a:txBody>
                    <a:bodyPr/>
                    <a:lstStyle/>
                    <a:p>
                      <a:pPr algn="l"/>
                      <a:r>
                        <a:rPr sz="1100" b="0">
                          <a:solidFill>
                            <a:srgbClr val="000000"/>
                          </a:solidFill>
                          <a:latin typeface="Garamond"/>
                        </a:rPr>
                        <a:t>Current Price</a:t>
                      </a:r>
                    </a:p>
                  </a:txBody>
                  <a:tcPr>
                    <a:solidFill>
                      <a:srgbClr val="FFFFFF"/>
                    </a:solidFill>
                  </a:tcPr>
                </a:tc>
                <a:tc>
                  <a:txBody>
                    <a:bodyPr/>
                    <a:lstStyle/>
                    <a:p>
                      <a:pPr algn="ctr"/>
                      <a:r>
                        <a:rPr sz="1100" b="0">
                          <a:solidFill>
                            <a:srgbClr val="000000"/>
                          </a:solidFill>
                          <a:latin typeface="Garamond"/>
                        </a:rPr>
                        <a:t>$190.00</a:t>
                      </a:r>
                    </a:p>
                  </a:txBody>
                  <a:tcPr>
                    <a:solidFill>
                      <a:srgbClr val="FFFFFF"/>
                    </a:solidFill>
                  </a:tcPr>
                </a:tc>
              </a:tr>
              <a:tr h="262128">
                <a:tc>
                  <a:txBody>
                    <a:bodyPr/>
                    <a:lstStyle/>
                    <a:p>
                      <a:pPr algn="l"/>
                      <a:r>
                        <a:rPr sz="1100" b="0">
                          <a:solidFill>
                            <a:srgbClr val="000000"/>
                          </a:solidFill>
                          <a:latin typeface="Garamond"/>
                        </a:rPr>
                        <a:t>52-Wk Range</a:t>
                      </a:r>
                    </a:p>
                  </a:txBody>
                  <a:tcPr>
                    <a:solidFill>
                      <a:srgbClr val="EFEFEF"/>
                    </a:solidFill>
                  </a:tcPr>
                </a:tc>
                <a:tc>
                  <a:txBody>
                    <a:bodyPr/>
                    <a:lstStyle/>
                    <a:p>
                      <a:pPr algn="ctr"/>
                      <a:r>
                        <a:rPr sz="1100" b="0">
                          <a:solidFill>
                            <a:srgbClr val="000000"/>
                          </a:solidFill>
                          <a:latin typeface="Garamond"/>
                        </a:rPr>
                        <a:t>N/A – N/A</a:t>
                      </a:r>
                    </a:p>
                  </a:txBody>
                  <a:tcPr>
                    <a:solidFill>
                      <a:srgbClr val="EFEFEF"/>
                    </a:solidFill>
                  </a:tcPr>
                </a:tc>
              </a:tr>
              <a:tr h="262128">
                <a:tc>
                  <a:txBody>
                    <a:bodyPr/>
                    <a:lstStyle/>
                    <a:p>
                      <a:pPr algn="l"/>
                      <a:r>
                        <a:rPr sz="1100" b="0">
                          <a:solidFill>
                            <a:srgbClr val="000000"/>
                          </a:solidFill>
                          <a:latin typeface="Garamond"/>
                        </a:rPr>
                        <a:t>Market Cap</a:t>
                      </a:r>
                    </a:p>
                  </a:txBody>
                  <a:tcPr>
                    <a:solidFill>
                      <a:srgbClr val="FFFFFF"/>
                    </a:solidFill>
                  </a:tcPr>
                </a:tc>
                <a:tc>
                  <a:txBody>
                    <a:bodyPr/>
                    <a:lstStyle/>
                    <a:p>
                      <a:pPr algn="ctr"/>
                      <a:r>
                        <a:rPr sz="1100" b="0">
                          <a:solidFill>
                            <a:srgbClr val="000000"/>
                          </a:solidFill>
                          <a:latin typeface="Garamond"/>
                        </a:rPr>
                        <a:t>N/A</a:t>
                      </a:r>
                    </a:p>
                  </a:txBody>
                  <a:tcPr>
                    <a:solidFill>
                      <a:srgbClr val="FFFFFF"/>
                    </a:solidFill>
                  </a:tcPr>
                </a:tc>
              </a:tr>
              <a:tr h="262128">
                <a:tc>
                  <a:txBody>
                    <a:bodyPr/>
                    <a:lstStyle/>
                    <a:p>
                      <a:pPr algn="l"/>
                      <a:r>
                        <a:rPr sz="1100" b="0">
                          <a:solidFill>
                            <a:srgbClr val="000000"/>
                          </a:solidFill>
                          <a:latin typeface="Garamond"/>
                        </a:rPr>
                        <a:t>Dividend Yield</a:t>
                      </a:r>
                    </a:p>
                  </a:txBody>
                  <a:tcPr>
                    <a:solidFill>
                      <a:srgbClr val="EFEFEF"/>
                    </a:solidFill>
                  </a:tcPr>
                </a:tc>
                <a:tc>
                  <a:txBody>
                    <a:bodyPr/>
                    <a:lstStyle/>
                    <a:p>
                      <a:pPr algn="ctr"/>
                      <a:r>
                        <a:rPr sz="1100" b="0">
                          <a:solidFill>
                            <a:srgbClr val="000000"/>
                          </a:solidFill>
                          <a:latin typeface="Garamond"/>
                        </a:rPr>
                        <a:t>N/A</a:t>
                      </a:r>
                    </a:p>
                  </a:txBody>
                  <a:tcPr>
                    <a:solidFill>
                      <a:srgbClr val="EFEFEF"/>
                    </a:solidFill>
                  </a:tcPr>
                </a:tc>
              </a:tr>
              <a:tr h="262128">
                <a:tc>
                  <a:txBody>
                    <a:bodyPr/>
                    <a:lstStyle/>
                    <a:p>
                      <a:pPr algn="l"/>
                      <a:r>
                        <a:rPr sz="1100" b="0">
                          <a:solidFill>
                            <a:srgbClr val="000000"/>
                          </a:solidFill>
                          <a:latin typeface="Garamond"/>
                        </a:rPr>
                        <a:t>Beta</a:t>
                      </a:r>
                    </a:p>
                  </a:txBody>
                  <a:tcPr>
                    <a:solidFill>
                      <a:srgbClr val="FFFFFF"/>
                    </a:solidFill>
                  </a:tcPr>
                </a:tc>
                <a:tc>
                  <a:txBody>
                    <a:bodyPr/>
                    <a:lstStyle/>
                    <a:p>
                      <a:pPr algn="ctr"/>
                      <a:r>
                        <a:rPr sz="1100" b="0">
                          <a:solidFill>
                            <a:srgbClr val="000000"/>
                          </a:solidFill>
                          <a:latin typeface="Garamond"/>
                        </a:rPr>
                        <a:t>0.83</a:t>
                      </a:r>
                    </a:p>
                  </a:txBody>
                  <a:tcPr>
                    <a:solidFill>
                      <a:srgbClr val="FFFFFF"/>
                    </a:solidFill>
                  </a:tcPr>
                </a:tc>
              </a:tr>
            </a:tbl>
          </a:graphicData>
        </a:graphic>
      </p:graphicFrame>
      <p:sp>
        <p:nvSpPr>
          <p:cNvPr id="49" name="TextBox 48"/>
          <p:cNvSpPr txBox="1"/>
          <p:nvPr/>
        </p:nvSpPr>
        <p:spPr>
          <a:xfrm>
            <a:off x="6263640" y="2724912"/>
            <a:ext cx="5559552" cy="237744"/>
          </a:xfrm>
          <a:prstGeom prst="rect">
            <a:avLst/>
          </a:prstGeom>
          <a:noFill/>
        </p:spPr>
        <p:txBody>
          <a:bodyPr wrap="square">
            <a:normAutofit/>
          </a:bodyPr>
          <a:lstStyle/>
          <a:p>
            <a:pPr algn="l"/>
            <a:r>
              <a:rPr sz="1400" b="1" i="0">
                <a:solidFill>
                  <a:srgbClr val="00ACB6"/>
                </a:solidFill>
                <a:latin typeface="Garamond"/>
              </a:rPr>
              <a:t>vs. Peers</a:t>
            </a:r>
          </a:p>
        </p:txBody>
      </p:sp>
      <p:sp>
        <p:nvSpPr>
          <p:cNvPr id="50" name="Rectangle 49"/>
          <p:cNvSpPr/>
          <p:nvPr/>
        </p:nvSpPr>
        <p:spPr>
          <a:xfrm>
            <a:off x="6263640" y="2962656"/>
            <a:ext cx="5559552"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1" name="Table 50"/>
          <p:cNvGraphicFramePr>
            <a:graphicFrameLocks noGrp="1"/>
          </p:cNvGraphicFramePr>
          <p:nvPr/>
        </p:nvGraphicFramePr>
        <p:xfrm>
          <a:off x="6263640" y="2999232"/>
          <a:ext cx="5559550" cy="1508760"/>
        </p:xfrm>
        <a:graphic>
          <a:graphicData uri="http://schemas.openxmlformats.org/drawingml/2006/table">
            <a:tbl>
              <a:tblPr firstRow="1" bandRow="1">
                <a:tableStyleId>{5C22544A-7EE6-4342-B048-85BDC9FD1C3A}</a:tableStyleId>
              </a:tblPr>
              <a:tblGrid>
                <a:gridCol w="2377440"/>
                <a:gridCol w="1591055"/>
                <a:gridCol w="1591055"/>
              </a:tblGrid>
              <a:tr h="251460">
                <a:tc>
                  <a:txBody>
                    <a:bodyPr/>
                    <a:lstStyle/>
                    <a:p>
                      <a:pPr algn="ctr"/>
                      <a:r>
                        <a:rPr sz="1000" b="1">
                          <a:solidFill>
                            <a:srgbClr val="FFFFFF"/>
                          </a:solidFill>
                          <a:latin typeface="Garamond"/>
                        </a:rPr>
                        <a:t>Metric</a:t>
                      </a:r>
                    </a:p>
                  </a:txBody>
                  <a:tcPr>
                    <a:solidFill>
                      <a:srgbClr val="1C2C39"/>
                    </a:solidFill>
                  </a:tcPr>
                </a:tc>
                <a:tc>
                  <a:txBody>
                    <a:bodyPr/>
                    <a:lstStyle/>
                    <a:p>
                      <a:pPr algn="ctr"/>
                      <a:r>
                        <a:rPr sz="1000" b="1">
                          <a:solidFill>
                            <a:srgbClr val="FFFFFF"/>
                          </a:solidFill>
                          <a:latin typeface="Garamond"/>
                        </a:rPr>
                        <a:t>SBAC</a:t>
                      </a:r>
                    </a:p>
                  </a:txBody>
                  <a:tcPr>
                    <a:solidFill>
                      <a:srgbClr val="1C2C39"/>
                    </a:solidFill>
                  </a:tcPr>
                </a:tc>
                <a:tc>
                  <a:txBody>
                    <a:bodyPr/>
                    <a:lstStyle/>
                    <a:p>
                      <a:pPr algn="ctr"/>
                      <a:r>
                        <a:rPr sz="1000" b="1">
                          <a:solidFill>
                            <a:srgbClr val="FFFFFF"/>
                          </a:solidFill>
                          <a:latin typeface="Garamond"/>
                        </a:rPr>
                        <a:t>Peer Median</a:t>
                      </a:r>
                    </a:p>
                  </a:txBody>
                  <a:tcPr>
                    <a:solidFill>
                      <a:srgbClr val="1C2C39"/>
                    </a:solidFill>
                  </a:tcPr>
                </a:tc>
              </a:tr>
              <a:tr h="251460">
                <a:tc>
                  <a:txBody>
                    <a:bodyPr/>
                    <a:lstStyle/>
                    <a:p>
                      <a:pPr algn="l"/>
                      <a:r>
                        <a:rPr sz="1100" b="0">
                          <a:solidFill>
                            <a:srgbClr val="000000"/>
                          </a:solidFill>
                          <a:latin typeface="Garamond"/>
                        </a:rPr>
                        <a:t>P/AFFO (Current)</a:t>
                      </a:r>
                    </a:p>
                  </a:txBody>
                  <a:tcPr>
                    <a:solidFill>
                      <a:srgbClr val="FFFFFF"/>
                    </a:solidFill>
                  </a:tcPr>
                </a:tc>
                <a:tc>
                  <a:txBody>
                    <a:bodyPr/>
                    <a:lstStyle/>
                    <a:p>
                      <a:pPr algn="ctr"/>
                      <a:r>
                        <a:rPr sz="1100" b="0">
                          <a:solidFill>
                            <a:srgbClr val="000000"/>
                          </a:solidFill>
                          <a:latin typeface="Garamond"/>
                        </a:rPr>
                        <a:t>14.0x</a:t>
                      </a:r>
                    </a:p>
                  </a:txBody>
                  <a:tcPr>
                    <a:solidFill>
                      <a:srgbClr val="FFFFFF"/>
                    </a:solidFill>
                  </a:tcPr>
                </a:tc>
                <a:tc>
                  <a:txBody>
                    <a:bodyPr/>
                    <a:lstStyle/>
                    <a:p>
                      <a:pPr algn="ctr"/>
                      <a:r>
                        <a:rPr sz="1100" b="0">
                          <a:solidFill>
                            <a:srgbClr val="000000"/>
                          </a:solidFill>
                          <a:latin typeface="Garamond"/>
                        </a:rPr>
                        <a:t>16.0x</a:t>
                      </a:r>
                    </a:p>
                  </a:txBody>
                  <a:tcPr>
                    <a:solidFill>
                      <a:srgbClr val="FFFFFF"/>
                    </a:solidFill>
                  </a:tcPr>
                </a:tc>
              </a:tr>
              <a:tr h="251460">
                <a:tc>
                  <a:txBody>
                    <a:bodyPr/>
                    <a:lstStyle/>
                    <a:p>
                      <a:pPr algn="l"/>
                      <a:r>
                        <a:rPr sz="1100" b="0">
                          <a:solidFill>
                            <a:srgbClr val="000000"/>
                          </a:solidFill>
                          <a:latin typeface="Garamond"/>
                        </a:rPr>
                        <a:t>EV/EBITDA</a:t>
                      </a:r>
                    </a:p>
                  </a:txBody>
                  <a:tcPr>
                    <a:solidFill>
                      <a:srgbClr val="EFEFEF"/>
                    </a:solidFill>
                  </a:tcPr>
                </a:tc>
                <a:tc>
                  <a:txBody>
                    <a:bodyPr/>
                    <a:lstStyle/>
                    <a:p>
                      <a:pPr algn="ctr"/>
                      <a:r>
                        <a:rPr sz="1100" b="0">
                          <a:solidFill>
                            <a:srgbClr val="000000"/>
                          </a:solidFill>
                          <a:latin typeface="Garamond"/>
                        </a:rPr>
                        <a:t>N/A</a:t>
                      </a:r>
                    </a:p>
                  </a:txBody>
                  <a:tcPr>
                    <a:solidFill>
                      <a:srgbClr val="EFEFEF"/>
                    </a:solidFill>
                  </a:tcPr>
                </a:tc>
                <a:tc>
                  <a:txBody>
                    <a:bodyPr/>
                    <a:lstStyle/>
                    <a:p>
                      <a:pPr algn="ctr"/>
                      <a:r>
                        <a:rPr sz="1100" b="0">
                          <a:solidFill>
                            <a:srgbClr val="000000"/>
                          </a:solidFill>
                          <a:latin typeface="Garamond"/>
                        </a:rPr>
                        <a:t>N/A</a:t>
                      </a:r>
                    </a:p>
                  </a:txBody>
                  <a:tcPr>
                    <a:solidFill>
                      <a:srgbClr val="EFEFEF"/>
                    </a:solidFill>
                  </a:tcPr>
                </a:tc>
              </a:tr>
              <a:tr h="251460">
                <a:tc>
                  <a:txBody>
                    <a:bodyPr/>
                    <a:lstStyle/>
                    <a:p>
                      <a:pPr algn="l"/>
                      <a:r>
                        <a:rPr sz="1100" b="0">
                          <a:solidFill>
                            <a:srgbClr val="000000"/>
                          </a:solidFill>
                          <a:latin typeface="Garamond"/>
                        </a:rPr>
                        <a:t>Rev Growth</a:t>
                      </a:r>
                    </a:p>
                  </a:txBody>
                  <a:tcPr>
                    <a:solidFill>
                      <a:srgbClr val="FFFFFF"/>
                    </a:solidFill>
                  </a:tcPr>
                </a:tc>
                <a:tc>
                  <a:txBody>
                    <a:bodyPr/>
                    <a:lstStyle/>
                    <a:p>
                      <a:pPr algn="ctr"/>
                      <a:r>
                        <a:rPr sz="1100" b="0">
                          <a:solidFill>
                            <a:srgbClr val="000000"/>
                          </a:solidFill>
                          <a:latin typeface="Garamond"/>
                        </a:rPr>
                        <a:t>N/A</a:t>
                      </a:r>
                    </a:p>
                  </a:txBody>
                  <a:tcPr>
                    <a:solidFill>
                      <a:srgbClr val="FFFFFF"/>
                    </a:solidFill>
                  </a:tcPr>
                </a:tc>
                <a:tc>
                  <a:txBody>
                    <a:bodyPr/>
                    <a:lstStyle/>
                    <a:p>
                      <a:pPr algn="ctr"/>
                      <a:r>
                        <a:rPr sz="1100" b="0">
                          <a:solidFill>
                            <a:srgbClr val="000000"/>
                          </a:solidFill>
                          <a:latin typeface="Garamond"/>
                        </a:rPr>
                        <a:t>N/A</a:t>
                      </a:r>
                    </a:p>
                  </a:txBody>
                  <a:tcPr>
                    <a:solidFill>
                      <a:srgbClr val="FFFFFF"/>
                    </a:solidFill>
                  </a:tcPr>
                </a:tc>
              </a:tr>
              <a:tr h="251460">
                <a:tc>
                  <a:txBody>
                    <a:bodyPr/>
                    <a:lstStyle/>
                    <a:p>
                      <a:pPr algn="l"/>
                      <a:r>
                        <a:rPr sz="1100" b="0">
                          <a:solidFill>
                            <a:srgbClr val="000000"/>
                          </a:solidFill>
                          <a:latin typeface="Garamond"/>
                        </a:rPr>
                        <a:t>EBITDA Margin</a:t>
                      </a:r>
                    </a:p>
                  </a:txBody>
                  <a:tcPr>
                    <a:solidFill>
                      <a:srgbClr val="EFEFEF"/>
                    </a:solidFill>
                  </a:tcPr>
                </a:tc>
                <a:tc>
                  <a:txBody>
                    <a:bodyPr/>
                    <a:lstStyle/>
                    <a:p>
                      <a:pPr algn="ctr"/>
                      <a:r>
                        <a:rPr sz="1100" b="0">
                          <a:solidFill>
                            <a:srgbClr val="000000"/>
                          </a:solidFill>
                          <a:latin typeface="Garamond"/>
                        </a:rPr>
                        <a:t>53.9%</a:t>
                      </a:r>
                    </a:p>
                  </a:txBody>
                  <a:tcPr>
                    <a:solidFill>
                      <a:srgbClr val="EFEFEF"/>
                    </a:solidFill>
                  </a:tcPr>
                </a:tc>
                <a:tc>
                  <a:txBody>
                    <a:bodyPr/>
                    <a:lstStyle/>
                    <a:p>
                      <a:pPr algn="ctr"/>
                      <a:r>
                        <a:rPr sz="1100" b="0">
                          <a:solidFill>
                            <a:srgbClr val="000000"/>
                          </a:solidFill>
                          <a:latin typeface="Garamond"/>
                        </a:rPr>
                        <a:t>N/A</a:t>
                      </a:r>
                    </a:p>
                  </a:txBody>
                  <a:tcPr>
                    <a:solidFill>
                      <a:srgbClr val="EFEFEF"/>
                    </a:solidFill>
                  </a:tcPr>
                </a:tc>
              </a:tr>
              <a:tr h="251460">
                <a:tc>
                  <a:txBody>
                    <a:bodyPr/>
                    <a:lstStyle/>
                    <a:p>
                      <a:pPr algn="l"/>
                      <a:r>
                        <a:rPr sz="1100" b="0">
                          <a:solidFill>
                            <a:srgbClr val="000000"/>
                          </a:solidFill>
                          <a:latin typeface="Garamond"/>
                        </a:rPr>
                        <a:t>Net Debt/EBITDA</a:t>
                      </a:r>
                    </a:p>
                  </a:txBody>
                  <a:tcPr>
                    <a:solidFill>
                      <a:srgbClr val="FFFFFF"/>
                    </a:solidFill>
                  </a:tcPr>
                </a:tc>
                <a:tc>
                  <a:txBody>
                    <a:bodyPr/>
                    <a:lstStyle/>
                    <a:p>
                      <a:pPr algn="ctr"/>
                      <a:r>
                        <a:rPr sz="1100" b="0">
                          <a:solidFill>
                            <a:srgbClr val="000000"/>
                          </a:solidFill>
                          <a:latin typeface="Garamond"/>
                        </a:rPr>
                        <a:t>-12.5x</a:t>
                      </a:r>
                    </a:p>
                  </a:txBody>
                  <a:tcPr>
                    <a:solidFill>
                      <a:srgbClr val="FFFFFF"/>
                    </a:solidFill>
                  </a:tcPr>
                </a:tc>
                <a:tc>
                  <a:txBody>
                    <a:bodyPr/>
                    <a:lstStyle/>
                    <a:p>
                      <a:pPr algn="ctr"/>
                      <a:r>
                        <a:rPr sz="1100" b="0">
                          <a:solidFill>
                            <a:srgbClr val="000000"/>
                          </a:solidFill>
                          <a:latin typeface="Garamond"/>
                        </a:rPr>
                        <a:t>2x below …</a:t>
                      </a:r>
                    </a:p>
                  </a:txBody>
                  <a:tcPr>
                    <a:solidFill>
                      <a:srgbClr val="FFFFFF"/>
                    </a:solidFill>
                  </a:tcPr>
                </a:tc>
              </a:tr>
            </a:tbl>
          </a:graphicData>
        </a:graphic>
      </p:graphicFrame>
      <p:graphicFrame>
        <p:nvGraphicFramePr>
          <p:cNvPr id="52" name="Chart 51"/>
          <p:cNvGraphicFramePr>
            <a:graphicFrameLocks noGrp="1"/>
          </p:cNvGraphicFramePr>
          <p:nvPr/>
        </p:nvGraphicFramePr>
        <p:xfrm>
          <a:off x="6263640" y="4626864"/>
          <a:ext cx="5559552" cy="1783080"/>
        </p:xfrm>
        <a:graphic>
          <a:graphicData uri="http://schemas.openxmlformats.org/drawingml/2006/chart">
            <c:chart xmlns:c="http://schemas.openxmlformats.org/drawingml/2006/chart" r:id="rId2"/>
          </a:graphicData>
        </a:graphic>
      </p:graphicFrame>
      <p:sp>
        <p:nvSpPr>
          <p:cNvPr id="53" name="Rectangle 52"/>
          <p:cNvSpPr/>
          <p:nvPr/>
        </p:nvSpPr>
        <p:spPr>
          <a:xfrm>
            <a:off x="640080" y="6492240"/>
            <a:ext cx="11183112" cy="1828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Annotated Price Chart</a:t>
            </a:r>
          </a:p>
        </p:txBody>
      </p:sp>
      <p:sp>
        <p:nvSpPr>
          <p:cNvPr id="3" name="TextBox 2"/>
          <p:cNvSpPr txBox="1"/>
          <p:nvPr/>
        </p:nvSpPr>
        <p:spPr>
          <a:xfrm>
            <a:off x="640080" y="621792"/>
            <a:ext cx="10515600" cy="228600"/>
          </a:xfrm>
          <a:prstGeom prst="rect">
            <a:avLst/>
          </a:prstGeom>
          <a:noFill/>
        </p:spPr>
        <p:txBody>
          <a:bodyPr wrap="square">
            <a:normAutofit/>
          </a:bodyPr>
          <a:lstStyle/>
          <a:p>
            <a:pPr algn="l"/>
            <a:r>
              <a:rPr sz="900" b="0" i="1">
                <a:solidFill>
                  <a:srgbClr val="595959"/>
                </a:solidFill>
                <a:latin typeface="Garamond"/>
              </a:rPr>
              <a:t>SBAC vs. Benchmark — Key Events &amp; Catalysts</a:t>
            </a:r>
          </a:p>
        </p:txBody>
      </p:sp>
      <p:sp>
        <p:nvSpPr>
          <p:cNvPr id="4" name="Rectangle 3"/>
          <p:cNvSpPr/>
          <p:nvPr/>
        </p:nvSpPr>
        <p:spPr>
          <a:xfrm>
            <a:off x="640080" y="859536"/>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LSEG Refinitiv, Bloomberg, Analyst Research</a:t>
            </a:r>
          </a:p>
        </p:txBody>
      </p:sp>
      <p:sp>
        <p:nvSpPr>
          <p:cNvPr id="6" name="Rectangle 5"/>
          <p:cNvSpPr/>
          <p:nvPr/>
        </p:nvSpPr>
        <p:spPr>
          <a:xfrm>
            <a:off x="822960" y="3749039"/>
            <a:ext cx="10698480" cy="6400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2768"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3538728"/>
            <a:ext cx="18288" cy="210311"/>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423160"/>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423160"/>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59736"/>
            <a:ext cx="365760" cy="320040"/>
          </a:xfrm>
          <a:prstGeom prst="rect">
            <a:avLst/>
          </a:prstGeom>
          <a:noFill/>
        </p:spPr>
        <p:txBody>
          <a:bodyPr wrap="square">
            <a:normAutofit/>
          </a:bodyPr>
          <a:lstStyle/>
          <a:p>
            <a:pPr algn="ctr"/>
            <a:r>
              <a:rPr sz="1800" b="1" i="0">
                <a:solidFill>
                  <a:srgbClr val="1C2C39"/>
                </a:solidFill>
                <a:latin typeface="Garamond"/>
              </a:rPr>
              <a:t>1</a:t>
            </a:r>
          </a:p>
        </p:txBody>
      </p:sp>
      <p:sp>
        <p:nvSpPr>
          <p:cNvPr id="12" name="TextBox 11"/>
          <p:cNvSpPr txBox="1"/>
          <p:nvPr/>
        </p:nvSpPr>
        <p:spPr>
          <a:xfrm>
            <a:off x="1115568" y="2478024"/>
            <a:ext cx="1371600" cy="256032"/>
          </a:xfrm>
          <a:prstGeom prst="rect">
            <a:avLst/>
          </a:prstGeom>
          <a:noFill/>
        </p:spPr>
        <p:txBody>
          <a:bodyPr wrap="square">
            <a:normAutofit/>
          </a:bodyPr>
          <a:lstStyle/>
          <a:p>
            <a:pPr algn="l"/>
            <a:r>
              <a:rPr sz="1100" b="1" i="0">
                <a:solidFill>
                  <a:srgbClr val="1C2C3A"/>
                </a:solidFill>
                <a:latin typeface="Garamond"/>
              </a:rPr>
              <a:t>— 2026-03-31</a:t>
            </a:r>
          </a:p>
        </p:txBody>
      </p:sp>
      <p:sp>
        <p:nvSpPr>
          <p:cNvPr id="13" name="TextBox 12"/>
          <p:cNvSpPr txBox="1"/>
          <p:nvPr/>
        </p:nvSpPr>
        <p:spPr>
          <a:xfrm>
            <a:off x="786384" y="2770632"/>
            <a:ext cx="1700784" cy="713232"/>
          </a:xfrm>
          <a:prstGeom prst="rect">
            <a:avLst/>
          </a:prstGeom>
          <a:noFill/>
        </p:spPr>
        <p:txBody>
          <a:bodyPr wrap="square">
            <a:normAutofit/>
          </a:bodyPr>
          <a:lstStyle/>
          <a:p>
            <a:pPr algn="l"/>
            <a:r>
              <a:rPr sz="1100" b="0" i="0">
                <a:solidFill>
                  <a:srgbClr val="000000"/>
                </a:solidFill>
                <a:latin typeface="Garamond"/>
              </a:rPr>
              <a:t>Truist Securities — init</a:t>
            </a:r>
          </a:p>
        </p:txBody>
      </p:sp>
      <p:sp>
        <p:nvSpPr>
          <p:cNvPr id="14" name="Rectangle 13"/>
          <p:cNvSpPr/>
          <p:nvPr/>
        </p:nvSpPr>
        <p:spPr>
          <a:xfrm>
            <a:off x="2898648"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57400" y="3913631"/>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57400" y="3913631"/>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57400" y="3950207"/>
            <a:ext cx="365760" cy="320040"/>
          </a:xfrm>
          <a:prstGeom prst="rect">
            <a:avLst/>
          </a:prstGeom>
          <a:noFill/>
        </p:spPr>
        <p:txBody>
          <a:bodyPr wrap="square">
            <a:normAutofit/>
          </a:bodyPr>
          <a:lstStyle/>
          <a:p>
            <a:pPr algn="ctr"/>
            <a:r>
              <a:rPr sz="1800" b="1" i="0">
                <a:solidFill>
                  <a:srgbClr val="1C2C39"/>
                </a:solidFill>
                <a:latin typeface="Garamond"/>
              </a:rPr>
              <a:t>2</a:t>
            </a:r>
          </a:p>
        </p:txBody>
      </p:sp>
      <p:sp>
        <p:nvSpPr>
          <p:cNvPr id="18" name="TextBox 17"/>
          <p:cNvSpPr txBox="1"/>
          <p:nvPr/>
        </p:nvSpPr>
        <p:spPr>
          <a:xfrm>
            <a:off x="2441448" y="3968495"/>
            <a:ext cx="1371600" cy="256032"/>
          </a:xfrm>
          <a:prstGeom prst="rect">
            <a:avLst/>
          </a:prstGeom>
          <a:noFill/>
        </p:spPr>
        <p:txBody>
          <a:bodyPr wrap="square">
            <a:normAutofit/>
          </a:bodyPr>
          <a:lstStyle/>
          <a:p>
            <a:pPr algn="l"/>
            <a:r>
              <a:rPr sz="1100" b="1" i="0">
                <a:solidFill>
                  <a:srgbClr val="1C2C3A"/>
                </a:solidFill>
                <a:latin typeface="Garamond"/>
              </a:rPr>
              <a:t>— 2026-03-05</a:t>
            </a:r>
          </a:p>
        </p:txBody>
      </p:sp>
      <p:sp>
        <p:nvSpPr>
          <p:cNvPr id="19" name="TextBox 18"/>
          <p:cNvSpPr txBox="1"/>
          <p:nvPr/>
        </p:nvSpPr>
        <p:spPr>
          <a:xfrm>
            <a:off x="2112264" y="4261103"/>
            <a:ext cx="1700784" cy="713232"/>
          </a:xfrm>
          <a:prstGeom prst="rect">
            <a:avLst/>
          </a:prstGeom>
          <a:noFill/>
        </p:spPr>
        <p:txBody>
          <a:bodyPr wrap="square">
            <a:normAutofit/>
          </a:bodyPr>
          <a:lstStyle/>
          <a:p>
            <a:pPr algn="l"/>
            <a:r>
              <a:rPr sz="1100" b="0" i="0">
                <a:solidFill>
                  <a:srgbClr val="000000"/>
                </a:solidFill>
                <a:latin typeface="Garamond"/>
              </a:rPr>
              <a:t>Bernstein — init</a:t>
            </a:r>
          </a:p>
        </p:txBody>
      </p:sp>
      <p:sp>
        <p:nvSpPr>
          <p:cNvPr id="20" name="Rectangle 19"/>
          <p:cNvSpPr/>
          <p:nvPr/>
        </p:nvSpPr>
        <p:spPr>
          <a:xfrm>
            <a:off x="5038344"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93208" y="3538728"/>
            <a:ext cx="18288" cy="210311"/>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97096" y="2423160"/>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97096" y="2423160"/>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97096" y="2459736"/>
            <a:ext cx="365760" cy="320040"/>
          </a:xfrm>
          <a:prstGeom prst="rect">
            <a:avLst/>
          </a:prstGeom>
          <a:noFill/>
        </p:spPr>
        <p:txBody>
          <a:bodyPr wrap="square">
            <a:normAutofit/>
          </a:bodyPr>
          <a:lstStyle/>
          <a:p>
            <a:pPr algn="ctr"/>
            <a:r>
              <a:rPr sz="1800" b="1" i="0">
                <a:solidFill>
                  <a:srgbClr val="1C2C39"/>
                </a:solidFill>
                <a:latin typeface="Garamond"/>
              </a:rPr>
              <a:t>3</a:t>
            </a:r>
          </a:p>
        </p:txBody>
      </p:sp>
      <p:sp>
        <p:nvSpPr>
          <p:cNvPr id="25" name="TextBox 24"/>
          <p:cNvSpPr txBox="1"/>
          <p:nvPr/>
        </p:nvSpPr>
        <p:spPr>
          <a:xfrm>
            <a:off x="4581144" y="2478024"/>
            <a:ext cx="1371600" cy="256032"/>
          </a:xfrm>
          <a:prstGeom prst="rect">
            <a:avLst/>
          </a:prstGeom>
          <a:noFill/>
        </p:spPr>
        <p:txBody>
          <a:bodyPr wrap="square">
            <a:normAutofit/>
          </a:bodyPr>
          <a:lstStyle/>
          <a:p>
            <a:pPr algn="l"/>
            <a:r>
              <a:rPr sz="1100" b="1" i="0">
                <a:solidFill>
                  <a:srgbClr val="1C2C3A"/>
                </a:solidFill>
                <a:latin typeface="Garamond"/>
              </a:rPr>
              <a:t>— 2026-03-02</a:t>
            </a:r>
          </a:p>
        </p:txBody>
      </p:sp>
      <p:sp>
        <p:nvSpPr>
          <p:cNvPr id="26" name="TextBox 25"/>
          <p:cNvSpPr txBox="1"/>
          <p:nvPr/>
        </p:nvSpPr>
        <p:spPr>
          <a:xfrm>
            <a:off x="4251959" y="2770632"/>
            <a:ext cx="1700784" cy="713232"/>
          </a:xfrm>
          <a:prstGeom prst="rect">
            <a:avLst/>
          </a:prstGeom>
          <a:noFill/>
        </p:spPr>
        <p:txBody>
          <a:bodyPr wrap="square">
            <a:normAutofit/>
          </a:bodyPr>
          <a:lstStyle/>
          <a:p>
            <a:pPr algn="l"/>
            <a:r>
              <a:rPr sz="1100" b="0" i="0">
                <a:solidFill>
                  <a:srgbClr val="000000"/>
                </a:solidFill>
                <a:latin typeface="Garamond"/>
              </a:rPr>
              <a:t>Scotiabank — main</a:t>
            </a:r>
          </a:p>
        </p:txBody>
      </p:sp>
      <p:sp>
        <p:nvSpPr>
          <p:cNvPr id="27" name="Rectangle 26"/>
          <p:cNvSpPr/>
          <p:nvPr/>
        </p:nvSpPr>
        <p:spPr>
          <a:xfrm>
            <a:off x="7178040"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36792" y="3913631"/>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36792" y="3913631"/>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2" y="3950207"/>
            <a:ext cx="365760" cy="320040"/>
          </a:xfrm>
          <a:prstGeom prst="rect">
            <a:avLst/>
          </a:prstGeom>
          <a:noFill/>
        </p:spPr>
        <p:txBody>
          <a:bodyPr wrap="square">
            <a:normAutofit/>
          </a:bodyPr>
          <a:lstStyle/>
          <a:p>
            <a:pPr algn="ctr"/>
            <a:r>
              <a:rPr sz="1800" b="1" i="0">
                <a:solidFill>
                  <a:srgbClr val="1C2C39"/>
                </a:solidFill>
                <a:latin typeface="Garamond"/>
              </a:rPr>
              <a:t>4</a:t>
            </a:r>
          </a:p>
        </p:txBody>
      </p:sp>
      <p:sp>
        <p:nvSpPr>
          <p:cNvPr id="31" name="TextBox 30"/>
          <p:cNvSpPr txBox="1"/>
          <p:nvPr/>
        </p:nvSpPr>
        <p:spPr>
          <a:xfrm>
            <a:off x="6720840" y="3968495"/>
            <a:ext cx="1371600" cy="256032"/>
          </a:xfrm>
          <a:prstGeom prst="rect">
            <a:avLst/>
          </a:prstGeom>
          <a:noFill/>
        </p:spPr>
        <p:txBody>
          <a:bodyPr wrap="square">
            <a:normAutofit/>
          </a:bodyPr>
          <a:lstStyle/>
          <a:p>
            <a:pPr algn="l"/>
            <a:r>
              <a:rPr sz="1100" b="1" i="0">
                <a:solidFill>
                  <a:srgbClr val="1C2C3A"/>
                </a:solidFill>
                <a:latin typeface="Garamond"/>
              </a:rPr>
              <a:t>— 2026-04-27</a:t>
            </a:r>
          </a:p>
        </p:txBody>
      </p:sp>
      <p:sp>
        <p:nvSpPr>
          <p:cNvPr id="32" name="TextBox 31"/>
          <p:cNvSpPr txBox="1"/>
          <p:nvPr/>
        </p:nvSpPr>
        <p:spPr>
          <a:xfrm>
            <a:off x="6391655" y="4261103"/>
            <a:ext cx="1700784" cy="713232"/>
          </a:xfrm>
          <a:prstGeom prst="rect">
            <a:avLst/>
          </a:prstGeom>
          <a:noFill/>
        </p:spPr>
        <p:txBody>
          <a:bodyPr wrap="square">
            <a:normAutofit/>
          </a:bodyPr>
          <a:lstStyle/>
          <a:p>
            <a:pPr algn="l"/>
            <a:r>
              <a:rPr sz="1100" b="0" i="0">
                <a:solidFill>
                  <a:srgbClr val="000000"/>
                </a:solidFill>
                <a:latin typeface="Garamond"/>
              </a:rPr>
              <a:t>Q1 2026 earnings</a:t>
            </a:r>
          </a:p>
        </p:txBody>
      </p:sp>
      <p:sp>
        <p:nvSpPr>
          <p:cNvPr id="33" name="Rectangle 32"/>
          <p:cNvSpPr/>
          <p:nvPr/>
        </p:nvSpPr>
        <p:spPr>
          <a:xfrm>
            <a:off x="9317736"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372600" y="3538728"/>
            <a:ext cx="18288" cy="210311"/>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76488" y="2423160"/>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76488" y="2423160"/>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76488" y="2459736"/>
            <a:ext cx="365760" cy="320040"/>
          </a:xfrm>
          <a:prstGeom prst="rect">
            <a:avLst/>
          </a:prstGeom>
          <a:noFill/>
        </p:spPr>
        <p:txBody>
          <a:bodyPr wrap="square">
            <a:normAutofit/>
          </a:bodyPr>
          <a:lstStyle/>
          <a:p>
            <a:pPr algn="ctr"/>
            <a:r>
              <a:rPr sz="1800" b="1" i="0">
                <a:solidFill>
                  <a:srgbClr val="1C2C39"/>
                </a:solidFill>
                <a:latin typeface="Garamond"/>
              </a:rPr>
              <a:t>5</a:t>
            </a:r>
          </a:p>
        </p:txBody>
      </p:sp>
      <p:sp>
        <p:nvSpPr>
          <p:cNvPr id="38" name="TextBox 37"/>
          <p:cNvSpPr txBox="1"/>
          <p:nvPr/>
        </p:nvSpPr>
        <p:spPr>
          <a:xfrm>
            <a:off x="8860536" y="2478024"/>
            <a:ext cx="1371600" cy="256032"/>
          </a:xfrm>
          <a:prstGeom prst="rect">
            <a:avLst/>
          </a:prstGeom>
          <a:noFill/>
        </p:spPr>
        <p:txBody>
          <a:bodyPr wrap="square">
            <a:normAutofit/>
          </a:bodyPr>
          <a:lstStyle/>
          <a:p>
            <a:pPr algn="l"/>
            <a:r>
              <a:rPr sz="1100" b="1" i="0">
                <a:solidFill>
                  <a:srgbClr val="1C2C3A"/>
                </a:solidFill>
                <a:latin typeface="Garamond"/>
              </a:rPr>
              <a:t>— Q2-Q3 2026</a:t>
            </a:r>
          </a:p>
        </p:txBody>
      </p:sp>
      <p:sp>
        <p:nvSpPr>
          <p:cNvPr id="39" name="TextBox 38"/>
          <p:cNvSpPr txBox="1"/>
          <p:nvPr/>
        </p:nvSpPr>
        <p:spPr>
          <a:xfrm>
            <a:off x="8531352" y="2770632"/>
            <a:ext cx="1700784" cy="713232"/>
          </a:xfrm>
          <a:prstGeom prst="rect">
            <a:avLst/>
          </a:prstGeom>
          <a:noFill/>
        </p:spPr>
        <p:txBody>
          <a:bodyPr wrap="square">
            <a:normAutofit/>
          </a:bodyPr>
          <a:lstStyle/>
          <a:p>
            <a:pPr algn="l"/>
            <a:r>
              <a:rPr sz="1100" b="0" i="0">
                <a:solidFill>
                  <a:srgbClr val="000000"/>
                </a:solidFill>
                <a:latin typeface="Garamond"/>
              </a:rPr>
              <a:t>T-Mobile Sprint consolidation disclosure</a:t>
            </a:r>
          </a:p>
        </p:txBody>
      </p:sp>
      <p:sp>
        <p:nvSpPr>
          <p:cNvPr id="40" name="Rectangle 39"/>
          <p:cNvSpPr/>
          <p:nvPr/>
        </p:nvSpPr>
        <p:spPr>
          <a:xfrm>
            <a:off x="10643615" y="3685031"/>
            <a:ext cx="128016" cy="192024"/>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02367" y="3913631"/>
            <a:ext cx="1810512" cy="1115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02367" y="3913631"/>
            <a:ext cx="1810512" cy="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2367" y="3950207"/>
            <a:ext cx="365760" cy="320040"/>
          </a:xfrm>
          <a:prstGeom prst="rect">
            <a:avLst/>
          </a:prstGeom>
          <a:noFill/>
        </p:spPr>
        <p:txBody>
          <a:bodyPr wrap="square">
            <a:normAutofit/>
          </a:bodyPr>
          <a:lstStyle/>
          <a:p>
            <a:pPr algn="ctr"/>
            <a:r>
              <a:rPr sz="1800" b="1" i="0">
                <a:solidFill>
                  <a:srgbClr val="1C2C39"/>
                </a:solidFill>
                <a:latin typeface="Garamond"/>
              </a:rPr>
              <a:t>6</a:t>
            </a:r>
          </a:p>
        </p:txBody>
      </p:sp>
      <p:sp>
        <p:nvSpPr>
          <p:cNvPr id="44" name="TextBox 43"/>
          <p:cNvSpPr txBox="1"/>
          <p:nvPr/>
        </p:nvSpPr>
        <p:spPr>
          <a:xfrm>
            <a:off x="10186415" y="3968495"/>
            <a:ext cx="1371600" cy="256032"/>
          </a:xfrm>
          <a:prstGeom prst="rect">
            <a:avLst/>
          </a:prstGeom>
          <a:noFill/>
        </p:spPr>
        <p:txBody>
          <a:bodyPr wrap="square">
            <a:normAutofit/>
          </a:bodyPr>
          <a:lstStyle/>
          <a:p>
            <a:pPr algn="l"/>
            <a:r>
              <a:rPr sz="1100" b="1" i="0">
                <a:solidFill>
                  <a:srgbClr val="1C2C3A"/>
                </a:solidFill>
                <a:latin typeface="Garamond"/>
              </a:rPr>
              <a:t>— H2 2026</a:t>
            </a:r>
          </a:p>
        </p:txBody>
      </p:sp>
      <p:sp>
        <p:nvSpPr>
          <p:cNvPr id="45" name="TextBox 44"/>
          <p:cNvSpPr txBox="1"/>
          <p:nvPr/>
        </p:nvSpPr>
        <p:spPr>
          <a:xfrm>
            <a:off x="9857232" y="4261103"/>
            <a:ext cx="1700784" cy="713232"/>
          </a:xfrm>
          <a:prstGeom prst="rect">
            <a:avLst/>
          </a:prstGeom>
          <a:noFill/>
        </p:spPr>
        <p:txBody>
          <a:bodyPr wrap="square">
            <a:normAutofit/>
          </a:bodyPr>
          <a:lstStyle/>
          <a:p>
            <a:pPr algn="l"/>
            <a:r>
              <a:rPr sz="1100" b="0" i="0">
                <a:solidFill>
                  <a:srgbClr val="000000"/>
                </a:solidFill>
                <a:latin typeface="Garamond"/>
              </a:rPr>
              <a:t>Fed rate cut signal</a:t>
            </a:r>
          </a:p>
        </p:txBody>
      </p:sp>
      <p:sp>
        <p:nvSpPr>
          <p:cNvPr id="46" name="Rectangle 45"/>
          <p:cNvSpPr/>
          <p:nvPr/>
        </p:nvSpPr>
        <p:spPr>
          <a:xfrm>
            <a:off x="640080" y="5376672"/>
            <a:ext cx="11183112" cy="3657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440680"/>
            <a:ext cx="1371600" cy="256032"/>
          </a:xfrm>
          <a:prstGeom prst="rect">
            <a:avLst/>
          </a:prstGeom>
          <a:noFill/>
        </p:spPr>
        <p:txBody>
          <a:bodyPr wrap="square">
            <a:normAutofit/>
          </a:bodyPr>
          <a:lstStyle/>
          <a:p>
            <a:pPr algn="l"/>
            <a:r>
              <a:rPr sz="1100" b="1" i="0">
                <a:solidFill>
                  <a:srgbClr val="FFFFFF"/>
                </a:solidFill>
                <a:latin typeface="Garamond"/>
              </a:rPr>
              <a:t>Takeaway:</a:t>
            </a:r>
          </a:p>
        </p:txBody>
      </p:sp>
      <p:sp>
        <p:nvSpPr>
          <p:cNvPr id="48" name="TextBox 47"/>
          <p:cNvSpPr txBox="1"/>
          <p:nvPr/>
        </p:nvSpPr>
        <p:spPr>
          <a:xfrm>
            <a:off x="2194560" y="5440680"/>
            <a:ext cx="9509760" cy="256032"/>
          </a:xfrm>
          <a:prstGeom prst="rect">
            <a:avLst/>
          </a:prstGeom>
          <a:noFill/>
        </p:spPr>
        <p:txBody>
          <a:bodyPr wrap="none">
            <a:normAutofit/>
          </a:bodyPr>
          <a:lstStyle/>
          <a:p>
            <a:pPr algn="l"/>
            <a:r>
              <a:rPr sz="1200" b="0" i="1">
                <a:solidFill>
                  <a:srgbClr val="FFFFFF"/>
                </a:solidFill>
                <a:latin typeface="Garamond"/>
              </a:rPr>
              <a:t>CONSENSUS ASSUMES 68.0% EBITDA margin FY2026 ($1,929mm on $2,838mm rev). OUR VIEW: 0.2x FY2025 operating leverage implies $1,840mm — a $89mm miss — making current 19x EV/EBITDA fairly priced at best.</a:t>
            </a:r>
          </a:p>
        </p:txBody>
      </p:sp>
      <p:sp>
        <p:nvSpPr>
          <p:cNvPr id="49" name="Rectangle 48"/>
          <p:cNvSpPr/>
          <p:nvPr/>
        </p:nvSpPr>
        <p:spPr>
          <a:xfrm>
            <a:off x="640080" y="5852160"/>
            <a:ext cx="137160" cy="1371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5833872"/>
            <a:ext cx="2286000" cy="182880"/>
          </a:xfrm>
          <a:prstGeom prst="rect">
            <a:avLst/>
          </a:prstGeom>
          <a:noFill/>
        </p:spPr>
        <p:txBody>
          <a:bodyPr wrap="square">
            <a:normAutofit/>
          </a:bodyPr>
          <a:lstStyle/>
          <a:p>
            <a:pPr algn="l"/>
            <a:r>
              <a:rPr sz="830" b="0" i="0">
                <a:solidFill>
                  <a:srgbClr val="595959"/>
                </a:solidFill>
                <a:latin typeface="Garamond"/>
              </a:rPr>
              <a:t>SBAC events</a:t>
            </a:r>
          </a:p>
        </p:txBody>
      </p:sp>
      <p:sp>
        <p:nvSpPr>
          <p:cNvPr id="51" name="Rectangle 50"/>
          <p:cNvSpPr/>
          <p:nvPr/>
        </p:nvSpPr>
        <p:spPr>
          <a:xfrm>
            <a:off x="3200400" y="5852160"/>
            <a:ext cx="137160" cy="1371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83280" y="5833872"/>
            <a:ext cx="2286000" cy="182880"/>
          </a:xfrm>
          <a:prstGeom prst="rect">
            <a:avLst/>
          </a:prstGeom>
          <a:noFill/>
        </p:spPr>
        <p:txBody>
          <a:bodyPr wrap="square">
            <a:normAutofit/>
          </a:bodyPr>
          <a:lstStyle/>
          <a:p>
            <a:pPr algn="l"/>
            <a:r>
              <a:rPr sz="830" b="0" i="0">
                <a:solidFill>
                  <a:srgbClr val="595959"/>
                </a:solidFill>
                <a:latin typeface="Garamond"/>
              </a:rPr>
              <a:t>Analyst actions</a:t>
            </a:r>
          </a:p>
        </p:txBody>
      </p:sp>
      <p:sp>
        <p:nvSpPr>
          <p:cNvPr id="53" name="TextBox 52"/>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Industry Dynamics &amp; Competitive Landscape</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Bloomberg, Industry Reports</a:t>
            </a:r>
          </a:p>
        </p:txBody>
      </p:sp>
      <p:sp>
        <p:nvSpPr>
          <p:cNvPr id="5" name="Rectangle 4"/>
          <p:cNvSpPr/>
          <p:nvPr/>
        </p:nvSpPr>
        <p:spPr>
          <a:xfrm>
            <a:off x="640080" y="749808"/>
            <a:ext cx="278892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749808"/>
            <a:ext cx="2788920"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804671"/>
            <a:ext cx="2788920" cy="553212"/>
          </a:xfrm>
          <a:prstGeom prst="rect">
            <a:avLst/>
          </a:prstGeom>
          <a:noFill/>
        </p:spPr>
        <p:txBody>
          <a:bodyPr wrap="square">
            <a:normAutofit/>
          </a:bodyPr>
          <a:lstStyle/>
          <a:p>
            <a:pPr algn="ctr"/>
            <a:r>
              <a:rPr sz="2600" b="1" i="0">
                <a:solidFill>
                  <a:srgbClr val="1C2C3A"/>
                </a:solidFill>
                <a:latin typeface="Garamond"/>
              </a:rPr>
              <a:t>N/A</a:t>
            </a:r>
          </a:p>
        </p:txBody>
      </p:sp>
      <p:sp>
        <p:nvSpPr>
          <p:cNvPr id="8" name="TextBox 7"/>
          <p:cNvSpPr txBox="1"/>
          <p:nvPr/>
        </p:nvSpPr>
        <p:spPr>
          <a:xfrm>
            <a:off x="640080" y="1339596"/>
            <a:ext cx="2788920" cy="382219"/>
          </a:xfrm>
          <a:prstGeom prst="rect">
            <a:avLst/>
          </a:prstGeom>
          <a:noFill/>
        </p:spPr>
        <p:txBody>
          <a:bodyPr wrap="square">
            <a:normAutofit/>
          </a:bodyPr>
          <a:lstStyle/>
          <a:p>
            <a:pPr algn="ctr"/>
            <a:r>
              <a:rPr sz="800" b="0" i="0">
                <a:solidFill>
                  <a:srgbClr val="595959"/>
                </a:solidFill>
                <a:latin typeface="Garamond"/>
              </a:rPr>
              <a:t>Total Addressable Market</a:t>
            </a:r>
          </a:p>
        </p:txBody>
      </p:sp>
      <p:sp>
        <p:nvSpPr>
          <p:cNvPr id="9" name="Rectangle 8"/>
          <p:cNvSpPr/>
          <p:nvPr/>
        </p:nvSpPr>
        <p:spPr>
          <a:xfrm>
            <a:off x="3547872" y="749808"/>
            <a:ext cx="278892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47872" y="749808"/>
            <a:ext cx="2788920"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804671"/>
            <a:ext cx="2788920" cy="553212"/>
          </a:xfrm>
          <a:prstGeom prst="rect">
            <a:avLst/>
          </a:prstGeom>
          <a:noFill/>
        </p:spPr>
        <p:txBody>
          <a:bodyPr wrap="square">
            <a:normAutofit/>
          </a:bodyPr>
          <a:lstStyle/>
          <a:p>
            <a:pPr algn="ctr"/>
            <a:r>
              <a:rPr sz="2600" b="1" i="0">
                <a:solidFill>
                  <a:srgbClr val="1C2C3A"/>
                </a:solidFill>
                <a:latin typeface="Garamond"/>
              </a:rPr>
              <a:t>N/A</a:t>
            </a:r>
          </a:p>
        </p:txBody>
      </p:sp>
      <p:sp>
        <p:nvSpPr>
          <p:cNvPr id="12" name="TextBox 11"/>
          <p:cNvSpPr txBox="1"/>
          <p:nvPr/>
        </p:nvSpPr>
        <p:spPr>
          <a:xfrm>
            <a:off x="3547872" y="1339596"/>
            <a:ext cx="2788920" cy="382219"/>
          </a:xfrm>
          <a:prstGeom prst="rect">
            <a:avLst/>
          </a:prstGeom>
          <a:noFill/>
        </p:spPr>
        <p:txBody>
          <a:bodyPr wrap="square">
            <a:normAutofit/>
          </a:bodyPr>
          <a:lstStyle/>
          <a:p>
            <a:pPr algn="ctr"/>
            <a:r>
              <a:rPr sz="800" b="0" i="0">
                <a:solidFill>
                  <a:srgbClr val="595959"/>
                </a:solidFill>
                <a:latin typeface="Garamond"/>
              </a:rPr>
              <a:t>Cycle Position
structural</a:t>
            </a:r>
          </a:p>
        </p:txBody>
      </p:sp>
      <p:sp>
        <p:nvSpPr>
          <p:cNvPr id="13" name="Rectangle 12"/>
          <p:cNvSpPr/>
          <p:nvPr/>
        </p:nvSpPr>
        <p:spPr>
          <a:xfrm>
            <a:off x="6455664" y="749808"/>
            <a:ext cx="278892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749808"/>
            <a:ext cx="2788920"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804671"/>
            <a:ext cx="2788920" cy="553212"/>
          </a:xfrm>
          <a:prstGeom prst="rect">
            <a:avLst/>
          </a:prstGeom>
          <a:noFill/>
        </p:spPr>
        <p:txBody>
          <a:bodyPr wrap="square">
            <a:normAutofit/>
          </a:bodyPr>
          <a:lstStyle/>
          <a:p>
            <a:pPr algn="ctr"/>
            <a:r>
              <a:rPr sz="2600" b="1" i="0">
                <a:solidFill>
                  <a:srgbClr val="1C2C3A"/>
                </a:solidFill>
                <a:latin typeface="Garamond"/>
              </a:rPr>
              <a:t>N/A</a:t>
            </a:r>
          </a:p>
        </p:txBody>
      </p:sp>
      <p:sp>
        <p:nvSpPr>
          <p:cNvPr id="16" name="TextBox 15"/>
          <p:cNvSpPr txBox="1"/>
          <p:nvPr/>
        </p:nvSpPr>
        <p:spPr>
          <a:xfrm>
            <a:off x="6455664" y="1339596"/>
            <a:ext cx="2788920" cy="382219"/>
          </a:xfrm>
          <a:prstGeom prst="rect">
            <a:avLst/>
          </a:prstGeom>
          <a:noFill/>
        </p:spPr>
        <p:txBody>
          <a:bodyPr wrap="square">
            <a:normAutofit/>
          </a:bodyPr>
          <a:lstStyle/>
          <a:p>
            <a:pPr algn="ctr"/>
            <a:r>
              <a:rPr sz="800" b="0" i="0">
                <a:solidFill>
                  <a:srgbClr val="595959"/>
                </a:solidFill>
                <a:latin typeface="Garamond"/>
              </a:rPr>
              <a:t>Market Share Trend</a:t>
            </a:r>
          </a:p>
        </p:txBody>
      </p:sp>
      <p:sp>
        <p:nvSpPr>
          <p:cNvPr id="17" name="Rectangle 16"/>
          <p:cNvSpPr/>
          <p:nvPr/>
        </p:nvSpPr>
        <p:spPr>
          <a:xfrm>
            <a:off x="9363455" y="749808"/>
            <a:ext cx="2788920"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363455" y="749808"/>
            <a:ext cx="2788920"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804671"/>
            <a:ext cx="2788920" cy="553212"/>
          </a:xfrm>
          <a:prstGeom prst="rect">
            <a:avLst/>
          </a:prstGeom>
          <a:noFill/>
        </p:spPr>
        <p:txBody>
          <a:bodyPr wrap="square">
            <a:normAutofit/>
          </a:bodyPr>
          <a:lstStyle/>
          <a:p>
            <a:pPr algn="ctr"/>
            <a:r>
              <a:rPr sz="2600" b="1" i="0">
                <a:solidFill>
                  <a:srgbClr val="00AF50"/>
                </a:solidFill>
                <a:latin typeface="Garamond"/>
              </a:rPr>
              <a:t>LOW</a:t>
            </a:r>
          </a:p>
        </p:txBody>
      </p:sp>
      <p:sp>
        <p:nvSpPr>
          <p:cNvPr id="20" name="TextBox 19"/>
          <p:cNvSpPr txBox="1"/>
          <p:nvPr/>
        </p:nvSpPr>
        <p:spPr>
          <a:xfrm>
            <a:off x="9363455" y="1339596"/>
            <a:ext cx="2788920" cy="382219"/>
          </a:xfrm>
          <a:prstGeom prst="rect">
            <a:avLst/>
          </a:prstGeom>
          <a:noFill/>
        </p:spPr>
        <p:txBody>
          <a:bodyPr wrap="square">
            <a:normAutofit/>
          </a:bodyPr>
          <a:lstStyle/>
          <a:p>
            <a:pPr algn="ctr"/>
            <a:r>
              <a:rPr sz="800" b="0" i="0">
                <a:solidFill>
                  <a:srgbClr val="595959"/>
                </a:solidFill>
                <a:latin typeface="Garamond"/>
              </a:rPr>
              <a:t>Disruption Risk</a:t>
            </a:r>
          </a:p>
        </p:txBody>
      </p:sp>
      <p:sp>
        <p:nvSpPr>
          <p:cNvPr id="21" name="Rectangle 20"/>
          <p:cNvSpPr/>
          <p:nvPr/>
        </p:nvSpPr>
        <p:spPr>
          <a:xfrm>
            <a:off x="640080" y="1819656"/>
            <a:ext cx="11183112" cy="27432"/>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1883664"/>
            <a:ext cx="5486400" cy="237744"/>
          </a:xfrm>
          <a:prstGeom prst="rect">
            <a:avLst/>
          </a:prstGeom>
          <a:noFill/>
        </p:spPr>
        <p:txBody>
          <a:bodyPr wrap="square">
            <a:normAutofit/>
          </a:bodyPr>
          <a:lstStyle/>
          <a:p>
            <a:pPr algn="l"/>
            <a:r>
              <a:rPr sz="1400" b="1" i="0">
                <a:solidFill>
                  <a:srgbClr val="1C2C39"/>
                </a:solidFill>
                <a:latin typeface="Garamond"/>
              </a:rPr>
              <a:t>Structural Tailwinds</a:t>
            </a:r>
          </a:p>
        </p:txBody>
      </p:sp>
      <p:sp>
        <p:nvSpPr>
          <p:cNvPr id="23" name="Rectangle 22"/>
          <p:cNvSpPr/>
          <p:nvPr/>
        </p:nvSpPr>
        <p:spPr>
          <a:xfrm>
            <a:off x="640080" y="2121408"/>
            <a:ext cx="5486400"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2176272"/>
            <a:ext cx="5486400" cy="42062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2221991"/>
            <a:ext cx="5303520" cy="365760"/>
          </a:xfrm>
          <a:prstGeom prst="rect">
            <a:avLst/>
          </a:prstGeom>
          <a:noFill/>
        </p:spPr>
        <p:txBody>
          <a:bodyPr wrap="square">
            <a:normAutofit/>
          </a:bodyPr>
          <a:lstStyle/>
          <a:p>
            <a:pPr algn="l"/>
            <a:r>
              <a:rPr sz="1100" b="0" i="0">
                <a:solidFill>
                  <a:srgbClr val="000000"/>
                </a:solidFill>
                <a:latin typeface="Garamond"/>
              </a:rPr>
              <a:t>• N/A with quantification — 5G network build-out is a well-understood structural demand driver for macro tower leasing but is not…</a:t>
            </a:r>
          </a:p>
        </p:txBody>
      </p:sp>
      <p:sp>
        <p:nvSpPr>
          <p:cNvPr id="26" name="Rectangle 25"/>
          <p:cNvSpPr/>
          <p:nvPr/>
        </p:nvSpPr>
        <p:spPr>
          <a:xfrm>
            <a:off x="640080" y="2633472"/>
            <a:ext cx="5486400" cy="420624"/>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2679191"/>
            <a:ext cx="5303520" cy="365760"/>
          </a:xfrm>
          <a:prstGeom prst="rect">
            <a:avLst/>
          </a:prstGeom>
          <a:noFill/>
        </p:spPr>
        <p:txBody>
          <a:bodyPr wrap="square">
            <a:normAutofit/>
          </a:bodyPr>
          <a:lstStyle/>
          <a:p>
            <a:pPr algn="l"/>
            <a:r>
              <a:rPr sz="1100" b="0" i="0">
                <a:solidFill>
                  <a:srgbClr val="000000"/>
                </a:solidFill>
                <a:latin typeface="Garamond"/>
              </a:rPr>
              <a:t>• MD&amp;A qualitative confirmation: 'long-term and repetitive nature of our site leasing business will permit us to maintain a stabl…</a:t>
            </a:r>
          </a:p>
        </p:txBody>
      </p:sp>
      <p:sp>
        <p:nvSpPr>
          <p:cNvPr id="28" name="Rectangle 27"/>
          <p:cNvSpPr/>
          <p:nvPr/>
        </p:nvSpPr>
        <p:spPr>
          <a:xfrm>
            <a:off x="640080" y="3090672"/>
            <a:ext cx="5486400" cy="42062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136391"/>
            <a:ext cx="5303520" cy="365760"/>
          </a:xfrm>
          <a:prstGeom prst="rect">
            <a:avLst/>
          </a:prstGeom>
          <a:noFill/>
        </p:spPr>
        <p:txBody>
          <a:bodyPr wrap="square">
            <a:normAutofit/>
          </a:bodyPr>
          <a:lstStyle/>
          <a:p>
            <a:pPr algn="l"/>
            <a:r>
              <a:rPr sz="1100" b="0" i="0">
                <a:solidFill>
                  <a:srgbClr val="000000"/>
                </a:solidFill>
                <a:latin typeface="Garamond"/>
              </a:rPr>
              <a:t>• N/A — wireless data consumption CAGR not in provided data</a:t>
            </a:r>
          </a:p>
        </p:txBody>
      </p:sp>
      <p:sp>
        <p:nvSpPr>
          <p:cNvPr id="30" name="TextBox 29"/>
          <p:cNvSpPr txBox="1"/>
          <p:nvPr/>
        </p:nvSpPr>
        <p:spPr>
          <a:xfrm>
            <a:off x="6263640" y="1883664"/>
            <a:ext cx="6199632" cy="237744"/>
          </a:xfrm>
          <a:prstGeom prst="rect">
            <a:avLst/>
          </a:prstGeom>
          <a:noFill/>
        </p:spPr>
        <p:txBody>
          <a:bodyPr wrap="square">
            <a:normAutofit/>
          </a:bodyPr>
          <a:lstStyle/>
          <a:p>
            <a:pPr algn="l"/>
            <a:r>
              <a:rPr sz="1400" b="1" i="0">
                <a:solidFill>
                  <a:srgbClr val="00ACB6"/>
                </a:solidFill>
                <a:latin typeface="Garamond"/>
              </a:rPr>
              <a:t>Structural Headwinds</a:t>
            </a:r>
          </a:p>
        </p:txBody>
      </p:sp>
      <p:sp>
        <p:nvSpPr>
          <p:cNvPr id="31" name="Rectangle 30"/>
          <p:cNvSpPr/>
          <p:nvPr/>
        </p:nvSpPr>
        <p:spPr>
          <a:xfrm>
            <a:off x="6263640" y="2121408"/>
            <a:ext cx="6199632"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2176272"/>
            <a:ext cx="6199632" cy="420624"/>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3368" y="2221991"/>
            <a:ext cx="5980176" cy="365760"/>
          </a:xfrm>
          <a:prstGeom prst="rect">
            <a:avLst/>
          </a:prstGeom>
          <a:noFill/>
        </p:spPr>
        <p:txBody>
          <a:bodyPr wrap="square">
            <a:normAutofit/>
          </a:bodyPr>
          <a:lstStyle/>
          <a:p>
            <a:pPr algn="l"/>
            <a:r>
              <a:rPr sz="1100" b="0" i="0">
                <a:solidFill>
                  <a:srgbClr val="000000"/>
                </a:solidFill>
                <a:latin typeface="Garamond"/>
              </a:rPr>
              <a:t>• N/A with quantification — small cell densification as a partial macro tower substitute not quantified in provided filings</a:t>
            </a:r>
          </a:p>
        </p:txBody>
      </p:sp>
      <p:sp>
        <p:nvSpPr>
          <p:cNvPr id="34" name="Rectangle 33"/>
          <p:cNvSpPr/>
          <p:nvPr/>
        </p:nvSpPr>
        <p:spPr>
          <a:xfrm>
            <a:off x="6263640" y="2633472"/>
            <a:ext cx="6199632" cy="420624"/>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3368" y="2679191"/>
            <a:ext cx="5980176" cy="365760"/>
          </a:xfrm>
          <a:prstGeom prst="rect">
            <a:avLst/>
          </a:prstGeom>
          <a:noFill/>
        </p:spPr>
        <p:txBody>
          <a:bodyPr wrap="square">
            <a:normAutofit/>
          </a:bodyPr>
          <a:lstStyle/>
          <a:p>
            <a:pPr algn="l"/>
            <a:r>
              <a:rPr sz="1100" b="0" i="0">
                <a:solidFill>
                  <a:srgbClr val="000000"/>
                </a:solidFill>
                <a:latin typeface="Garamond"/>
              </a:rPr>
              <a:t>• International market exits (Philippines, Colombia, substantially Canada in FY2025) indicate that at least three geographic mark…</a:t>
            </a:r>
          </a:p>
        </p:txBody>
      </p:sp>
      <p:sp>
        <p:nvSpPr>
          <p:cNvPr id="36" name="Rectangle 35"/>
          <p:cNvSpPr/>
          <p:nvPr/>
        </p:nvSpPr>
        <p:spPr>
          <a:xfrm>
            <a:off x="640080" y="4507992"/>
            <a:ext cx="1118311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572000"/>
            <a:ext cx="9144000" cy="256032"/>
          </a:xfrm>
          <a:prstGeom prst="rect">
            <a:avLst/>
          </a:prstGeom>
          <a:noFill/>
        </p:spPr>
        <p:txBody>
          <a:bodyPr wrap="square">
            <a:normAutofit/>
          </a:bodyPr>
          <a:lstStyle/>
          <a:p>
            <a:pPr algn="l"/>
            <a:r>
              <a:rPr sz="1000" b="1" i="0">
                <a:solidFill>
                  <a:srgbClr val="1C2C3A"/>
                </a:solidFill>
                <a:latin typeface="Garamond"/>
              </a:rPr>
              <a:t>Porter's Five Forces   (1 = favorable for incumbents  ·  5 = unfavorable)</a:t>
            </a:r>
          </a:p>
        </p:txBody>
      </p:sp>
      <p:sp>
        <p:nvSpPr>
          <p:cNvPr id="38" name="Rectangle 37"/>
          <p:cNvSpPr/>
          <p:nvPr/>
        </p:nvSpPr>
        <p:spPr>
          <a:xfrm>
            <a:off x="640080" y="4864608"/>
            <a:ext cx="2240280" cy="73152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892040"/>
            <a:ext cx="2240280" cy="219456"/>
          </a:xfrm>
          <a:prstGeom prst="rect">
            <a:avLst/>
          </a:prstGeom>
          <a:noFill/>
        </p:spPr>
        <p:txBody>
          <a:bodyPr wrap="square">
            <a:normAutofit/>
          </a:bodyPr>
          <a:lstStyle/>
          <a:p>
            <a:pPr algn="ctr"/>
            <a:r>
              <a:rPr sz="900" b="1" i="0">
                <a:solidFill>
                  <a:srgbClr val="595959"/>
                </a:solidFill>
                <a:latin typeface="Garamond"/>
              </a:rPr>
              <a:t>Rivalry</a:t>
            </a:r>
          </a:p>
        </p:txBody>
      </p:sp>
      <p:sp>
        <p:nvSpPr>
          <p:cNvPr id="40" name="Rectangle 39"/>
          <p:cNvSpPr/>
          <p:nvPr/>
        </p:nvSpPr>
        <p:spPr>
          <a:xfrm>
            <a:off x="1417319" y="5120640"/>
            <a:ext cx="658368" cy="274320"/>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17319" y="5138928"/>
            <a:ext cx="658368" cy="256032"/>
          </a:xfrm>
          <a:prstGeom prst="rect">
            <a:avLst/>
          </a:prstGeom>
          <a:noFill/>
        </p:spPr>
        <p:txBody>
          <a:bodyPr wrap="square">
            <a:normAutofit/>
          </a:bodyPr>
          <a:lstStyle/>
          <a:p>
            <a:pPr algn="ctr"/>
            <a:r>
              <a:rPr sz="1200" b="1" i="0">
                <a:solidFill>
                  <a:srgbClr val="FFFFFF"/>
                </a:solidFill>
                <a:latin typeface="Garamond"/>
              </a:rPr>
              <a:t>2</a:t>
            </a:r>
          </a:p>
        </p:txBody>
      </p:sp>
      <p:sp>
        <p:nvSpPr>
          <p:cNvPr id="42" name="Rectangle 41"/>
          <p:cNvSpPr/>
          <p:nvPr/>
        </p:nvSpPr>
        <p:spPr>
          <a:xfrm>
            <a:off x="2953512" y="4864608"/>
            <a:ext cx="2240280" cy="73152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53512" y="4892040"/>
            <a:ext cx="2240280" cy="219456"/>
          </a:xfrm>
          <a:prstGeom prst="rect">
            <a:avLst/>
          </a:prstGeom>
          <a:noFill/>
        </p:spPr>
        <p:txBody>
          <a:bodyPr wrap="square">
            <a:normAutofit/>
          </a:bodyPr>
          <a:lstStyle/>
          <a:p>
            <a:pPr algn="ctr"/>
            <a:r>
              <a:rPr sz="900" b="1" i="0">
                <a:solidFill>
                  <a:srgbClr val="595959"/>
                </a:solidFill>
                <a:latin typeface="Garamond"/>
              </a:rPr>
              <a:t>New Entrants</a:t>
            </a:r>
          </a:p>
        </p:txBody>
      </p:sp>
      <p:sp>
        <p:nvSpPr>
          <p:cNvPr id="44" name="Rectangle 43"/>
          <p:cNvSpPr/>
          <p:nvPr/>
        </p:nvSpPr>
        <p:spPr>
          <a:xfrm>
            <a:off x="3730752" y="5120640"/>
            <a:ext cx="658368" cy="274320"/>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30752" y="5138928"/>
            <a:ext cx="658368" cy="256032"/>
          </a:xfrm>
          <a:prstGeom prst="rect">
            <a:avLst/>
          </a:prstGeom>
          <a:noFill/>
        </p:spPr>
        <p:txBody>
          <a:bodyPr wrap="square">
            <a:normAutofit/>
          </a:bodyPr>
          <a:lstStyle/>
          <a:p>
            <a:pPr algn="ctr"/>
            <a:r>
              <a:rPr sz="1200" b="1" i="0">
                <a:solidFill>
                  <a:srgbClr val="FFFFFF"/>
                </a:solidFill>
                <a:latin typeface="Garamond"/>
              </a:rPr>
              <a:t>1</a:t>
            </a:r>
          </a:p>
        </p:txBody>
      </p:sp>
      <p:sp>
        <p:nvSpPr>
          <p:cNvPr id="46" name="Rectangle 45"/>
          <p:cNvSpPr/>
          <p:nvPr/>
        </p:nvSpPr>
        <p:spPr>
          <a:xfrm>
            <a:off x="5266944" y="4864608"/>
            <a:ext cx="2240280" cy="73152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66944" y="4892040"/>
            <a:ext cx="2240280" cy="219456"/>
          </a:xfrm>
          <a:prstGeom prst="rect">
            <a:avLst/>
          </a:prstGeom>
          <a:noFill/>
        </p:spPr>
        <p:txBody>
          <a:bodyPr wrap="square">
            <a:normAutofit/>
          </a:bodyPr>
          <a:lstStyle/>
          <a:p>
            <a:pPr algn="ctr"/>
            <a:r>
              <a:rPr sz="900" b="1" i="0">
                <a:solidFill>
                  <a:srgbClr val="595959"/>
                </a:solidFill>
                <a:latin typeface="Garamond"/>
              </a:rPr>
              <a:t>Buyer Power</a:t>
            </a:r>
          </a:p>
        </p:txBody>
      </p:sp>
      <p:sp>
        <p:nvSpPr>
          <p:cNvPr id="48" name="Rectangle 47"/>
          <p:cNvSpPr/>
          <p:nvPr/>
        </p:nvSpPr>
        <p:spPr>
          <a:xfrm>
            <a:off x="6044184" y="5120640"/>
            <a:ext cx="658368" cy="27432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44184" y="5138928"/>
            <a:ext cx="658368" cy="256032"/>
          </a:xfrm>
          <a:prstGeom prst="rect">
            <a:avLst/>
          </a:prstGeom>
          <a:noFill/>
        </p:spPr>
        <p:txBody>
          <a:bodyPr wrap="square">
            <a:normAutofit/>
          </a:bodyPr>
          <a:lstStyle/>
          <a:p>
            <a:pPr algn="ctr"/>
            <a:r>
              <a:rPr sz="1200" b="1" i="0">
                <a:solidFill>
                  <a:srgbClr val="FFFFFF"/>
                </a:solidFill>
                <a:latin typeface="Garamond"/>
              </a:rPr>
              <a:t>3</a:t>
            </a:r>
          </a:p>
        </p:txBody>
      </p:sp>
      <p:sp>
        <p:nvSpPr>
          <p:cNvPr id="50" name="Rectangle 49"/>
          <p:cNvSpPr/>
          <p:nvPr/>
        </p:nvSpPr>
        <p:spPr>
          <a:xfrm>
            <a:off x="7580376" y="4864608"/>
            <a:ext cx="2240280" cy="73152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0376" y="4892040"/>
            <a:ext cx="2240280" cy="219456"/>
          </a:xfrm>
          <a:prstGeom prst="rect">
            <a:avLst/>
          </a:prstGeom>
          <a:noFill/>
        </p:spPr>
        <p:txBody>
          <a:bodyPr wrap="square">
            <a:normAutofit/>
          </a:bodyPr>
          <a:lstStyle/>
          <a:p>
            <a:pPr algn="ctr"/>
            <a:r>
              <a:rPr sz="900" b="1" i="0">
                <a:solidFill>
                  <a:srgbClr val="595959"/>
                </a:solidFill>
                <a:latin typeface="Garamond"/>
              </a:rPr>
              <a:t>Supplier Power</a:t>
            </a:r>
          </a:p>
        </p:txBody>
      </p:sp>
      <p:sp>
        <p:nvSpPr>
          <p:cNvPr id="52" name="Rectangle 51"/>
          <p:cNvSpPr/>
          <p:nvPr/>
        </p:nvSpPr>
        <p:spPr>
          <a:xfrm>
            <a:off x="8357616" y="5120640"/>
            <a:ext cx="658368" cy="274320"/>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57616" y="5138928"/>
            <a:ext cx="658368" cy="256032"/>
          </a:xfrm>
          <a:prstGeom prst="rect">
            <a:avLst/>
          </a:prstGeom>
          <a:noFill/>
        </p:spPr>
        <p:txBody>
          <a:bodyPr wrap="square">
            <a:normAutofit/>
          </a:bodyPr>
          <a:lstStyle/>
          <a:p>
            <a:pPr algn="ctr"/>
            <a:r>
              <a:rPr sz="1200" b="1" i="0">
                <a:solidFill>
                  <a:srgbClr val="FFFFFF"/>
                </a:solidFill>
                <a:latin typeface="Garamond"/>
              </a:rPr>
              <a:t>2</a:t>
            </a:r>
          </a:p>
        </p:txBody>
      </p:sp>
      <p:sp>
        <p:nvSpPr>
          <p:cNvPr id="54" name="Rectangle 53"/>
          <p:cNvSpPr/>
          <p:nvPr/>
        </p:nvSpPr>
        <p:spPr>
          <a:xfrm>
            <a:off x="9893808" y="4864608"/>
            <a:ext cx="2240280" cy="73152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93808" y="4892040"/>
            <a:ext cx="2240280" cy="219456"/>
          </a:xfrm>
          <a:prstGeom prst="rect">
            <a:avLst/>
          </a:prstGeom>
          <a:noFill/>
        </p:spPr>
        <p:txBody>
          <a:bodyPr wrap="square">
            <a:normAutofit/>
          </a:bodyPr>
          <a:lstStyle/>
          <a:p>
            <a:pPr algn="ctr"/>
            <a:r>
              <a:rPr sz="900" b="1" i="0">
                <a:solidFill>
                  <a:srgbClr val="595959"/>
                </a:solidFill>
                <a:latin typeface="Garamond"/>
              </a:rPr>
              <a:t>Substitutes</a:t>
            </a:r>
          </a:p>
        </p:txBody>
      </p:sp>
      <p:sp>
        <p:nvSpPr>
          <p:cNvPr id="56" name="Rectangle 55"/>
          <p:cNvSpPr/>
          <p:nvPr/>
        </p:nvSpPr>
        <p:spPr>
          <a:xfrm>
            <a:off x="10671048" y="5120640"/>
            <a:ext cx="658368" cy="274320"/>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71048" y="5138928"/>
            <a:ext cx="658368" cy="256032"/>
          </a:xfrm>
          <a:prstGeom prst="rect">
            <a:avLst/>
          </a:prstGeom>
          <a:noFill/>
        </p:spPr>
        <p:txBody>
          <a:bodyPr wrap="square">
            <a:normAutofit/>
          </a:bodyPr>
          <a:lstStyle/>
          <a:p>
            <a:pPr algn="ctr"/>
            <a:r>
              <a:rPr sz="1200" b="1" i="0">
                <a:solidFill>
                  <a:srgbClr val="FFFFFF"/>
                </a:solidFill>
                <a:latin typeface="Garamond"/>
              </a:rPr>
              <a:t>2</a:t>
            </a:r>
          </a:p>
        </p:txBody>
      </p:sp>
      <p:sp>
        <p:nvSpPr>
          <p:cNvPr id="58" name="TextBox 57"/>
          <p:cNvSpPr txBox="1"/>
          <p:nvPr/>
        </p:nvSpPr>
        <p:spPr>
          <a:xfrm>
            <a:off x="640080" y="5669280"/>
            <a:ext cx="11183112" cy="475488"/>
          </a:xfrm>
          <a:prstGeom prst="rect">
            <a:avLst/>
          </a:prstGeom>
          <a:noFill/>
        </p:spPr>
        <p:txBody>
          <a:bodyPr wrap="square">
            <a:normAutofit/>
          </a:bodyPr>
          <a:lstStyle/>
          <a:p>
            <a:pPr algn="l"/>
            <a:r>
              <a:rPr sz="900" b="0" i="1">
                <a:solidFill>
                  <a:srgbClr val="595959"/>
                </a:solidFill>
                <a:latin typeface="Garamond"/>
              </a:rPr>
              <a:t>The independent wireless tower leasing industry is structurally among the most attractive in infrastructure: prohibitive entry barriers, long-term contracted recurring revenue, fragmented supplier base, rational oligo…</a:t>
            </a:r>
          </a:p>
        </p:txBody>
      </p:sp>
      <p:sp>
        <p:nvSpPr>
          <p:cNvPr id="59" name="TextBox 58"/>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Market View vs. Our View</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CapIQ, Analyst Research, Bloomberg, SEC Filings</a:t>
            </a:r>
          </a:p>
        </p:txBody>
      </p:sp>
      <p:sp>
        <p:nvSpPr>
          <p:cNvPr id="5" name="Rectangle 4"/>
          <p:cNvSpPr/>
          <p:nvPr/>
        </p:nvSpPr>
        <p:spPr>
          <a:xfrm>
            <a:off x="640080" y="749808"/>
            <a:ext cx="11183112" cy="530352"/>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04672"/>
            <a:ext cx="10972800" cy="274320"/>
          </a:xfrm>
          <a:prstGeom prst="rect">
            <a:avLst/>
          </a:prstGeom>
          <a:noFill/>
        </p:spPr>
        <p:txBody>
          <a:bodyPr wrap="square">
            <a:normAutofit/>
          </a:bodyPr>
          <a:lstStyle/>
          <a:p>
            <a:pPr algn="ctr"/>
            <a:r>
              <a:rPr sz="1100" b="1" i="0">
                <a:solidFill>
                  <a:srgbClr val="1C2C3A"/>
                </a:solidFill>
                <a:latin typeface="Garamond"/>
              </a:rPr>
              <a:t>The market misprices this name by applying the wrong analogy — our thesis exploits that gap.</a:t>
            </a:r>
          </a:p>
        </p:txBody>
      </p:sp>
      <p:sp>
        <p:nvSpPr>
          <p:cNvPr id="7" name="TextBox 6"/>
          <p:cNvSpPr txBox="1"/>
          <p:nvPr/>
        </p:nvSpPr>
        <p:spPr>
          <a:xfrm>
            <a:off x="777240" y="1060704"/>
            <a:ext cx="10972800" cy="201168"/>
          </a:xfrm>
          <a:prstGeom prst="rect">
            <a:avLst/>
          </a:prstGeom>
          <a:noFill/>
        </p:spPr>
        <p:txBody>
          <a:bodyPr wrap="square">
            <a:normAutofit/>
          </a:bodyPr>
          <a:lstStyle/>
          <a:p>
            <a:pPr algn="ctr"/>
            <a:r>
              <a:rPr sz="900" b="0" i="1">
                <a:solidFill>
                  <a:srgbClr val="595959"/>
                </a:solidFill>
                <a:latin typeface="Garamond"/>
              </a:rPr>
              <a:t>Recent: Truist Securities → init  |  Bernstein → init  |  Scotiabank → main  |  Morgan Stanley → main</a:t>
            </a:r>
          </a:p>
        </p:txBody>
      </p:sp>
      <p:sp>
        <p:nvSpPr>
          <p:cNvPr id="8" name="TextBox 7"/>
          <p:cNvSpPr txBox="1"/>
          <p:nvPr/>
        </p:nvSpPr>
        <p:spPr>
          <a:xfrm>
            <a:off x="640080" y="1298448"/>
            <a:ext cx="5504688" cy="274320"/>
          </a:xfrm>
          <a:prstGeom prst="rect">
            <a:avLst/>
          </a:prstGeom>
          <a:noFill/>
        </p:spPr>
        <p:txBody>
          <a:bodyPr wrap="square">
            <a:normAutofit/>
          </a:bodyPr>
          <a:lstStyle/>
          <a:p>
            <a:pPr algn="l"/>
            <a:r>
              <a:rPr sz="1400" b="1" i="0">
                <a:solidFill>
                  <a:srgbClr val="1C2C39"/>
                </a:solidFill>
                <a:latin typeface="Garamond"/>
              </a:rPr>
              <a:t>Market View / Street Concern</a:t>
            </a:r>
          </a:p>
        </p:txBody>
      </p:sp>
      <p:sp>
        <p:nvSpPr>
          <p:cNvPr id="9" name="Rectangle 8"/>
          <p:cNvSpPr/>
          <p:nvPr/>
        </p:nvSpPr>
        <p:spPr>
          <a:xfrm>
            <a:off x="640080" y="1554480"/>
            <a:ext cx="5504688"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98448"/>
            <a:ext cx="5504688" cy="274320"/>
          </a:xfrm>
          <a:prstGeom prst="rect">
            <a:avLst/>
          </a:prstGeom>
          <a:noFill/>
        </p:spPr>
        <p:txBody>
          <a:bodyPr wrap="square">
            <a:normAutofit/>
          </a:bodyPr>
          <a:lstStyle/>
          <a:p>
            <a:pPr algn="l"/>
            <a:r>
              <a:rPr sz="1400" b="1" i="0">
                <a:solidFill>
                  <a:srgbClr val="00ACB6"/>
                </a:solidFill>
                <a:latin typeface="Garamond"/>
              </a:rPr>
              <a:t>Our View</a:t>
            </a:r>
          </a:p>
        </p:txBody>
      </p:sp>
      <p:sp>
        <p:nvSpPr>
          <p:cNvPr id="11" name="Rectangle 10"/>
          <p:cNvSpPr/>
          <p:nvPr/>
        </p:nvSpPr>
        <p:spPr>
          <a:xfrm>
            <a:off x="6382512" y="1554480"/>
            <a:ext cx="5504688"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645919"/>
            <a:ext cx="5504688" cy="2098548"/>
          </a:xfrm>
          <a:prstGeom prst="rect">
            <a:avLst/>
          </a:prstGeom>
          <a:solidFill>
            <a:srgbClr val="FA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645919"/>
            <a:ext cx="54864" cy="209854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700784"/>
            <a:ext cx="5321807" cy="237744"/>
          </a:xfrm>
          <a:prstGeom prst="rect">
            <a:avLst/>
          </a:prstGeom>
          <a:noFill/>
        </p:spPr>
        <p:txBody>
          <a:bodyPr wrap="square">
            <a:normAutofit/>
          </a:bodyPr>
          <a:lstStyle/>
          <a:p>
            <a:pPr algn="l"/>
            <a:r>
              <a:rPr sz="1000" b="1" i="0">
                <a:solidFill>
                  <a:srgbClr val="1C2C3A"/>
                </a:solidFill>
                <a:latin typeface="Garamond"/>
              </a:rPr>
              <a:t>Truist Securities (Buy→Hold, 2026-03-31):</a:t>
            </a:r>
          </a:p>
        </p:txBody>
      </p:sp>
      <p:sp>
        <p:nvSpPr>
          <p:cNvPr id="15" name="TextBox 14"/>
          <p:cNvSpPr txBox="1"/>
          <p:nvPr/>
        </p:nvSpPr>
        <p:spPr>
          <a:xfrm>
            <a:off x="749808" y="1956815"/>
            <a:ext cx="5303520" cy="1732788"/>
          </a:xfrm>
          <a:prstGeom prst="rect">
            <a:avLst/>
          </a:prstGeom>
          <a:noFill/>
        </p:spPr>
        <p:txBody>
          <a:bodyPr wrap="square">
            <a:normAutofit/>
          </a:bodyPr>
          <a:lstStyle/>
          <a:p>
            <a:pPr algn="l"/>
            <a:r>
              <a:rPr sz="1100" b="0" i="1">
                <a:solidFill>
                  <a:srgbClr val="000000"/>
                </a:solidFill>
                <a:latin typeface="Garamond"/>
              </a:rPr>
              <a:t>Downgraded to Hold, implying fair value near $204-222; part of 12/20 Hold cohort at mean PT ~$222</a:t>
            </a:r>
          </a:p>
        </p:txBody>
      </p:sp>
      <p:sp>
        <p:nvSpPr>
          <p:cNvPr id="16" name="Rectangle 15"/>
          <p:cNvSpPr/>
          <p:nvPr/>
        </p:nvSpPr>
        <p:spPr>
          <a:xfrm>
            <a:off x="6382512" y="1645919"/>
            <a:ext cx="5504688" cy="209854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82512" y="1645919"/>
            <a:ext cx="54864" cy="209854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700784"/>
            <a:ext cx="5321807" cy="237744"/>
          </a:xfrm>
          <a:prstGeom prst="rect">
            <a:avLst/>
          </a:prstGeom>
          <a:noFill/>
        </p:spPr>
        <p:txBody>
          <a:bodyPr wrap="square">
            <a:normAutofit/>
          </a:bodyPr>
          <a:lstStyle/>
          <a:p>
            <a:pPr algn="l"/>
            <a:r>
              <a:rPr sz="1000" b="1" i="0">
                <a:solidFill>
                  <a:srgbClr val="00ACB6"/>
                </a:solidFill>
                <a:latin typeface="Garamond"/>
              </a:rPr>
              <a:t>Our View:</a:t>
            </a:r>
          </a:p>
        </p:txBody>
      </p:sp>
      <p:sp>
        <p:nvSpPr>
          <p:cNvPr id="19" name="TextBox 18"/>
          <p:cNvSpPr txBox="1"/>
          <p:nvPr/>
        </p:nvSpPr>
        <p:spPr>
          <a:xfrm>
            <a:off x="6492240" y="1956815"/>
            <a:ext cx="5303520" cy="1732788"/>
          </a:xfrm>
          <a:prstGeom prst="rect">
            <a:avLst/>
          </a:prstGeom>
          <a:noFill/>
        </p:spPr>
        <p:txBody>
          <a:bodyPr wrap="square">
            <a:normAutofit/>
          </a:bodyPr>
          <a:lstStyle/>
          <a:p>
            <a:pPr algn="l"/>
            <a:r>
              <a:rPr sz="1100" b="0" i="0">
                <a:solidFill>
                  <a:srgbClr val="000000"/>
                </a:solidFill>
                <a:latin typeface="Garamond"/>
              </a:rPr>
              <a:t>We agree Hold is right but for a different reason: the 370bps margin expansion embedded in $1,929mm consensus EBITDA is not validated by the 0.2x FY2025 operating leverage — even the mean PT of $222 overstates fair value if margins trail consensus</a:t>
            </a:r>
          </a:p>
        </p:txBody>
      </p:sp>
      <p:sp>
        <p:nvSpPr>
          <p:cNvPr id="20" name="Rectangle 19"/>
          <p:cNvSpPr/>
          <p:nvPr/>
        </p:nvSpPr>
        <p:spPr>
          <a:xfrm>
            <a:off x="640080" y="3817620"/>
            <a:ext cx="5504688" cy="2098548"/>
          </a:xfrm>
          <a:prstGeom prst="rect">
            <a:avLst/>
          </a:prstGeom>
          <a:solidFill>
            <a:srgbClr val="F5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817620"/>
            <a:ext cx="54864" cy="209854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872483"/>
            <a:ext cx="5321807" cy="237744"/>
          </a:xfrm>
          <a:prstGeom prst="rect">
            <a:avLst/>
          </a:prstGeom>
          <a:noFill/>
        </p:spPr>
        <p:txBody>
          <a:bodyPr wrap="square">
            <a:normAutofit/>
          </a:bodyPr>
          <a:lstStyle/>
          <a:p>
            <a:pPr algn="l"/>
            <a:r>
              <a:rPr sz="1000" b="1" i="0">
                <a:solidFill>
                  <a:srgbClr val="1C2C3A"/>
                </a:solidFill>
                <a:latin typeface="Garamond"/>
              </a:rPr>
              <a:t>RBC Capital (Outperform maintained, 2026-03-02):</a:t>
            </a:r>
          </a:p>
        </p:txBody>
      </p:sp>
      <p:sp>
        <p:nvSpPr>
          <p:cNvPr id="23" name="TextBox 22"/>
          <p:cNvSpPr txBox="1"/>
          <p:nvPr/>
        </p:nvSpPr>
        <p:spPr>
          <a:xfrm>
            <a:off x="749808" y="4128515"/>
            <a:ext cx="5303520" cy="1732788"/>
          </a:xfrm>
          <a:prstGeom prst="rect">
            <a:avLst/>
          </a:prstGeom>
          <a:noFill/>
        </p:spPr>
        <p:txBody>
          <a:bodyPr wrap="square">
            <a:normAutofit/>
          </a:bodyPr>
          <a:lstStyle/>
          <a:p>
            <a:pPr algn="l"/>
            <a:r>
              <a:rPr sz="1100" b="0" i="1">
                <a:solidFill>
                  <a:srgbClr val="000000"/>
                </a:solidFill>
                <a:latin typeface="Garamond"/>
              </a:rPr>
              <a:t>Maintained Outperform — bullish on churn clearing and AFFO recovery cycle; implied PT in $230-250 range based on distribution</a:t>
            </a:r>
          </a:p>
        </p:txBody>
      </p:sp>
      <p:sp>
        <p:nvSpPr>
          <p:cNvPr id="24" name="Rectangle 23"/>
          <p:cNvSpPr/>
          <p:nvPr/>
        </p:nvSpPr>
        <p:spPr>
          <a:xfrm>
            <a:off x="6382512" y="3817620"/>
            <a:ext cx="5504688" cy="2098548"/>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82512" y="3817620"/>
            <a:ext cx="54864" cy="209854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872483"/>
            <a:ext cx="5321807" cy="237744"/>
          </a:xfrm>
          <a:prstGeom prst="rect">
            <a:avLst/>
          </a:prstGeom>
          <a:noFill/>
        </p:spPr>
        <p:txBody>
          <a:bodyPr wrap="square">
            <a:normAutofit/>
          </a:bodyPr>
          <a:lstStyle/>
          <a:p>
            <a:pPr algn="l"/>
            <a:r>
              <a:rPr sz="1000" b="1" i="0">
                <a:solidFill>
                  <a:srgbClr val="00ACB6"/>
                </a:solidFill>
                <a:latin typeface="Garamond"/>
              </a:rPr>
              <a:t>Our View:</a:t>
            </a:r>
          </a:p>
        </p:txBody>
      </p:sp>
      <p:sp>
        <p:nvSpPr>
          <p:cNvPr id="27" name="TextBox 26"/>
          <p:cNvSpPr txBox="1"/>
          <p:nvPr/>
        </p:nvSpPr>
        <p:spPr>
          <a:xfrm>
            <a:off x="6492240" y="4128515"/>
            <a:ext cx="5303520" cy="1732788"/>
          </a:xfrm>
          <a:prstGeom prst="rect">
            <a:avLst/>
          </a:prstGeom>
          <a:noFill/>
        </p:spPr>
        <p:txBody>
          <a:bodyPr wrap="square">
            <a:normAutofit/>
          </a:bodyPr>
          <a:lstStyle/>
          <a:p>
            <a:pPr algn="l"/>
            <a:r>
              <a:rPr sz="1100" b="0" i="0">
                <a:solidFill>
                  <a:srgbClr val="000000"/>
                </a:solidFill>
                <a:latin typeface="Garamond"/>
              </a:rPr>
              <a:t>RBC's bull case ignores that 6.9x leverage with 3.0x coverage means a $90mm EBITDA miss destroys $1.7B of EV; the margin for error on an Outperform at 19x is structurally thin</a:t>
            </a:r>
          </a:p>
        </p:txBody>
      </p:sp>
      <p:sp>
        <p:nvSpPr>
          <p:cNvPr id="28" name="Rectangle 27"/>
          <p:cNvSpPr/>
          <p:nvPr/>
        </p:nvSpPr>
        <p:spPr>
          <a:xfrm>
            <a:off x="640080" y="6035040"/>
            <a:ext cx="11183112" cy="45720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6071616"/>
            <a:ext cx="10972800" cy="365760"/>
          </a:xfrm>
          <a:prstGeom prst="rect">
            <a:avLst/>
          </a:prstGeom>
          <a:noFill/>
        </p:spPr>
        <p:txBody>
          <a:bodyPr wrap="square">
            <a:normAutofit/>
          </a:bodyPr>
          <a:lstStyle/>
          <a:p>
            <a:pPr algn="ctr"/>
            <a:r>
              <a:rPr sz="1100" b="1" i="0">
                <a:solidFill>
                  <a:srgbClr val="FFFFFF"/>
                </a:solidFill>
                <a:latin typeface="Garamond"/>
              </a:rPr>
              <a:t>CONSENSUS ASSUMES 68.0% EBITDA margin FY2026 ($1,929mm on $2,838mm rev). OUR VIEW: 0.2x FY2025 operating leverage implies $1,840mm — a $89mm miss — making current 19x EV/EBITDA fairly priced at best.</a:t>
            </a:r>
          </a:p>
        </p:txBody>
      </p:sp>
      <p:sp>
        <p:nvSpPr>
          <p:cNvPr id="30" name="TextBox 29"/>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Valuation</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CapIQ, LSEG, DCF Analysis, Comparable Company Analysis</a:t>
            </a:r>
          </a:p>
        </p:txBody>
      </p:sp>
      <p:sp>
        <p:nvSpPr>
          <p:cNvPr id="5" name="Rectangle 4"/>
          <p:cNvSpPr/>
          <p:nvPr/>
        </p:nvSpPr>
        <p:spPr>
          <a:xfrm>
            <a:off x="640080" y="749808"/>
            <a:ext cx="3566160" cy="31089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786384"/>
            <a:ext cx="3566160" cy="237744"/>
          </a:xfrm>
          <a:prstGeom prst="rect">
            <a:avLst/>
          </a:prstGeom>
          <a:noFill/>
        </p:spPr>
        <p:txBody>
          <a:bodyPr wrap="square">
            <a:normAutofit/>
          </a:bodyPr>
          <a:lstStyle/>
          <a:p>
            <a:pPr algn="ctr"/>
            <a:r>
              <a:rPr sz="1100" b="1" i="0">
                <a:solidFill>
                  <a:srgbClr val="FFFFFF"/>
                </a:solidFill>
                <a:latin typeface="Garamond"/>
              </a:rPr>
              <a:t>BEAR  (25%)</a:t>
            </a:r>
          </a:p>
        </p:txBody>
      </p:sp>
      <p:sp>
        <p:nvSpPr>
          <p:cNvPr id="7" name="Rectangle 6"/>
          <p:cNvSpPr/>
          <p:nvPr/>
        </p:nvSpPr>
        <p:spPr>
          <a:xfrm>
            <a:off x="640080" y="1078992"/>
            <a:ext cx="3566160" cy="8046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15568"/>
            <a:ext cx="3566160" cy="493776"/>
          </a:xfrm>
          <a:prstGeom prst="rect">
            <a:avLst/>
          </a:prstGeom>
          <a:noFill/>
        </p:spPr>
        <p:txBody>
          <a:bodyPr wrap="square">
            <a:normAutofit/>
          </a:bodyPr>
          <a:lstStyle/>
          <a:p>
            <a:pPr algn="ctr"/>
            <a:r>
              <a:rPr sz="2800" b="1" i="0">
                <a:solidFill>
                  <a:srgbClr val="C00000"/>
                </a:solidFill>
                <a:latin typeface="Garamond"/>
              </a:rPr>
              <a:t>See Note</a:t>
            </a:r>
          </a:p>
        </p:txBody>
      </p:sp>
      <p:sp>
        <p:nvSpPr>
          <p:cNvPr id="9" name="TextBox 8"/>
          <p:cNvSpPr txBox="1"/>
          <p:nvPr/>
        </p:nvSpPr>
        <p:spPr>
          <a:xfrm>
            <a:off x="640080" y="1572768"/>
            <a:ext cx="3566160" cy="201168"/>
          </a:xfrm>
          <a:prstGeom prst="rect">
            <a:avLst/>
          </a:prstGeom>
          <a:noFill/>
        </p:spPr>
        <p:txBody>
          <a:bodyPr wrap="square">
            <a:normAutofit/>
          </a:bodyPr>
          <a:lstStyle/>
          <a:p>
            <a:pPr algn="ctr"/>
            <a:r>
              <a:rPr sz="900" b="0" i="0">
                <a:solidFill>
                  <a:srgbClr val="595959"/>
                </a:solidFill>
                <a:latin typeface="Garamond"/>
              </a:rPr>
              <a:t/>
            </a:r>
          </a:p>
        </p:txBody>
      </p:sp>
      <p:sp>
        <p:nvSpPr>
          <p:cNvPr id="10" name="Rectangle 9"/>
          <p:cNvSpPr/>
          <p:nvPr/>
        </p:nvSpPr>
        <p:spPr>
          <a:xfrm>
            <a:off x="4352544" y="749808"/>
            <a:ext cx="3566160" cy="31089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2544" y="786384"/>
            <a:ext cx="3566160" cy="237744"/>
          </a:xfrm>
          <a:prstGeom prst="rect">
            <a:avLst/>
          </a:prstGeom>
          <a:noFill/>
        </p:spPr>
        <p:txBody>
          <a:bodyPr wrap="square">
            <a:normAutofit/>
          </a:bodyPr>
          <a:lstStyle/>
          <a:p>
            <a:pPr algn="ctr"/>
            <a:r>
              <a:rPr sz="1100" b="1" i="0">
                <a:solidFill>
                  <a:srgbClr val="FFFFFF"/>
                </a:solidFill>
                <a:latin typeface="Garamond"/>
              </a:rPr>
              <a:t>BASE  (50%)</a:t>
            </a:r>
          </a:p>
        </p:txBody>
      </p:sp>
      <p:sp>
        <p:nvSpPr>
          <p:cNvPr id="12" name="Rectangle 11"/>
          <p:cNvSpPr/>
          <p:nvPr/>
        </p:nvSpPr>
        <p:spPr>
          <a:xfrm>
            <a:off x="4352544" y="1078992"/>
            <a:ext cx="3566160" cy="8046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1115568"/>
            <a:ext cx="3566160" cy="493776"/>
          </a:xfrm>
          <a:prstGeom prst="rect">
            <a:avLst/>
          </a:prstGeom>
          <a:noFill/>
        </p:spPr>
        <p:txBody>
          <a:bodyPr wrap="square">
            <a:normAutofit/>
          </a:bodyPr>
          <a:lstStyle/>
          <a:p>
            <a:pPr algn="ctr"/>
            <a:r>
              <a:rPr sz="2800" b="1" i="0">
                <a:solidFill>
                  <a:srgbClr val="1C2C39"/>
                </a:solidFill>
                <a:latin typeface="Garamond"/>
              </a:rPr>
              <a:t>$191.81</a:t>
            </a:r>
          </a:p>
        </p:txBody>
      </p:sp>
      <p:sp>
        <p:nvSpPr>
          <p:cNvPr id="14" name="TextBox 13"/>
          <p:cNvSpPr txBox="1"/>
          <p:nvPr/>
        </p:nvSpPr>
        <p:spPr>
          <a:xfrm>
            <a:off x="4352544" y="1572768"/>
            <a:ext cx="3566160" cy="201168"/>
          </a:xfrm>
          <a:prstGeom prst="rect">
            <a:avLst/>
          </a:prstGeom>
          <a:noFill/>
        </p:spPr>
        <p:txBody>
          <a:bodyPr wrap="square">
            <a:normAutofit/>
          </a:bodyPr>
          <a:lstStyle/>
          <a:p>
            <a:pPr algn="ctr"/>
            <a:r>
              <a:rPr sz="900" b="0" i="0">
                <a:solidFill>
                  <a:srgbClr val="595959"/>
                </a:solidFill>
                <a:latin typeface="Garamond"/>
              </a:rPr>
              <a:t>TV: 83% of EV  |  EV: $32.5B</a:t>
            </a:r>
          </a:p>
        </p:txBody>
      </p:sp>
      <p:sp>
        <p:nvSpPr>
          <p:cNvPr id="15" name="Rectangle 14"/>
          <p:cNvSpPr/>
          <p:nvPr/>
        </p:nvSpPr>
        <p:spPr>
          <a:xfrm>
            <a:off x="8065008" y="749808"/>
            <a:ext cx="3566160" cy="310896"/>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5008" y="786384"/>
            <a:ext cx="3566160" cy="237744"/>
          </a:xfrm>
          <a:prstGeom prst="rect">
            <a:avLst/>
          </a:prstGeom>
          <a:noFill/>
        </p:spPr>
        <p:txBody>
          <a:bodyPr wrap="square">
            <a:normAutofit/>
          </a:bodyPr>
          <a:lstStyle/>
          <a:p>
            <a:pPr algn="ctr"/>
            <a:r>
              <a:rPr sz="1100" b="1" i="0">
                <a:solidFill>
                  <a:srgbClr val="FFFFFF"/>
                </a:solidFill>
                <a:latin typeface="Garamond"/>
              </a:rPr>
              <a:t>BULL  (25%)</a:t>
            </a:r>
          </a:p>
        </p:txBody>
      </p:sp>
      <p:sp>
        <p:nvSpPr>
          <p:cNvPr id="17" name="Rectangle 16"/>
          <p:cNvSpPr/>
          <p:nvPr/>
        </p:nvSpPr>
        <p:spPr>
          <a:xfrm>
            <a:off x="8065008" y="1078992"/>
            <a:ext cx="3566160" cy="8046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8" y="1115568"/>
            <a:ext cx="3566160" cy="493776"/>
          </a:xfrm>
          <a:prstGeom prst="rect">
            <a:avLst/>
          </a:prstGeom>
          <a:noFill/>
        </p:spPr>
        <p:txBody>
          <a:bodyPr wrap="square">
            <a:normAutofit/>
          </a:bodyPr>
          <a:lstStyle/>
          <a:p>
            <a:pPr algn="ctr"/>
            <a:r>
              <a:rPr sz="2800" b="1" i="0">
                <a:solidFill>
                  <a:srgbClr val="00AF50"/>
                </a:solidFill>
                <a:latin typeface="Garamond"/>
              </a:rPr>
              <a:t>See Note</a:t>
            </a:r>
          </a:p>
        </p:txBody>
      </p:sp>
      <p:sp>
        <p:nvSpPr>
          <p:cNvPr id="19" name="TextBox 18"/>
          <p:cNvSpPr txBox="1"/>
          <p:nvPr/>
        </p:nvSpPr>
        <p:spPr>
          <a:xfrm>
            <a:off x="8065008" y="1572768"/>
            <a:ext cx="3566160" cy="201168"/>
          </a:xfrm>
          <a:prstGeom prst="rect">
            <a:avLst/>
          </a:prstGeom>
          <a:noFill/>
        </p:spPr>
        <p:txBody>
          <a:bodyPr wrap="square">
            <a:normAutofit/>
          </a:bodyPr>
          <a:lstStyle/>
          <a:p>
            <a:pPr algn="ctr"/>
            <a:r>
              <a:rPr sz="900" b="0" i="0">
                <a:solidFill>
                  <a:srgbClr val="595959"/>
                </a:solidFill>
                <a:latin typeface="Garamond"/>
              </a:rPr>
              <a:t/>
            </a:r>
          </a:p>
        </p:txBody>
      </p:sp>
      <p:sp>
        <p:nvSpPr>
          <p:cNvPr id="20" name="TextBox 19"/>
          <p:cNvSpPr txBox="1"/>
          <p:nvPr/>
        </p:nvSpPr>
        <p:spPr>
          <a:xfrm>
            <a:off x="640080" y="1810512"/>
            <a:ext cx="11183112" cy="201168"/>
          </a:xfrm>
          <a:prstGeom prst="rect">
            <a:avLst/>
          </a:prstGeom>
          <a:noFill/>
        </p:spPr>
        <p:txBody>
          <a:bodyPr wrap="square">
            <a:normAutofit/>
          </a:bodyPr>
          <a:lstStyle/>
          <a:p>
            <a:pPr algn="ctr"/>
            <a:r>
              <a:rPr sz="900" b="0" i="0">
                <a:solidFill>
                  <a:srgbClr val="595959"/>
                </a:solidFill>
                <a:latin typeface="Garamond"/>
              </a:rPr>
              <a:t>WACC: 6.7%  ·  Rf: 4.25%  ·  β: 0.83</a:t>
            </a:r>
          </a:p>
        </p:txBody>
      </p:sp>
      <p:sp>
        <p:nvSpPr>
          <p:cNvPr id="21" name="Rectangle 20"/>
          <p:cNvSpPr/>
          <p:nvPr/>
        </p:nvSpPr>
        <p:spPr>
          <a:xfrm>
            <a:off x="640080" y="2048256"/>
            <a:ext cx="1118311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103120"/>
            <a:ext cx="6858000" cy="237744"/>
          </a:xfrm>
          <a:prstGeom prst="rect">
            <a:avLst/>
          </a:prstGeom>
          <a:noFill/>
        </p:spPr>
        <p:txBody>
          <a:bodyPr wrap="square">
            <a:normAutofit/>
          </a:bodyPr>
          <a:lstStyle/>
          <a:p>
            <a:pPr algn="l"/>
            <a:r>
              <a:rPr sz="1400" b="1" i="0">
                <a:solidFill>
                  <a:srgbClr val="1C2C39"/>
                </a:solidFill>
                <a:latin typeface="Garamond"/>
              </a:rPr>
              <a:t>DCF Model — Year-by-Year  (Base Case)</a:t>
            </a:r>
          </a:p>
        </p:txBody>
      </p:sp>
      <p:sp>
        <p:nvSpPr>
          <p:cNvPr id="23" name="Rectangle 22"/>
          <p:cNvSpPr/>
          <p:nvPr/>
        </p:nvSpPr>
        <p:spPr>
          <a:xfrm>
            <a:off x="640080" y="2340863"/>
            <a:ext cx="6858000"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640080" y="2377440"/>
          <a:ext cx="6857997" cy="2194560"/>
        </p:xfrm>
        <a:graphic>
          <a:graphicData uri="http://schemas.openxmlformats.org/drawingml/2006/table">
            <a:tbl>
              <a:tblPr firstRow="1" bandRow="1">
                <a:tableStyleId>{5C22544A-7EE6-4342-B048-85BDC9FD1C3A}</a:tableStyleId>
              </a:tblPr>
              <a:tblGrid>
                <a:gridCol w="738553"/>
                <a:gridCol w="1371600"/>
                <a:gridCol w="1160584"/>
                <a:gridCol w="1371600"/>
                <a:gridCol w="1160584"/>
                <a:gridCol w="1055076"/>
              </a:tblGrid>
              <a:tr h="313508">
                <a:tc>
                  <a:txBody>
                    <a:bodyPr/>
                    <a:lstStyle/>
                    <a:p>
                      <a:pPr algn="ctr"/>
                      <a:r>
                        <a:rPr sz="900" b="1">
                          <a:solidFill>
                            <a:srgbClr val="FFFFFF"/>
                          </a:solidFill>
                          <a:latin typeface="Garamond"/>
                        </a:rPr>
                        <a:t>Year</a:t>
                      </a:r>
                    </a:p>
                  </a:txBody>
                  <a:tcPr>
                    <a:solidFill>
                      <a:srgbClr val="1C2C39"/>
                    </a:solidFill>
                  </a:tcPr>
                </a:tc>
                <a:tc>
                  <a:txBody>
                    <a:bodyPr/>
                    <a:lstStyle/>
                    <a:p>
                      <a:pPr algn="ctr"/>
                      <a:r>
                        <a:rPr sz="900" b="1">
                          <a:solidFill>
                            <a:srgbClr val="FFFFFF"/>
                          </a:solidFill>
                          <a:latin typeface="Garamond"/>
                        </a:rPr>
                        <a:t>Revenue ($M)</a:t>
                      </a:r>
                    </a:p>
                  </a:txBody>
                  <a:tcPr>
                    <a:solidFill>
                      <a:srgbClr val="1C2C39"/>
                    </a:solidFill>
                  </a:tcPr>
                </a:tc>
                <a:tc>
                  <a:txBody>
                    <a:bodyPr/>
                    <a:lstStyle/>
                    <a:p>
                      <a:pPr algn="ctr"/>
                      <a:r>
                        <a:rPr sz="900" b="1">
                          <a:solidFill>
                            <a:srgbClr val="FFFFFF"/>
                          </a:solidFill>
                          <a:latin typeface="Garamond"/>
                        </a:rPr>
                        <a:t>EBITDA Mgn</a:t>
                      </a:r>
                    </a:p>
                  </a:txBody>
                  <a:tcPr>
                    <a:solidFill>
                      <a:srgbClr val="1C2C39"/>
                    </a:solidFill>
                  </a:tcPr>
                </a:tc>
                <a:tc>
                  <a:txBody>
                    <a:bodyPr/>
                    <a:lstStyle/>
                    <a:p>
                      <a:pPr algn="ctr"/>
                      <a:r>
                        <a:rPr sz="900" b="1">
                          <a:solidFill>
                            <a:srgbClr val="FFFFFF"/>
                          </a:solidFill>
                          <a:latin typeface="Garamond"/>
                        </a:rPr>
                        <a:t>EBITDA ($M)</a:t>
                      </a:r>
                    </a:p>
                  </a:txBody>
                  <a:tcPr>
                    <a:solidFill>
                      <a:srgbClr val="1C2C39"/>
                    </a:solidFill>
                  </a:tcPr>
                </a:tc>
                <a:tc>
                  <a:txBody>
                    <a:bodyPr/>
                    <a:lstStyle/>
                    <a:p>
                      <a:pPr algn="ctr"/>
                      <a:r>
                        <a:rPr sz="900" b="1">
                          <a:solidFill>
                            <a:srgbClr val="FFFFFF"/>
                          </a:solidFill>
                          <a:latin typeface="Garamond"/>
                        </a:rPr>
                        <a:t>FCF ($M)</a:t>
                      </a:r>
                    </a:p>
                  </a:txBody>
                  <a:tcPr>
                    <a:solidFill>
                      <a:srgbClr val="1C2C39"/>
                    </a:solidFill>
                  </a:tcPr>
                </a:tc>
                <a:tc>
                  <a:txBody>
                    <a:bodyPr/>
                    <a:lstStyle/>
                    <a:p>
                      <a:pPr algn="ctr"/>
                      <a:r>
                        <a:rPr sz="900" b="1">
                          <a:solidFill>
                            <a:srgbClr val="FFFFFF"/>
                          </a:solidFill>
                          <a:latin typeface="Garamond"/>
                        </a:rPr>
                        <a:t>PV FCF ($M)</a:t>
                      </a:r>
                    </a:p>
                  </a:txBody>
                  <a:tcPr>
                    <a:solidFill>
                      <a:srgbClr val="1C2C39"/>
                    </a:solidFill>
                  </a:tcPr>
                </a:tc>
              </a:tr>
              <a:tr h="313508">
                <a:tc>
                  <a:txBody>
                    <a:bodyPr/>
                    <a:lstStyle/>
                    <a:p>
                      <a:pPr algn="ctr"/>
                      <a:r>
                        <a:rPr sz="900" b="0">
                          <a:solidFill>
                            <a:srgbClr val="000000"/>
                          </a:solidFill>
                          <a:latin typeface="Garamond"/>
                        </a:rPr>
                        <a:t>Yr 1</a:t>
                      </a:r>
                    </a:p>
                  </a:txBody>
                  <a:tcPr>
                    <a:solidFill>
                      <a:srgbClr val="FFFFFF"/>
                    </a:solidFill>
                  </a:tcPr>
                </a:tc>
                <a:tc>
                  <a:txBody>
                    <a:bodyPr/>
                    <a:lstStyle/>
                    <a:p>
                      <a:pPr algn="r"/>
                      <a:r>
                        <a:rPr sz="900" b="0">
                          <a:solidFill>
                            <a:srgbClr val="000000"/>
                          </a:solidFill>
                          <a:latin typeface="Garamond"/>
                        </a:rPr>
                        <a:t>$2,760</a:t>
                      </a:r>
                    </a:p>
                  </a:txBody>
                  <a:tcPr>
                    <a:solidFill>
                      <a:srgbClr val="FFFFFF"/>
                    </a:solidFill>
                  </a:tcPr>
                </a:tc>
                <a:tc>
                  <a:txBody>
                    <a:bodyPr/>
                    <a:lstStyle/>
                    <a:p>
                      <a:pPr algn="ctr"/>
                      <a:r>
                        <a:rPr sz="900" b="0">
                          <a:solidFill>
                            <a:srgbClr val="000000"/>
                          </a:solidFill>
                          <a:latin typeface="Garamond"/>
                        </a:rPr>
                        <a:t>45.5%</a:t>
                      </a:r>
                    </a:p>
                  </a:txBody>
                  <a:tcPr>
                    <a:solidFill>
                      <a:srgbClr val="FFFFFF"/>
                    </a:solidFill>
                  </a:tcPr>
                </a:tc>
                <a:tc>
                  <a:txBody>
                    <a:bodyPr/>
                    <a:lstStyle/>
                    <a:p>
                      <a:pPr algn="r"/>
                      <a:r>
                        <a:rPr sz="900" b="0">
                          <a:solidFill>
                            <a:srgbClr val="000000"/>
                          </a:solidFill>
                          <a:latin typeface="Garamond"/>
                        </a:rPr>
                        <a:t>$1,874</a:t>
                      </a:r>
                    </a:p>
                  </a:txBody>
                  <a:tcPr>
                    <a:solidFill>
                      <a:srgbClr val="FFFFFF"/>
                    </a:solidFill>
                  </a:tcPr>
                </a:tc>
                <a:tc>
                  <a:txBody>
                    <a:bodyPr/>
                    <a:lstStyle/>
                    <a:p>
                      <a:pPr algn="r"/>
                      <a:r>
                        <a:rPr sz="900" b="0">
                          <a:solidFill>
                            <a:srgbClr val="000000"/>
                          </a:solidFill>
                          <a:latin typeface="Garamond"/>
                        </a:rPr>
                        <a:t>$1,223</a:t>
                      </a:r>
                    </a:p>
                  </a:txBody>
                  <a:tcPr>
                    <a:solidFill>
                      <a:srgbClr val="FFFFFF"/>
                    </a:solidFill>
                  </a:tcPr>
                </a:tc>
                <a:tc>
                  <a:txBody>
                    <a:bodyPr/>
                    <a:lstStyle/>
                    <a:p>
                      <a:pPr algn="r"/>
                      <a:r>
                        <a:rPr sz="900" b="0">
                          <a:solidFill>
                            <a:srgbClr val="000000"/>
                          </a:solidFill>
                          <a:latin typeface="Garamond"/>
                        </a:rPr>
                        <a:t>$1,145</a:t>
                      </a:r>
                    </a:p>
                  </a:txBody>
                  <a:tcPr>
                    <a:solidFill>
                      <a:srgbClr val="FFFFFF"/>
                    </a:solidFill>
                  </a:tcPr>
                </a:tc>
              </a:tr>
              <a:tr h="313508">
                <a:tc>
                  <a:txBody>
                    <a:bodyPr/>
                    <a:lstStyle/>
                    <a:p>
                      <a:pPr algn="ctr"/>
                      <a:r>
                        <a:rPr sz="900" b="0">
                          <a:solidFill>
                            <a:srgbClr val="000000"/>
                          </a:solidFill>
                          <a:latin typeface="Garamond"/>
                        </a:rPr>
                        <a:t>Yr 2</a:t>
                      </a:r>
                    </a:p>
                  </a:txBody>
                  <a:tcPr>
                    <a:solidFill>
                      <a:srgbClr val="EFEFEF"/>
                    </a:solidFill>
                  </a:tcPr>
                </a:tc>
                <a:tc>
                  <a:txBody>
                    <a:bodyPr/>
                    <a:lstStyle/>
                    <a:p>
                      <a:pPr algn="r"/>
                      <a:r>
                        <a:rPr sz="900" b="0">
                          <a:solidFill>
                            <a:srgbClr val="000000"/>
                          </a:solidFill>
                          <a:latin typeface="Garamond"/>
                        </a:rPr>
                        <a:t>$2,898</a:t>
                      </a:r>
                    </a:p>
                  </a:txBody>
                  <a:tcPr>
                    <a:solidFill>
                      <a:srgbClr val="EFEFEF"/>
                    </a:solidFill>
                  </a:tcPr>
                </a:tc>
                <a:tc>
                  <a:txBody>
                    <a:bodyPr/>
                    <a:lstStyle/>
                    <a:p>
                      <a:pPr algn="ctr"/>
                      <a:r>
                        <a:rPr sz="900" b="0">
                          <a:solidFill>
                            <a:srgbClr val="000000"/>
                          </a:solidFill>
                          <a:latin typeface="Garamond"/>
                        </a:rPr>
                        <a:t>47.5%</a:t>
                      </a:r>
                    </a:p>
                  </a:txBody>
                  <a:tcPr>
                    <a:solidFill>
                      <a:srgbClr val="EFEFEF"/>
                    </a:solidFill>
                  </a:tcPr>
                </a:tc>
                <a:tc>
                  <a:txBody>
                    <a:bodyPr/>
                    <a:lstStyle/>
                    <a:p>
                      <a:pPr algn="r"/>
                      <a:r>
                        <a:rPr sz="900" b="0">
                          <a:solidFill>
                            <a:srgbClr val="000000"/>
                          </a:solidFill>
                          <a:latin typeface="Garamond"/>
                        </a:rPr>
                        <a:t>$1,950</a:t>
                      </a:r>
                    </a:p>
                  </a:txBody>
                  <a:tcPr>
                    <a:solidFill>
                      <a:srgbClr val="EFEFEF"/>
                    </a:solidFill>
                  </a:tcPr>
                </a:tc>
                <a:tc>
                  <a:txBody>
                    <a:bodyPr/>
                    <a:lstStyle/>
                    <a:p>
                      <a:pPr algn="r"/>
                      <a:r>
                        <a:rPr sz="900" b="0">
                          <a:solidFill>
                            <a:srgbClr val="000000"/>
                          </a:solidFill>
                          <a:latin typeface="Garamond"/>
                        </a:rPr>
                        <a:t>$1,288</a:t>
                      </a:r>
                    </a:p>
                  </a:txBody>
                  <a:tcPr>
                    <a:solidFill>
                      <a:srgbClr val="EFEFEF"/>
                    </a:solidFill>
                  </a:tcPr>
                </a:tc>
                <a:tc>
                  <a:txBody>
                    <a:bodyPr/>
                    <a:lstStyle/>
                    <a:p>
                      <a:pPr algn="r"/>
                      <a:r>
                        <a:rPr sz="900" b="0">
                          <a:solidFill>
                            <a:srgbClr val="000000"/>
                          </a:solidFill>
                          <a:latin typeface="Garamond"/>
                        </a:rPr>
                        <a:t>$1,128</a:t>
                      </a:r>
                    </a:p>
                  </a:txBody>
                  <a:tcPr>
                    <a:solidFill>
                      <a:srgbClr val="EFEFEF"/>
                    </a:solidFill>
                  </a:tcPr>
                </a:tc>
              </a:tr>
              <a:tr h="313508">
                <a:tc>
                  <a:txBody>
                    <a:bodyPr/>
                    <a:lstStyle/>
                    <a:p>
                      <a:pPr algn="ctr"/>
                      <a:r>
                        <a:rPr sz="900" b="0">
                          <a:solidFill>
                            <a:srgbClr val="000000"/>
                          </a:solidFill>
                          <a:latin typeface="Garamond"/>
                        </a:rPr>
                        <a:t>Yr 3</a:t>
                      </a:r>
                    </a:p>
                  </a:txBody>
                  <a:tcPr>
                    <a:solidFill>
                      <a:srgbClr val="FFFFFF"/>
                    </a:solidFill>
                  </a:tcPr>
                </a:tc>
                <a:tc>
                  <a:txBody>
                    <a:bodyPr/>
                    <a:lstStyle/>
                    <a:p>
                      <a:pPr algn="r"/>
                      <a:r>
                        <a:rPr sz="900" b="0">
                          <a:solidFill>
                            <a:srgbClr val="000000"/>
                          </a:solidFill>
                          <a:latin typeface="Garamond"/>
                        </a:rPr>
                        <a:t>$3,058</a:t>
                      </a:r>
                    </a:p>
                  </a:txBody>
                  <a:tcPr>
                    <a:solidFill>
                      <a:srgbClr val="FFFFFF"/>
                    </a:solidFill>
                  </a:tcPr>
                </a:tc>
                <a:tc>
                  <a:txBody>
                    <a:bodyPr/>
                    <a:lstStyle/>
                    <a:p>
                      <a:pPr algn="ctr"/>
                      <a:r>
                        <a:rPr sz="900" b="0">
                          <a:solidFill>
                            <a:srgbClr val="000000"/>
                          </a:solidFill>
                          <a:latin typeface="Garamond"/>
                        </a:rPr>
                        <a:t>48.2%</a:t>
                      </a:r>
                    </a:p>
                  </a:txBody>
                  <a:tcPr>
                    <a:solidFill>
                      <a:srgbClr val="FFFFFF"/>
                    </a:solidFill>
                  </a:tcPr>
                </a:tc>
                <a:tc>
                  <a:txBody>
                    <a:bodyPr/>
                    <a:lstStyle/>
                    <a:p>
                      <a:pPr algn="r"/>
                      <a:r>
                        <a:rPr sz="900" b="0">
                          <a:solidFill>
                            <a:srgbClr val="000000"/>
                          </a:solidFill>
                          <a:latin typeface="Garamond"/>
                        </a:rPr>
                        <a:t>$2,069</a:t>
                      </a:r>
                    </a:p>
                  </a:txBody>
                  <a:tcPr>
                    <a:solidFill>
                      <a:srgbClr val="FFFFFF"/>
                    </a:solidFill>
                  </a:tcPr>
                </a:tc>
                <a:tc>
                  <a:txBody>
                    <a:bodyPr/>
                    <a:lstStyle/>
                    <a:p>
                      <a:pPr algn="r"/>
                      <a:r>
                        <a:rPr sz="900" b="0">
                          <a:solidFill>
                            <a:srgbClr val="000000"/>
                          </a:solidFill>
                          <a:latin typeface="Garamond"/>
                        </a:rPr>
                        <a:t>$1,375</a:t>
                      </a:r>
                    </a:p>
                  </a:txBody>
                  <a:tcPr>
                    <a:solidFill>
                      <a:srgbClr val="FFFFFF"/>
                    </a:solidFill>
                  </a:tcPr>
                </a:tc>
                <a:tc>
                  <a:txBody>
                    <a:bodyPr/>
                    <a:lstStyle/>
                    <a:p>
                      <a:pPr algn="r"/>
                      <a:r>
                        <a:rPr sz="900" b="0">
                          <a:solidFill>
                            <a:srgbClr val="000000"/>
                          </a:solidFill>
                          <a:latin typeface="Garamond"/>
                        </a:rPr>
                        <a:t>$1,124</a:t>
                      </a:r>
                    </a:p>
                  </a:txBody>
                  <a:tcPr>
                    <a:solidFill>
                      <a:srgbClr val="FFFFFF"/>
                    </a:solidFill>
                  </a:tcPr>
                </a:tc>
              </a:tr>
              <a:tr h="313508">
                <a:tc>
                  <a:txBody>
                    <a:bodyPr/>
                    <a:lstStyle/>
                    <a:p>
                      <a:pPr algn="ctr"/>
                      <a:r>
                        <a:rPr sz="900" b="0">
                          <a:solidFill>
                            <a:srgbClr val="000000"/>
                          </a:solidFill>
                          <a:latin typeface="Garamond"/>
                        </a:rPr>
                        <a:t>Yr 4</a:t>
                      </a:r>
                    </a:p>
                  </a:txBody>
                  <a:tcPr>
                    <a:solidFill>
                      <a:srgbClr val="EFEFEF"/>
                    </a:solidFill>
                  </a:tcPr>
                </a:tc>
                <a:tc>
                  <a:txBody>
                    <a:bodyPr/>
                    <a:lstStyle/>
                    <a:p>
                      <a:pPr algn="r"/>
                      <a:r>
                        <a:rPr sz="900" b="0">
                          <a:solidFill>
                            <a:srgbClr val="000000"/>
                          </a:solidFill>
                          <a:latin typeface="Garamond"/>
                        </a:rPr>
                        <a:t>$3,231</a:t>
                      </a:r>
                    </a:p>
                  </a:txBody>
                  <a:tcPr>
                    <a:solidFill>
                      <a:srgbClr val="EFEFEF"/>
                    </a:solidFill>
                  </a:tcPr>
                </a:tc>
                <a:tc>
                  <a:txBody>
                    <a:bodyPr/>
                    <a:lstStyle/>
                    <a:p>
                      <a:pPr algn="ctr"/>
                      <a:r>
                        <a:rPr sz="900" b="0">
                          <a:solidFill>
                            <a:srgbClr val="000000"/>
                          </a:solidFill>
                          <a:latin typeface="Garamond"/>
                        </a:rPr>
                        <a:t>48.8%</a:t>
                      </a:r>
                    </a:p>
                  </a:txBody>
                  <a:tcPr>
                    <a:solidFill>
                      <a:srgbClr val="EFEFEF"/>
                    </a:solidFill>
                  </a:tcPr>
                </a:tc>
                <a:tc>
                  <a:txBody>
                    <a:bodyPr/>
                    <a:lstStyle/>
                    <a:p>
                      <a:pPr algn="r"/>
                      <a:r>
                        <a:rPr sz="900" b="0">
                          <a:solidFill>
                            <a:srgbClr val="000000"/>
                          </a:solidFill>
                          <a:latin typeface="Garamond"/>
                        </a:rPr>
                        <a:t>$2,206</a:t>
                      </a:r>
                    </a:p>
                  </a:txBody>
                  <a:tcPr>
                    <a:solidFill>
                      <a:srgbClr val="EFEFEF"/>
                    </a:solidFill>
                  </a:tcPr>
                </a:tc>
                <a:tc>
                  <a:txBody>
                    <a:bodyPr/>
                    <a:lstStyle/>
                    <a:p>
                      <a:pPr algn="r"/>
                      <a:r>
                        <a:rPr sz="900" b="0">
                          <a:solidFill>
                            <a:srgbClr val="000000"/>
                          </a:solidFill>
                          <a:latin typeface="Garamond"/>
                        </a:rPr>
                        <a:t>$1,468</a:t>
                      </a:r>
                    </a:p>
                  </a:txBody>
                  <a:tcPr>
                    <a:solidFill>
                      <a:srgbClr val="EFEFEF"/>
                    </a:solidFill>
                  </a:tcPr>
                </a:tc>
                <a:tc>
                  <a:txBody>
                    <a:bodyPr/>
                    <a:lstStyle/>
                    <a:p>
                      <a:pPr algn="r"/>
                      <a:r>
                        <a:rPr sz="900" b="0">
                          <a:solidFill>
                            <a:srgbClr val="000000"/>
                          </a:solidFill>
                          <a:latin typeface="Garamond"/>
                        </a:rPr>
                        <a:t>$1,120</a:t>
                      </a:r>
                    </a:p>
                  </a:txBody>
                  <a:tcPr>
                    <a:solidFill>
                      <a:srgbClr val="EFEFEF"/>
                    </a:solidFill>
                  </a:tcPr>
                </a:tc>
              </a:tr>
              <a:tr h="313508">
                <a:tc>
                  <a:txBody>
                    <a:bodyPr/>
                    <a:lstStyle/>
                    <a:p>
                      <a:pPr algn="ctr"/>
                      <a:r>
                        <a:rPr sz="900" b="0">
                          <a:solidFill>
                            <a:srgbClr val="000000"/>
                          </a:solidFill>
                          <a:latin typeface="Garamond"/>
                        </a:rPr>
                        <a:t>Yr 5</a:t>
                      </a:r>
                    </a:p>
                  </a:txBody>
                  <a:tcPr>
                    <a:solidFill>
                      <a:srgbClr val="FFFFFF"/>
                    </a:solidFill>
                  </a:tcPr>
                </a:tc>
                <a:tc>
                  <a:txBody>
                    <a:bodyPr/>
                    <a:lstStyle/>
                    <a:p>
                      <a:pPr algn="r"/>
                      <a:r>
                        <a:rPr sz="900" b="0">
                          <a:solidFill>
                            <a:srgbClr val="000000"/>
                          </a:solidFill>
                          <a:latin typeface="Garamond"/>
                        </a:rPr>
                        <a:t>$3,393</a:t>
                      </a:r>
                    </a:p>
                  </a:txBody>
                  <a:tcPr>
                    <a:solidFill>
                      <a:srgbClr val="FFFFFF"/>
                    </a:solidFill>
                  </a:tcPr>
                </a:tc>
                <a:tc>
                  <a:txBody>
                    <a:bodyPr/>
                    <a:lstStyle/>
                    <a:p>
                      <a:pPr algn="ctr"/>
                      <a:r>
                        <a:rPr sz="900" b="0">
                          <a:solidFill>
                            <a:srgbClr val="000000"/>
                          </a:solidFill>
                          <a:latin typeface="Garamond"/>
                        </a:rPr>
                        <a:t>49.0%</a:t>
                      </a:r>
                    </a:p>
                  </a:txBody>
                  <a:tcPr>
                    <a:solidFill>
                      <a:srgbClr val="FFFFFF"/>
                    </a:solidFill>
                  </a:tcPr>
                </a:tc>
                <a:tc>
                  <a:txBody>
                    <a:bodyPr/>
                    <a:lstStyle/>
                    <a:p>
                      <a:pPr algn="r"/>
                      <a:r>
                        <a:rPr sz="900" b="0">
                          <a:solidFill>
                            <a:srgbClr val="000000"/>
                          </a:solidFill>
                          <a:latin typeface="Garamond"/>
                        </a:rPr>
                        <a:t>$2,320</a:t>
                      </a:r>
                    </a:p>
                  </a:txBody>
                  <a:tcPr>
                    <a:solidFill>
                      <a:srgbClr val="FFFFFF"/>
                    </a:solidFill>
                  </a:tcPr>
                </a:tc>
                <a:tc>
                  <a:txBody>
                    <a:bodyPr/>
                    <a:lstStyle/>
                    <a:p>
                      <a:pPr algn="r"/>
                      <a:r>
                        <a:rPr sz="900" b="0">
                          <a:solidFill>
                            <a:srgbClr val="000000"/>
                          </a:solidFill>
                          <a:latin typeface="Garamond"/>
                        </a:rPr>
                        <a:t>$1,544</a:t>
                      </a:r>
                    </a:p>
                  </a:txBody>
                  <a:tcPr>
                    <a:solidFill>
                      <a:srgbClr val="FFFFFF"/>
                    </a:solidFill>
                  </a:tcPr>
                </a:tc>
                <a:tc>
                  <a:txBody>
                    <a:bodyPr/>
                    <a:lstStyle/>
                    <a:p>
                      <a:pPr algn="r"/>
                      <a:r>
                        <a:rPr sz="900" b="0">
                          <a:solidFill>
                            <a:srgbClr val="000000"/>
                          </a:solidFill>
                          <a:latin typeface="Garamond"/>
                        </a:rPr>
                        <a:t>$1,098</a:t>
                      </a:r>
                    </a:p>
                  </a:txBody>
                  <a:tcPr>
                    <a:solidFill>
                      <a:srgbClr val="FFFFFF"/>
                    </a:solidFill>
                  </a:tcPr>
                </a:tc>
              </a:tr>
              <a:tr h="313512">
                <a:tc>
                  <a:txBody>
                    <a:bodyPr/>
                    <a:lstStyle/>
                    <a:p>
                      <a:pPr algn="ctr"/>
                      <a:r>
                        <a:rPr sz="900" b="1">
                          <a:solidFill>
                            <a:srgbClr val="000000"/>
                          </a:solidFill>
                          <a:latin typeface="Garamond"/>
                        </a:rPr>
                        <a:t>TOTAL</a:t>
                      </a:r>
                    </a:p>
                  </a:txBody>
                  <a:tcPr>
                    <a:solidFill>
                      <a:srgbClr val="EFEFEF"/>
                    </a:solidFill>
                  </a:tcPr>
                </a:tc>
                <a:tc>
                  <a:txBody>
                    <a:bodyPr/>
                    <a:lstStyle/>
                    <a:p>
                      <a:pPr algn="r"/>
                      <a:r>
                        <a:rPr sz="900" b="1">
                          <a:solidFill>
                            <a:srgbClr val="000000"/>
                          </a:solidFill>
                          <a:latin typeface="Garamond"/>
                        </a:rPr>
                        <a:t/>
                      </a:r>
                    </a:p>
                  </a:txBody>
                  <a:tcPr>
                    <a:solidFill>
                      <a:srgbClr val="EFEFEF"/>
                    </a:solidFill>
                  </a:tcPr>
                </a:tc>
                <a:tc>
                  <a:txBody>
                    <a:bodyPr/>
                    <a:lstStyle/>
                    <a:p>
                      <a:pPr algn="ctr"/>
                      <a:r>
                        <a:rPr sz="900" b="1">
                          <a:solidFill>
                            <a:srgbClr val="000000"/>
                          </a:solidFill>
                          <a:latin typeface="Garamond"/>
                        </a:rPr>
                        <a:t/>
                      </a:r>
                    </a:p>
                  </a:txBody>
                  <a:tcPr>
                    <a:solidFill>
                      <a:srgbClr val="EFEFEF"/>
                    </a:solidFill>
                  </a:tcPr>
                </a:tc>
                <a:tc>
                  <a:txBody>
                    <a:bodyPr/>
                    <a:lstStyle/>
                    <a:p>
                      <a:pPr algn="r"/>
                      <a:r>
                        <a:rPr sz="900" b="1">
                          <a:solidFill>
                            <a:srgbClr val="000000"/>
                          </a:solidFill>
                          <a:latin typeface="Garamond"/>
                        </a:rPr>
                        <a:t/>
                      </a:r>
                    </a:p>
                  </a:txBody>
                  <a:tcPr>
                    <a:solidFill>
                      <a:srgbClr val="EFEFEF"/>
                    </a:solidFill>
                  </a:tcPr>
                </a:tc>
                <a:tc>
                  <a:txBody>
                    <a:bodyPr/>
                    <a:lstStyle/>
                    <a:p>
                      <a:pPr algn="r"/>
                      <a:r>
                        <a:rPr sz="900" b="1">
                          <a:solidFill>
                            <a:srgbClr val="000000"/>
                          </a:solidFill>
                          <a:latin typeface="Garamond"/>
                        </a:rPr>
                        <a:t>$5,616</a:t>
                      </a:r>
                    </a:p>
                  </a:txBody>
                  <a:tcPr>
                    <a:solidFill>
                      <a:srgbClr val="EFEFEF"/>
                    </a:solidFill>
                  </a:tcPr>
                </a:tc>
                <a:tc>
                  <a:txBody>
                    <a:bodyPr/>
                    <a:lstStyle/>
                    <a:p>
                      <a:pPr algn="r"/>
                      <a:r>
                        <a:rPr sz="900" b="1">
                          <a:solidFill>
                            <a:srgbClr val="000000"/>
                          </a:solidFill>
                          <a:latin typeface="Garamond"/>
                        </a:rPr>
                        <a:t>PV TV: $26,900</a:t>
                      </a:r>
                    </a:p>
                  </a:txBody>
                  <a:tcPr>
                    <a:solidFill>
                      <a:srgbClr val="EFEFEF"/>
                    </a:solidFill>
                  </a:tcPr>
                </a:tc>
              </a:tr>
            </a:tbl>
          </a:graphicData>
        </a:graphic>
      </p:graphicFrame>
      <p:sp>
        <p:nvSpPr>
          <p:cNvPr id="25" name="TextBox 24"/>
          <p:cNvSpPr txBox="1"/>
          <p:nvPr/>
        </p:nvSpPr>
        <p:spPr>
          <a:xfrm>
            <a:off x="640080" y="4626864"/>
            <a:ext cx="6858000" cy="237744"/>
          </a:xfrm>
          <a:prstGeom prst="rect">
            <a:avLst/>
          </a:prstGeom>
          <a:noFill/>
        </p:spPr>
        <p:txBody>
          <a:bodyPr wrap="square">
            <a:normAutofit/>
          </a:bodyPr>
          <a:lstStyle/>
          <a:p>
            <a:pPr algn="l"/>
            <a:r>
              <a:rPr sz="900" b="0" i="0">
                <a:solidFill>
                  <a:srgbClr val="595959"/>
                </a:solidFill>
                <a:latin typeface="Garamond"/>
              </a:rPr>
              <a:t>EV: $32.5B  →  Net Debt: ($11.8B)  →  Equity Value: $20.7B  →  Shares: 108M  →  Implied Price: $191.81</a:t>
            </a:r>
          </a:p>
        </p:txBody>
      </p:sp>
      <p:graphicFrame>
        <p:nvGraphicFramePr>
          <p:cNvPr id="26" name="Table 25"/>
          <p:cNvGraphicFramePr>
            <a:graphicFrameLocks noGrp="1"/>
          </p:cNvGraphicFramePr>
          <p:nvPr/>
        </p:nvGraphicFramePr>
        <p:xfrm>
          <a:off x="640080" y="4901184"/>
          <a:ext cx="6857997" cy="1051560"/>
        </p:xfrm>
        <a:graphic>
          <a:graphicData uri="http://schemas.openxmlformats.org/drawingml/2006/table">
            <a:tbl>
              <a:tblPr firstRow="1" bandRow="1">
                <a:tableStyleId>{5C22544A-7EE6-4342-B048-85BDC9FD1C3A}</a:tableStyleId>
              </a:tblPr>
              <a:tblGrid>
                <a:gridCol w="1055076"/>
                <a:gridCol w="1582615"/>
                <a:gridCol w="1582615"/>
                <a:gridCol w="1582615"/>
                <a:gridCol w="1055076"/>
              </a:tblGrid>
              <a:tr h="262890">
                <a:tc>
                  <a:txBody>
                    <a:bodyPr/>
                    <a:lstStyle/>
                    <a:p>
                      <a:pPr algn="ctr"/>
                      <a:r>
                        <a:rPr sz="900" b="1">
                          <a:solidFill>
                            <a:srgbClr val="FFFFFF"/>
                          </a:solidFill>
                          <a:latin typeface="Garamond"/>
                        </a:rPr>
                        <a:t>Scenario</a:t>
                      </a:r>
                    </a:p>
                  </a:txBody>
                  <a:tcPr>
                    <a:solidFill>
                      <a:srgbClr val="1C2C39"/>
                    </a:solidFill>
                  </a:tcPr>
                </a:tc>
                <a:tc>
                  <a:txBody>
                    <a:bodyPr/>
                    <a:lstStyle/>
                    <a:p>
                      <a:pPr algn="ctr"/>
                      <a:r>
                        <a:rPr sz="900" b="1">
                          <a:solidFill>
                            <a:srgbClr val="FFFFFF"/>
                          </a:solidFill>
                          <a:latin typeface="Garamond"/>
                        </a:rPr>
                        <a:t>EV</a:t>
                      </a:r>
                    </a:p>
                  </a:txBody>
                  <a:tcPr>
                    <a:solidFill>
                      <a:srgbClr val="1C2C39"/>
                    </a:solidFill>
                  </a:tcPr>
                </a:tc>
                <a:tc>
                  <a:txBody>
                    <a:bodyPr/>
                    <a:lstStyle/>
                    <a:p>
                      <a:pPr algn="ctr"/>
                      <a:r>
                        <a:rPr sz="900" b="1">
                          <a:solidFill>
                            <a:srgbClr val="FFFFFF"/>
                          </a:solidFill>
                          <a:latin typeface="Garamond"/>
                        </a:rPr>
                        <a:t>Implied Price</a:t>
                      </a:r>
                    </a:p>
                  </a:txBody>
                  <a:tcPr>
                    <a:solidFill>
                      <a:srgbClr val="1C2C39"/>
                    </a:solidFill>
                  </a:tcPr>
                </a:tc>
                <a:tc>
                  <a:txBody>
                    <a:bodyPr/>
                    <a:lstStyle/>
                    <a:p>
                      <a:pPr algn="ctr"/>
                      <a:r>
                        <a:rPr sz="900" b="1">
                          <a:solidFill>
                            <a:srgbClr val="FFFFFF"/>
                          </a:solidFill>
                          <a:latin typeface="Garamond"/>
                        </a:rPr>
                        <a:t>Upside/Down</a:t>
                      </a:r>
                    </a:p>
                  </a:txBody>
                  <a:tcPr>
                    <a:solidFill>
                      <a:srgbClr val="1C2C39"/>
                    </a:solidFill>
                  </a:tcPr>
                </a:tc>
                <a:tc>
                  <a:txBody>
                    <a:bodyPr/>
                    <a:lstStyle/>
                    <a:p>
                      <a:pPr algn="ctr"/>
                      <a:r>
                        <a:rPr sz="900" b="1">
                          <a:solidFill>
                            <a:srgbClr val="FFFFFF"/>
                          </a:solidFill>
                          <a:latin typeface="Garamond"/>
                        </a:rPr>
                        <a:t>TV % of EV</a:t>
                      </a:r>
                    </a:p>
                  </a:txBody>
                  <a:tcPr>
                    <a:solidFill>
                      <a:srgbClr val="1C2C39"/>
                    </a:solidFill>
                  </a:tcPr>
                </a:tc>
              </a:tr>
              <a:tr h="262890">
                <a:tc>
                  <a:txBody>
                    <a:bodyPr/>
                    <a:lstStyle/>
                    <a:p>
                      <a:pPr algn="ctr"/>
                      <a:r>
                        <a:rPr sz="900" b="0">
                          <a:solidFill>
                            <a:srgbClr val="000000"/>
                          </a:solidFill>
                          <a:latin typeface="Garamond"/>
                        </a:rPr>
                        <a:t>Bear</a:t>
                      </a:r>
                    </a:p>
                  </a:txBody>
                  <a:tcPr>
                    <a:solidFill>
                      <a:srgbClr val="FFFFFF"/>
                    </a:solidFill>
                  </a:tcPr>
                </a:tc>
                <a:tc>
                  <a:txBody>
                    <a:bodyPr/>
                    <a:lstStyle/>
                    <a:p>
                      <a:pPr algn="r"/>
                      <a:r>
                        <a:rPr sz="900" b="0">
                          <a:solidFill>
                            <a:srgbClr val="000000"/>
                          </a:solidFill>
                          <a:latin typeface="Garamond"/>
                        </a:rPr>
                        <a:t>N/A</a:t>
                      </a:r>
                    </a:p>
                  </a:txBody>
                  <a:tcPr>
                    <a:solidFill>
                      <a:srgbClr val="FFFFFF"/>
                    </a:solidFill>
                  </a:tcPr>
                </a:tc>
                <a:tc>
                  <a:txBody>
                    <a:bodyPr/>
                    <a:lstStyle/>
                    <a:p>
                      <a:pPr algn="ctr"/>
                      <a:r>
                        <a:rPr sz="900" b="0">
                          <a:solidFill>
                            <a:srgbClr val="000000"/>
                          </a:solidFill>
                          <a:latin typeface="Garamond"/>
                        </a:rPr>
                        <a:t>$161.00</a:t>
                      </a:r>
                    </a:p>
                  </a:txBody>
                  <a:tcPr>
                    <a:solidFill>
                      <a:srgbClr val="FFFFFF"/>
                    </a:solidFill>
                  </a:tcPr>
                </a:tc>
                <a:tc>
                  <a:txBody>
                    <a:bodyPr/>
                    <a:lstStyle/>
                    <a:p>
                      <a:pPr algn="ctr"/>
                      <a:r>
                        <a:rPr sz="900" b="0">
                          <a:solidFill>
                            <a:srgbClr val="000000"/>
                          </a:solidFill>
                          <a:latin typeface="Garamond"/>
                        </a:rPr>
                        <a:t>-15.0%</a:t>
                      </a:r>
                    </a:p>
                  </a:txBody>
                  <a:tcPr>
                    <a:solidFill>
                      <a:srgbClr val="FFFFFF"/>
                    </a:solidFill>
                  </a:tcPr>
                </a:tc>
                <a:tc>
                  <a:txBody>
                    <a:bodyPr/>
                    <a:lstStyle/>
                    <a:p>
                      <a:pPr algn="ctr"/>
                      <a:r>
                        <a:rPr sz="900" b="0">
                          <a:solidFill>
                            <a:srgbClr val="000000"/>
                          </a:solidFill>
                          <a:latin typeface="Garamond"/>
                        </a:rPr>
                        <a:t>N/A</a:t>
                      </a:r>
                    </a:p>
                  </a:txBody>
                  <a:tcPr>
                    <a:solidFill>
                      <a:srgbClr val="FFFFFF"/>
                    </a:solidFill>
                  </a:tcPr>
                </a:tc>
              </a:tr>
              <a:tr h="262890">
                <a:tc>
                  <a:txBody>
                    <a:bodyPr/>
                    <a:lstStyle/>
                    <a:p>
                      <a:pPr algn="ctr"/>
                      <a:r>
                        <a:rPr sz="900" b="0">
                          <a:solidFill>
                            <a:srgbClr val="000000"/>
                          </a:solidFill>
                          <a:latin typeface="Garamond"/>
                        </a:rPr>
                        <a:t>Base</a:t>
                      </a:r>
                    </a:p>
                  </a:txBody>
                  <a:tcPr>
                    <a:solidFill>
                      <a:srgbClr val="FFFFFF"/>
                    </a:solidFill>
                  </a:tcPr>
                </a:tc>
                <a:tc>
                  <a:txBody>
                    <a:bodyPr/>
                    <a:lstStyle/>
                    <a:p>
                      <a:pPr algn="r"/>
                      <a:r>
                        <a:rPr sz="900" b="0">
                          <a:solidFill>
                            <a:srgbClr val="000000"/>
                          </a:solidFill>
                          <a:latin typeface="Garamond"/>
                        </a:rPr>
                        <a:t>$32.5B</a:t>
                      </a:r>
                    </a:p>
                  </a:txBody>
                  <a:tcPr>
                    <a:solidFill>
                      <a:srgbClr val="FFFFFF"/>
                    </a:solidFill>
                  </a:tcPr>
                </a:tc>
                <a:tc>
                  <a:txBody>
                    <a:bodyPr/>
                    <a:lstStyle/>
                    <a:p>
                      <a:pPr algn="ctr"/>
                      <a:r>
                        <a:rPr sz="900" b="0">
                          <a:solidFill>
                            <a:srgbClr val="000000"/>
                          </a:solidFill>
                          <a:latin typeface="Garamond"/>
                        </a:rPr>
                        <a:t>$191.81</a:t>
                      </a:r>
                    </a:p>
                  </a:txBody>
                  <a:tcPr>
                    <a:solidFill>
                      <a:srgbClr val="FFFFFF"/>
                    </a:solidFill>
                  </a:tcPr>
                </a:tc>
                <a:tc>
                  <a:txBody>
                    <a:bodyPr/>
                    <a:lstStyle/>
                    <a:p>
                      <a:pPr algn="ctr"/>
                      <a:r>
                        <a:rPr sz="900" b="0">
                          <a:solidFill>
                            <a:srgbClr val="000000"/>
                          </a:solidFill>
                          <a:latin typeface="Garamond"/>
                        </a:rPr>
                        <a:t>+0.0%</a:t>
                      </a:r>
                    </a:p>
                  </a:txBody>
                  <a:tcPr>
                    <a:solidFill>
                      <a:srgbClr val="FFFFFF"/>
                    </a:solidFill>
                  </a:tcPr>
                </a:tc>
                <a:tc>
                  <a:txBody>
                    <a:bodyPr/>
                    <a:lstStyle/>
                    <a:p>
                      <a:pPr algn="ctr"/>
                      <a:r>
                        <a:rPr sz="900" b="0">
                          <a:solidFill>
                            <a:srgbClr val="000000"/>
                          </a:solidFill>
                          <a:latin typeface="Garamond"/>
                        </a:rPr>
                        <a:t>83%</a:t>
                      </a:r>
                    </a:p>
                  </a:txBody>
                  <a:tcPr>
                    <a:solidFill>
                      <a:srgbClr val="FFFFFF"/>
                    </a:solidFill>
                  </a:tcPr>
                </a:tc>
              </a:tr>
              <a:tr h="262890">
                <a:tc>
                  <a:txBody>
                    <a:bodyPr/>
                    <a:lstStyle/>
                    <a:p>
                      <a:pPr algn="ctr"/>
                      <a:r>
                        <a:rPr sz="900" b="0">
                          <a:solidFill>
                            <a:srgbClr val="000000"/>
                          </a:solidFill>
                          <a:latin typeface="Garamond"/>
                        </a:rPr>
                        <a:t>Bull</a:t>
                      </a:r>
                    </a:p>
                  </a:txBody>
                  <a:tcPr>
                    <a:solidFill>
                      <a:srgbClr val="FFFFFF"/>
                    </a:solidFill>
                  </a:tcPr>
                </a:tc>
                <a:tc>
                  <a:txBody>
                    <a:bodyPr/>
                    <a:lstStyle/>
                    <a:p>
                      <a:pPr algn="r"/>
                      <a:r>
                        <a:rPr sz="900" b="0">
                          <a:solidFill>
                            <a:srgbClr val="000000"/>
                          </a:solidFill>
                          <a:latin typeface="Garamond"/>
                        </a:rPr>
                        <a:t>N/A</a:t>
                      </a:r>
                    </a:p>
                  </a:txBody>
                  <a:tcPr>
                    <a:solidFill>
                      <a:srgbClr val="FFFFFF"/>
                    </a:solidFill>
                  </a:tcPr>
                </a:tc>
                <a:tc>
                  <a:txBody>
                    <a:bodyPr/>
                    <a:lstStyle/>
                    <a:p>
                      <a:pPr algn="ctr"/>
                      <a:r>
                        <a:rPr sz="900" b="0">
                          <a:solidFill>
                            <a:srgbClr val="000000"/>
                          </a:solidFill>
                          <a:latin typeface="Garamond"/>
                        </a:rPr>
                        <a:t>$280.00</a:t>
                      </a:r>
                    </a:p>
                  </a:txBody>
                  <a:tcPr>
                    <a:solidFill>
                      <a:srgbClr val="FFFFFF"/>
                    </a:solidFill>
                  </a:tcPr>
                </a:tc>
                <a:tc>
                  <a:txBody>
                    <a:bodyPr/>
                    <a:lstStyle/>
                    <a:p>
                      <a:pPr algn="ctr"/>
                      <a:r>
                        <a:rPr sz="900" b="0">
                          <a:solidFill>
                            <a:srgbClr val="000000"/>
                          </a:solidFill>
                          <a:latin typeface="Garamond"/>
                        </a:rPr>
                        <a:t>+47.0%</a:t>
                      </a:r>
                    </a:p>
                  </a:txBody>
                  <a:tcPr>
                    <a:solidFill>
                      <a:srgbClr val="FFFFFF"/>
                    </a:solidFill>
                  </a:tcPr>
                </a:tc>
                <a:tc>
                  <a:txBody>
                    <a:bodyPr/>
                    <a:lstStyle/>
                    <a:p>
                      <a:pPr algn="ctr"/>
                      <a:r>
                        <a:rPr sz="900" b="0">
                          <a:solidFill>
                            <a:srgbClr val="000000"/>
                          </a:solidFill>
                          <a:latin typeface="Garamond"/>
                        </a:rPr>
                        <a:t>N/A</a:t>
                      </a:r>
                    </a:p>
                  </a:txBody>
                  <a:tcPr>
                    <a:solidFill>
                      <a:srgbClr val="FFFFFF"/>
                    </a:solidFill>
                  </a:tcPr>
                </a:tc>
              </a:tr>
            </a:tbl>
          </a:graphicData>
        </a:graphic>
      </p:graphicFrame>
      <p:sp>
        <p:nvSpPr>
          <p:cNvPr id="27" name="TextBox 26"/>
          <p:cNvSpPr txBox="1"/>
          <p:nvPr/>
        </p:nvSpPr>
        <p:spPr>
          <a:xfrm>
            <a:off x="7680960" y="2103120"/>
            <a:ext cx="4325112" cy="237744"/>
          </a:xfrm>
          <a:prstGeom prst="rect">
            <a:avLst/>
          </a:prstGeom>
          <a:noFill/>
        </p:spPr>
        <p:txBody>
          <a:bodyPr wrap="square">
            <a:normAutofit/>
          </a:bodyPr>
          <a:lstStyle/>
          <a:p>
            <a:pPr algn="l"/>
            <a:r>
              <a:rPr sz="1400" b="1" i="0">
                <a:solidFill>
                  <a:srgbClr val="1C2C39"/>
                </a:solidFill>
                <a:latin typeface="Garamond"/>
              </a:rPr>
              <a:t>Sensitivity: Implied Price</a:t>
            </a:r>
          </a:p>
        </p:txBody>
      </p:sp>
      <p:sp>
        <p:nvSpPr>
          <p:cNvPr id="28" name="Rectangle 27"/>
          <p:cNvSpPr/>
          <p:nvPr/>
        </p:nvSpPr>
        <p:spPr>
          <a:xfrm>
            <a:off x="7680960" y="2340863"/>
            <a:ext cx="4325112"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2121408"/>
            <a:ext cx="4142232" cy="201168"/>
          </a:xfrm>
          <a:prstGeom prst="rect">
            <a:avLst/>
          </a:prstGeom>
          <a:noFill/>
        </p:spPr>
        <p:txBody>
          <a:bodyPr wrap="square">
            <a:normAutofit/>
          </a:bodyPr>
          <a:lstStyle/>
          <a:p>
            <a:pPr algn="l"/>
            <a:r>
              <a:rPr sz="750" b="0" i="0">
                <a:solidFill>
                  <a:srgbClr val="FFFFFF"/>
                </a:solidFill>
                <a:latin typeface="Garamond"/>
              </a:rPr>
              <a:t>(P/AFFO Multiple vs 2027E AFFO/Share)</a:t>
            </a:r>
          </a:p>
        </p:txBody>
      </p:sp>
      <p:graphicFrame>
        <p:nvGraphicFramePr>
          <p:cNvPr id="30" name="Table 29"/>
          <p:cNvGraphicFramePr>
            <a:graphicFrameLocks noGrp="1"/>
          </p:cNvGraphicFramePr>
          <p:nvPr/>
        </p:nvGraphicFramePr>
        <p:xfrm>
          <a:off x="7680960" y="2377440"/>
          <a:ext cx="4325110" cy="2240280"/>
        </p:xfrm>
        <a:graphic>
          <a:graphicData uri="http://schemas.openxmlformats.org/drawingml/2006/table">
            <a:tbl>
              <a:tblPr firstRow="1" bandRow="1">
                <a:tableStyleId>{5C22544A-7EE6-4342-B048-85BDC9FD1C3A}</a:tableStyleId>
              </a:tblPr>
              <a:tblGrid>
                <a:gridCol w="865022"/>
                <a:gridCol w="865022"/>
                <a:gridCol w="865022"/>
                <a:gridCol w="865022"/>
                <a:gridCol w="865022"/>
              </a:tblGrid>
              <a:tr h="373380">
                <a:tc>
                  <a:txBody>
                    <a:bodyPr/>
                    <a:lstStyle/>
                    <a:p>
                      <a:pPr algn="ctr"/>
                      <a:r>
                        <a:rPr sz="800" b="1">
                          <a:solidFill>
                            <a:srgbClr val="FFFFFF"/>
                          </a:solidFill>
                          <a:latin typeface="Garamond"/>
                        </a:rPr>
                        <a:t>WACC \ </a:t>
                      </a:r>
                    </a:p>
                  </a:txBody>
                  <a:tcPr>
                    <a:solidFill>
                      <a:srgbClr val="1C2C39"/>
                    </a:solidFill>
                  </a:tcPr>
                </a:tc>
                <a:tc>
                  <a:txBody>
                    <a:bodyPr/>
                    <a:lstStyle/>
                    <a:p>
                      <a:pPr algn="ctr"/>
                      <a:r>
                        <a:rPr sz="800" b="1">
                          <a:solidFill>
                            <a:srgbClr val="FFFFFF"/>
                          </a:solidFill>
                          <a:latin typeface="Garamond"/>
                        </a:rPr>
                        <a:t>affo 12.50x</a:t>
                      </a:r>
                    </a:p>
                  </a:txBody>
                  <a:tcPr>
                    <a:solidFill>
                      <a:srgbClr val="1C2C39"/>
                    </a:solidFill>
                  </a:tcPr>
                </a:tc>
                <a:tc>
                  <a:txBody>
                    <a:bodyPr/>
                    <a:lstStyle/>
                    <a:p>
                      <a:pPr algn="ctr"/>
                      <a:r>
                        <a:rPr sz="800" b="1">
                          <a:solidFill>
                            <a:srgbClr val="FFFFFF"/>
                          </a:solidFill>
                          <a:latin typeface="Garamond"/>
                        </a:rPr>
                        <a:t>affo 13.00x</a:t>
                      </a:r>
                    </a:p>
                  </a:txBody>
                  <a:tcPr>
                    <a:solidFill>
                      <a:srgbClr val="1C2C39"/>
                    </a:solidFill>
                  </a:tcPr>
                </a:tc>
                <a:tc>
                  <a:txBody>
                    <a:bodyPr/>
                    <a:lstStyle/>
                    <a:p>
                      <a:pPr algn="ctr"/>
                      <a:r>
                        <a:rPr sz="800" b="1">
                          <a:solidFill>
                            <a:srgbClr val="FFFFFF"/>
                          </a:solidFill>
                          <a:latin typeface="Garamond"/>
                        </a:rPr>
                        <a:t>affo 13.30x</a:t>
                      </a:r>
                    </a:p>
                  </a:txBody>
                  <a:tcPr>
                    <a:solidFill>
                      <a:srgbClr val="1C2C39"/>
                    </a:solidFill>
                  </a:tcPr>
                </a:tc>
                <a:tc>
                  <a:txBody>
                    <a:bodyPr/>
                    <a:lstStyle/>
                    <a:p>
                      <a:pPr algn="ctr"/>
                      <a:r>
                        <a:rPr sz="800" b="1">
                          <a:solidFill>
                            <a:srgbClr val="FFFFFF"/>
                          </a:solidFill>
                          <a:latin typeface="Garamond"/>
                        </a:rPr>
                        <a:t>affo 14.00x</a:t>
                      </a:r>
                    </a:p>
                  </a:txBody>
                  <a:tcPr>
                    <a:solidFill>
                      <a:srgbClr val="1C2C39"/>
                    </a:solidFill>
                  </a:tcPr>
                </a:tc>
              </a:tr>
              <a:tr h="373380">
                <a:tc>
                  <a:txBody>
                    <a:bodyPr/>
                    <a:lstStyle/>
                    <a:p>
                      <a:pPr algn="ctr"/>
                      <a:r>
                        <a:rPr sz="800" b="0">
                          <a:solidFill>
                            <a:srgbClr val="000000"/>
                          </a:solidFill>
                          <a:latin typeface="Garamond"/>
                        </a:rPr>
                        <a:t>multiple 12x</a:t>
                      </a:r>
                    </a:p>
                  </a:txBody>
                  <a:tcPr>
                    <a:solidFill>
                      <a:srgbClr val="EFEFEF"/>
                    </a:solidFill>
                  </a:tcPr>
                </a:tc>
                <a:tc>
                  <a:txBody>
                    <a:bodyPr/>
                    <a:lstStyle/>
                    <a:p>
                      <a:pPr algn="ctr"/>
                      <a:r>
                        <a:rPr sz="800" b="0">
                          <a:solidFill>
                            <a:srgbClr val="000000"/>
                          </a:solidFill>
                          <a:latin typeface="Garamond"/>
                        </a:rPr>
                        <a:t>$150</a:t>
                      </a:r>
                    </a:p>
                  </a:txBody>
                  <a:tcPr>
                    <a:solidFill>
                      <a:srgbClr val="FFCCCC"/>
                    </a:solidFill>
                  </a:tcPr>
                </a:tc>
                <a:tc>
                  <a:txBody>
                    <a:bodyPr/>
                    <a:lstStyle/>
                    <a:p>
                      <a:pPr algn="ctr"/>
                      <a:r>
                        <a:rPr sz="800" b="0">
                          <a:solidFill>
                            <a:srgbClr val="000000"/>
                          </a:solidFill>
                          <a:latin typeface="Garamond"/>
                        </a:rPr>
                        <a:t>$156</a:t>
                      </a:r>
                    </a:p>
                  </a:txBody>
                  <a:tcPr>
                    <a:solidFill>
                      <a:srgbClr val="FFCCCC"/>
                    </a:solidFill>
                  </a:tcPr>
                </a:tc>
                <a:tc>
                  <a:txBody>
                    <a:bodyPr/>
                    <a:lstStyle/>
                    <a:p>
                      <a:pPr algn="ctr"/>
                      <a:r>
                        <a:rPr sz="800" b="0">
                          <a:solidFill>
                            <a:srgbClr val="000000"/>
                          </a:solidFill>
                          <a:latin typeface="Garamond"/>
                        </a:rPr>
                        <a:t>$160</a:t>
                      </a:r>
                    </a:p>
                  </a:txBody>
                  <a:tcPr>
                    <a:solidFill>
                      <a:srgbClr val="FFCCCC"/>
                    </a:solidFill>
                  </a:tcPr>
                </a:tc>
                <a:tc>
                  <a:txBody>
                    <a:bodyPr/>
                    <a:lstStyle/>
                    <a:p>
                      <a:pPr algn="ctr"/>
                      <a:r>
                        <a:rPr sz="800" b="0">
                          <a:solidFill>
                            <a:srgbClr val="000000"/>
                          </a:solidFill>
                          <a:latin typeface="Garamond"/>
                        </a:rPr>
                        <a:t>$168</a:t>
                      </a:r>
                    </a:p>
                  </a:txBody>
                  <a:tcPr>
                    <a:solidFill>
                      <a:srgbClr val="FFCCCC"/>
                    </a:solidFill>
                  </a:tcPr>
                </a:tc>
              </a:tr>
              <a:tr h="373380">
                <a:tc>
                  <a:txBody>
                    <a:bodyPr/>
                    <a:lstStyle/>
                    <a:p>
                      <a:pPr algn="ctr"/>
                      <a:r>
                        <a:rPr sz="800" b="0">
                          <a:solidFill>
                            <a:srgbClr val="000000"/>
                          </a:solidFill>
                          <a:latin typeface="Garamond"/>
                        </a:rPr>
                        <a:t>multiple 14x</a:t>
                      </a:r>
                    </a:p>
                  </a:txBody>
                  <a:tcPr>
                    <a:solidFill>
                      <a:srgbClr val="FFFFFF"/>
                    </a:solidFill>
                  </a:tcPr>
                </a:tc>
                <a:tc>
                  <a:txBody>
                    <a:bodyPr/>
                    <a:lstStyle/>
                    <a:p>
                      <a:pPr algn="ctr"/>
                      <a:r>
                        <a:rPr sz="800" b="0">
                          <a:solidFill>
                            <a:srgbClr val="000000"/>
                          </a:solidFill>
                          <a:latin typeface="Garamond"/>
                        </a:rPr>
                        <a:t>$175</a:t>
                      </a:r>
                    </a:p>
                  </a:txBody>
                  <a:tcPr>
                    <a:solidFill>
                      <a:srgbClr val="FFCCCC"/>
                    </a:solidFill>
                  </a:tcPr>
                </a:tc>
                <a:tc>
                  <a:txBody>
                    <a:bodyPr/>
                    <a:lstStyle/>
                    <a:p>
                      <a:pPr algn="ctr"/>
                      <a:r>
                        <a:rPr sz="800" b="0">
                          <a:solidFill>
                            <a:srgbClr val="000000"/>
                          </a:solidFill>
                          <a:latin typeface="Garamond"/>
                        </a:rPr>
                        <a:t>$182</a:t>
                      </a:r>
                    </a:p>
                  </a:txBody>
                  <a:tcPr>
                    <a:solidFill>
                      <a:srgbClr val="FFCCCC"/>
                    </a:solidFill>
                  </a:tcPr>
                </a:tc>
                <a:tc>
                  <a:txBody>
                    <a:bodyPr/>
                    <a:lstStyle/>
                    <a:p>
                      <a:pPr algn="ctr"/>
                      <a:r>
                        <a:rPr sz="800" b="0">
                          <a:solidFill>
                            <a:srgbClr val="000000"/>
                          </a:solidFill>
                          <a:latin typeface="Garamond"/>
                        </a:rPr>
                        <a:t>$186</a:t>
                      </a:r>
                    </a:p>
                  </a:txBody>
                  <a:tcPr>
                    <a:solidFill>
                      <a:srgbClr val="FFCCCC"/>
                    </a:solidFill>
                  </a:tcPr>
                </a:tc>
                <a:tc>
                  <a:txBody>
                    <a:bodyPr/>
                    <a:lstStyle/>
                    <a:p>
                      <a:pPr algn="ctr"/>
                      <a:r>
                        <a:rPr sz="800" b="0">
                          <a:solidFill>
                            <a:srgbClr val="000000"/>
                          </a:solidFill>
                          <a:latin typeface="Garamond"/>
                        </a:rPr>
                        <a:t>$196</a:t>
                      </a:r>
                    </a:p>
                  </a:txBody>
                  <a:tcPr>
                    <a:solidFill>
                      <a:srgbClr val="FFCCCC"/>
                    </a:solidFill>
                  </a:tcPr>
                </a:tc>
              </a:tr>
              <a:tr h="373380">
                <a:tc>
                  <a:txBody>
                    <a:bodyPr/>
                    <a:lstStyle/>
                    <a:p>
                      <a:pPr algn="ctr"/>
                      <a:r>
                        <a:rPr sz="800" b="0">
                          <a:solidFill>
                            <a:srgbClr val="000000"/>
                          </a:solidFill>
                          <a:latin typeface="Garamond"/>
                        </a:rPr>
                        <a:t>multiple 16x</a:t>
                      </a:r>
                    </a:p>
                  </a:txBody>
                  <a:tcPr>
                    <a:solidFill>
                      <a:srgbClr val="EFEFEF"/>
                    </a:solidFill>
                  </a:tcPr>
                </a:tc>
                <a:tc>
                  <a:txBody>
                    <a:bodyPr/>
                    <a:lstStyle/>
                    <a:p>
                      <a:pPr algn="ctr"/>
                      <a:r>
                        <a:rPr sz="800" b="1">
                          <a:solidFill>
                            <a:srgbClr val="000000"/>
                          </a:solidFill>
                          <a:latin typeface="Garamond"/>
                        </a:rPr>
                        <a:t>$200</a:t>
                      </a:r>
                    </a:p>
                  </a:txBody>
                  <a:tcPr>
                    <a:solidFill>
                      <a:srgbClr val="FFCCCC"/>
                    </a:solidFill>
                  </a:tcPr>
                </a:tc>
                <a:tc>
                  <a:txBody>
                    <a:bodyPr/>
                    <a:lstStyle/>
                    <a:p>
                      <a:pPr algn="ctr"/>
                      <a:r>
                        <a:rPr sz="800" b="1">
                          <a:solidFill>
                            <a:srgbClr val="000000"/>
                          </a:solidFill>
                          <a:latin typeface="Garamond"/>
                        </a:rPr>
                        <a:t>$208</a:t>
                      </a:r>
                    </a:p>
                  </a:txBody>
                  <a:tcPr>
                    <a:solidFill>
                      <a:srgbClr val="FFFFCC"/>
                    </a:solidFill>
                  </a:tcPr>
                </a:tc>
                <a:tc>
                  <a:txBody>
                    <a:bodyPr/>
                    <a:lstStyle/>
                    <a:p>
                      <a:pPr algn="ctr"/>
                      <a:r>
                        <a:rPr sz="900" b="1">
                          <a:solidFill>
                            <a:srgbClr val="000000"/>
                          </a:solidFill>
                          <a:latin typeface="Garamond"/>
                        </a:rPr>
                        <a:t>$213</a:t>
                      </a:r>
                    </a:p>
                  </a:txBody>
                  <a:tcPr>
                    <a:solidFill>
                      <a:srgbClr val="FFFFCC"/>
                    </a:solidFill>
                  </a:tcPr>
                </a:tc>
                <a:tc>
                  <a:txBody>
                    <a:bodyPr/>
                    <a:lstStyle/>
                    <a:p>
                      <a:pPr algn="ctr"/>
                      <a:r>
                        <a:rPr sz="800" b="1">
                          <a:solidFill>
                            <a:srgbClr val="000000"/>
                          </a:solidFill>
                          <a:latin typeface="Garamond"/>
                        </a:rPr>
                        <a:t>$224</a:t>
                      </a:r>
                    </a:p>
                  </a:txBody>
                  <a:tcPr>
                    <a:solidFill>
                      <a:srgbClr val="FFFFCC"/>
                    </a:solidFill>
                  </a:tcPr>
                </a:tc>
              </a:tr>
              <a:tr h="373380">
                <a:tc>
                  <a:txBody>
                    <a:bodyPr/>
                    <a:lstStyle/>
                    <a:p>
                      <a:pPr algn="ctr"/>
                      <a:r>
                        <a:rPr sz="800" b="0">
                          <a:solidFill>
                            <a:srgbClr val="000000"/>
                          </a:solidFill>
                          <a:latin typeface="Garamond"/>
                        </a:rPr>
                        <a:t>multiple 18x</a:t>
                      </a:r>
                    </a:p>
                  </a:txBody>
                  <a:tcPr>
                    <a:solidFill>
                      <a:srgbClr val="FFFFFF"/>
                    </a:solidFill>
                  </a:tcPr>
                </a:tc>
                <a:tc>
                  <a:txBody>
                    <a:bodyPr/>
                    <a:lstStyle/>
                    <a:p>
                      <a:pPr algn="ctr"/>
                      <a:r>
                        <a:rPr sz="800" b="0">
                          <a:solidFill>
                            <a:srgbClr val="000000"/>
                          </a:solidFill>
                          <a:latin typeface="Garamond"/>
                        </a:rPr>
                        <a:t>$225</a:t>
                      </a:r>
                    </a:p>
                  </a:txBody>
                  <a:tcPr>
                    <a:solidFill>
                      <a:srgbClr val="FFFFCC"/>
                    </a:solidFill>
                  </a:tcPr>
                </a:tc>
                <a:tc>
                  <a:txBody>
                    <a:bodyPr/>
                    <a:lstStyle/>
                    <a:p>
                      <a:pPr algn="ctr"/>
                      <a:r>
                        <a:rPr sz="800" b="0">
                          <a:solidFill>
                            <a:srgbClr val="000000"/>
                          </a:solidFill>
                          <a:latin typeface="Garamond"/>
                        </a:rPr>
                        <a:t>$234</a:t>
                      </a:r>
                    </a:p>
                  </a:txBody>
                  <a:tcPr>
                    <a:solidFill>
                      <a:srgbClr val="CCFFCC"/>
                    </a:solidFill>
                  </a:tcPr>
                </a:tc>
                <a:tc>
                  <a:txBody>
                    <a:bodyPr/>
                    <a:lstStyle/>
                    <a:p>
                      <a:pPr algn="ctr"/>
                      <a:r>
                        <a:rPr sz="800" b="0">
                          <a:solidFill>
                            <a:srgbClr val="000000"/>
                          </a:solidFill>
                          <a:latin typeface="Garamond"/>
                        </a:rPr>
                        <a:t>$239</a:t>
                      </a:r>
                    </a:p>
                  </a:txBody>
                  <a:tcPr>
                    <a:solidFill>
                      <a:srgbClr val="CCFFCC"/>
                    </a:solidFill>
                  </a:tcPr>
                </a:tc>
                <a:tc>
                  <a:txBody>
                    <a:bodyPr/>
                    <a:lstStyle/>
                    <a:p>
                      <a:pPr algn="ctr"/>
                      <a:r>
                        <a:rPr sz="800" b="0">
                          <a:solidFill>
                            <a:srgbClr val="000000"/>
                          </a:solidFill>
                          <a:latin typeface="Garamond"/>
                        </a:rPr>
                        <a:t>$252</a:t>
                      </a:r>
                    </a:p>
                  </a:txBody>
                  <a:tcPr>
                    <a:solidFill>
                      <a:srgbClr val="CCFFCC"/>
                    </a:solidFill>
                  </a:tcPr>
                </a:tc>
              </a:tr>
              <a:tr h="373380">
                <a:tc>
                  <a:txBody>
                    <a:bodyPr/>
                    <a:lstStyle/>
                    <a:p>
                      <a:pPr algn="ctr"/>
                      <a:r>
                        <a:rPr sz="800" b="0">
                          <a:solidFill>
                            <a:srgbClr val="000000"/>
                          </a:solidFill>
                          <a:latin typeface="Garamond"/>
                        </a:rPr>
                        <a:t>multiple 20x</a:t>
                      </a:r>
                    </a:p>
                  </a:txBody>
                  <a:tcPr>
                    <a:solidFill>
                      <a:srgbClr val="EFEFEF"/>
                    </a:solidFill>
                  </a:tcPr>
                </a:tc>
                <a:tc>
                  <a:txBody>
                    <a:bodyPr/>
                    <a:lstStyle/>
                    <a:p>
                      <a:pPr algn="ctr"/>
                      <a:r>
                        <a:rPr sz="800" b="0">
                          <a:solidFill>
                            <a:srgbClr val="000000"/>
                          </a:solidFill>
                          <a:latin typeface="Garamond"/>
                        </a:rPr>
                        <a:t>$250</a:t>
                      </a:r>
                    </a:p>
                  </a:txBody>
                  <a:tcPr>
                    <a:solidFill>
                      <a:srgbClr val="CCFFCC"/>
                    </a:solidFill>
                  </a:tcPr>
                </a:tc>
                <a:tc>
                  <a:txBody>
                    <a:bodyPr/>
                    <a:lstStyle/>
                    <a:p>
                      <a:pPr algn="ctr"/>
                      <a:r>
                        <a:rPr sz="800" b="0">
                          <a:solidFill>
                            <a:srgbClr val="000000"/>
                          </a:solidFill>
                          <a:latin typeface="Garamond"/>
                        </a:rPr>
                        <a:t>$260</a:t>
                      </a:r>
                    </a:p>
                  </a:txBody>
                  <a:tcPr>
                    <a:solidFill>
                      <a:srgbClr val="CCFFCC"/>
                    </a:solidFill>
                  </a:tcPr>
                </a:tc>
                <a:tc>
                  <a:txBody>
                    <a:bodyPr/>
                    <a:lstStyle/>
                    <a:p>
                      <a:pPr algn="ctr"/>
                      <a:r>
                        <a:rPr sz="800" b="0">
                          <a:solidFill>
                            <a:srgbClr val="000000"/>
                          </a:solidFill>
                          <a:latin typeface="Garamond"/>
                        </a:rPr>
                        <a:t>$266</a:t>
                      </a:r>
                    </a:p>
                  </a:txBody>
                  <a:tcPr>
                    <a:solidFill>
                      <a:srgbClr val="CCFFCC"/>
                    </a:solidFill>
                  </a:tcPr>
                </a:tc>
                <a:tc>
                  <a:txBody>
                    <a:bodyPr/>
                    <a:lstStyle/>
                    <a:p>
                      <a:pPr algn="ctr"/>
                      <a:r>
                        <a:rPr sz="800" b="0">
                          <a:solidFill>
                            <a:srgbClr val="000000"/>
                          </a:solidFill>
                          <a:latin typeface="Garamond"/>
                        </a:rPr>
                        <a:t>$280</a:t>
                      </a:r>
                    </a:p>
                  </a:txBody>
                  <a:tcPr>
                    <a:solidFill>
                      <a:srgbClr val="CCFFCC"/>
                    </a:solidFill>
                  </a:tcPr>
                </a:tc>
              </a:tr>
            </a:tbl>
          </a:graphicData>
        </a:graphic>
      </p:graphicFrame>
      <p:sp>
        <p:nvSpPr>
          <p:cNvPr id="31" name="Rectangle 30"/>
          <p:cNvSpPr/>
          <p:nvPr/>
        </p:nvSpPr>
        <p:spPr>
          <a:xfrm>
            <a:off x="7726680" y="4663440"/>
            <a:ext cx="164592" cy="146304"/>
          </a:xfrm>
          <a:prstGeom prst="rect">
            <a:avLst/>
          </a:prstGeom>
          <a:solidFill>
            <a:srgbClr val="FF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8704" y="4663440"/>
            <a:ext cx="1097280" cy="146304"/>
          </a:xfrm>
          <a:prstGeom prst="rect">
            <a:avLst/>
          </a:prstGeom>
          <a:noFill/>
        </p:spPr>
        <p:txBody>
          <a:bodyPr wrap="square">
            <a:normAutofit/>
          </a:bodyPr>
          <a:lstStyle/>
          <a:p>
            <a:pPr algn="l"/>
            <a:r>
              <a:rPr sz="700" b="0" i="0">
                <a:solidFill>
                  <a:srgbClr val="595959"/>
                </a:solidFill>
                <a:latin typeface="Garamond"/>
              </a:rPr>
              <a:t>Low</a:t>
            </a:r>
          </a:p>
        </p:txBody>
      </p:sp>
      <p:sp>
        <p:nvSpPr>
          <p:cNvPr id="33" name="Rectangle 32"/>
          <p:cNvSpPr/>
          <p:nvPr/>
        </p:nvSpPr>
        <p:spPr>
          <a:xfrm>
            <a:off x="9189720" y="4663440"/>
            <a:ext cx="164592" cy="146304"/>
          </a:xfrm>
          <a:prstGeom prst="rect">
            <a:avLst/>
          </a:prstGeom>
          <a:solidFill>
            <a:srgbClr val="FFF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81744" y="4663440"/>
            <a:ext cx="1097280" cy="146304"/>
          </a:xfrm>
          <a:prstGeom prst="rect">
            <a:avLst/>
          </a:prstGeom>
          <a:noFill/>
        </p:spPr>
        <p:txBody>
          <a:bodyPr wrap="square">
            <a:normAutofit/>
          </a:bodyPr>
          <a:lstStyle/>
          <a:p>
            <a:pPr algn="l"/>
            <a:r>
              <a:rPr sz="700" b="0" i="0">
                <a:solidFill>
                  <a:srgbClr val="595959"/>
                </a:solidFill>
                <a:latin typeface="Garamond"/>
              </a:rPr>
              <a:t>Mid</a:t>
            </a:r>
          </a:p>
        </p:txBody>
      </p:sp>
      <p:sp>
        <p:nvSpPr>
          <p:cNvPr id="35" name="Rectangle 34"/>
          <p:cNvSpPr/>
          <p:nvPr/>
        </p:nvSpPr>
        <p:spPr>
          <a:xfrm>
            <a:off x="10652760" y="4663440"/>
            <a:ext cx="164592" cy="146304"/>
          </a:xfrm>
          <a:prstGeom prst="rect">
            <a:avLst/>
          </a:prstGeom>
          <a:solidFill>
            <a:srgbClr val="CCF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44784" y="4663440"/>
            <a:ext cx="1097280" cy="146304"/>
          </a:xfrm>
          <a:prstGeom prst="rect">
            <a:avLst/>
          </a:prstGeom>
          <a:noFill/>
        </p:spPr>
        <p:txBody>
          <a:bodyPr wrap="square">
            <a:normAutofit/>
          </a:bodyPr>
          <a:lstStyle/>
          <a:p>
            <a:pPr algn="l"/>
            <a:r>
              <a:rPr sz="700" b="0" i="0">
                <a:solidFill>
                  <a:srgbClr val="595959"/>
                </a:solidFill>
                <a:latin typeface="Garamond"/>
              </a:rPr>
              <a:t>High</a:t>
            </a:r>
          </a:p>
        </p:txBody>
      </p:sp>
      <p:sp>
        <p:nvSpPr>
          <p:cNvPr id="37" name="TextBox 36"/>
          <p:cNvSpPr txBox="1"/>
          <p:nvPr/>
        </p:nvSpPr>
        <p:spPr>
          <a:xfrm>
            <a:off x="7680960" y="4873752"/>
            <a:ext cx="4325112" cy="237744"/>
          </a:xfrm>
          <a:prstGeom prst="rect">
            <a:avLst/>
          </a:prstGeom>
          <a:noFill/>
        </p:spPr>
        <p:txBody>
          <a:bodyPr wrap="square">
            <a:normAutofit/>
          </a:bodyPr>
          <a:lstStyle/>
          <a:p>
            <a:pPr algn="l"/>
            <a:r>
              <a:rPr sz="1400" b="1" i="0">
                <a:solidFill>
                  <a:srgbClr val="00ACB6"/>
                </a:solidFill>
                <a:latin typeface="Garamond"/>
              </a:rPr>
              <a:t>Comparable Company Analysis</a:t>
            </a:r>
          </a:p>
        </p:txBody>
      </p:sp>
      <p:sp>
        <p:nvSpPr>
          <p:cNvPr id="38" name="Rectangle 37"/>
          <p:cNvSpPr/>
          <p:nvPr/>
        </p:nvSpPr>
        <p:spPr>
          <a:xfrm>
            <a:off x="7680960" y="5111496"/>
            <a:ext cx="4325112"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9" name="Table 38"/>
          <p:cNvGraphicFramePr>
            <a:graphicFrameLocks noGrp="1"/>
          </p:cNvGraphicFramePr>
          <p:nvPr/>
        </p:nvGraphicFramePr>
        <p:xfrm>
          <a:off x="7680960" y="5148072"/>
          <a:ext cx="4325109" cy="1280160"/>
        </p:xfrm>
        <a:graphic>
          <a:graphicData uri="http://schemas.openxmlformats.org/drawingml/2006/table">
            <a:tbl>
              <a:tblPr firstRow="1" bandRow="1">
                <a:tableStyleId>{5C22544A-7EE6-4342-B048-85BDC9FD1C3A}</a:tableStyleId>
              </a:tblPr>
              <a:tblGrid>
                <a:gridCol w="644897"/>
                <a:gridCol w="1246801"/>
                <a:gridCol w="902856"/>
                <a:gridCol w="756679"/>
                <a:gridCol w="773876"/>
              </a:tblGrid>
              <a:tr h="320040">
                <a:tc>
                  <a:txBody>
                    <a:bodyPr/>
                    <a:lstStyle/>
                    <a:p>
                      <a:pPr algn="ctr"/>
                      <a:r>
                        <a:rPr sz="750" b="1">
                          <a:solidFill>
                            <a:srgbClr val="FFFFFF"/>
                          </a:solidFill>
                          <a:latin typeface="Garamond"/>
                        </a:rPr>
                        <a:t>Ticker</a:t>
                      </a:r>
                    </a:p>
                  </a:txBody>
                  <a:tcPr>
                    <a:solidFill>
                      <a:srgbClr val="1C2C39"/>
                    </a:solidFill>
                  </a:tcPr>
                </a:tc>
                <a:tc>
                  <a:txBody>
                    <a:bodyPr/>
                    <a:lstStyle/>
                    <a:p>
                      <a:pPr algn="ctr"/>
                      <a:r>
                        <a:rPr sz="750" b="1">
                          <a:solidFill>
                            <a:srgbClr val="FFFFFF"/>
                          </a:solidFill>
                          <a:latin typeface="Garamond"/>
                        </a:rPr>
                        <a:t>Company</a:t>
                      </a:r>
                    </a:p>
                  </a:txBody>
                  <a:tcPr>
                    <a:solidFill>
                      <a:srgbClr val="1C2C39"/>
                    </a:solidFill>
                  </a:tcPr>
                </a:tc>
                <a:tc>
                  <a:txBody>
                    <a:bodyPr/>
                    <a:lstStyle/>
                    <a:p>
                      <a:pPr algn="ctr"/>
                      <a:r>
                        <a:rPr sz="750" b="1">
                          <a:solidFill>
                            <a:srgbClr val="FFFFFF"/>
                          </a:solidFill>
                          <a:latin typeface="Garamond"/>
                        </a:rPr>
                        <a:t>P/AFFO NTM</a:t>
                      </a:r>
                    </a:p>
                  </a:txBody>
                  <a:tcPr>
                    <a:solidFill>
                      <a:srgbClr val="1C2C39"/>
                    </a:solidFill>
                  </a:tcPr>
                </a:tc>
                <a:tc>
                  <a:txBody>
                    <a:bodyPr/>
                    <a:lstStyle/>
                    <a:p>
                      <a:pPr algn="ctr"/>
                      <a:r>
                        <a:rPr sz="750" b="1">
                          <a:solidFill>
                            <a:srgbClr val="FFFFFF"/>
                          </a:solidFill>
                          <a:latin typeface="Garamond"/>
                        </a:rPr>
                        <a:t>P/AFFO Hist.</a:t>
                      </a:r>
                    </a:p>
                  </a:txBody>
                  <a:tcPr>
                    <a:solidFill>
                      <a:srgbClr val="1C2C39"/>
                    </a:solidFill>
                  </a:tcPr>
                </a:tc>
                <a:tc>
                  <a:txBody>
                    <a:bodyPr/>
                    <a:lstStyle/>
                    <a:p>
                      <a:pPr algn="ctr"/>
                      <a:r>
                        <a:rPr sz="750" b="1">
                          <a:solidFill>
                            <a:srgbClr val="FFFFFF"/>
                          </a:solidFill>
                          <a:latin typeface="Garamond"/>
                        </a:rPr>
                        <a:t>Implied PT</a:t>
                      </a:r>
                    </a:p>
                  </a:txBody>
                  <a:tcPr>
                    <a:solidFill>
                      <a:srgbClr val="1C2C39"/>
                    </a:solidFill>
                  </a:tcPr>
                </a:tc>
              </a:tr>
              <a:tr h="320040">
                <a:tc>
                  <a:txBody>
                    <a:bodyPr/>
                    <a:lstStyle/>
                    <a:p>
                      <a:pPr algn="ctr"/>
                      <a:r>
                        <a:rPr sz="750" b="0">
                          <a:solidFill>
                            <a:srgbClr val="000000"/>
                          </a:solidFill>
                          <a:latin typeface="Garamond"/>
                        </a:rPr>
                        <a:t>AMT</a:t>
                      </a:r>
                    </a:p>
                  </a:txBody>
                  <a:tcPr>
                    <a:solidFill>
                      <a:srgbClr val="FFFFFF"/>
                    </a:solidFill>
                  </a:tcPr>
                </a:tc>
                <a:tc>
                  <a:txBody>
                    <a:bodyPr/>
                    <a:lstStyle/>
                    <a:p>
                      <a:pPr algn="l"/>
                      <a:r>
                        <a:rPr sz="750" b="0">
                          <a:solidFill>
                            <a:srgbClr val="000000"/>
                          </a:solidFill>
                          <a:latin typeface="Garamond"/>
                        </a:rPr>
                        <a:t>American Tower Corp…</a:t>
                      </a:r>
                    </a:p>
                  </a:txBody>
                  <a:tcPr>
                    <a:solidFill>
                      <a:srgbClr val="FFFFFF"/>
                    </a:solidFill>
                  </a:tcPr>
                </a:tc>
                <a:tc>
                  <a:txBody>
                    <a:bodyPr/>
                    <a:lstStyle/>
                    <a:p>
                      <a:pPr algn="ctr"/>
                      <a:r>
                        <a:rPr sz="750" b="0">
                          <a:solidFill>
                            <a:srgbClr val="000000"/>
                          </a:solidFill>
                          <a:latin typeface="Garamond"/>
                        </a:rPr>
                        <a:t>16.0x</a:t>
                      </a:r>
                    </a:p>
                  </a:txBody>
                  <a:tcPr>
                    <a:solidFill>
                      <a:srgbClr val="FFFFFF"/>
                    </a:solidFill>
                  </a:tcPr>
                </a:tc>
                <a:tc>
                  <a:txBody>
                    <a:bodyPr/>
                    <a:lstStyle/>
                    <a:p>
                      <a:pPr algn="ctr"/>
                      <a:r>
                        <a:rPr sz="750" b="0">
                          <a:solidFill>
                            <a:srgbClr val="000000"/>
                          </a:solidFill>
                          <a:latin typeface="Garamond"/>
                        </a:rPr>
                        <a:t>N/A</a:t>
                      </a:r>
                    </a:p>
                  </a:txBody>
                  <a:tcPr>
                    <a:solidFill>
                      <a:srgbClr val="FFFFFF"/>
                    </a:solidFill>
                  </a:tcPr>
                </a:tc>
                <a:tc>
                  <a:txBody>
                    <a:bodyPr/>
                    <a:lstStyle/>
                    <a:p>
                      <a:pPr algn="ctr"/>
                      <a:r>
                        <a:rPr sz="750" b="0">
                          <a:solidFill>
                            <a:srgbClr val="000000"/>
                          </a:solidFill>
                          <a:latin typeface="Garamond"/>
                        </a:rPr>
                        <a:t>N/A</a:t>
                      </a:r>
                    </a:p>
                  </a:txBody>
                  <a:tcPr>
                    <a:solidFill>
                      <a:srgbClr val="FFFFFF"/>
                    </a:solidFill>
                  </a:tcPr>
                </a:tc>
              </a:tr>
              <a:tr h="320040">
                <a:tc>
                  <a:txBody>
                    <a:bodyPr/>
                    <a:lstStyle/>
                    <a:p>
                      <a:pPr algn="ctr"/>
                      <a:r>
                        <a:rPr sz="750" b="0">
                          <a:solidFill>
                            <a:srgbClr val="000000"/>
                          </a:solidFill>
                          <a:latin typeface="Garamond"/>
                        </a:rPr>
                        <a:t>CCI</a:t>
                      </a:r>
                    </a:p>
                  </a:txBody>
                  <a:tcPr>
                    <a:solidFill>
                      <a:srgbClr val="EFEFEF"/>
                    </a:solidFill>
                  </a:tcPr>
                </a:tc>
                <a:tc>
                  <a:txBody>
                    <a:bodyPr/>
                    <a:lstStyle/>
                    <a:p>
                      <a:pPr algn="l"/>
                      <a:r>
                        <a:rPr sz="750" b="0">
                          <a:solidFill>
                            <a:srgbClr val="000000"/>
                          </a:solidFill>
                          <a:latin typeface="Garamond"/>
                        </a:rPr>
                        <a:t>Crown Castle Inc.</a:t>
                      </a:r>
                    </a:p>
                  </a:txBody>
                  <a:tcPr>
                    <a:solidFill>
                      <a:srgbClr val="EFEFEF"/>
                    </a:solidFill>
                  </a:tcPr>
                </a:tc>
                <a:tc>
                  <a:txBody>
                    <a:bodyPr/>
                    <a:lstStyle/>
                    <a:p>
                      <a:pPr algn="ctr"/>
                      <a:r>
                        <a:rPr sz="750" b="0">
                          <a:solidFill>
                            <a:srgbClr val="000000"/>
                          </a:solidFill>
                          <a:latin typeface="Garamond"/>
                        </a:rPr>
                        <a:t>19.0x</a:t>
                      </a:r>
                    </a:p>
                  </a:txBody>
                  <a:tcPr>
                    <a:solidFill>
                      <a:srgbClr val="EFEFEF"/>
                    </a:solidFill>
                  </a:tcPr>
                </a:tc>
                <a:tc>
                  <a:txBody>
                    <a:bodyPr/>
                    <a:lstStyle/>
                    <a:p>
                      <a:pPr algn="ctr"/>
                      <a:r>
                        <a:rPr sz="750" b="0">
                          <a:solidFill>
                            <a:srgbClr val="000000"/>
                          </a:solidFill>
                          <a:latin typeface="Garamond"/>
                        </a:rPr>
                        <a:t>N/A</a:t>
                      </a:r>
                    </a:p>
                  </a:txBody>
                  <a:tcPr>
                    <a:solidFill>
                      <a:srgbClr val="EFEFEF"/>
                    </a:solidFill>
                  </a:tcPr>
                </a:tc>
                <a:tc>
                  <a:txBody>
                    <a:bodyPr/>
                    <a:lstStyle/>
                    <a:p>
                      <a:pPr algn="ctr"/>
                      <a:r>
                        <a:rPr sz="750" b="0">
                          <a:solidFill>
                            <a:srgbClr val="000000"/>
                          </a:solidFill>
                          <a:latin typeface="Garamond"/>
                        </a:rPr>
                        <a:t>N/A</a:t>
                      </a:r>
                    </a:p>
                  </a:txBody>
                  <a:tcPr>
                    <a:solidFill>
                      <a:srgbClr val="EFEFEF"/>
                    </a:solidFill>
                  </a:tcPr>
                </a:tc>
              </a:tr>
              <a:tr h="320040">
                <a:tc>
                  <a:txBody>
                    <a:bodyPr/>
                    <a:lstStyle/>
                    <a:p>
                      <a:pPr algn="ctr"/>
                      <a:r>
                        <a:rPr sz="750" b="0">
                          <a:solidFill>
                            <a:srgbClr val="000000"/>
                          </a:solidFill>
                          <a:latin typeface="Garamond"/>
                        </a:rPr>
                        <a:t>IHS</a:t>
                      </a:r>
                    </a:p>
                  </a:txBody>
                  <a:tcPr>
                    <a:solidFill>
                      <a:srgbClr val="FFFFFF"/>
                    </a:solidFill>
                  </a:tcPr>
                </a:tc>
                <a:tc>
                  <a:txBody>
                    <a:bodyPr/>
                    <a:lstStyle/>
                    <a:p>
                      <a:pPr algn="l"/>
                      <a:r>
                        <a:rPr sz="750" b="0">
                          <a:solidFill>
                            <a:srgbClr val="000000"/>
                          </a:solidFill>
                          <a:latin typeface="Garamond"/>
                        </a:rPr>
                        <a:t>IHS Holding Limited</a:t>
                      </a:r>
                    </a:p>
                  </a:txBody>
                  <a:tcPr>
                    <a:solidFill>
                      <a:srgbClr val="FFFFFF"/>
                    </a:solidFill>
                  </a:tcPr>
                </a:tc>
                <a:tc>
                  <a:txBody>
                    <a:bodyPr/>
                    <a:lstStyle/>
                    <a:p>
                      <a:pPr algn="ctr"/>
                      <a:r>
                        <a:rPr sz="750" b="0">
                          <a:solidFill>
                            <a:srgbClr val="000000"/>
                          </a:solidFill>
                          <a:latin typeface="Garamond"/>
                        </a:rPr>
                        <a:t>N/A</a:t>
                      </a:r>
                    </a:p>
                  </a:txBody>
                  <a:tcPr>
                    <a:solidFill>
                      <a:srgbClr val="FFFFFF"/>
                    </a:solidFill>
                  </a:tcPr>
                </a:tc>
                <a:tc>
                  <a:txBody>
                    <a:bodyPr/>
                    <a:lstStyle/>
                    <a:p>
                      <a:pPr algn="ctr"/>
                      <a:r>
                        <a:rPr sz="750" b="0">
                          <a:solidFill>
                            <a:srgbClr val="000000"/>
                          </a:solidFill>
                          <a:latin typeface="Garamond"/>
                        </a:rPr>
                        <a:t>N/A</a:t>
                      </a:r>
                    </a:p>
                  </a:txBody>
                  <a:tcPr>
                    <a:solidFill>
                      <a:srgbClr val="FFFFFF"/>
                    </a:solidFill>
                  </a:tcPr>
                </a:tc>
                <a:tc>
                  <a:txBody>
                    <a:bodyPr/>
                    <a:lstStyle/>
                    <a:p>
                      <a:pPr algn="ctr"/>
                      <a:r>
                        <a:rPr sz="750" b="0">
                          <a:solidFill>
                            <a:srgbClr val="000000"/>
                          </a:solidFill>
                          <a:latin typeface="Garamond"/>
                        </a:rPr>
                        <a:t>N/A</a:t>
                      </a:r>
                    </a:p>
                  </a:txBody>
                  <a:tcPr>
                    <a:solidFill>
                      <a:srgbClr val="FFFFFF"/>
                    </a:solidFill>
                  </a:tcPr>
                </a:tc>
              </a:tr>
            </a:tbl>
          </a:graphicData>
        </a:graphic>
      </p:graphicFrame>
      <p:sp>
        <p:nvSpPr>
          <p:cNvPr id="40" name="TextBox 39"/>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Thesis I — Consensus EBITDA Recovery Is Heroic Given 0.2x Observed Operating Leverage</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Bloomberg, Investor Presentations</a:t>
            </a:r>
          </a:p>
        </p:txBody>
      </p:sp>
      <p:sp>
        <p:nvSpPr>
          <p:cNvPr id="5" name="Rectangle 4"/>
          <p:cNvSpPr/>
          <p:nvPr/>
        </p:nvSpPr>
        <p:spPr>
          <a:xfrm>
            <a:off x="640080" y="749808"/>
            <a:ext cx="11183112" cy="292608"/>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795528"/>
            <a:ext cx="10972800" cy="219456"/>
          </a:xfrm>
          <a:prstGeom prst="rect">
            <a:avLst/>
          </a:prstGeom>
          <a:noFill/>
        </p:spPr>
        <p:txBody>
          <a:bodyPr wrap="square">
            <a:normAutofit/>
          </a:bodyPr>
          <a:lstStyle/>
          <a:p>
            <a:pPr algn="l"/>
            <a:r>
              <a:rPr sz="1000" b="0" i="1">
                <a:solidFill>
                  <a:srgbClr val="1C2C3A"/>
                </a:solidFill>
                <a:latin typeface="Garamond"/>
              </a:rPr>
              <a:t>CONSENSUS ASSUMES 68.0% EBITDA margin FY2026 ($1,929mm on $2,838mm rev). OUR VIEW: 0.2x FY2025 operating leverage implies $1,840mm — a $89mm miss — making current 19x EV/EBITDA fairly priced at best.</a:t>
            </a:r>
          </a:p>
        </p:txBody>
      </p:sp>
      <p:sp>
        <p:nvSpPr>
          <p:cNvPr id="7" name="Rectangle 6"/>
          <p:cNvSpPr/>
          <p:nvPr/>
        </p:nvSpPr>
        <p:spPr>
          <a:xfrm>
            <a:off x="640080" y="1115568"/>
            <a:ext cx="11183112" cy="38404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70432"/>
            <a:ext cx="10972800" cy="292608"/>
          </a:xfrm>
          <a:prstGeom prst="rect">
            <a:avLst/>
          </a:prstGeom>
          <a:noFill/>
        </p:spPr>
        <p:txBody>
          <a:bodyPr wrap="square">
            <a:normAutofit/>
          </a:bodyPr>
          <a:lstStyle/>
          <a:p>
            <a:pPr algn="l"/>
            <a:r>
              <a:rPr sz="1600" b="1" i="0">
                <a:solidFill>
                  <a:srgbClr val="FFFFFF"/>
                </a:solidFill>
                <a:latin typeface="Garamond"/>
              </a:rPr>
              <a:t>Consensus EBITDA Recovery Is Heroic Given 0.2x Observed Operating Leverage</a:t>
            </a:r>
          </a:p>
        </p:txBody>
      </p:sp>
      <p:sp>
        <p:nvSpPr>
          <p:cNvPr id="9" name="TextBox 8"/>
          <p:cNvSpPr txBox="1"/>
          <p:nvPr/>
        </p:nvSpPr>
        <p:spPr>
          <a:xfrm>
            <a:off x="640080" y="1554480"/>
            <a:ext cx="6675120" cy="237744"/>
          </a:xfrm>
          <a:prstGeom prst="rect">
            <a:avLst/>
          </a:prstGeom>
          <a:noFill/>
        </p:spPr>
        <p:txBody>
          <a:bodyPr wrap="square">
            <a:normAutofit/>
          </a:bodyPr>
          <a:lstStyle/>
          <a:p>
            <a:pPr algn="l"/>
            <a:r>
              <a:rPr sz="1400" b="1" i="0">
                <a:solidFill>
                  <a:srgbClr val="1C2C39"/>
                </a:solidFill>
                <a:latin typeface="Garamond"/>
              </a:rPr>
              <a:t>The Investment Case</a:t>
            </a:r>
          </a:p>
        </p:txBody>
      </p:sp>
      <p:sp>
        <p:nvSpPr>
          <p:cNvPr id="10" name="Rectangle 9"/>
          <p:cNvSpPr/>
          <p:nvPr/>
        </p:nvSpPr>
        <p:spPr>
          <a:xfrm>
            <a:off x="640080" y="1792224"/>
            <a:ext cx="6675120"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83664"/>
            <a:ext cx="6675120" cy="329184"/>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83664"/>
            <a:ext cx="36576" cy="32918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1938528"/>
            <a:ext cx="1234440" cy="237744"/>
          </a:xfrm>
          <a:prstGeom prst="rect">
            <a:avLst/>
          </a:prstGeom>
          <a:noFill/>
        </p:spPr>
        <p:txBody>
          <a:bodyPr wrap="square">
            <a:normAutofit/>
          </a:bodyPr>
          <a:lstStyle/>
          <a:p>
            <a:pPr algn="l"/>
            <a:r>
              <a:rPr sz="900" b="1" i="0">
                <a:solidFill>
                  <a:srgbClr val="C00000"/>
                </a:solidFill>
                <a:latin typeface="Garamond"/>
              </a:rPr>
              <a:t>Street believes: </a:t>
            </a:r>
          </a:p>
        </p:txBody>
      </p:sp>
      <p:sp>
        <p:nvSpPr>
          <p:cNvPr id="14" name="TextBox 13"/>
          <p:cNvSpPr txBox="1"/>
          <p:nvPr/>
        </p:nvSpPr>
        <p:spPr>
          <a:xfrm>
            <a:off x="1965960" y="1938528"/>
            <a:ext cx="5257800" cy="237744"/>
          </a:xfrm>
          <a:prstGeom prst="rect">
            <a:avLst/>
          </a:prstGeom>
          <a:noFill/>
        </p:spPr>
        <p:txBody>
          <a:bodyPr wrap="square">
            <a:normAutofit/>
          </a:bodyPr>
          <a:lstStyle/>
          <a:p>
            <a:pPr algn="l"/>
            <a:r>
              <a:rPr sz="900" b="0" i="1">
                <a:solidFill>
                  <a:srgbClr val="1C2C3A"/>
                </a:solidFill>
                <a:latin typeface="Garamond"/>
              </a:rPr>
              <a:t>Street models 68.0% EBITDA margin FY2026 ($1,929mm); 0.2x FY2025 operating leverage implies 64.6% ($1,840mm) — a $89mm consensus gap.</a:t>
            </a:r>
          </a:p>
        </p:txBody>
      </p:sp>
      <p:sp>
        <p:nvSpPr>
          <p:cNvPr id="15" name="TextBox 14"/>
          <p:cNvSpPr txBox="1"/>
          <p:nvPr/>
        </p:nvSpPr>
        <p:spPr>
          <a:xfrm>
            <a:off x="731519" y="2267712"/>
            <a:ext cx="6492240" cy="1417320"/>
          </a:xfrm>
          <a:prstGeom prst="rect">
            <a:avLst/>
          </a:prstGeom>
          <a:noFill/>
        </p:spPr>
        <p:txBody>
          <a:bodyPr wrap="square">
            <a:normAutofit/>
          </a:bodyPr>
          <a:lstStyle/>
          <a:p>
            <a:pPr algn="l"/>
            <a:r>
              <a:rPr sz="1050" b="0" i="0">
                <a:solidFill>
                  <a:srgbClr val="000000"/>
                </a:solidFill>
                <a:latin typeface="Garamond"/>
              </a:rPr>
              <a:t>SBAC's FY2025 EBITDA grew +0.9% on +5.1% revenue — 0.2x operating leverage — structurally abnormal for high-fixed-cost tower infrastructure. Consensus models $1,929mm EBITDA for FY2026 on $2,838mm revenue, implying 68.0% margin vs. FY2025's 64.3% — a 370bps expansion. At 0.2x operating leverage, EBITDA is ~$1,840mm. That $89mm miss at 19x EV/EBITDA implies ~18% equity downside to ~$167.</a:t>
            </a:r>
          </a:p>
        </p:txBody>
      </p:sp>
      <p:sp>
        <p:nvSpPr>
          <p:cNvPr id="16" name="Rectangle 15"/>
          <p:cNvSpPr/>
          <p:nvPr/>
        </p:nvSpPr>
        <p:spPr>
          <a:xfrm>
            <a:off x="640080" y="3776472"/>
            <a:ext cx="667512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3849624"/>
            <a:ext cx="6492240" cy="1929384"/>
          </a:xfrm>
          <a:prstGeom prst="rect">
            <a:avLst/>
          </a:prstGeom>
          <a:noFill/>
        </p:spPr>
        <p:txBody>
          <a:bodyPr wrap="square">
            <a:normAutofit/>
          </a:bodyPr>
          <a:lstStyle/>
          <a:p>
            <a:pPr algn="l"/>
            <a:r>
              <a:rPr sz="1000" b="0" i="0">
                <a:solidFill>
                  <a:srgbClr val="000000"/>
                </a:solidFill>
                <a:latin typeface="Garamond"/>
              </a:rPr>
              <a:t>• FY2025 operating leverage 0.2x (EBITDA +0.9% / Rev +5.1%) — ground lease/power cost inflation is exceeding contracted 3% escalator step-ups
• Gross margin fell -280bps YoY (77.3%→74.5%) on +5.1% revenue — cost inflation is the mechanism, not one-time items
• Consensus FY2026 EBITDA $1,929mm falsifiable at Q1 2026 earnings (2026-04-27)</a:t>
            </a:r>
          </a:p>
        </p:txBody>
      </p:sp>
      <p:sp>
        <p:nvSpPr>
          <p:cNvPr id="18" name="TextBox 17"/>
          <p:cNvSpPr txBox="1"/>
          <p:nvPr/>
        </p:nvSpPr>
        <p:spPr>
          <a:xfrm>
            <a:off x="7498079" y="1554480"/>
            <a:ext cx="4325112" cy="237744"/>
          </a:xfrm>
          <a:prstGeom prst="rect">
            <a:avLst/>
          </a:prstGeom>
          <a:noFill/>
        </p:spPr>
        <p:txBody>
          <a:bodyPr wrap="square">
            <a:normAutofit/>
          </a:bodyPr>
          <a:lstStyle/>
          <a:p>
            <a:pPr algn="l"/>
            <a:r>
              <a:rPr sz="1400" b="1" i="0">
                <a:solidFill>
                  <a:srgbClr val="1C2C39"/>
                </a:solidFill>
                <a:latin typeface="Garamond"/>
              </a:rPr>
              <a:t>Key Data Points</a:t>
            </a:r>
          </a:p>
        </p:txBody>
      </p:sp>
      <p:sp>
        <p:nvSpPr>
          <p:cNvPr id="19" name="Rectangle 18"/>
          <p:cNvSpPr/>
          <p:nvPr/>
        </p:nvSpPr>
        <p:spPr>
          <a:xfrm>
            <a:off x="7498079" y="1792224"/>
            <a:ext cx="4325112"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79" y="1883664"/>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1883664"/>
            <a:ext cx="36576" cy="100584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1938528"/>
            <a:ext cx="4187952" cy="914400"/>
          </a:xfrm>
          <a:prstGeom prst="rect">
            <a:avLst/>
          </a:prstGeom>
          <a:noFill/>
        </p:spPr>
        <p:txBody>
          <a:bodyPr wrap="square">
            <a:normAutofit/>
          </a:bodyPr>
          <a:lstStyle/>
          <a:p>
            <a:pPr algn="l"/>
            <a:r>
              <a:rPr sz="950" b="0" i="0">
                <a:solidFill>
                  <a:srgbClr val="1C2C3A"/>
                </a:solidFill>
                <a:latin typeface="Garamond"/>
              </a:rPr>
              <a:t>FY2025 operating leverage 0.2x (EBITDA +0.9% / Rev +5.1%) — ground lease/power cost inflation is exceeding contracted 3% escalator step-ups</a:t>
            </a:r>
          </a:p>
        </p:txBody>
      </p:sp>
      <p:sp>
        <p:nvSpPr>
          <p:cNvPr id="23" name="Rectangle 22"/>
          <p:cNvSpPr/>
          <p:nvPr/>
        </p:nvSpPr>
        <p:spPr>
          <a:xfrm>
            <a:off x="7498079" y="2944368"/>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79" y="2944368"/>
            <a:ext cx="36576" cy="100584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19" y="2999232"/>
            <a:ext cx="4187952" cy="914400"/>
          </a:xfrm>
          <a:prstGeom prst="rect">
            <a:avLst/>
          </a:prstGeom>
          <a:noFill/>
        </p:spPr>
        <p:txBody>
          <a:bodyPr wrap="square">
            <a:normAutofit/>
          </a:bodyPr>
          <a:lstStyle/>
          <a:p>
            <a:pPr algn="l"/>
            <a:r>
              <a:rPr sz="950" b="0" i="0">
                <a:solidFill>
                  <a:srgbClr val="1C2C3A"/>
                </a:solidFill>
                <a:latin typeface="Garamond"/>
              </a:rPr>
              <a:t>Gross margin fell -280bps YoY (77.3%→74.5%) on +5.1% revenue — cost inflation is the mechanism, not one-time items</a:t>
            </a:r>
          </a:p>
        </p:txBody>
      </p:sp>
      <p:sp>
        <p:nvSpPr>
          <p:cNvPr id="26" name="Rectangle 25"/>
          <p:cNvSpPr/>
          <p:nvPr/>
        </p:nvSpPr>
        <p:spPr>
          <a:xfrm>
            <a:off x="7498079" y="4005072"/>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4005072"/>
            <a:ext cx="36576" cy="100584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19" y="4059936"/>
            <a:ext cx="4187952" cy="914400"/>
          </a:xfrm>
          <a:prstGeom prst="rect">
            <a:avLst/>
          </a:prstGeom>
          <a:noFill/>
        </p:spPr>
        <p:txBody>
          <a:bodyPr wrap="square">
            <a:normAutofit/>
          </a:bodyPr>
          <a:lstStyle/>
          <a:p>
            <a:pPr algn="l"/>
            <a:r>
              <a:rPr sz="950" b="0" i="0">
                <a:solidFill>
                  <a:srgbClr val="1C2C3A"/>
                </a:solidFill>
                <a:latin typeface="Garamond"/>
              </a:rPr>
              <a:t>Consensus FY2026 EBITDA $1,929mm falsifiable at Q1 2026 earnings (2026-04-27)</a:t>
            </a:r>
          </a:p>
        </p:txBody>
      </p:sp>
      <p:sp>
        <p:nvSpPr>
          <p:cNvPr id="29" name="Rectangle 28"/>
          <p:cNvSpPr/>
          <p:nvPr/>
        </p:nvSpPr>
        <p:spPr>
          <a:xfrm>
            <a:off x="640080" y="5852160"/>
            <a:ext cx="11183112" cy="438912"/>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925312"/>
            <a:ext cx="1371600" cy="292608"/>
          </a:xfrm>
          <a:prstGeom prst="rect">
            <a:avLst/>
          </a:prstGeom>
          <a:noFill/>
        </p:spPr>
        <p:txBody>
          <a:bodyPr wrap="square">
            <a:normAutofit/>
          </a:bodyPr>
          <a:lstStyle/>
          <a:p>
            <a:pPr algn="l"/>
            <a:r>
              <a:rPr sz="1100" b="1" i="0">
                <a:solidFill>
                  <a:srgbClr val="FFFFFF"/>
                </a:solidFill>
                <a:latin typeface="Garamond"/>
              </a:rPr>
              <a:t>Takeaway:</a:t>
            </a:r>
          </a:p>
        </p:txBody>
      </p:sp>
      <p:sp>
        <p:nvSpPr>
          <p:cNvPr id="31" name="TextBox 30"/>
          <p:cNvSpPr txBox="1"/>
          <p:nvPr/>
        </p:nvSpPr>
        <p:spPr>
          <a:xfrm>
            <a:off x="2194560" y="5925312"/>
            <a:ext cx="9509760" cy="292608"/>
          </a:xfrm>
          <a:prstGeom prst="rect">
            <a:avLst/>
          </a:prstGeom>
          <a:noFill/>
        </p:spPr>
        <p:txBody>
          <a:bodyPr wrap="square">
            <a:normAutofit/>
          </a:bodyPr>
          <a:lstStyle/>
          <a:p>
            <a:pPr algn="l"/>
            <a:r>
              <a:rPr sz="1200" b="0" i="1">
                <a:solidFill>
                  <a:srgbClr val="FFFFFF"/>
                </a:solidFill>
                <a:latin typeface="Garamond"/>
              </a:rPr>
              <a:t>Q1 2026 earnings on 2026-04-27 are the first read on whether margin trajectory has reversed or further compressed.</a:t>
            </a:r>
          </a:p>
        </p:txBody>
      </p:sp>
      <p:sp>
        <p:nvSpPr>
          <p:cNvPr id="32" name="TextBox 31"/>
          <p:cNvSpPr txBox="1"/>
          <p:nvPr/>
        </p:nvSpPr>
        <p:spPr>
          <a:xfrm>
            <a:off x="640080" y="6327648"/>
            <a:ext cx="11183112" cy="201168"/>
          </a:xfrm>
          <a:prstGeom prst="rect">
            <a:avLst/>
          </a:prstGeom>
          <a:noFill/>
        </p:spPr>
        <p:txBody>
          <a:bodyPr wrap="square">
            <a:normAutofit/>
          </a:bodyPr>
          <a:lstStyle/>
          <a:p>
            <a:pPr algn="r"/>
            <a:r>
              <a:rPr sz="800" b="0" i="0">
                <a:solidFill>
                  <a:srgbClr val="999999"/>
                </a:solidFill>
                <a:latin typeface="Garamond"/>
              </a:rPr>
              <a:t>PT: $210.00  |  EV Return: -1.5%  |  Slide 1 of 3</a:t>
            </a:r>
          </a:p>
        </p:txBody>
      </p:sp>
      <p:sp>
        <p:nvSpPr>
          <p:cNvPr id="33" name="TextBox 32"/>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Thesis II — 6.9x Leverage at 4.3% Rates Creates Equity Risk That Matching AMT's 19x Multiple Ignores</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Bloomberg, Investor Presentations</a:t>
            </a:r>
          </a:p>
        </p:txBody>
      </p:sp>
      <p:sp>
        <p:nvSpPr>
          <p:cNvPr id="5" name="Rectangle 4"/>
          <p:cNvSpPr/>
          <p:nvPr/>
        </p:nvSpPr>
        <p:spPr>
          <a:xfrm>
            <a:off x="640080" y="749808"/>
            <a:ext cx="11183112" cy="292608"/>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795528"/>
            <a:ext cx="10972800" cy="219456"/>
          </a:xfrm>
          <a:prstGeom prst="rect">
            <a:avLst/>
          </a:prstGeom>
          <a:noFill/>
        </p:spPr>
        <p:txBody>
          <a:bodyPr wrap="square">
            <a:normAutofit/>
          </a:bodyPr>
          <a:lstStyle/>
          <a:p>
            <a:pPr algn="l"/>
            <a:r>
              <a:rPr sz="1000" b="0" i="1">
                <a:solidFill>
                  <a:srgbClr val="1C2C3A"/>
                </a:solidFill>
                <a:latin typeface="Garamond"/>
              </a:rPr>
              <a:t>CONSENSUS ASSUMES 68.0% EBITDA margin FY2026 ($1,929mm on $2,838mm rev). OUR VIEW: 0.2x FY2025 operating leverage implies $1,840mm — a $89mm miss — making current 19x EV/EBITDA fairly priced at best.</a:t>
            </a:r>
          </a:p>
        </p:txBody>
      </p:sp>
      <p:sp>
        <p:nvSpPr>
          <p:cNvPr id="7" name="Rectangle 6"/>
          <p:cNvSpPr/>
          <p:nvPr/>
        </p:nvSpPr>
        <p:spPr>
          <a:xfrm>
            <a:off x="640080" y="1115568"/>
            <a:ext cx="11183112" cy="38404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70432"/>
            <a:ext cx="10972800" cy="292608"/>
          </a:xfrm>
          <a:prstGeom prst="rect">
            <a:avLst/>
          </a:prstGeom>
          <a:noFill/>
        </p:spPr>
        <p:txBody>
          <a:bodyPr wrap="square">
            <a:normAutofit/>
          </a:bodyPr>
          <a:lstStyle/>
          <a:p>
            <a:pPr algn="l"/>
            <a:r>
              <a:rPr sz="1600" b="1" i="0">
                <a:solidFill>
                  <a:srgbClr val="FFFFFF"/>
                </a:solidFill>
                <a:latin typeface="Garamond"/>
              </a:rPr>
              <a:t>6.9x Leverage at 4.3% Rates Creates Equity Risk That Matching AMT's 19x Multiple Ignores</a:t>
            </a:r>
          </a:p>
        </p:txBody>
      </p:sp>
      <p:sp>
        <p:nvSpPr>
          <p:cNvPr id="9" name="TextBox 8"/>
          <p:cNvSpPr txBox="1"/>
          <p:nvPr/>
        </p:nvSpPr>
        <p:spPr>
          <a:xfrm>
            <a:off x="640080" y="1554480"/>
            <a:ext cx="6675120" cy="237744"/>
          </a:xfrm>
          <a:prstGeom prst="rect">
            <a:avLst/>
          </a:prstGeom>
          <a:noFill/>
        </p:spPr>
        <p:txBody>
          <a:bodyPr wrap="square">
            <a:normAutofit/>
          </a:bodyPr>
          <a:lstStyle/>
          <a:p>
            <a:pPr algn="l"/>
            <a:r>
              <a:rPr sz="1400" b="1" i="0">
                <a:solidFill>
                  <a:srgbClr val="00ACB6"/>
                </a:solidFill>
                <a:latin typeface="Garamond"/>
              </a:rPr>
              <a:t>The Investment Case</a:t>
            </a:r>
          </a:p>
        </p:txBody>
      </p:sp>
      <p:sp>
        <p:nvSpPr>
          <p:cNvPr id="10" name="Rectangle 9"/>
          <p:cNvSpPr/>
          <p:nvPr/>
        </p:nvSpPr>
        <p:spPr>
          <a:xfrm>
            <a:off x="640080" y="1792224"/>
            <a:ext cx="6675120"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83664"/>
            <a:ext cx="6675120" cy="329184"/>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83664"/>
            <a:ext cx="36576" cy="32918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1938528"/>
            <a:ext cx="1234440" cy="237744"/>
          </a:xfrm>
          <a:prstGeom prst="rect">
            <a:avLst/>
          </a:prstGeom>
          <a:noFill/>
        </p:spPr>
        <p:txBody>
          <a:bodyPr wrap="square">
            <a:normAutofit/>
          </a:bodyPr>
          <a:lstStyle/>
          <a:p>
            <a:pPr algn="l"/>
            <a:r>
              <a:rPr sz="900" b="1" i="0">
                <a:solidFill>
                  <a:srgbClr val="C00000"/>
                </a:solidFill>
                <a:latin typeface="Garamond"/>
              </a:rPr>
              <a:t>Street believes: </a:t>
            </a:r>
          </a:p>
        </p:txBody>
      </p:sp>
      <p:sp>
        <p:nvSpPr>
          <p:cNvPr id="14" name="TextBox 13"/>
          <p:cNvSpPr txBox="1"/>
          <p:nvPr/>
        </p:nvSpPr>
        <p:spPr>
          <a:xfrm>
            <a:off x="1965960" y="1938528"/>
            <a:ext cx="5257800" cy="237744"/>
          </a:xfrm>
          <a:prstGeom prst="rect">
            <a:avLst/>
          </a:prstGeom>
          <a:noFill/>
        </p:spPr>
        <p:txBody>
          <a:bodyPr wrap="square">
            <a:normAutofit/>
          </a:bodyPr>
          <a:lstStyle/>
          <a:p>
            <a:pPr algn="l"/>
            <a:r>
              <a:rPr sz="900" b="0" i="1">
                <a:solidFill>
                  <a:srgbClr val="1C2C3A"/>
                </a:solidFill>
                <a:latin typeface="Garamond"/>
              </a:rPr>
              <a:t>SBAC and AMT trade at identical 19x NTM EV/EBITDA despite SBAC running 190bps excess leverage — no leverage discount embedded in the multiple.</a:t>
            </a:r>
          </a:p>
        </p:txBody>
      </p:sp>
      <p:sp>
        <p:nvSpPr>
          <p:cNvPr id="15" name="TextBox 14"/>
          <p:cNvSpPr txBox="1"/>
          <p:nvPr/>
        </p:nvSpPr>
        <p:spPr>
          <a:xfrm>
            <a:off x="731519" y="2267712"/>
            <a:ext cx="6492240" cy="969264"/>
          </a:xfrm>
          <a:prstGeom prst="rect">
            <a:avLst/>
          </a:prstGeom>
          <a:noFill/>
        </p:spPr>
        <p:txBody>
          <a:bodyPr wrap="square">
            <a:normAutofit/>
          </a:bodyPr>
          <a:lstStyle/>
          <a:p>
            <a:pPr algn="l"/>
            <a:r>
              <a:rPr sz="1050" b="0" i="0">
                <a:solidFill>
                  <a:srgbClr val="000000"/>
                </a:solidFill>
                <a:latin typeface="Garamond"/>
              </a:rPr>
              <a:t>SBAC carries 6.9x net debt/EBITDA with 3.0x interest coverage at a 4.313% risk-free rate — yet trades at the same 19x NTM EV/EBITDA as AMT (~5.0x leverage). SBAC's 190bps excess leverage amplifies a 5% EBITDA miss ($90mm) into ~$1.7B EV impairment (8% equity loss) at a fixed multiple. When rates were 2-3%, towers historically traded 22-24x; at 4.3%, 19x leaves no error margin on a 6.9x levered capital structure.</a:t>
            </a:r>
          </a:p>
        </p:txBody>
      </p:sp>
      <p:sp>
        <p:nvSpPr>
          <p:cNvPr id="16" name="Rectangle 15"/>
          <p:cNvSpPr/>
          <p:nvPr/>
        </p:nvSpPr>
        <p:spPr>
          <a:xfrm>
            <a:off x="640080" y="3328416"/>
            <a:ext cx="667512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3401568"/>
            <a:ext cx="6492240" cy="2377440"/>
          </a:xfrm>
          <a:prstGeom prst="rect">
            <a:avLst/>
          </a:prstGeom>
          <a:noFill/>
        </p:spPr>
        <p:txBody>
          <a:bodyPr wrap="square">
            <a:normAutofit/>
          </a:bodyPr>
          <a:lstStyle/>
          <a:p>
            <a:pPr algn="l"/>
            <a:r>
              <a:rPr sz="1000" b="0" i="0">
                <a:solidFill>
                  <a:srgbClr val="000000"/>
                </a:solidFill>
                <a:latin typeface="Garamond"/>
              </a:rPr>
              <a:t>• Interest coverage 3.0x — below 3.5x threshold where ratings pressure typically emerges for BBB infrastructure REITs
• Net debt $15,145mm = 73% of EV — equity is a thin residual; leverage amplifies all operating outcomes
• 10Y at 4.313% vs. 2-3% when sector traded 22-24x — 130bps rate premium alone justifies current 19x, leaving no upside from multiple expansion</a:t>
            </a:r>
          </a:p>
        </p:txBody>
      </p:sp>
      <p:sp>
        <p:nvSpPr>
          <p:cNvPr id="18" name="TextBox 17"/>
          <p:cNvSpPr txBox="1"/>
          <p:nvPr/>
        </p:nvSpPr>
        <p:spPr>
          <a:xfrm>
            <a:off x="7498079" y="1554480"/>
            <a:ext cx="4325112" cy="237744"/>
          </a:xfrm>
          <a:prstGeom prst="rect">
            <a:avLst/>
          </a:prstGeom>
          <a:noFill/>
        </p:spPr>
        <p:txBody>
          <a:bodyPr wrap="square">
            <a:normAutofit/>
          </a:bodyPr>
          <a:lstStyle/>
          <a:p>
            <a:pPr algn="l"/>
            <a:r>
              <a:rPr sz="1400" b="1" i="0">
                <a:solidFill>
                  <a:srgbClr val="00ACB6"/>
                </a:solidFill>
                <a:latin typeface="Garamond"/>
              </a:rPr>
              <a:t>Key Data Points</a:t>
            </a:r>
          </a:p>
        </p:txBody>
      </p:sp>
      <p:sp>
        <p:nvSpPr>
          <p:cNvPr id="19" name="Rectangle 18"/>
          <p:cNvSpPr/>
          <p:nvPr/>
        </p:nvSpPr>
        <p:spPr>
          <a:xfrm>
            <a:off x="7498079" y="1792224"/>
            <a:ext cx="4325112"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79" y="1883664"/>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1883664"/>
            <a:ext cx="36576" cy="100584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1938528"/>
            <a:ext cx="4187952" cy="914400"/>
          </a:xfrm>
          <a:prstGeom prst="rect">
            <a:avLst/>
          </a:prstGeom>
          <a:noFill/>
        </p:spPr>
        <p:txBody>
          <a:bodyPr wrap="square">
            <a:normAutofit/>
          </a:bodyPr>
          <a:lstStyle/>
          <a:p>
            <a:pPr algn="l"/>
            <a:r>
              <a:rPr sz="950" b="0" i="0">
                <a:solidFill>
                  <a:srgbClr val="1C2C3A"/>
                </a:solidFill>
                <a:latin typeface="Garamond"/>
              </a:rPr>
              <a:t>Interest coverage 3.0x — below 3.5x threshold where ratings pressure typically emerges for BBB infrastructure REITs</a:t>
            </a:r>
          </a:p>
        </p:txBody>
      </p:sp>
      <p:sp>
        <p:nvSpPr>
          <p:cNvPr id="23" name="Rectangle 22"/>
          <p:cNvSpPr/>
          <p:nvPr/>
        </p:nvSpPr>
        <p:spPr>
          <a:xfrm>
            <a:off x="7498079" y="2944368"/>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79" y="2944368"/>
            <a:ext cx="36576" cy="100584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19" y="2999232"/>
            <a:ext cx="4187952" cy="914400"/>
          </a:xfrm>
          <a:prstGeom prst="rect">
            <a:avLst/>
          </a:prstGeom>
          <a:noFill/>
        </p:spPr>
        <p:txBody>
          <a:bodyPr wrap="square">
            <a:normAutofit/>
          </a:bodyPr>
          <a:lstStyle/>
          <a:p>
            <a:pPr algn="l"/>
            <a:r>
              <a:rPr sz="950" b="0" i="0">
                <a:solidFill>
                  <a:srgbClr val="1C2C3A"/>
                </a:solidFill>
                <a:latin typeface="Garamond"/>
              </a:rPr>
              <a:t>Net debt $15,145mm = 73% of EV — equity is a thin residual; leverage amplifies all operating outcomes</a:t>
            </a:r>
          </a:p>
        </p:txBody>
      </p:sp>
      <p:sp>
        <p:nvSpPr>
          <p:cNvPr id="26" name="Rectangle 25"/>
          <p:cNvSpPr/>
          <p:nvPr/>
        </p:nvSpPr>
        <p:spPr>
          <a:xfrm>
            <a:off x="7498079" y="4005072"/>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4005072"/>
            <a:ext cx="36576" cy="100584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19" y="4059936"/>
            <a:ext cx="4187952" cy="914400"/>
          </a:xfrm>
          <a:prstGeom prst="rect">
            <a:avLst/>
          </a:prstGeom>
          <a:noFill/>
        </p:spPr>
        <p:txBody>
          <a:bodyPr wrap="square">
            <a:normAutofit/>
          </a:bodyPr>
          <a:lstStyle/>
          <a:p>
            <a:pPr algn="l"/>
            <a:r>
              <a:rPr sz="950" b="0" i="0">
                <a:solidFill>
                  <a:srgbClr val="1C2C3A"/>
                </a:solidFill>
                <a:latin typeface="Garamond"/>
              </a:rPr>
              <a:t>10Y at 4.313% vs. 2-3% when sector traded 22-24x — 130bps rate premium alone justifies current 19x, leaving no upside from multiple expansion</a:t>
            </a:r>
          </a:p>
        </p:txBody>
      </p:sp>
      <p:sp>
        <p:nvSpPr>
          <p:cNvPr id="29" name="Rectangle 28"/>
          <p:cNvSpPr/>
          <p:nvPr/>
        </p:nvSpPr>
        <p:spPr>
          <a:xfrm>
            <a:off x="640080" y="5852160"/>
            <a:ext cx="11183112" cy="438912"/>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925312"/>
            <a:ext cx="1371600" cy="292608"/>
          </a:xfrm>
          <a:prstGeom prst="rect">
            <a:avLst/>
          </a:prstGeom>
          <a:noFill/>
        </p:spPr>
        <p:txBody>
          <a:bodyPr wrap="square">
            <a:normAutofit/>
          </a:bodyPr>
          <a:lstStyle/>
          <a:p>
            <a:pPr algn="l"/>
            <a:r>
              <a:rPr sz="1100" b="1" i="0">
                <a:solidFill>
                  <a:srgbClr val="FFFFFF"/>
                </a:solidFill>
                <a:latin typeface="Garamond"/>
              </a:rPr>
              <a:t>Takeaway:</a:t>
            </a:r>
          </a:p>
        </p:txBody>
      </p:sp>
      <p:sp>
        <p:nvSpPr>
          <p:cNvPr id="31" name="TextBox 30"/>
          <p:cNvSpPr txBox="1"/>
          <p:nvPr/>
        </p:nvSpPr>
        <p:spPr>
          <a:xfrm>
            <a:off x="2194560" y="5925312"/>
            <a:ext cx="9509760" cy="292608"/>
          </a:xfrm>
          <a:prstGeom prst="rect">
            <a:avLst/>
          </a:prstGeom>
          <a:noFill/>
        </p:spPr>
        <p:txBody>
          <a:bodyPr wrap="square">
            <a:normAutofit/>
          </a:bodyPr>
          <a:lstStyle/>
          <a:p>
            <a:pPr algn="l"/>
            <a:r>
              <a:rPr sz="1200" b="0" i="1">
                <a:solidFill>
                  <a:srgbClr val="FFFFFF"/>
                </a:solidFill>
                <a:latin typeface="Garamond"/>
              </a:rPr>
              <a:t>Any Fed rate path clarity in H1 2026 will reprice rate-sensitive levered REITs directionally — binary risk for SBAC's thin coverage cushion.</a:t>
            </a:r>
          </a:p>
        </p:txBody>
      </p:sp>
      <p:sp>
        <p:nvSpPr>
          <p:cNvPr id="32" name="TextBox 31"/>
          <p:cNvSpPr txBox="1"/>
          <p:nvPr/>
        </p:nvSpPr>
        <p:spPr>
          <a:xfrm>
            <a:off x="640080" y="6327648"/>
            <a:ext cx="11183112" cy="201168"/>
          </a:xfrm>
          <a:prstGeom prst="rect">
            <a:avLst/>
          </a:prstGeom>
          <a:noFill/>
        </p:spPr>
        <p:txBody>
          <a:bodyPr wrap="square">
            <a:normAutofit/>
          </a:bodyPr>
          <a:lstStyle/>
          <a:p>
            <a:pPr algn="r"/>
            <a:r>
              <a:rPr sz="800" b="0" i="0">
                <a:solidFill>
                  <a:srgbClr val="999999"/>
                </a:solidFill>
                <a:latin typeface="Garamond"/>
              </a:rPr>
              <a:t>PT: $210.00  |  EV Return: -1.5%  |  Slide 2 of 3</a:t>
            </a:r>
          </a:p>
        </p:txBody>
      </p:sp>
      <p:sp>
        <p:nvSpPr>
          <p:cNvPr id="33" name="TextBox 32"/>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Thesis III — Sprint Churn Clears in 2027 — But $37M Is Too Small to Drive a Multi-Turn Re-Rating Alone</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Bloomberg, Investor Presentations</a:t>
            </a:r>
          </a:p>
        </p:txBody>
      </p:sp>
      <p:sp>
        <p:nvSpPr>
          <p:cNvPr id="5" name="Rectangle 4"/>
          <p:cNvSpPr/>
          <p:nvPr/>
        </p:nvSpPr>
        <p:spPr>
          <a:xfrm>
            <a:off x="640080" y="749808"/>
            <a:ext cx="11183112" cy="292608"/>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795528"/>
            <a:ext cx="10972800" cy="219456"/>
          </a:xfrm>
          <a:prstGeom prst="rect">
            <a:avLst/>
          </a:prstGeom>
          <a:noFill/>
        </p:spPr>
        <p:txBody>
          <a:bodyPr wrap="square">
            <a:normAutofit/>
          </a:bodyPr>
          <a:lstStyle/>
          <a:p>
            <a:pPr algn="l"/>
            <a:r>
              <a:rPr sz="1000" b="0" i="1">
                <a:solidFill>
                  <a:srgbClr val="1C2C3A"/>
                </a:solidFill>
                <a:latin typeface="Garamond"/>
              </a:rPr>
              <a:t>CONSENSUS ASSUMES 68.0% EBITDA margin FY2026 ($1,929mm on $2,838mm rev). OUR VIEW: 0.2x FY2025 operating leverage implies $1,840mm — a $89mm miss — making current 19x EV/EBITDA fairly priced at best.</a:t>
            </a:r>
          </a:p>
        </p:txBody>
      </p:sp>
      <p:sp>
        <p:nvSpPr>
          <p:cNvPr id="7" name="Rectangle 6"/>
          <p:cNvSpPr/>
          <p:nvPr/>
        </p:nvSpPr>
        <p:spPr>
          <a:xfrm>
            <a:off x="640080" y="1115568"/>
            <a:ext cx="11183112" cy="384048"/>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70432"/>
            <a:ext cx="10972800" cy="292608"/>
          </a:xfrm>
          <a:prstGeom prst="rect">
            <a:avLst/>
          </a:prstGeom>
          <a:noFill/>
        </p:spPr>
        <p:txBody>
          <a:bodyPr wrap="square">
            <a:normAutofit/>
          </a:bodyPr>
          <a:lstStyle/>
          <a:p>
            <a:pPr algn="l"/>
            <a:r>
              <a:rPr sz="1600" b="1" i="0">
                <a:solidFill>
                  <a:srgbClr val="FFFFFF"/>
                </a:solidFill>
                <a:latin typeface="Garamond"/>
              </a:rPr>
              <a:t>Sprint Churn Clears in 2027 — But $37M Is Too Small to Drive a Multi-Turn Re-Rating Alone</a:t>
            </a:r>
          </a:p>
        </p:txBody>
      </p:sp>
      <p:sp>
        <p:nvSpPr>
          <p:cNvPr id="9" name="TextBox 8"/>
          <p:cNvSpPr txBox="1"/>
          <p:nvPr/>
        </p:nvSpPr>
        <p:spPr>
          <a:xfrm>
            <a:off x="640080" y="1554480"/>
            <a:ext cx="6675120" cy="237744"/>
          </a:xfrm>
          <a:prstGeom prst="rect">
            <a:avLst/>
          </a:prstGeom>
          <a:noFill/>
        </p:spPr>
        <p:txBody>
          <a:bodyPr wrap="square">
            <a:normAutofit/>
          </a:bodyPr>
          <a:lstStyle/>
          <a:p>
            <a:pPr algn="l"/>
            <a:r>
              <a:rPr sz="1400" b="1" i="0">
                <a:solidFill>
                  <a:srgbClr val="FFC03B"/>
                </a:solidFill>
                <a:latin typeface="Garamond"/>
              </a:rPr>
              <a:t>The Investment Case</a:t>
            </a:r>
          </a:p>
        </p:txBody>
      </p:sp>
      <p:sp>
        <p:nvSpPr>
          <p:cNvPr id="10" name="Rectangle 9"/>
          <p:cNvSpPr/>
          <p:nvPr/>
        </p:nvSpPr>
        <p:spPr>
          <a:xfrm>
            <a:off x="640080" y="1792224"/>
            <a:ext cx="6675120" cy="2286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83664"/>
            <a:ext cx="6675120" cy="329184"/>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83664"/>
            <a:ext cx="36576" cy="32918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1938528"/>
            <a:ext cx="1234440" cy="237744"/>
          </a:xfrm>
          <a:prstGeom prst="rect">
            <a:avLst/>
          </a:prstGeom>
          <a:noFill/>
        </p:spPr>
        <p:txBody>
          <a:bodyPr wrap="square">
            <a:normAutofit/>
          </a:bodyPr>
          <a:lstStyle/>
          <a:p>
            <a:pPr algn="l"/>
            <a:r>
              <a:rPr sz="900" b="1" i="0">
                <a:solidFill>
                  <a:srgbClr val="C00000"/>
                </a:solidFill>
                <a:latin typeface="Garamond"/>
              </a:rPr>
              <a:t>Street believes: </a:t>
            </a:r>
          </a:p>
        </p:txBody>
      </p:sp>
      <p:sp>
        <p:nvSpPr>
          <p:cNvPr id="14" name="TextBox 13"/>
          <p:cNvSpPr txBox="1"/>
          <p:nvPr/>
        </p:nvSpPr>
        <p:spPr>
          <a:xfrm>
            <a:off x="1965960" y="1938528"/>
            <a:ext cx="5257800" cy="237744"/>
          </a:xfrm>
          <a:prstGeom prst="rect">
            <a:avLst/>
          </a:prstGeom>
          <a:noFill/>
        </p:spPr>
        <p:txBody>
          <a:bodyPr wrap="square">
            <a:normAutofit/>
          </a:bodyPr>
          <a:lstStyle/>
          <a:p>
            <a:pPr algn="l"/>
            <a:r>
              <a:rPr sz="900" b="0" i="1">
                <a:solidFill>
                  <a:srgbClr val="1C2C3A"/>
                </a:solidFill>
                <a:latin typeface="Garamond"/>
              </a:rPr>
              <a:t>Street prices $37M Sprint churn clearing as the primary AFFO re-rating catalyst; at 2.0% of EBITDA it cannot alone justify a 2-3 turn multiple expansion.</a:t>
            </a:r>
          </a:p>
        </p:txBody>
      </p:sp>
      <p:sp>
        <p:nvSpPr>
          <p:cNvPr id="15" name="TextBox 14"/>
          <p:cNvSpPr txBox="1"/>
          <p:nvPr/>
        </p:nvSpPr>
        <p:spPr>
          <a:xfrm>
            <a:off x="731519" y="2267712"/>
            <a:ext cx="6492240" cy="1261872"/>
          </a:xfrm>
          <a:prstGeom prst="rect">
            <a:avLst/>
          </a:prstGeom>
          <a:noFill/>
        </p:spPr>
        <p:txBody>
          <a:bodyPr wrap="square">
            <a:normAutofit/>
          </a:bodyPr>
          <a:lstStyle/>
          <a:p>
            <a:pPr algn="l"/>
            <a:r>
              <a:rPr sz="1050" b="0" i="0">
                <a:solidFill>
                  <a:srgbClr val="000000"/>
                </a:solidFill>
                <a:latin typeface="Garamond"/>
              </a:rPr>
              <a:t>The $37M Sprint churn headwind IS contractually bounded and expected to clear by 2027. But $37M represents only 2.0% of FY2025 EBITDA of $1,810mm — insufficient on its own to justify a 2-3 turn multiple expansion from 19x to 22x. The street treats churn clearing as the primary catalyst; we see it as a necessary but insufficient condition. The bull case requires churn clearing AND margin normalization AND rate cuts simultaneously — a three-condition bet priced as one.</a:t>
            </a:r>
          </a:p>
        </p:txBody>
      </p:sp>
      <p:sp>
        <p:nvSpPr>
          <p:cNvPr id="16" name="Rectangle 15"/>
          <p:cNvSpPr/>
          <p:nvPr/>
        </p:nvSpPr>
        <p:spPr>
          <a:xfrm>
            <a:off x="640080" y="3621024"/>
            <a:ext cx="6675120" cy="1828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19" y="3694176"/>
            <a:ext cx="6492240" cy="2084832"/>
          </a:xfrm>
          <a:prstGeom prst="rect">
            <a:avLst/>
          </a:prstGeom>
          <a:noFill/>
        </p:spPr>
        <p:txBody>
          <a:bodyPr wrap="square">
            <a:normAutofit/>
          </a:bodyPr>
          <a:lstStyle/>
          <a:p>
            <a:pPr algn="l"/>
            <a:r>
              <a:rPr sz="1000" b="0" i="0">
                <a:solidFill>
                  <a:srgbClr val="000000"/>
                </a:solidFill>
                <a:latin typeface="Garamond"/>
              </a:rPr>
              <a:t>• $37M annual churn = 2.0% of $1,810mm FY2025 EBITDA — its clearing is a tailwind, not a transformation
• 2yr revenue CAGR only +1.9% despite churn already embedded — organic growth ex-churn likely 3-4%, insufficient for 22x premium
• T-Mobile multi-year network consolidation is ongoing per public disclosures — risk of additional rationalizations beyond modeled $37M</a:t>
            </a:r>
          </a:p>
        </p:txBody>
      </p:sp>
      <p:sp>
        <p:nvSpPr>
          <p:cNvPr id="18" name="TextBox 17"/>
          <p:cNvSpPr txBox="1"/>
          <p:nvPr/>
        </p:nvSpPr>
        <p:spPr>
          <a:xfrm>
            <a:off x="7498079" y="1554480"/>
            <a:ext cx="4325112" cy="237744"/>
          </a:xfrm>
          <a:prstGeom prst="rect">
            <a:avLst/>
          </a:prstGeom>
          <a:noFill/>
        </p:spPr>
        <p:txBody>
          <a:bodyPr wrap="square">
            <a:normAutofit/>
          </a:bodyPr>
          <a:lstStyle/>
          <a:p>
            <a:pPr algn="l"/>
            <a:r>
              <a:rPr sz="1400" b="1" i="0">
                <a:solidFill>
                  <a:srgbClr val="FFC03B"/>
                </a:solidFill>
                <a:latin typeface="Garamond"/>
              </a:rPr>
              <a:t>Key Data Points</a:t>
            </a:r>
          </a:p>
        </p:txBody>
      </p:sp>
      <p:sp>
        <p:nvSpPr>
          <p:cNvPr id="19" name="Rectangle 18"/>
          <p:cNvSpPr/>
          <p:nvPr/>
        </p:nvSpPr>
        <p:spPr>
          <a:xfrm>
            <a:off x="7498079" y="1792224"/>
            <a:ext cx="4325112" cy="2286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79" y="1883664"/>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98079" y="1883664"/>
            <a:ext cx="36576" cy="100584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1938528"/>
            <a:ext cx="4187952" cy="914400"/>
          </a:xfrm>
          <a:prstGeom prst="rect">
            <a:avLst/>
          </a:prstGeom>
          <a:noFill/>
        </p:spPr>
        <p:txBody>
          <a:bodyPr wrap="square">
            <a:normAutofit/>
          </a:bodyPr>
          <a:lstStyle/>
          <a:p>
            <a:pPr algn="l"/>
            <a:r>
              <a:rPr sz="950" b="0" i="0">
                <a:solidFill>
                  <a:srgbClr val="1C2C3A"/>
                </a:solidFill>
                <a:latin typeface="Garamond"/>
              </a:rPr>
              <a:t>$37M annual churn = 2.0% of $1,810mm FY2025 EBITDA — its clearing is a tailwind, not a transformation</a:t>
            </a:r>
          </a:p>
        </p:txBody>
      </p:sp>
      <p:sp>
        <p:nvSpPr>
          <p:cNvPr id="23" name="Rectangle 22"/>
          <p:cNvSpPr/>
          <p:nvPr/>
        </p:nvSpPr>
        <p:spPr>
          <a:xfrm>
            <a:off x="7498079" y="2944368"/>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79" y="2944368"/>
            <a:ext cx="36576" cy="100584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19" y="2999232"/>
            <a:ext cx="4187952" cy="914400"/>
          </a:xfrm>
          <a:prstGeom prst="rect">
            <a:avLst/>
          </a:prstGeom>
          <a:noFill/>
        </p:spPr>
        <p:txBody>
          <a:bodyPr wrap="square">
            <a:normAutofit/>
          </a:bodyPr>
          <a:lstStyle/>
          <a:p>
            <a:pPr algn="l"/>
            <a:r>
              <a:rPr sz="950" b="0" i="0">
                <a:solidFill>
                  <a:srgbClr val="1C2C3A"/>
                </a:solidFill>
                <a:latin typeface="Garamond"/>
              </a:rPr>
              <a:t>2yr revenue CAGR only +1.9% despite churn already embedded — organic growth ex-churn likely 3-4%, insufficient for 22x premium</a:t>
            </a:r>
          </a:p>
        </p:txBody>
      </p:sp>
      <p:sp>
        <p:nvSpPr>
          <p:cNvPr id="26" name="Rectangle 25"/>
          <p:cNvSpPr/>
          <p:nvPr/>
        </p:nvSpPr>
        <p:spPr>
          <a:xfrm>
            <a:off x="7498079" y="4005072"/>
            <a:ext cx="4325112" cy="100584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4005072"/>
            <a:ext cx="36576" cy="1005840"/>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19" y="4059936"/>
            <a:ext cx="4187952" cy="914400"/>
          </a:xfrm>
          <a:prstGeom prst="rect">
            <a:avLst/>
          </a:prstGeom>
          <a:noFill/>
        </p:spPr>
        <p:txBody>
          <a:bodyPr wrap="square">
            <a:normAutofit/>
          </a:bodyPr>
          <a:lstStyle/>
          <a:p>
            <a:pPr algn="l"/>
            <a:r>
              <a:rPr sz="950" b="0" i="0">
                <a:solidFill>
                  <a:srgbClr val="1C2C3A"/>
                </a:solidFill>
                <a:latin typeface="Garamond"/>
              </a:rPr>
              <a:t>T-Mobile multi-year network consolidation is ongoing per public disclosures — risk of additional rationalizations beyond modeled $37M</a:t>
            </a:r>
          </a:p>
        </p:txBody>
      </p:sp>
      <p:sp>
        <p:nvSpPr>
          <p:cNvPr id="29" name="Rectangle 28"/>
          <p:cNvSpPr/>
          <p:nvPr/>
        </p:nvSpPr>
        <p:spPr>
          <a:xfrm>
            <a:off x="640080" y="5852160"/>
            <a:ext cx="11183112" cy="438912"/>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925312"/>
            <a:ext cx="1371600" cy="292608"/>
          </a:xfrm>
          <a:prstGeom prst="rect">
            <a:avLst/>
          </a:prstGeom>
          <a:noFill/>
        </p:spPr>
        <p:txBody>
          <a:bodyPr wrap="square">
            <a:normAutofit/>
          </a:bodyPr>
          <a:lstStyle/>
          <a:p>
            <a:pPr algn="l"/>
            <a:r>
              <a:rPr sz="1100" b="1" i="0">
                <a:solidFill>
                  <a:srgbClr val="FFFFFF"/>
                </a:solidFill>
                <a:latin typeface="Garamond"/>
              </a:rPr>
              <a:t>Takeaway:</a:t>
            </a:r>
          </a:p>
        </p:txBody>
      </p:sp>
      <p:sp>
        <p:nvSpPr>
          <p:cNvPr id="31" name="TextBox 30"/>
          <p:cNvSpPr txBox="1"/>
          <p:nvPr/>
        </p:nvSpPr>
        <p:spPr>
          <a:xfrm>
            <a:off x="2194560" y="5925312"/>
            <a:ext cx="9509760" cy="292608"/>
          </a:xfrm>
          <a:prstGeom prst="rect">
            <a:avLst/>
          </a:prstGeom>
          <a:noFill/>
        </p:spPr>
        <p:txBody>
          <a:bodyPr wrap="square">
            <a:normAutofit/>
          </a:bodyPr>
          <a:lstStyle/>
          <a:p>
            <a:pPr algn="l"/>
            <a:r>
              <a:rPr sz="1200" b="0" i="1">
                <a:solidFill>
                  <a:srgbClr val="FFFFFF"/>
                </a:solidFill>
                <a:latin typeface="Garamond"/>
              </a:rPr>
              <a:t>T-Mobile Q2-Q3 2026 earnings will clarify whether $37M is the final churn tranche or if additional Sprint-layer decommissioning remains.</a:t>
            </a:r>
          </a:p>
        </p:txBody>
      </p:sp>
      <p:sp>
        <p:nvSpPr>
          <p:cNvPr id="32" name="TextBox 31"/>
          <p:cNvSpPr txBox="1"/>
          <p:nvPr/>
        </p:nvSpPr>
        <p:spPr>
          <a:xfrm>
            <a:off x="640080" y="6327648"/>
            <a:ext cx="11183112" cy="201168"/>
          </a:xfrm>
          <a:prstGeom prst="rect">
            <a:avLst/>
          </a:prstGeom>
          <a:noFill/>
        </p:spPr>
        <p:txBody>
          <a:bodyPr wrap="square">
            <a:normAutofit/>
          </a:bodyPr>
          <a:lstStyle/>
          <a:p>
            <a:pPr algn="r"/>
            <a:r>
              <a:rPr sz="800" b="0" i="0">
                <a:solidFill>
                  <a:srgbClr val="999999"/>
                </a:solidFill>
                <a:latin typeface="Garamond"/>
              </a:rPr>
              <a:t>PT: $210.00  |  EV Return: -1.5%  |  Slide 3 of 3</a:t>
            </a:r>
          </a:p>
        </p:txBody>
      </p:sp>
      <p:sp>
        <p:nvSpPr>
          <p:cNvPr id="33" name="TextBox 32"/>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Scenario Analysis  |  PT: $210.00  |  EV Return: -1.5%</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CapIQ, LSEG, DCF Analysis, Comparable Company Analysis</a:t>
            </a:r>
          </a:p>
        </p:txBody>
      </p:sp>
      <p:sp>
        <p:nvSpPr>
          <p:cNvPr id="5" name="Rectangle 4"/>
          <p:cNvSpPr/>
          <p:nvPr/>
        </p:nvSpPr>
        <p:spPr>
          <a:xfrm>
            <a:off x="640080" y="749808"/>
            <a:ext cx="11183112" cy="347472"/>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04672"/>
            <a:ext cx="10972800" cy="256032"/>
          </a:xfrm>
          <a:prstGeom prst="rect">
            <a:avLst/>
          </a:prstGeom>
          <a:noFill/>
        </p:spPr>
        <p:txBody>
          <a:bodyPr wrap="square">
            <a:normAutofit/>
          </a:bodyPr>
          <a:lstStyle/>
          <a:p>
            <a:pPr algn="l"/>
            <a:r>
              <a:rPr sz="1000" b="0" i="1">
                <a:solidFill>
                  <a:srgbClr val="1C2C3A"/>
                </a:solidFill>
                <a:latin typeface="Garamond"/>
              </a:rPr>
              <a:t>CONSENSUS ASSUMES 68.0% EBITDA margin FY2026 ($1,929mm on $2,838mm rev). OUR VIEW: 0.2x FY2025 operating leverage implies $1,840mm — a $89mm miss — making current 19x EV/EBITDA fairly priced at best.</a:t>
            </a:r>
          </a:p>
        </p:txBody>
      </p:sp>
      <p:sp>
        <p:nvSpPr>
          <p:cNvPr id="7" name="TextBox 6"/>
          <p:cNvSpPr txBox="1"/>
          <p:nvPr/>
        </p:nvSpPr>
        <p:spPr>
          <a:xfrm>
            <a:off x="640080" y="1170432"/>
            <a:ext cx="11183112" cy="256032"/>
          </a:xfrm>
          <a:prstGeom prst="rect">
            <a:avLst/>
          </a:prstGeom>
          <a:noFill/>
        </p:spPr>
        <p:txBody>
          <a:bodyPr wrap="square">
            <a:normAutofit/>
          </a:bodyPr>
          <a:lstStyle/>
          <a:p>
            <a:pPr algn="l"/>
            <a:r>
              <a:rPr sz="900" b="0" i="1">
                <a:solidFill>
                  <a:srgbClr val="595959"/>
                </a:solidFill>
                <a:latin typeface="Garamond"/>
              </a:rPr>
              <a:t>Bull 25% × (+19.6%) + Base 50% × (+2.9%) + Bear 25% × (-31.4%) = +4.9% + 1.5% - 7.9% = -1.5%. Negative probability-weighted EV confirms HOLD — insufficient margin of safety at $…</a:t>
            </a:r>
          </a:p>
        </p:txBody>
      </p:sp>
      <p:sp>
        <p:nvSpPr>
          <p:cNvPr id="8" name="Rectangle 7"/>
          <p:cNvSpPr/>
          <p:nvPr/>
        </p:nvSpPr>
        <p:spPr>
          <a:xfrm>
            <a:off x="640080" y="1517904"/>
            <a:ext cx="3721608" cy="329184"/>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63624"/>
            <a:ext cx="3721608" cy="256032"/>
          </a:xfrm>
          <a:prstGeom prst="rect">
            <a:avLst/>
          </a:prstGeom>
          <a:noFill/>
        </p:spPr>
        <p:txBody>
          <a:bodyPr wrap="square">
            <a:normAutofit/>
          </a:bodyPr>
          <a:lstStyle/>
          <a:p>
            <a:pPr algn="ctr"/>
            <a:r>
              <a:rPr sz="1100" b="1" i="0">
                <a:solidFill>
                  <a:srgbClr val="FFFFFF"/>
                </a:solidFill>
                <a:latin typeface="Garamond"/>
              </a:rPr>
              <a:t>BEAR  |  25%  |  PT: $140.00  |  -31.4%</a:t>
            </a:r>
          </a:p>
        </p:txBody>
      </p:sp>
      <p:sp>
        <p:nvSpPr>
          <p:cNvPr id="10" name="Rectangle 9"/>
          <p:cNvSpPr/>
          <p:nvPr/>
        </p:nvSpPr>
        <p:spPr>
          <a:xfrm>
            <a:off x="640080" y="1865376"/>
            <a:ext cx="3721608" cy="429768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38528"/>
            <a:ext cx="3502152" cy="4187952"/>
          </a:xfrm>
          <a:prstGeom prst="rect">
            <a:avLst/>
          </a:prstGeom>
          <a:noFill/>
        </p:spPr>
        <p:txBody>
          <a:bodyPr wrap="square">
            <a:normAutofit/>
          </a:bodyPr>
          <a:lstStyle/>
          <a:p>
            <a:pPr algn="l"/>
            <a:r>
              <a:rPr sz="1100" b="0" i="0">
                <a:solidFill>
                  <a:srgbClr val="000000"/>
                </a:solidFill>
                <a:latin typeface="Garamond"/>
              </a:rPr>
              <a:t>EBITDA further compresses to $1,730mm (61.5% margin); T-Mobile discloses additional Sprint rationalizations; rates hold at 4.3%+
• Ground lease escalators accelerate; gross margin falls to 73%; T-Mobile rationalizations extend
• 17.3x EV/EBITDA on coverage deterioration → EV $29,959mm → equity $14,814mm / 105.8mm = $140</a:t>
            </a:r>
          </a:p>
        </p:txBody>
      </p:sp>
      <p:sp>
        <p:nvSpPr>
          <p:cNvPr id="12" name="Rectangle 11"/>
          <p:cNvSpPr/>
          <p:nvPr/>
        </p:nvSpPr>
        <p:spPr>
          <a:xfrm>
            <a:off x="4498848" y="1517904"/>
            <a:ext cx="3721608" cy="329184"/>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563624"/>
            <a:ext cx="3721608" cy="256032"/>
          </a:xfrm>
          <a:prstGeom prst="rect">
            <a:avLst/>
          </a:prstGeom>
          <a:noFill/>
        </p:spPr>
        <p:txBody>
          <a:bodyPr wrap="square">
            <a:normAutofit/>
          </a:bodyPr>
          <a:lstStyle/>
          <a:p>
            <a:pPr algn="ctr"/>
            <a:r>
              <a:rPr sz="1100" b="1" i="0">
                <a:solidFill>
                  <a:srgbClr val="FFFFFF"/>
                </a:solidFill>
                <a:latin typeface="Garamond"/>
              </a:rPr>
              <a:t>BASE  |  50%  |  PT: $210.00  |  +2.9%</a:t>
            </a:r>
          </a:p>
        </p:txBody>
      </p:sp>
      <p:sp>
        <p:nvSpPr>
          <p:cNvPr id="14" name="Rectangle 13"/>
          <p:cNvSpPr/>
          <p:nvPr/>
        </p:nvSpPr>
        <p:spPr>
          <a:xfrm>
            <a:off x="4498848" y="1865376"/>
            <a:ext cx="3721608" cy="429768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938528"/>
            <a:ext cx="3502152" cy="4187952"/>
          </a:xfrm>
          <a:prstGeom prst="rect">
            <a:avLst/>
          </a:prstGeom>
          <a:noFill/>
        </p:spPr>
        <p:txBody>
          <a:bodyPr wrap="square">
            <a:normAutofit/>
          </a:bodyPr>
          <a:lstStyle/>
          <a:p>
            <a:pPr algn="l"/>
            <a:r>
              <a:rPr sz="1100" b="0" i="0">
                <a:solidFill>
                  <a:srgbClr val="000000"/>
                </a:solidFill>
                <a:latin typeface="Garamond"/>
              </a:rPr>
              <a:t>Partial margin recovery to 65.9%; rates flat; 20x multiple holds on stable-but-modest EBITDA
• Revenue $2,838mm (+0.8%), EBITDA margin 65.9% = $1,870mm
• 20x EV/EBITDA → EV $37,400mm → equity $22,255mm / 105.8mm = $210</a:t>
            </a:r>
          </a:p>
        </p:txBody>
      </p:sp>
      <p:sp>
        <p:nvSpPr>
          <p:cNvPr id="16" name="Rectangle 15"/>
          <p:cNvSpPr/>
          <p:nvPr/>
        </p:nvSpPr>
        <p:spPr>
          <a:xfrm>
            <a:off x="8357616" y="1517904"/>
            <a:ext cx="3721608" cy="329184"/>
          </a:xfrm>
          <a:prstGeom prst="rect">
            <a:avLst/>
          </a:prstGeom>
          <a:solidFill>
            <a:srgbClr val="00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1563624"/>
            <a:ext cx="3721608" cy="256032"/>
          </a:xfrm>
          <a:prstGeom prst="rect">
            <a:avLst/>
          </a:prstGeom>
          <a:noFill/>
        </p:spPr>
        <p:txBody>
          <a:bodyPr wrap="square">
            <a:normAutofit/>
          </a:bodyPr>
          <a:lstStyle/>
          <a:p>
            <a:pPr algn="ctr"/>
            <a:r>
              <a:rPr sz="1100" b="1" i="0">
                <a:solidFill>
                  <a:srgbClr val="FFFFFF"/>
                </a:solidFill>
                <a:latin typeface="Garamond"/>
              </a:rPr>
              <a:t>BULL  |  25%  |  PT: $244.00  |  +19.6%</a:t>
            </a:r>
          </a:p>
        </p:txBody>
      </p:sp>
      <p:sp>
        <p:nvSpPr>
          <p:cNvPr id="18" name="Rectangle 17"/>
          <p:cNvSpPr/>
          <p:nvPr/>
        </p:nvSpPr>
        <p:spPr>
          <a:xfrm>
            <a:off x="8357616" y="1865376"/>
            <a:ext cx="3721608" cy="4297680"/>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7344" y="1938528"/>
            <a:ext cx="3502152" cy="4187952"/>
          </a:xfrm>
          <a:prstGeom prst="rect">
            <a:avLst/>
          </a:prstGeom>
          <a:noFill/>
        </p:spPr>
        <p:txBody>
          <a:bodyPr wrap="square">
            <a:normAutofit/>
          </a:bodyPr>
          <a:lstStyle/>
          <a:p>
            <a:pPr algn="l"/>
            <a:r>
              <a:rPr sz="1100" b="0" i="0">
                <a:solidFill>
                  <a:srgbClr val="000000"/>
                </a:solidFill>
                <a:latin typeface="Garamond"/>
              </a:rPr>
              <a:t>Q1 2026 gross margin ≥77% confirming FY2025 compression was one-time; Fed signals rate cut resumption H1 2026
• EBITDA $1,952mm (68.9% margin — full normalization + divestiture cleanup)
• 21x EV/EBITDA on rate decline + churn clearing visibility → EV $40,992mm → equity $25,847mm / 105…</a:t>
            </a:r>
          </a:p>
        </p:txBody>
      </p:sp>
      <p:sp>
        <p:nvSpPr>
          <p:cNvPr id="20" name="Rectangle 19"/>
          <p:cNvSpPr/>
          <p:nvPr/>
        </p:nvSpPr>
        <p:spPr>
          <a:xfrm>
            <a:off x="640080" y="6236208"/>
            <a:ext cx="11183112" cy="29260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6281928"/>
            <a:ext cx="10972800" cy="219456"/>
          </a:xfrm>
          <a:prstGeom prst="rect">
            <a:avLst/>
          </a:prstGeom>
          <a:noFill/>
        </p:spPr>
        <p:txBody>
          <a:bodyPr wrap="square">
            <a:normAutofit/>
          </a:bodyPr>
          <a:lstStyle/>
          <a:p>
            <a:pPr algn="ctr"/>
            <a:r>
              <a:rPr sz="900" b="1" i="0">
                <a:solidFill>
                  <a:srgbClr val="FFFFFF"/>
                </a:solidFill>
                <a:latin typeface="Garamond"/>
              </a:rPr>
              <a:t>Bear: 25%×-31.4%=-7.8%  +  Base: 50%×+2.9%=+1.4%  +  Bull: 25%×+19.6%=+4.9%  |  → EV Return: -1.5%</a:t>
            </a:r>
          </a:p>
        </p:txBody>
      </p:sp>
      <p:sp>
        <p:nvSpPr>
          <p:cNvPr id="22" name="TextBox 21"/>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Risks &amp; Mitigants</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Earnings Calls, CapIQ, Bloomberg</a:t>
            </a:r>
          </a:p>
        </p:txBody>
      </p:sp>
      <p:sp>
        <p:nvSpPr>
          <p:cNvPr id="5" name="Rectangle 4"/>
          <p:cNvSpPr/>
          <p:nvPr/>
        </p:nvSpPr>
        <p:spPr>
          <a:xfrm>
            <a:off x="640080" y="749808"/>
            <a:ext cx="11183112" cy="292608"/>
          </a:xfrm>
          <a:prstGeom prst="rect">
            <a:avLst/>
          </a:prstGeom>
          <a:solidFill>
            <a:srgbClr val="EA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04672"/>
            <a:ext cx="10972800" cy="219456"/>
          </a:xfrm>
          <a:prstGeom prst="rect">
            <a:avLst/>
          </a:prstGeom>
          <a:noFill/>
        </p:spPr>
        <p:txBody>
          <a:bodyPr wrap="square">
            <a:normAutofit/>
          </a:bodyPr>
          <a:lstStyle/>
          <a:p>
            <a:pPr algn="ctr"/>
            <a:r>
              <a:rPr sz="1100" b="1" i="1">
                <a:solidFill>
                  <a:srgbClr val="1C2C3A"/>
                </a:solidFill>
                <a:latin typeface="Garamond"/>
              </a:rPr>
              <a:t>Market prices these risks at a higher probability than the underlying data supports</a:t>
            </a:r>
          </a:p>
        </p:txBody>
      </p:sp>
      <p:sp>
        <p:nvSpPr>
          <p:cNvPr id="7" name="Rectangle 6"/>
          <p:cNvSpPr/>
          <p:nvPr/>
        </p:nvSpPr>
        <p:spPr>
          <a:xfrm>
            <a:off x="640080" y="1097280"/>
            <a:ext cx="1508760" cy="274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94560" y="1097280"/>
            <a:ext cx="6400800" cy="274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50224" y="1097280"/>
            <a:ext cx="1508760" cy="274320"/>
          </a:xfrm>
          <a:prstGeom prst="rect">
            <a:avLst/>
          </a:prstGeom>
          <a:solidFill>
            <a:srgbClr val="505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13848" y="1097280"/>
            <a:ext cx="1609344" cy="27432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1133856"/>
            <a:ext cx="1399031" cy="219456"/>
          </a:xfrm>
          <a:prstGeom prst="rect">
            <a:avLst/>
          </a:prstGeom>
          <a:noFill/>
        </p:spPr>
        <p:txBody>
          <a:bodyPr wrap="square">
            <a:normAutofit/>
          </a:bodyPr>
          <a:lstStyle/>
          <a:p>
            <a:pPr algn="ctr"/>
            <a:r>
              <a:rPr sz="1000" b="1" i="0">
                <a:solidFill>
                  <a:srgbClr val="FFFFFF"/>
                </a:solidFill>
                <a:latin typeface="Garamond"/>
              </a:rPr>
              <a:t>#</a:t>
            </a:r>
          </a:p>
        </p:txBody>
      </p:sp>
      <p:sp>
        <p:nvSpPr>
          <p:cNvPr id="12" name="TextBox 11"/>
          <p:cNvSpPr txBox="1"/>
          <p:nvPr/>
        </p:nvSpPr>
        <p:spPr>
          <a:xfrm>
            <a:off x="2249424" y="1133856"/>
            <a:ext cx="6291072" cy="219456"/>
          </a:xfrm>
          <a:prstGeom prst="rect">
            <a:avLst/>
          </a:prstGeom>
          <a:noFill/>
        </p:spPr>
        <p:txBody>
          <a:bodyPr wrap="square">
            <a:normAutofit/>
          </a:bodyPr>
          <a:lstStyle/>
          <a:p>
            <a:pPr algn="ctr"/>
            <a:r>
              <a:rPr sz="1000" b="1" i="0">
                <a:solidFill>
                  <a:srgbClr val="FFFFFF"/>
                </a:solidFill>
                <a:latin typeface="Garamond"/>
              </a:rPr>
              <a:t>Risk Description</a:t>
            </a:r>
          </a:p>
        </p:txBody>
      </p:sp>
      <p:sp>
        <p:nvSpPr>
          <p:cNvPr id="13" name="TextBox 12"/>
          <p:cNvSpPr txBox="1"/>
          <p:nvPr/>
        </p:nvSpPr>
        <p:spPr>
          <a:xfrm>
            <a:off x="8705088" y="1133856"/>
            <a:ext cx="1399031" cy="219456"/>
          </a:xfrm>
          <a:prstGeom prst="rect">
            <a:avLst/>
          </a:prstGeom>
          <a:noFill/>
        </p:spPr>
        <p:txBody>
          <a:bodyPr wrap="square">
            <a:normAutofit/>
          </a:bodyPr>
          <a:lstStyle/>
          <a:p>
            <a:pPr algn="ctr"/>
            <a:r>
              <a:rPr sz="1000" b="1" i="0">
                <a:solidFill>
                  <a:srgbClr val="FFFFFF"/>
                </a:solidFill>
                <a:latin typeface="Garamond"/>
              </a:rPr>
              <a:t>Prob / Impact</a:t>
            </a:r>
          </a:p>
        </p:txBody>
      </p:sp>
      <p:sp>
        <p:nvSpPr>
          <p:cNvPr id="14" name="TextBox 13"/>
          <p:cNvSpPr txBox="1"/>
          <p:nvPr/>
        </p:nvSpPr>
        <p:spPr>
          <a:xfrm>
            <a:off x="10268712" y="1133856"/>
            <a:ext cx="1499616" cy="219456"/>
          </a:xfrm>
          <a:prstGeom prst="rect">
            <a:avLst/>
          </a:prstGeom>
          <a:noFill/>
        </p:spPr>
        <p:txBody>
          <a:bodyPr wrap="square">
            <a:normAutofit/>
          </a:bodyPr>
          <a:lstStyle/>
          <a:p>
            <a:pPr algn="ctr"/>
            <a:r>
              <a:rPr sz="1000" b="1" i="0">
                <a:solidFill>
                  <a:srgbClr val="FFFFFF"/>
                </a:solidFill>
                <a:latin typeface="Garamond"/>
              </a:rPr>
              <a:t>Mitigants</a:t>
            </a:r>
          </a:p>
        </p:txBody>
      </p:sp>
      <p:sp>
        <p:nvSpPr>
          <p:cNvPr id="15" name="Rectangle 14"/>
          <p:cNvSpPr/>
          <p:nvPr/>
        </p:nvSpPr>
        <p:spPr>
          <a:xfrm>
            <a:off x="640080" y="1408176"/>
            <a:ext cx="1508760" cy="1572768"/>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481328"/>
            <a:ext cx="1508760" cy="502920"/>
          </a:xfrm>
          <a:prstGeom prst="rect">
            <a:avLst/>
          </a:prstGeom>
          <a:noFill/>
        </p:spPr>
        <p:txBody>
          <a:bodyPr wrap="square">
            <a:normAutofit/>
          </a:bodyPr>
          <a:lstStyle/>
          <a:p>
            <a:pPr algn="ctr"/>
            <a:r>
              <a:rPr sz="2600" b="1" i="0">
                <a:solidFill>
                  <a:srgbClr val="FFFFFF"/>
                </a:solidFill>
                <a:latin typeface="Garamond"/>
              </a:rPr>
              <a:t>1</a:t>
            </a:r>
          </a:p>
        </p:txBody>
      </p:sp>
      <p:sp>
        <p:nvSpPr>
          <p:cNvPr id="17" name="TextBox 16"/>
          <p:cNvSpPr txBox="1"/>
          <p:nvPr/>
        </p:nvSpPr>
        <p:spPr>
          <a:xfrm>
            <a:off x="640080" y="1993392"/>
            <a:ext cx="1508760" cy="987552"/>
          </a:xfrm>
          <a:prstGeom prst="rect">
            <a:avLst/>
          </a:prstGeom>
          <a:noFill/>
        </p:spPr>
        <p:txBody>
          <a:bodyPr wrap="square">
            <a:normAutofit/>
          </a:bodyPr>
          <a:lstStyle/>
          <a:p>
            <a:pPr algn="ctr"/>
            <a:r>
              <a:rPr sz="900" b="1" i="0">
                <a:solidFill>
                  <a:srgbClr val="FFFFFF"/>
                </a:solidFill>
                <a:latin typeface="Garamond"/>
              </a:rPr>
              <a:t>Sprint Churn Extends Beyond 2026</a:t>
            </a:r>
          </a:p>
        </p:txBody>
      </p:sp>
      <p:sp>
        <p:nvSpPr>
          <p:cNvPr id="18" name="TextBox 17"/>
          <p:cNvSpPr txBox="1"/>
          <p:nvPr/>
        </p:nvSpPr>
        <p:spPr>
          <a:xfrm>
            <a:off x="640080" y="2478024"/>
            <a:ext cx="1508760" cy="438912"/>
          </a:xfrm>
          <a:prstGeom prst="rect">
            <a:avLst/>
          </a:prstGeom>
          <a:noFill/>
        </p:spPr>
        <p:txBody>
          <a:bodyPr wrap="square">
            <a:normAutofit/>
          </a:bodyPr>
          <a:lstStyle/>
          <a:p>
            <a:pPr algn="ctr"/>
            <a:r>
              <a:rPr sz="800" b="1" i="0">
                <a:solidFill>
                  <a:srgbClr val="FFFF80"/>
                </a:solidFill>
                <a:latin typeface="Garamond"/>
              </a:rPr>
              <a:t>THESIS
KILLER</a:t>
            </a:r>
          </a:p>
        </p:txBody>
      </p:sp>
      <p:sp>
        <p:nvSpPr>
          <p:cNvPr id="19" name="Rectangle 18"/>
          <p:cNvSpPr/>
          <p:nvPr/>
        </p:nvSpPr>
        <p:spPr>
          <a:xfrm>
            <a:off x="2194560" y="1408176"/>
            <a:ext cx="6400800" cy="1572768"/>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04288" y="1463040"/>
            <a:ext cx="914400" cy="219456"/>
          </a:xfrm>
          <a:prstGeom prst="rect">
            <a:avLst/>
          </a:prstGeom>
          <a:noFill/>
        </p:spPr>
        <p:txBody>
          <a:bodyPr wrap="square">
            <a:normAutofit/>
          </a:bodyPr>
          <a:lstStyle/>
          <a:p>
            <a:pPr algn="l"/>
            <a:r>
              <a:rPr sz="1000" b="1" i="0">
                <a:solidFill>
                  <a:srgbClr val="C00000"/>
                </a:solidFill>
                <a:latin typeface="Garamond"/>
              </a:rPr>
              <a:t>Risk:</a:t>
            </a:r>
          </a:p>
        </p:txBody>
      </p:sp>
      <p:sp>
        <p:nvSpPr>
          <p:cNvPr id="21" name="TextBox 20"/>
          <p:cNvSpPr txBox="1"/>
          <p:nvPr/>
        </p:nvSpPr>
        <p:spPr>
          <a:xfrm>
            <a:off x="2304288" y="1700784"/>
            <a:ext cx="6181344" cy="1225295"/>
          </a:xfrm>
          <a:prstGeom prst="rect">
            <a:avLst/>
          </a:prstGeom>
          <a:noFill/>
        </p:spPr>
        <p:txBody>
          <a:bodyPr wrap="square">
            <a:normAutofit/>
          </a:bodyPr>
          <a:lstStyle/>
          <a:p>
            <a:pPr algn="l"/>
            <a:r>
              <a:rPr sz="1050" b="0" i="0">
                <a:solidFill>
                  <a:srgbClr val="000000"/>
                </a:solidFill>
                <a:latin typeface="Garamond"/>
              </a:rPr>
              <a:t>The entire bull thesis rests on a single sequential bet: Sprint churn (~$37M annual headwind) clears in 2027, AFFO/share rebounds ~8% from the modeled 2026 trough of ~$12.13 to ~$13.30, and the market re-rates SBAC to 18x P/AFFO on clean forward earnings. If T-Mobile continues rationalizing Sprint-legacy tower leases beyond Q1 2027 — e…</a:t>
            </a:r>
          </a:p>
        </p:txBody>
      </p:sp>
      <p:sp>
        <p:nvSpPr>
          <p:cNvPr id="22" name="Rectangle 21"/>
          <p:cNvSpPr/>
          <p:nvPr/>
        </p:nvSpPr>
        <p:spPr>
          <a:xfrm>
            <a:off x="8650224" y="1408176"/>
            <a:ext cx="1508760" cy="1572768"/>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0" y="1517904"/>
            <a:ext cx="1417320" cy="274320"/>
          </a:xfrm>
          <a:prstGeom prst="rect">
            <a:avLst/>
          </a:prstGeom>
          <a:noFill/>
        </p:spPr>
        <p:txBody>
          <a:bodyPr wrap="square">
            <a:normAutofit/>
          </a:bodyPr>
          <a:lstStyle/>
          <a:p>
            <a:pPr algn="ctr"/>
            <a:r>
              <a:rPr sz="1000" b="1" i="0">
                <a:solidFill>
                  <a:srgbClr val="1C2C3A"/>
                </a:solidFill>
                <a:latin typeface="Garamond"/>
              </a:rPr>
              <a:t>Prob: M</a:t>
            </a:r>
          </a:p>
        </p:txBody>
      </p:sp>
      <p:sp>
        <p:nvSpPr>
          <p:cNvPr id="24" name="TextBox 23"/>
          <p:cNvSpPr txBox="1"/>
          <p:nvPr/>
        </p:nvSpPr>
        <p:spPr>
          <a:xfrm>
            <a:off x="8686800" y="1828800"/>
            <a:ext cx="1417320" cy="274320"/>
          </a:xfrm>
          <a:prstGeom prst="rect">
            <a:avLst/>
          </a:prstGeom>
          <a:noFill/>
        </p:spPr>
        <p:txBody>
          <a:bodyPr wrap="square">
            <a:normAutofit/>
          </a:bodyPr>
          <a:lstStyle/>
          <a:p>
            <a:pPr algn="ctr"/>
            <a:r>
              <a:rPr sz="1000" b="0" i="0">
                <a:solidFill>
                  <a:srgbClr val="1C2C3A"/>
                </a:solidFill>
                <a:latin typeface="Garamond"/>
              </a:rPr>
              <a:t>Impact: M</a:t>
            </a:r>
          </a:p>
        </p:txBody>
      </p:sp>
      <p:sp>
        <p:nvSpPr>
          <p:cNvPr id="25" name="TextBox 24"/>
          <p:cNvSpPr txBox="1"/>
          <p:nvPr/>
        </p:nvSpPr>
        <p:spPr>
          <a:xfrm>
            <a:off x="8686800" y="2157984"/>
            <a:ext cx="1417320" cy="384048"/>
          </a:xfrm>
          <a:prstGeom prst="rect">
            <a:avLst/>
          </a:prstGeom>
          <a:noFill/>
        </p:spPr>
        <p:txBody>
          <a:bodyPr wrap="square">
            <a:normAutofit/>
          </a:bodyPr>
          <a:lstStyle/>
          <a:p>
            <a:pPr algn="ctr"/>
            <a:r>
              <a:rPr sz="1600" b="1" i="0">
                <a:solidFill>
                  <a:srgbClr val="00AF50"/>
                </a:solidFill>
                <a:latin typeface="Garamond"/>
              </a:rPr>
              <a:t>+30%</a:t>
            </a:r>
          </a:p>
        </p:txBody>
      </p:sp>
      <p:sp>
        <p:nvSpPr>
          <p:cNvPr id="26" name="Rectangle 25"/>
          <p:cNvSpPr/>
          <p:nvPr/>
        </p:nvSpPr>
        <p:spPr>
          <a:xfrm>
            <a:off x="10213848" y="1408176"/>
            <a:ext cx="1609344" cy="157276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59568" y="1463040"/>
            <a:ext cx="1481328" cy="219456"/>
          </a:xfrm>
          <a:prstGeom prst="rect">
            <a:avLst/>
          </a:prstGeom>
          <a:noFill/>
        </p:spPr>
        <p:txBody>
          <a:bodyPr wrap="square">
            <a:normAutofit/>
          </a:bodyPr>
          <a:lstStyle/>
          <a:p>
            <a:pPr algn="l"/>
            <a:r>
              <a:rPr sz="1000" b="1" i="0">
                <a:solidFill>
                  <a:srgbClr val="00B050"/>
                </a:solidFill>
                <a:latin typeface="Garamond"/>
              </a:rPr>
              <a:t>Mitigant:</a:t>
            </a:r>
          </a:p>
        </p:txBody>
      </p:sp>
      <p:sp>
        <p:nvSpPr>
          <p:cNvPr id="28" name="TextBox 27"/>
          <p:cNvSpPr txBox="1"/>
          <p:nvPr/>
        </p:nvSpPr>
        <p:spPr>
          <a:xfrm>
            <a:off x="10259568" y="1700784"/>
            <a:ext cx="1481328" cy="1225295"/>
          </a:xfrm>
          <a:prstGeom prst="rect">
            <a:avLst/>
          </a:prstGeom>
          <a:noFill/>
        </p:spPr>
        <p:txBody>
          <a:bodyPr wrap="square">
            <a:normAutofit/>
          </a:bodyPr>
          <a:lstStyle/>
          <a:p>
            <a:pPr algn="l"/>
            <a:r>
              <a:rPr sz="1000" b="0" i="0">
                <a:solidFill>
                  <a:srgbClr val="000000"/>
                </a:solidFill>
                <a:latin typeface="Garamond"/>
              </a:rPr>
              <a:t>SBAC's lease contracts are triple-net with 3% annual escalators and average remaining terms of 7-8 years, meaning T-Mobile cannot walk away without triggering contractual termination payments that offset near-term AFF…
Monitor: Management 2027 AFFO/share guidance at or below $12.…</a:t>
            </a:r>
          </a:p>
        </p:txBody>
      </p:sp>
      <p:sp>
        <p:nvSpPr>
          <p:cNvPr id="29" name="Rectangle 28"/>
          <p:cNvSpPr/>
          <p:nvPr/>
        </p:nvSpPr>
        <p:spPr>
          <a:xfrm>
            <a:off x="640080" y="2980944"/>
            <a:ext cx="1508760" cy="1572768"/>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054096"/>
            <a:ext cx="1508760" cy="502920"/>
          </a:xfrm>
          <a:prstGeom prst="rect">
            <a:avLst/>
          </a:prstGeom>
          <a:noFill/>
        </p:spPr>
        <p:txBody>
          <a:bodyPr wrap="square">
            <a:normAutofit/>
          </a:bodyPr>
          <a:lstStyle/>
          <a:p>
            <a:pPr algn="ctr"/>
            <a:r>
              <a:rPr sz="2600" b="1" i="0">
                <a:solidFill>
                  <a:srgbClr val="FFFFFF"/>
                </a:solidFill>
                <a:latin typeface="Garamond"/>
              </a:rPr>
              <a:t>2</a:t>
            </a:r>
          </a:p>
        </p:txBody>
      </p:sp>
      <p:sp>
        <p:nvSpPr>
          <p:cNvPr id="31" name="TextBox 30"/>
          <p:cNvSpPr txBox="1"/>
          <p:nvPr/>
        </p:nvSpPr>
        <p:spPr>
          <a:xfrm>
            <a:off x="640080" y="3566160"/>
            <a:ext cx="1508760" cy="987552"/>
          </a:xfrm>
          <a:prstGeom prst="rect">
            <a:avLst/>
          </a:prstGeom>
          <a:noFill/>
        </p:spPr>
        <p:txBody>
          <a:bodyPr wrap="square">
            <a:normAutofit/>
          </a:bodyPr>
          <a:lstStyle/>
          <a:p>
            <a:pPr algn="ctr"/>
            <a:r>
              <a:rPr sz="900" b="1" i="0">
                <a:solidFill>
                  <a:srgbClr val="FFFFFF"/>
                </a:solidFill>
                <a:latin typeface="Garamond"/>
              </a:rPr>
              <a:t>Debt Refinancing Shock at Maturity</a:t>
            </a:r>
          </a:p>
        </p:txBody>
      </p:sp>
      <p:sp>
        <p:nvSpPr>
          <p:cNvPr id="32" name="Rectangle 31"/>
          <p:cNvSpPr/>
          <p:nvPr/>
        </p:nvSpPr>
        <p:spPr>
          <a:xfrm>
            <a:off x="2194560" y="2980944"/>
            <a:ext cx="6400800" cy="15727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04288" y="3035808"/>
            <a:ext cx="914400" cy="219456"/>
          </a:xfrm>
          <a:prstGeom prst="rect">
            <a:avLst/>
          </a:prstGeom>
          <a:noFill/>
        </p:spPr>
        <p:txBody>
          <a:bodyPr wrap="square">
            <a:normAutofit/>
          </a:bodyPr>
          <a:lstStyle/>
          <a:p>
            <a:pPr algn="l"/>
            <a:r>
              <a:rPr sz="1000" b="1" i="0">
                <a:solidFill>
                  <a:srgbClr val="C00000"/>
                </a:solidFill>
                <a:latin typeface="Garamond"/>
              </a:rPr>
              <a:t>Risk:</a:t>
            </a:r>
          </a:p>
        </p:txBody>
      </p:sp>
      <p:sp>
        <p:nvSpPr>
          <p:cNvPr id="34" name="TextBox 33"/>
          <p:cNvSpPr txBox="1"/>
          <p:nvPr/>
        </p:nvSpPr>
        <p:spPr>
          <a:xfrm>
            <a:off x="2304288" y="3273551"/>
            <a:ext cx="6181344" cy="1225295"/>
          </a:xfrm>
          <a:prstGeom prst="rect">
            <a:avLst/>
          </a:prstGeom>
          <a:noFill/>
        </p:spPr>
        <p:txBody>
          <a:bodyPr wrap="square">
            <a:normAutofit/>
          </a:bodyPr>
          <a:lstStyle/>
          <a:p>
            <a:pPr algn="l"/>
            <a:r>
              <a:rPr sz="1050" b="0" i="0">
                <a:solidFill>
                  <a:srgbClr val="000000"/>
                </a:solidFill>
                <a:latin typeface="Garamond"/>
              </a:rPr>
              <a:t>SBAC carries net debt/EBITDA of 8.32x with interest coverage of only 3.0x — a combination that leaves essentially no cushion for EBITDA deterioration before covenant pressure or liquidity stress emerges. The 97% fixed-rate structure at 3.7% weighted average coupon is the primary mitigant, but it is a time-limited one: as tranches matur…</a:t>
            </a:r>
          </a:p>
        </p:txBody>
      </p:sp>
      <p:sp>
        <p:nvSpPr>
          <p:cNvPr id="35" name="Rectangle 34"/>
          <p:cNvSpPr/>
          <p:nvPr/>
        </p:nvSpPr>
        <p:spPr>
          <a:xfrm>
            <a:off x="8650224" y="2980944"/>
            <a:ext cx="1508760" cy="1572768"/>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0" y="3090672"/>
            <a:ext cx="1417320" cy="274320"/>
          </a:xfrm>
          <a:prstGeom prst="rect">
            <a:avLst/>
          </a:prstGeom>
          <a:noFill/>
        </p:spPr>
        <p:txBody>
          <a:bodyPr wrap="square">
            <a:normAutofit/>
          </a:bodyPr>
          <a:lstStyle/>
          <a:p>
            <a:pPr algn="ctr"/>
            <a:r>
              <a:rPr sz="1000" b="1" i="0">
                <a:solidFill>
                  <a:srgbClr val="1C2C3A"/>
                </a:solidFill>
                <a:latin typeface="Garamond"/>
              </a:rPr>
              <a:t>Prob: M</a:t>
            </a:r>
          </a:p>
        </p:txBody>
      </p:sp>
      <p:sp>
        <p:nvSpPr>
          <p:cNvPr id="37" name="TextBox 36"/>
          <p:cNvSpPr txBox="1"/>
          <p:nvPr/>
        </p:nvSpPr>
        <p:spPr>
          <a:xfrm>
            <a:off x="8686800" y="3401568"/>
            <a:ext cx="1417320" cy="274320"/>
          </a:xfrm>
          <a:prstGeom prst="rect">
            <a:avLst/>
          </a:prstGeom>
          <a:noFill/>
        </p:spPr>
        <p:txBody>
          <a:bodyPr wrap="square">
            <a:normAutofit/>
          </a:bodyPr>
          <a:lstStyle/>
          <a:p>
            <a:pPr algn="ctr"/>
            <a:r>
              <a:rPr sz="1000" b="0" i="0">
                <a:solidFill>
                  <a:srgbClr val="1C2C3A"/>
                </a:solidFill>
                <a:latin typeface="Garamond"/>
              </a:rPr>
              <a:t>Impact: M</a:t>
            </a:r>
          </a:p>
        </p:txBody>
      </p:sp>
      <p:sp>
        <p:nvSpPr>
          <p:cNvPr id="38" name="TextBox 37"/>
          <p:cNvSpPr txBox="1"/>
          <p:nvPr/>
        </p:nvSpPr>
        <p:spPr>
          <a:xfrm>
            <a:off x="8686800" y="3730752"/>
            <a:ext cx="1417320" cy="384048"/>
          </a:xfrm>
          <a:prstGeom prst="rect">
            <a:avLst/>
          </a:prstGeom>
          <a:noFill/>
        </p:spPr>
        <p:txBody>
          <a:bodyPr wrap="square">
            <a:normAutofit/>
          </a:bodyPr>
          <a:lstStyle/>
          <a:p>
            <a:pPr algn="ctr"/>
            <a:r>
              <a:rPr sz="1600" b="1" i="0">
                <a:solidFill>
                  <a:srgbClr val="00AF50"/>
                </a:solidFill>
                <a:latin typeface="Garamond"/>
              </a:rPr>
              <a:t>+18%</a:t>
            </a:r>
          </a:p>
        </p:txBody>
      </p:sp>
      <p:sp>
        <p:nvSpPr>
          <p:cNvPr id="39" name="Rectangle 38"/>
          <p:cNvSpPr/>
          <p:nvPr/>
        </p:nvSpPr>
        <p:spPr>
          <a:xfrm>
            <a:off x="10213848" y="2980944"/>
            <a:ext cx="1609344" cy="157276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59568" y="3035808"/>
            <a:ext cx="1481328" cy="219456"/>
          </a:xfrm>
          <a:prstGeom prst="rect">
            <a:avLst/>
          </a:prstGeom>
          <a:noFill/>
        </p:spPr>
        <p:txBody>
          <a:bodyPr wrap="square">
            <a:normAutofit/>
          </a:bodyPr>
          <a:lstStyle/>
          <a:p>
            <a:pPr algn="l"/>
            <a:r>
              <a:rPr sz="1000" b="1" i="0">
                <a:solidFill>
                  <a:srgbClr val="00B050"/>
                </a:solidFill>
                <a:latin typeface="Garamond"/>
              </a:rPr>
              <a:t>Mitigant:</a:t>
            </a:r>
          </a:p>
        </p:txBody>
      </p:sp>
      <p:sp>
        <p:nvSpPr>
          <p:cNvPr id="41" name="TextBox 40"/>
          <p:cNvSpPr txBox="1"/>
          <p:nvPr/>
        </p:nvSpPr>
        <p:spPr>
          <a:xfrm>
            <a:off x="10259568" y="3273551"/>
            <a:ext cx="1481328" cy="1225295"/>
          </a:xfrm>
          <a:prstGeom prst="rect">
            <a:avLst/>
          </a:prstGeom>
          <a:noFill/>
        </p:spPr>
        <p:txBody>
          <a:bodyPr wrap="square">
            <a:normAutofit/>
          </a:bodyPr>
          <a:lstStyle/>
          <a:p>
            <a:pPr algn="l"/>
            <a:r>
              <a:rPr sz="1000" b="0" i="0">
                <a:solidFill>
                  <a:srgbClr val="000000"/>
                </a:solidFill>
                <a:latin typeface="Garamond"/>
              </a:rPr>
              <a:t>The fixed-rate structure means this risk is categorically not a near-term crisis — SBAC has years to allow rates to normalize before most of the existing book rolls, and management has demonstrated awareness of this d…
Monitor: SBAC completes a new debt issuance or tender at an a…</a:t>
            </a:r>
          </a:p>
        </p:txBody>
      </p:sp>
      <p:sp>
        <p:nvSpPr>
          <p:cNvPr id="42" name="Rectangle 41"/>
          <p:cNvSpPr/>
          <p:nvPr/>
        </p:nvSpPr>
        <p:spPr>
          <a:xfrm>
            <a:off x="640080" y="4553712"/>
            <a:ext cx="1508760" cy="1572768"/>
          </a:xfrm>
          <a:prstGeom prst="rect">
            <a:avLst/>
          </a:prstGeom>
          <a:solidFill>
            <a:srgbClr val="FFC0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4626864"/>
            <a:ext cx="1508760" cy="502920"/>
          </a:xfrm>
          <a:prstGeom prst="rect">
            <a:avLst/>
          </a:prstGeom>
          <a:noFill/>
        </p:spPr>
        <p:txBody>
          <a:bodyPr wrap="square">
            <a:normAutofit/>
          </a:bodyPr>
          <a:lstStyle/>
          <a:p>
            <a:pPr algn="ctr"/>
            <a:r>
              <a:rPr sz="2600" b="1" i="0">
                <a:solidFill>
                  <a:srgbClr val="FFFFFF"/>
                </a:solidFill>
                <a:latin typeface="Garamond"/>
              </a:rPr>
              <a:t>3</a:t>
            </a:r>
          </a:p>
        </p:txBody>
      </p:sp>
      <p:sp>
        <p:nvSpPr>
          <p:cNvPr id="44" name="TextBox 43"/>
          <p:cNvSpPr txBox="1"/>
          <p:nvPr/>
        </p:nvSpPr>
        <p:spPr>
          <a:xfrm>
            <a:off x="640080" y="5138928"/>
            <a:ext cx="1508760" cy="987552"/>
          </a:xfrm>
          <a:prstGeom prst="rect">
            <a:avLst/>
          </a:prstGeom>
          <a:noFill/>
        </p:spPr>
        <p:txBody>
          <a:bodyPr wrap="square">
            <a:normAutofit/>
          </a:bodyPr>
          <a:lstStyle/>
          <a:p>
            <a:pPr algn="ctr"/>
            <a:r>
              <a:rPr sz="900" b="1" i="0">
                <a:solidFill>
                  <a:srgbClr val="FFFFFF"/>
                </a:solidFill>
                <a:latin typeface="Garamond"/>
              </a:rPr>
              <a:t>Carrier 5G Maturation Demand Col…</a:t>
            </a:r>
          </a:p>
        </p:txBody>
      </p:sp>
      <p:sp>
        <p:nvSpPr>
          <p:cNvPr id="45" name="Rectangle 44"/>
          <p:cNvSpPr/>
          <p:nvPr/>
        </p:nvSpPr>
        <p:spPr>
          <a:xfrm>
            <a:off x="2194560" y="4553712"/>
            <a:ext cx="6400800" cy="157276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04288" y="4608576"/>
            <a:ext cx="914400" cy="219456"/>
          </a:xfrm>
          <a:prstGeom prst="rect">
            <a:avLst/>
          </a:prstGeom>
          <a:noFill/>
        </p:spPr>
        <p:txBody>
          <a:bodyPr wrap="square">
            <a:normAutofit/>
          </a:bodyPr>
          <a:lstStyle/>
          <a:p>
            <a:pPr algn="l"/>
            <a:r>
              <a:rPr sz="1000" b="1" i="0">
                <a:solidFill>
                  <a:srgbClr val="C00000"/>
                </a:solidFill>
                <a:latin typeface="Garamond"/>
              </a:rPr>
              <a:t>Risk:</a:t>
            </a:r>
          </a:p>
        </p:txBody>
      </p:sp>
      <p:sp>
        <p:nvSpPr>
          <p:cNvPr id="47" name="TextBox 46"/>
          <p:cNvSpPr txBox="1"/>
          <p:nvPr/>
        </p:nvSpPr>
        <p:spPr>
          <a:xfrm>
            <a:off x="2304288" y="4846320"/>
            <a:ext cx="6181344" cy="1225295"/>
          </a:xfrm>
          <a:prstGeom prst="rect">
            <a:avLst/>
          </a:prstGeom>
          <a:noFill/>
        </p:spPr>
        <p:txBody>
          <a:bodyPr wrap="square">
            <a:normAutofit/>
          </a:bodyPr>
          <a:lstStyle/>
          <a:p>
            <a:pPr algn="l"/>
            <a:r>
              <a:rPr sz="1050" b="0" i="0">
                <a:solidFill>
                  <a:srgbClr val="000000"/>
                </a:solidFill>
                <a:latin typeface="Garamond"/>
              </a:rPr>
              <a:t>The macro tower industry thesis depends on carriers continuously needing to add equipment to existing towers — amendments, new tenants, and densification — at a rate that more than offsets any churn. As 5G mid-band and C-band deployment matures toward completion by 2027-2028, the natural cadence of new leasing activity from AT&amp;T, T-Mob…</a:t>
            </a:r>
          </a:p>
        </p:txBody>
      </p:sp>
      <p:sp>
        <p:nvSpPr>
          <p:cNvPr id="48" name="Rectangle 47"/>
          <p:cNvSpPr/>
          <p:nvPr/>
        </p:nvSpPr>
        <p:spPr>
          <a:xfrm>
            <a:off x="8650224" y="4553712"/>
            <a:ext cx="1508760" cy="1572768"/>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0" y="4663440"/>
            <a:ext cx="1417320" cy="274320"/>
          </a:xfrm>
          <a:prstGeom prst="rect">
            <a:avLst/>
          </a:prstGeom>
          <a:noFill/>
        </p:spPr>
        <p:txBody>
          <a:bodyPr wrap="square">
            <a:normAutofit/>
          </a:bodyPr>
          <a:lstStyle/>
          <a:p>
            <a:pPr algn="ctr"/>
            <a:r>
              <a:rPr sz="1000" b="1" i="0">
                <a:solidFill>
                  <a:srgbClr val="1C2C3A"/>
                </a:solidFill>
                <a:latin typeface="Garamond"/>
              </a:rPr>
              <a:t>Prob: L</a:t>
            </a:r>
          </a:p>
        </p:txBody>
      </p:sp>
      <p:sp>
        <p:nvSpPr>
          <p:cNvPr id="50" name="TextBox 49"/>
          <p:cNvSpPr txBox="1"/>
          <p:nvPr/>
        </p:nvSpPr>
        <p:spPr>
          <a:xfrm>
            <a:off x="8686800" y="4974336"/>
            <a:ext cx="1417320" cy="274320"/>
          </a:xfrm>
          <a:prstGeom prst="rect">
            <a:avLst/>
          </a:prstGeom>
          <a:noFill/>
        </p:spPr>
        <p:txBody>
          <a:bodyPr wrap="square">
            <a:normAutofit/>
          </a:bodyPr>
          <a:lstStyle/>
          <a:p>
            <a:pPr algn="ctr"/>
            <a:r>
              <a:rPr sz="1000" b="0" i="0">
                <a:solidFill>
                  <a:srgbClr val="1C2C3A"/>
                </a:solidFill>
                <a:latin typeface="Garamond"/>
              </a:rPr>
              <a:t>Impact: M</a:t>
            </a:r>
          </a:p>
        </p:txBody>
      </p:sp>
      <p:sp>
        <p:nvSpPr>
          <p:cNvPr id="51" name="TextBox 50"/>
          <p:cNvSpPr txBox="1"/>
          <p:nvPr/>
        </p:nvSpPr>
        <p:spPr>
          <a:xfrm>
            <a:off x="8686800" y="5303520"/>
            <a:ext cx="1417320" cy="384048"/>
          </a:xfrm>
          <a:prstGeom prst="rect">
            <a:avLst/>
          </a:prstGeom>
          <a:noFill/>
        </p:spPr>
        <p:txBody>
          <a:bodyPr wrap="square">
            <a:normAutofit/>
          </a:bodyPr>
          <a:lstStyle/>
          <a:p>
            <a:pPr algn="ctr"/>
            <a:r>
              <a:rPr sz="1600" b="1" i="0">
                <a:solidFill>
                  <a:srgbClr val="00AF50"/>
                </a:solidFill>
                <a:latin typeface="Garamond"/>
              </a:rPr>
              <a:t>+47%</a:t>
            </a:r>
          </a:p>
        </p:txBody>
      </p:sp>
      <p:sp>
        <p:nvSpPr>
          <p:cNvPr id="52" name="Rectangle 51"/>
          <p:cNvSpPr/>
          <p:nvPr/>
        </p:nvSpPr>
        <p:spPr>
          <a:xfrm>
            <a:off x="10213848" y="4553712"/>
            <a:ext cx="1609344" cy="157276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59568" y="4608576"/>
            <a:ext cx="1481328" cy="219456"/>
          </a:xfrm>
          <a:prstGeom prst="rect">
            <a:avLst/>
          </a:prstGeom>
          <a:noFill/>
        </p:spPr>
        <p:txBody>
          <a:bodyPr wrap="square">
            <a:normAutofit/>
          </a:bodyPr>
          <a:lstStyle/>
          <a:p>
            <a:pPr algn="l"/>
            <a:r>
              <a:rPr sz="1000" b="1" i="0">
                <a:solidFill>
                  <a:srgbClr val="00B050"/>
                </a:solidFill>
                <a:latin typeface="Garamond"/>
              </a:rPr>
              <a:t>Mitigant:</a:t>
            </a:r>
          </a:p>
        </p:txBody>
      </p:sp>
      <p:sp>
        <p:nvSpPr>
          <p:cNvPr id="54" name="TextBox 53"/>
          <p:cNvSpPr txBox="1"/>
          <p:nvPr/>
        </p:nvSpPr>
        <p:spPr>
          <a:xfrm>
            <a:off x="10259568" y="4846320"/>
            <a:ext cx="1481328" cy="1225295"/>
          </a:xfrm>
          <a:prstGeom prst="rect">
            <a:avLst/>
          </a:prstGeom>
          <a:noFill/>
        </p:spPr>
        <p:txBody>
          <a:bodyPr wrap="square">
            <a:normAutofit/>
          </a:bodyPr>
          <a:lstStyle/>
          <a:p>
            <a:pPr algn="l"/>
            <a:r>
              <a:rPr sz="1000" b="0" i="0">
                <a:solidFill>
                  <a:srgbClr val="000000"/>
                </a:solidFill>
                <a:latin typeface="Garamond"/>
              </a:rPr>
              <a:t>Tower REITs have long-term master lease agreements with automatic escalators that guarantee mid-single-digit revenue growth independent of new leasing activity — even in a zero-new-leasing world, SBAC does not become …
Monitor: Any of the three major U.S. carriers discloses tower…</a:t>
            </a:r>
          </a:p>
        </p:txBody>
      </p:sp>
      <p:sp>
        <p:nvSpPr>
          <p:cNvPr id="55" name="TextBox 54"/>
          <p:cNvSpPr txBox="1"/>
          <p:nvPr/>
        </p:nvSpPr>
        <p:spPr>
          <a:xfrm>
            <a:off x="640080" y="6035040"/>
            <a:ext cx="11183112" cy="292608"/>
          </a:xfrm>
          <a:prstGeom prst="rect">
            <a:avLst/>
          </a:prstGeom>
          <a:noFill/>
        </p:spPr>
        <p:txBody>
          <a:bodyPr wrap="square">
            <a:normAutofit/>
          </a:bodyPr>
          <a:lstStyle/>
          <a:p>
            <a:pPr algn="l"/>
            <a:r>
              <a:rPr sz="850" b="0" i="1">
                <a:solidFill>
                  <a:srgbClr val="595959"/>
                </a:solidFill>
                <a:latin typeface="Garamond"/>
              </a:rPr>
              <a:t>What would make us wrong:  SBAC reports Q3 or Q4 2026 AFFO/share of ≥$3.25/quarter ($13.00 annualized ru…  |  Domestic organic new leasing revenue (amendments + new co-locations, excludin…  |  Net debt/EBITDA declines to ≤7.5x as reported in the December 31, 2026 balanc…</a:t>
            </a:r>
          </a:p>
        </p:txBody>
      </p:sp>
      <p:sp>
        <p:nvSpPr>
          <p:cNvPr id="56" name="TextBox 55"/>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What You Need to Believe</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CapIQ, Bloomberg, Investor Presentations</a:t>
            </a:r>
          </a:p>
        </p:txBody>
      </p:sp>
      <p:sp>
        <p:nvSpPr>
          <p:cNvPr id="5" name="TextBox 4"/>
          <p:cNvSpPr txBox="1"/>
          <p:nvPr/>
        </p:nvSpPr>
        <p:spPr>
          <a:xfrm>
            <a:off x="640080" y="749808"/>
            <a:ext cx="11183112" cy="292608"/>
          </a:xfrm>
          <a:prstGeom prst="rect">
            <a:avLst/>
          </a:prstGeom>
          <a:noFill/>
        </p:spPr>
        <p:txBody>
          <a:bodyPr wrap="square">
            <a:normAutofit/>
          </a:bodyPr>
          <a:lstStyle/>
          <a:p>
            <a:pPr algn="ctr"/>
            <a:r>
              <a:rPr sz="1200" b="1" i="1">
                <a:solidFill>
                  <a:srgbClr val="1C2C3A"/>
                </a:solidFill>
                <a:latin typeface="Garamond"/>
              </a:rPr>
              <a:t>We believe our investment theses position us to get into an excellent name at the right time</a:t>
            </a:r>
          </a:p>
        </p:txBody>
      </p:sp>
      <p:sp>
        <p:nvSpPr>
          <p:cNvPr id="6" name="Rectangle 5"/>
          <p:cNvSpPr/>
          <p:nvPr/>
        </p:nvSpPr>
        <p:spPr>
          <a:xfrm>
            <a:off x="640080" y="1097280"/>
            <a:ext cx="3108960" cy="31089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124712"/>
            <a:ext cx="2999232" cy="256032"/>
          </a:xfrm>
          <a:prstGeom prst="rect">
            <a:avLst/>
          </a:prstGeom>
          <a:noFill/>
        </p:spPr>
        <p:txBody>
          <a:bodyPr wrap="square">
            <a:normAutofit/>
          </a:bodyPr>
          <a:lstStyle/>
          <a:p>
            <a:pPr algn="ctr"/>
            <a:r>
              <a:rPr sz="1200" b="1" i="0">
                <a:solidFill>
                  <a:srgbClr val="FFFFFF"/>
                </a:solidFill>
                <a:latin typeface="Garamond"/>
              </a:rPr>
              <a:t>Key Debate</a:t>
            </a:r>
          </a:p>
        </p:txBody>
      </p:sp>
      <p:sp>
        <p:nvSpPr>
          <p:cNvPr id="8" name="Rectangle 7"/>
          <p:cNvSpPr/>
          <p:nvPr/>
        </p:nvSpPr>
        <p:spPr>
          <a:xfrm>
            <a:off x="3858768" y="1097280"/>
            <a:ext cx="4041648" cy="310896"/>
          </a:xfrm>
          <a:prstGeom prst="rect">
            <a:avLst/>
          </a:prstGeom>
          <a:solidFill>
            <a:srgbClr val="A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13631" y="1124712"/>
            <a:ext cx="3931920" cy="256032"/>
          </a:xfrm>
          <a:prstGeom prst="rect">
            <a:avLst/>
          </a:prstGeom>
          <a:noFill/>
        </p:spPr>
        <p:txBody>
          <a:bodyPr wrap="square">
            <a:normAutofit/>
          </a:bodyPr>
          <a:lstStyle/>
          <a:p>
            <a:pPr algn="ctr"/>
            <a:r>
              <a:rPr sz="1200" b="1" i="0">
                <a:solidFill>
                  <a:srgbClr val="FFFFFF"/>
                </a:solidFill>
                <a:latin typeface="Garamond"/>
              </a:rPr>
              <a:t>Street View</a:t>
            </a:r>
          </a:p>
        </p:txBody>
      </p:sp>
      <p:sp>
        <p:nvSpPr>
          <p:cNvPr id="10" name="Rectangle 9"/>
          <p:cNvSpPr/>
          <p:nvPr/>
        </p:nvSpPr>
        <p:spPr>
          <a:xfrm>
            <a:off x="8010144" y="1097280"/>
            <a:ext cx="4032504" cy="310896"/>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65008" y="1124712"/>
            <a:ext cx="3922776" cy="256032"/>
          </a:xfrm>
          <a:prstGeom prst="rect">
            <a:avLst/>
          </a:prstGeom>
          <a:noFill/>
        </p:spPr>
        <p:txBody>
          <a:bodyPr wrap="square">
            <a:normAutofit/>
          </a:bodyPr>
          <a:lstStyle/>
          <a:p>
            <a:pPr algn="ctr"/>
            <a:r>
              <a:rPr sz="1200" b="1" i="0">
                <a:solidFill>
                  <a:srgbClr val="FFFFFF"/>
                </a:solidFill>
                <a:latin typeface="Garamond"/>
              </a:rPr>
              <a:t>Our View</a:t>
            </a:r>
          </a:p>
        </p:txBody>
      </p:sp>
      <p:sp>
        <p:nvSpPr>
          <p:cNvPr id="12" name="Rectangle 11"/>
          <p:cNvSpPr/>
          <p:nvPr/>
        </p:nvSpPr>
        <p:spPr>
          <a:xfrm>
            <a:off x="640080" y="1435608"/>
            <a:ext cx="3108960" cy="14173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435608"/>
            <a:ext cx="54864" cy="1417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527048"/>
            <a:ext cx="2926079" cy="1271016"/>
          </a:xfrm>
          <a:prstGeom prst="rect">
            <a:avLst/>
          </a:prstGeom>
          <a:noFill/>
        </p:spPr>
        <p:txBody>
          <a:bodyPr wrap="square">
            <a:normAutofit/>
          </a:bodyPr>
          <a:lstStyle/>
          <a:p>
            <a:pPr algn="l"/>
            <a:r>
              <a:rPr sz="1050" b="0" i="0">
                <a:solidFill>
                  <a:srgbClr val="000000"/>
                </a:solidFill>
                <a:latin typeface="Garamond"/>
              </a:rPr>
              <a:t>Will EBITDA margins recover to consensus 68.0% in FY2026?</a:t>
            </a:r>
          </a:p>
        </p:txBody>
      </p:sp>
      <p:sp>
        <p:nvSpPr>
          <p:cNvPr id="15" name="Rectangle 14"/>
          <p:cNvSpPr/>
          <p:nvPr/>
        </p:nvSpPr>
        <p:spPr>
          <a:xfrm>
            <a:off x="3858768" y="1435608"/>
            <a:ext cx="4041648" cy="1417320"/>
          </a:xfrm>
          <a:prstGeom prst="rect">
            <a:avLst/>
          </a:prstGeom>
          <a:solidFill>
            <a:srgbClr val="FFD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58768" y="1435608"/>
            <a:ext cx="54864" cy="1417320"/>
          </a:xfrm>
          <a:prstGeom prst="rect">
            <a:avLst/>
          </a:prstGeom>
          <a:solidFill>
            <a:srgbClr val="A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8496" y="1527048"/>
            <a:ext cx="3858768" cy="1271016"/>
          </a:xfrm>
          <a:prstGeom prst="rect">
            <a:avLst/>
          </a:prstGeom>
          <a:noFill/>
        </p:spPr>
        <p:txBody>
          <a:bodyPr wrap="square">
            <a:normAutofit/>
          </a:bodyPr>
          <a:lstStyle/>
          <a:p>
            <a:pPr algn="l"/>
            <a:r>
              <a:rPr sz="1050" b="0" i="0">
                <a:solidFill>
                  <a:srgbClr val="000000"/>
                </a:solidFill>
                <a:latin typeface="Garamond"/>
              </a:rPr>
              <a:t>Street models $1,929mm EBITDA (68.0% margin) on $2,838mm revenue — 370bps expansion; implies divestiture one-time costs drove all of FY2025 compression</a:t>
            </a:r>
          </a:p>
        </p:txBody>
      </p:sp>
      <p:sp>
        <p:nvSpPr>
          <p:cNvPr id="18" name="Rectangle 17"/>
          <p:cNvSpPr/>
          <p:nvPr/>
        </p:nvSpPr>
        <p:spPr>
          <a:xfrm>
            <a:off x="8010144" y="1435608"/>
            <a:ext cx="4032504" cy="1417320"/>
          </a:xfrm>
          <a:prstGeom prst="rect">
            <a:avLst/>
          </a:prstGeom>
          <a:solidFill>
            <a:srgbClr val="C5F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0144" y="1435608"/>
            <a:ext cx="54864" cy="141732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1" y="1527048"/>
            <a:ext cx="3849624" cy="1271016"/>
          </a:xfrm>
          <a:prstGeom prst="rect">
            <a:avLst/>
          </a:prstGeom>
          <a:noFill/>
        </p:spPr>
        <p:txBody>
          <a:bodyPr wrap="square">
            <a:normAutofit/>
          </a:bodyPr>
          <a:lstStyle/>
          <a:p>
            <a:pPr algn="l"/>
            <a:r>
              <a:rPr sz="1050" b="0" i="0">
                <a:solidFill>
                  <a:srgbClr val="000000"/>
                </a:solidFill>
                <a:latin typeface="Garamond"/>
              </a:rPr>
              <a:t>0.2x operating leverage in FY2025 implies margin of 64.6% ($1,840mm); we require Q1 2026 gross margin ≥77% (vs. FY2025 74.5%) to confirm recovery before upgrading</a:t>
            </a:r>
          </a:p>
        </p:txBody>
      </p:sp>
      <p:sp>
        <p:nvSpPr>
          <p:cNvPr id="21" name="Rectangle 20"/>
          <p:cNvSpPr/>
          <p:nvPr/>
        </p:nvSpPr>
        <p:spPr>
          <a:xfrm>
            <a:off x="640080" y="2889504"/>
            <a:ext cx="3108960" cy="14173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2889504"/>
            <a:ext cx="54864" cy="1417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2980944"/>
            <a:ext cx="2926079" cy="1271016"/>
          </a:xfrm>
          <a:prstGeom prst="rect">
            <a:avLst/>
          </a:prstGeom>
          <a:noFill/>
        </p:spPr>
        <p:txBody>
          <a:bodyPr wrap="square">
            <a:normAutofit/>
          </a:bodyPr>
          <a:lstStyle/>
          <a:p>
            <a:pPr algn="l"/>
            <a:r>
              <a:rPr sz="1050" b="0" i="0">
                <a:solidFill>
                  <a:srgbClr val="000000"/>
                </a:solidFill>
                <a:latin typeface="Garamond"/>
              </a:rPr>
              <a:t>Does 6.9x leverage warrant the same 19x EV/EBITDA as AMT at ~5.0x?</a:t>
            </a:r>
          </a:p>
        </p:txBody>
      </p:sp>
      <p:sp>
        <p:nvSpPr>
          <p:cNvPr id="24" name="Rectangle 23"/>
          <p:cNvSpPr/>
          <p:nvPr/>
        </p:nvSpPr>
        <p:spPr>
          <a:xfrm>
            <a:off x="3858768" y="2889504"/>
            <a:ext cx="4041648" cy="1417320"/>
          </a:xfrm>
          <a:prstGeom prst="rect">
            <a:avLst/>
          </a:prstGeom>
          <a:solidFill>
            <a:srgbClr val="FFD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58768" y="2889504"/>
            <a:ext cx="54864" cy="1417320"/>
          </a:xfrm>
          <a:prstGeom prst="rect">
            <a:avLst/>
          </a:prstGeom>
          <a:solidFill>
            <a:srgbClr val="A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68496" y="2980944"/>
            <a:ext cx="3858768" cy="1271016"/>
          </a:xfrm>
          <a:prstGeom prst="rect">
            <a:avLst/>
          </a:prstGeom>
          <a:noFill/>
        </p:spPr>
        <p:txBody>
          <a:bodyPr wrap="square">
            <a:normAutofit/>
          </a:bodyPr>
          <a:lstStyle/>
          <a:p>
            <a:pPr algn="l"/>
            <a:r>
              <a:rPr sz="1050" b="0" i="0">
                <a:solidFill>
                  <a:srgbClr val="000000"/>
                </a:solidFill>
                <a:latin typeface="Garamond"/>
              </a:rPr>
              <a:t>Current pricing implies no leverage discount — SBAC at 19.03x NTM EV/EBITDA matches AMT despite 190bps excess leverage</a:t>
            </a:r>
          </a:p>
        </p:txBody>
      </p:sp>
      <p:sp>
        <p:nvSpPr>
          <p:cNvPr id="27" name="Rectangle 26"/>
          <p:cNvSpPr/>
          <p:nvPr/>
        </p:nvSpPr>
        <p:spPr>
          <a:xfrm>
            <a:off x="8010144" y="2889504"/>
            <a:ext cx="4032504" cy="1417320"/>
          </a:xfrm>
          <a:prstGeom prst="rect">
            <a:avLst/>
          </a:prstGeom>
          <a:solidFill>
            <a:srgbClr val="C5F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10144" y="2889504"/>
            <a:ext cx="54864" cy="141732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19871" y="2980944"/>
            <a:ext cx="3849624" cy="1271016"/>
          </a:xfrm>
          <a:prstGeom prst="rect">
            <a:avLst/>
          </a:prstGeom>
          <a:noFill/>
        </p:spPr>
        <p:txBody>
          <a:bodyPr wrap="square">
            <a:normAutofit/>
          </a:bodyPr>
          <a:lstStyle/>
          <a:p>
            <a:pPr algn="l"/>
            <a:r>
              <a:rPr sz="1050" b="0" i="0">
                <a:solidFill>
                  <a:srgbClr val="000000"/>
                </a:solidFill>
                <a:latin typeface="Garamond"/>
              </a:rPr>
              <a:t>Fair multiple for SBAC is 17-18x given 190bps leverage premium vs. AMT; at 17.5x × $1,929mm consensus EBITDA, fair value is $189 — below current; only deleveraging to 6.0x justifies current multiple</a:t>
            </a:r>
          </a:p>
        </p:txBody>
      </p:sp>
      <p:sp>
        <p:nvSpPr>
          <p:cNvPr id="30" name="Rectangle 29"/>
          <p:cNvSpPr/>
          <p:nvPr/>
        </p:nvSpPr>
        <p:spPr>
          <a:xfrm>
            <a:off x="640080" y="4343400"/>
            <a:ext cx="3108960" cy="14173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 y="4343400"/>
            <a:ext cx="54864" cy="1417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434840"/>
            <a:ext cx="2926079" cy="1271016"/>
          </a:xfrm>
          <a:prstGeom prst="rect">
            <a:avLst/>
          </a:prstGeom>
          <a:noFill/>
        </p:spPr>
        <p:txBody>
          <a:bodyPr wrap="square">
            <a:normAutofit/>
          </a:bodyPr>
          <a:lstStyle/>
          <a:p>
            <a:pPr algn="l"/>
            <a:r>
              <a:rPr sz="1050" b="0" i="0">
                <a:solidFill>
                  <a:srgbClr val="000000"/>
                </a:solidFill>
                <a:latin typeface="Garamond"/>
              </a:rPr>
              <a:t>Is $37M Sprint churn clearing sufficient to drive a meaningful re-rating?</a:t>
            </a:r>
          </a:p>
        </p:txBody>
      </p:sp>
      <p:sp>
        <p:nvSpPr>
          <p:cNvPr id="33" name="Rectangle 32"/>
          <p:cNvSpPr/>
          <p:nvPr/>
        </p:nvSpPr>
        <p:spPr>
          <a:xfrm>
            <a:off x="3858768" y="4343400"/>
            <a:ext cx="4041648" cy="1417320"/>
          </a:xfrm>
          <a:prstGeom prst="rect">
            <a:avLst/>
          </a:prstGeom>
          <a:solidFill>
            <a:srgbClr val="FFD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58768" y="4343400"/>
            <a:ext cx="54864" cy="1417320"/>
          </a:xfrm>
          <a:prstGeom prst="rect">
            <a:avLst/>
          </a:prstGeom>
          <a:solidFill>
            <a:srgbClr val="A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68496" y="4434840"/>
            <a:ext cx="3858768" cy="1271016"/>
          </a:xfrm>
          <a:prstGeom prst="rect">
            <a:avLst/>
          </a:prstGeom>
          <a:noFill/>
        </p:spPr>
        <p:txBody>
          <a:bodyPr wrap="square">
            <a:normAutofit/>
          </a:bodyPr>
          <a:lstStyle/>
          <a:p>
            <a:pPr algn="l"/>
            <a:r>
              <a:rPr sz="1050" b="0" i="0">
                <a:solidFill>
                  <a:srgbClr val="000000"/>
                </a:solidFill>
                <a:latin typeface="Garamond"/>
              </a:rPr>
              <a:t>Sprint churn clears 2027, enabling 7-8% AFFO growth; primary catalyst for multiple expansion back toward 22x historical levels</a:t>
            </a:r>
          </a:p>
        </p:txBody>
      </p:sp>
      <p:sp>
        <p:nvSpPr>
          <p:cNvPr id="36" name="Rectangle 35"/>
          <p:cNvSpPr/>
          <p:nvPr/>
        </p:nvSpPr>
        <p:spPr>
          <a:xfrm>
            <a:off x="8010144" y="4343400"/>
            <a:ext cx="4032504" cy="1417320"/>
          </a:xfrm>
          <a:prstGeom prst="rect">
            <a:avLst/>
          </a:prstGeom>
          <a:solidFill>
            <a:srgbClr val="C5F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10144" y="4343400"/>
            <a:ext cx="54864" cy="141732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19871" y="4434840"/>
            <a:ext cx="3849624" cy="1271016"/>
          </a:xfrm>
          <a:prstGeom prst="rect">
            <a:avLst/>
          </a:prstGeom>
          <a:noFill/>
        </p:spPr>
        <p:txBody>
          <a:bodyPr wrap="square">
            <a:normAutofit/>
          </a:bodyPr>
          <a:lstStyle/>
          <a:p>
            <a:pPr algn="l"/>
            <a:r>
              <a:rPr sz="1050" b="0" i="0">
                <a:solidFill>
                  <a:srgbClr val="000000"/>
                </a:solidFill>
                <a:latin typeface="Garamond"/>
              </a:rPr>
              <a:t>$37M = 2.0% of EBITDA; alone cannot drive 2-3 turn expansion; re-rating requires churn clearing + margin recovery + rate cuts concurrently — probability of all three in 12 months ≤20%</a:t>
            </a:r>
          </a:p>
        </p:txBody>
      </p:sp>
      <p:sp>
        <p:nvSpPr>
          <p:cNvPr id="39" name="Rectangle 38"/>
          <p:cNvSpPr/>
          <p:nvPr/>
        </p:nvSpPr>
        <p:spPr>
          <a:xfrm>
            <a:off x="640080" y="5870448"/>
            <a:ext cx="11183112" cy="27432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907024"/>
            <a:ext cx="4572000" cy="219456"/>
          </a:xfrm>
          <a:prstGeom prst="rect">
            <a:avLst/>
          </a:prstGeom>
          <a:noFill/>
        </p:spPr>
        <p:txBody>
          <a:bodyPr wrap="square">
            <a:normAutofit/>
          </a:bodyPr>
          <a:lstStyle/>
          <a:p>
            <a:pPr algn="l"/>
            <a:r>
              <a:rPr sz="1100" b="1" i="0">
                <a:solidFill>
                  <a:srgbClr val="FFFFFF"/>
                </a:solidFill>
                <a:latin typeface="Garamond"/>
              </a:rPr>
              <a:t>What You're Buying</a:t>
            </a:r>
          </a:p>
        </p:txBody>
      </p:sp>
      <p:sp>
        <p:nvSpPr>
          <p:cNvPr id="41" name="TextBox 40"/>
          <p:cNvSpPr txBox="1"/>
          <p:nvPr/>
        </p:nvSpPr>
        <p:spPr>
          <a:xfrm>
            <a:off x="685800" y="6199632"/>
            <a:ext cx="5577840" cy="603504"/>
          </a:xfrm>
          <a:prstGeom prst="rect">
            <a:avLst/>
          </a:prstGeom>
          <a:noFill/>
        </p:spPr>
        <p:txBody>
          <a:bodyPr wrap="square">
            <a:normAutofit/>
          </a:bodyPr>
          <a:lstStyle/>
          <a:p>
            <a:pPr algn="l"/>
            <a:r>
              <a:rPr sz="1000" b="0" i="0">
                <a:solidFill>
                  <a:srgbClr val="000000"/>
                </a:solidFill>
                <a:latin typeface="Garamond"/>
              </a:rPr>
              <a:t>• FY2025 EBITDA grew only +0.9% on +5.1% revenue (0.2x operating leverage) — structural cost inflation outpaces 3% escalators, ma…
• Net debt $15,145mm = 73% of EV; 3.0x interest coverage at 4.313% risk-free rate — leverage amplifies any EBITDA miss into dispr…</a:t>
            </a:r>
          </a:p>
        </p:txBody>
      </p:sp>
      <p:sp>
        <p:nvSpPr>
          <p:cNvPr id="42" name="TextBox 41"/>
          <p:cNvSpPr txBox="1"/>
          <p:nvPr/>
        </p:nvSpPr>
        <p:spPr>
          <a:xfrm>
            <a:off x="6355080" y="6199632"/>
            <a:ext cx="5394960" cy="603504"/>
          </a:xfrm>
          <a:prstGeom prst="rect">
            <a:avLst/>
          </a:prstGeom>
          <a:noFill/>
        </p:spPr>
        <p:txBody>
          <a:bodyPr wrap="square">
            <a:normAutofit/>
          </a:bodyPr>
          <a:lstStyle/>
          <a:p>
            <a:pPr algn="l"/>
            <a:r>
              <a:rPr sz="1000" b="0" i="0">
                <a:solidFill>
                  <a:srgbClr val="000000"/>
                </a:solidFill>
                <a:latin typeface="Garamond"/>
              </a:rPr>
              <a:t>• 12/20 analysts Hold; Truist and Bernstein both initiated/downgraded to neutral in Q1 2026 — street is not building the recovery…</a:t>
            </a:r>
          </a:p>
        </p:txBody>
      </p:sp>
      <p:sp>
        <p:nvSpPr>
          <p:cNvPr id="43" name="Rectangle 42"/>
          <p:cNvSpPr/>
          <p:nvPr/>
        </p:nvSpPr>
        <p:spPr>
          <a:xfrm>
            <a:off x="640080" y="6876288"/>
            <a:ext cx="11183112" cy="45720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6949440"/>
            <a:ext cx="10972800" cy="329184"/>
          </a:xfrm>
          <a:prstGeom prst="rect">
            <a:avLst/>
          </a:prstGeom>
          <a:noFill/>
        </p:spPr>
        <p:txBody>
          <a:bodyPr wrap="square">
            <a:normAutofit/>
          </a:bodyPr>
          <a:lstStyle/>
          <a:p>
            <a:pPr algn="ctr"/>
            <a:r>
              <a:rPr sz="1100" b="1" i="1">
                <a:solidFill>
                  <a:srgbClr val="FFFFFF"/>
                </a:solidFill>
                <a:latin typeface="Garamond"/>
              </a:rPr>
              <a:t>We believe our investment theses position us to get into an excellent name at the right time.  HOLD  |  PT: $210.00  |  Expected Return: +2.9% over 12 months.</a:t>
            </a:r>
          </a:p>
        </p:txBody>
      </p:sp>
      <p:sp>
        <p:nvSpPr>
          <p:cNvPr id="45" name="TextBox 44"/>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73152"/>
            <a:ext cx="10789920" cy="566928"/>
          </a:xfrm>
          <a:prstGeom prst="rect">
            <a:avLst/>
          </a:prstGeom>
          <a:noFill/>
        </p:spPr>
        <p:txBody>
          <a:bodyPr wrap="square">
            <a:normAutofit/>
          </a:bodyPr>
          <a:lstStyle/>
          <a:p>
            <a:pPr algn="l"/>
            <a:r>
              <a:rPr sz="2800" b="0" i="0">
                <a:solidFill>
                  <a:srgbClr val="1C2C3A"/>
                </a:solidFill>
                <a:latin typeface="Garamond"/>
              </a:rPr>
              <a:t>Catalyst Timeline &amp; Monitoring KPIs</a:t>
            </a:r>
          </a:p>
        </p:txBody>
      </p:sp>
      <p:sp>
        <p:nvSpPr>
          <p:cNvPr id="3" name="Rectangle 2"/>
          <p:cNvSpPr/>
          <p:nvPr/>
        </p:nvSpPr>
        <p:spPr>
          <a:xfrm>
            <a:off x="640080" y="658368"/>
            <a:ext cx="11183112" cy="36576"/>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656832"/>
            <a:ext cx="10515600" cy="182880"/>
          </a:xfrm>
          <a:prstGeom prst="rect">
            <a:avLst/>
          </a:prstGeom>
          <a:noFill/>
        </p:spPr>
        <p:txBody>
          <a:bodyPr wrap="square">
            <a:normAutofit/>
          </a:bodyPr>
          <a:lstStyle/>
          <a:p>
            <a:pPr algn="l"/>
            <a:r>
              <a:rPr sz="800" b="0" i="1">
                <a:solidFill>
                  <a:srgbClr val="999999"/>
                </a:solidFill>
                <a:latin typeface="Garamond"/>
              </a:rPr>
              <a:t>Sources: SEC Filings, Earnings Calls, Bloomberg, CapIQ</a:t>
            </a:r>
          </a:p>
        </p:txBody>
      </p:sp>
      <p:sp>
        <p:nvSpPr>
          <p:cNvPr id="5" name="TextBox 4"/>
          <p:cNvSpPr txBox="1"/>
          <p:nvPr/>
        </p:nvSpPr>
        <p:spPr>
          <a:xfrm>
            <a:off x="640080" y="749808"/>
            <a:ext cx="11183112" cy="237744"/>
          </a:xfrm>
          <a:prstGeom prst="rect">
            <a:avLst/>
          </a:prstGeom>
          <a:noFill/>
        </p:spPr>
        <p:txBody>
          <a:bodyPr wrap="square">
            <a:normAutofit/>
          </a:bodyPr>
          <a:lstStyle/>
          <a:p>
            <a:pPr algn="l"/>
            <a:r>
              <a:rPr sz="1400" b="1" i="0">
                <a:solidFill>
                  <a:srgbClr val="1C2C39"/>
                </a:solidFill>
                <a:latin typeface="Garamond"/>
              </a:rPr>
              <a:t>Catalyst Timeline</a:t>
            </a:r>
          </a:p>
        </p:txBody>
      </p:sp>
      <p:sp>
        <p:nvSpPr>
          <p:cNvPr id="6" name="Rectangle 5"/>
          <p:cNvSpPr/>
          <p:nvPr/>
        </p:nvSpPr>
        <p:spPr>
          <a:xfrm>
            <a:off x="640080" y="987552"/>
            <a:ext cx="11183112" cy="22860"/>
          </a:xfrm>
          <a:prstGeom prst="rect">
            <a:avLst/>
          </a:prstGeom>
          <a:solidFill>
            <a:srgbClr val="1C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042415"/>
          <a:ext cx="11183111" cy="1664208"/>
        </p:xfrm>
        <a:graphic>
          <a:graphicData uri="http://schemas.openxmlformats.org/drawingml/2006/table">
            <a:tbl>
              <a:tblPr firstRow="1" bandRow="1">
                <a:tableStyleId>{5C22544A-7EE6-4342-B048-85BDC9FD1C3A}</a:tableStyleId>
              </a:tblPr>
              <a:tblGrid>
                <a:gridCol w="1554480"/>
                <a:gridCol w="2926080"/>
                <a:gridCol w="2560319"/>
                <a:gridCol w="1371600"/>
                <a:gridCol w="2770632"/>
              </a:tblGrid>
              <a:tr h="416052">
                <a:tc>
                  <a:txBody>
                    <a:bodyPr/>
                    <a:lstStyle/>
                    <a:p>
                      <a:pPr algn="ctr"/>
                      <a:r>
                        <a:rPr sz="900" b="1">
                          <a:solidFill>
                            <a:srgbClr val="FFFFFF"/>
                          </a:solidFill>
                          <a:latin typeface="Garamond"/>
                        </a:rPr>
                        <a:t>Date / Timing</a:t>
                      </a:r>
                    </a:p>
                  </a:txBody>
                  <a:tcPr>
                    <a:solidFill>
                      <a:srgbClr val="1C2C39"/>
                    </a:solidFill>
                  </a:tcPr>
                </a:tc>
                <a:tc>
                  <a:txBody>
                    <a:bodyPr/>
                    <a:lstStyle/>
                    <a:p>
                      <a:pPr algn="ctr"/>
                      <a:r>
                        <a:rPr sz="900" b="1">
                          <a:solidFill>
                            <a:srgbClr val="FFFFFF"/>
                          </a:solidFill>
                          <a:latin typeface="Garamond"/>
                        </a:rPr>
                        <a:t>Event</a:t>
                      </a:r>
                    </a:p>
                  </a:txBody>
                  <a:tcPr>
                    <a:solidFill>
                      <a:srgbClr val="1C2C39"/>
                    </a:solidFill>
                  </a:tcPr>
                </a:tc>
                <a:tc>
                  <a:txBody>
                    <a:bodyPr/>
                    <a:lstStyle/>
                    <a:p>
                      <a:pPr algn="ctr"/>
                      <a:r>
                        <a:rPr sz="900" b="1">
                          <a:solidFill>
                            <a:srgbClr val="FFFFFF"/>
                          </a:solidFill>
                          <a:latin typeface="Garamond"/>
                        </a:rPr>
                        <a:t>Falsifiability Threshold</a:t>
                      </a:r>
                    </a:p>
                  </a:txBody>
                  <a:tcPr>
                    <a:solidFill>
                      <a:srgbClr val="1C2C39"/>
                    </a:solidFill>
                  </a:tcPr>
                </a:tc>
                <a:tc>
                  <a:txBody>
                    <a:bodyPr/>
                    <a:lstStyle/>
                    <a:p>
                      <a:pPr algn="ctr"/>
                      <a:r>
                        <a:rPr sz="900" b="1">
                          <a:solidFill>
                            <a:srgbClr val="FFFFFF"/>
                          </a:solidFill>
                          <a:latin typeface="Garamond"/>
                        </a:rPr>
                        <a:t>Est. Impact</a:t>
                      </a:r>
                    </a:p>
                  </a:txBody>
                  <a:tcPr>
                    <a:solidFill>
                      <a:srgbClr val="1C2C39"/>
                    </a:solidFill>
                  </a:tcPr>
                </a:tc>
                <a:tc>
                  <a:txBody>
                    <a:bodyPr/>
                    <a:lstStyle/>
                    <a:p>
                      <a:pPr algn="ctr"/>
                      <a:r>
                        <a:rPr sz="900" b="1">
                          <a:solidFill>
                            <a:srgbClr val="FFFFFF"/>
                          </a:solidFill>
                          <a:latin typeface="Garamond"/>
                        </a:rPr>
                        <a:t>Thesis Point</a:t>
                      </a:r>
                    </a:p>
                  </a:txBody>
                  <a:tcPr>
                    <a:solidFill>
                      <a:srgbClr val="1C2C39"/>
                    </a:solidFill>
                  </a:tcPr>
                </a:tc>
              </a:tr>
              <a:tr h="416052">
                <a:tc>
                  <a:txBody>
                    <a:bodyPr/>
                    <a:lstStyle/>
                    <a:p>
                      <a:pPr algn="l"/>
                      <a:r>
                        <a:rPr sz="900" b="0">
                          <a:solidFill>
                            <a:srgbClr val="000000"/>
                          </a:solidFill>
                          <a:latin typeface="Garamond"/>
                        </a:rPr>
                        <a:t>2026-04-27</a:t>
                      </a:r>
                    </a:p>
                  </a:txBody>
                  <a:tcPr>
                    <a:solidFill>
                      <a:srgbClr val="FFFFFF"/>
                    </a:solidFill>
                  </a:tcPr>
                </a:tc>
                <a:tc>
                  <a:txBody>
                    <a:bodyPr/>
                    <a:lstStyle/>
                    <a:p>
                      <a:pPr algn="l"/>
                      <a:r>
                        <a:rPr sz="900" b="0">
                          <a:solidFill>
                            <a:srgbClr val="000000"/>
                          </a:solidFill>
                          <a:latin typeface="Garamond"/>
                        </a:rPr>
                        <a:t>Q1 2026 earnings</a:t>
                      </a:r>
                    </a:p>
                  </a:txBody>
                  <a:tcPr>
                    <a:solidFill>
                      <a:srgbClr val="FFFFFF"/>
                    </a:solidFill>
                  </a:tcPr>
                </a:tc>
                <a:tc>
                  <a:txBody>
                    <a:bodyPr/>
                    <a:lstStyle/>
                    <a:p>
                      <a:pPr algn="l"/>
                      <a:r>
                        <a:rPr sz="900" b="0">
                          <a:solidFill>
                            <a:srgbClr val="000000"/>
                          </a:solidFill>
                          <a:latin typeface="Garamond"/>
                        </a:rPr>
                        <a:t>N/A</a:t>
                      </a:r>
                    </a:p>
                  </a:txBody>
                  <a:tcPr>
                    <a:solidFill>
                      <a:srgbClr val="FFFFFF"/>
                    </a:solidFill>
                  </a:tcPr>
                </a:tc>
                <a:tc>
                  <a:txBody>
                    <a:bodyPr/>
                    <a:lstStyle/>
                    <a:p>
                      <a:pPr algn="ctr"/>
                      <a:r>
                        <a:rPr sz="900" b="0">
                          <a:solidFill>
                            <a:srgbClr val="000000"/>
                          </a:solidFill>
                          <a:latin typeface="Garamond"/>
                        </a:rPr>
                        <a:t>Binary ±8%</a:t>
                      </a:r>
                    </a:p>
                  </a:txBody>
                  <a:tcPr>
                    <a:solidFill>
                      <a:srgbClr val="FFFFFF"/>
                    </a:solidFill>
                  </a:tcPr>
                </a:tc>
                <a:tc>
                  <a:txBody>
                    <a:bodyPr/>
                    <a:lstStyle/>
                    <a:p>
                      <a:pPr algn="l"/>
                      <a:r>
                        <a:rPr sz="900" b="0">
                          <a:solidFill>
                            <a:srgbClr val="000000"/>
                          </a:solidFill>
                          <a:latin typeface="Garamond"/>
                        </a:rPr>
                        <a:t>EBITDA margin trajectory</a:t>
                      </a:r>
                    </a:p>
                  </a:txBody>
                  <a:tcPr>
                    <a:solidFill>
                      <a:srgbClr val="FFFFFF"/>
                    </a:solidFill>
                  </a:tcPr>
                </a:tc>
              </a:tr>
              <a:tr h="416052">
                <a:tc>
                  <a:txBody>
                    <a:bodyPr/>
                    <a:lstStyle/>
                    <a:p>
                      <a:pPr algn="l"/>
                      <a:r>
                        <a:rPr sz="900" b="0">
                          <a:solidFill>
                            <a:srgbClr val="000000"/>
                          </a:solidFill>
                          <a:latin typeface="Garamond"/>
                        </a:rPr>
                        <a:t>Q2-Q3 2026</a:t>
                      </a:r>
                    </a:p>
                  </a:txBody>
                  <a:tcPr>
                    <a:solidFill>
                      <a:srgbClr val="EFEFEF"/>
                    </a:solidFill>
                  </a:tcPr>
                </a:tc>
                <a:tc>
                  <a:txBody>
                    <a:bodyPr/>
                    <a:lstStyle/>
                    <a:p>
                      <a:pPr algn="l"/>
                      <a:r>
                        <a:rPr sz="900" b="0">
                          <a:solidFill>
                            <a:srgbClr val="000000"/>
                          </a:solidFill>
                          <a:latin typeface="Garamond"/>
                        </a:rPr>
                        <a:t>T-Mobile Sprint consolidation disclosure</a:t>
                      </a:r>
                    </a:p>
                  </a:txBody>
                  <a:tcPr>
                    <a:solidFill>
                      <a:srgbClr val="EFEFEF"/>
                    </a:solidFill>
                  </a:tcPr>
                </a:tc>
                <a:tc>
                  <a:txBody>
                    <a:bodyPr/>
                    <a:lstStyle/>
                    <a:p>
                      <a:pPr algn="l"/>
                      <a:r>
                        <a:rPr sz="900" b="0">
                          <a:solidFill>
                            <a:srgbClr val="000000"/>
                          </a:solidFill>
                          <a:latin typeface="Garamond"/>
                        </a:rPr>
                        <a:t>N/A</a:t>
                      </a:r>
                    </a:p>
                  </a:txBody>
                  <a:tcPr>
                    <a:solidFill>
                      <a:srgbClr val="EFEFEF"/>
                    </a:solidFill>
                  </a:tcPr>
                </a:tc>
                <a:tc>
                  <a:txBody>
                    <a:bodyPr/>
                    <a:lstStyle/>
                    <a:p>
                      <a:pPr algn="ctr"/>
                      <a:r>
                        <a:rPr sz="900" b="0">
                          <a:solidFill>
                            <a:srgbClr val="000000"/>
                          </a:solidFill>
                          <a:latin typeface="Garamond"/>
                        </a:rPr>
                        <a:t>±6%</a:t>
                      </a:r>
                    </a:p>
                  </a:txBody>
                  <a:tcPr>
                    <a:solidFill>
                      <a:srgbClr val="EFEFEF"/>
                    </a:solidFill>
                  </a:tcPr>
                </a:tc>
                <a:tc>
                  <a:txBody>
                    <a:bodyPr/>
                    <a:lstStyle/>
                    <a:p>
                      <a:pPr algn="l"/>
                      <a:r>
                        <a:rPr sz="900" b="0">
                          <a:solidFill>
                            <a:srgbClr val="000000"/>
                          </a:solidFill>
                          <a:latin typeface="Garamond"/>
                        </a:rPr>
                        <a:t>Churn duration risk</a:t>
                      </a:r>
                    </a:p>
                  </a:txBody>
                  <a:tcPr>
                    <a:solidFill>
                      <a:srgbClr val="EFEFEF"/>
                    </a:solidFill>
                  </a:tcPr>
                </a:tc>
              </a:tr>
              <a:tr h="416052">
                <a:tc>
                  <a:txBody>
                    <a:bodyPr/>
                    <a:lstStyle/>
                    <a:p>
                      <a:pPr algn="l"/>
                      <a:r>
                        <a:rPr sz="900" b="0">
                          <a:solidFill>
                            <a:srgbClr val="000000"/>
                          </a:solidFill>
                          <a:latin typeface="Garamond"/>
                        </a:rPr>
                        <a:t>H2 2026</a:t>
                      </a:r>
                    </a:p>
                  </a:txBody>
                  <a:tcPr>
                    <a:solidFill>
                      <a:srgbClr val="FFFFFF"/>
                    </a:solidFill>
                  </a:tcPr>
                </a:tc>
                <a:tc>
                  <a:txBody>
                    <a:bodyPr/>
                    <a:lstStyle/>
                    <a:p>
                      <a:pPr algn="l"/>
                      <a:r>
                        <a:rPr sz="900" b="0">
                          <a:solidFill>
                            <a:srgbClr val="000000"/>
                          </a:solidFill>
                          <a:latin typeface="Garamond"/>
                        </a:rPr>
                        <a:t>Fed rate cut signal</a:t>
                      </a:r>
                    </a:p>
                  </a:txBody>
                  <a:tcPr>
                    <a:solidFill>
                      <a:srgbClr val="FFFFFF"/>
                    </a:solidFill>
                  </a:tcPr>
                </a:tc>
                <a:tc>
                  <a:txBody>
                    <a:bodyPr/>
                    <a:lstStyle/>
                    <a:p>
                      <a:pPr algn="l"/>
                      <a:r>
                        <a:rPr sz="900" b="0">
                          <a:solidFill>
                            <a:srgbClr val="000000"/>
                          </a:solidFill>
                          <a:latin typeface="Garamond"/>
                        </a:rPr>
                        <a:t>N/A</a:t>
                      </a:r>
                    </a:p>
                  </a:txBody>
                  <a:tcPr>
                    <a:solidFill>
                      <a:srgbClr val="FFFFFF"/>
                    </a:solidFill>
                  </a:tcPr>
                </a:tc>
                <a:tc>
                  <a:txBody>
                    <a:bodyPr/>
                    <a:lstStyle/>
                    <a:p>
                      <a:pPr algn="ctr"/>
                      <a:r>
                        <a:rPr sz="900" b="0">
                          <a:solidFill>
                            <a:srgbClr val="000000"/>
                          </a:solidFill>
                          <a:latin typeface="Garamond"/>
                        </a:rPr>
                        <a:t>+10% if confirmed</a:t>
                      </a:r>
                    </a:p>
                  </a:txBody>
                  <a:tcPr>
                    <a:solidFill>
                      <a:srgbClr val="FFFFFF"/>
                    </a:solidFill>
                  </a:tcPr>
                </a:tc>
                <a:tc>
                  <a:txBody>
                    <a:bodyPr/>
                    <a:lstStyle/>
                    <a:p>
                      <a:pPr algn="l"/>
                      <a:r>
                        <a:rPr sz="900" b="0">
                          <a:solidFill>
                            <a:srgbClr val="000000"/>
                          </a:solidFill>
                          <a:latin typeface="Garamond"/>
                        </a:rPr>
                        <a:t>Multiple expansion for levered REITs</a:t>
                      </a:r>
                    </a:p>
                  </a:txBody>
                  <a:tcPr>
                    <a:solidFill>
                      <a:srgbClr val="FFFFFF"/>
                    </a:solidFill>
                  </a:tcPr>
                </a:tc>
              </a:tr>
            </a:tbl>
          </a:graphicData>
        </a:graphic>
      </p:graphicFrame>
      <p:sp>
        <p:nvSpPr>
          <p:cNvPr id="8" name="TextBox 7"/>
          <p:cNvSpPr txBox="1"/>
          <p:nvPr/>
        </p:nvSpPr>
        <p:spPr>
          <a:xfrm>
            <a:off x="640080" y="2907792"/>
            <a:ext cx="11183112" cy="237744"/>
          </a:xfrm>
          <a:prstGeom prst="rect">
            <a:avLst/>
          </a:prstGeom>
          <a:noFill/>
        </p:spPr>
        <p:txBody>
          <a:bodyPr wrap="square">
            <a:normAutofit/>
          </a:bodyPr>
          <a:lstStyle/>
          <a:p>
            <a:pPr algn="l"/>
            <a:r>
              <a:rPr sz="1400" b="1" i="0">
                <a:solidFill>
                  <a:srgbClr val="00ACB6"/>
                </a:solidFill>
                <a:latin typeface="Garamond"/>
              </a:rPr>
              <a:t>Monitoring KPIs — What to Watch</a:t>
            </a:r>
          </a:p>
        </p:txBody>
      </p:sp>
      <p:sp>
        <p:nvSpPr>
          <p:cNvPr id="9" name="Rectangle 8"/>
          <p:cNvSpPr/>
          <p:nvPr/>
        </p:nvSpPr>
        <p:spPr>
          <a:xfrm>
            <a:off x="640080" y="3145536"/>
            <a:ext cx="11183112" cy="22860"/>
          </a:xfrm>
          <a:prstGeom prst="rect">
            <a:avLst/>
          </a:prstGeom>
          <a:solidFill>
            <a:srgbClr val="00A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640080" y="3218688"/>
          <a:ext cx="11183112" cy="2066543"/>
        </p:xfrm>
        <a:graphic>
          <a:graphicData uri="http://schemas.openxmlformats.org/drawingml/2006/table">
            <a:tbl>
              <a:tblPr firstRow="1" bandRow="1">
                <a:tableStyleId>{5C22544A-7EE6-4342-B048-85BDC9FD1C3A}</a:tableStyleId>
              </a:tblPr>
              <a:tblGrid>
                <a:gridCol w="3108960"/>
                <a:gridCol w="1828800"/>
                <a:gridCol w="2286000"/>
                <a:gridCol w="2286000"/>
                <a:gridCol w="1673352"/>
              </a:tblGrid>
              <a:tr h="413308">
                <a:tc>
                  <a:txBody>
                    <a:bodyPr/>
                    <a:lstStyle/>
                    <a:p>
                      <a:pPr algn="ctr"/>
                      <a:r>
                        <a:rPr sz="900" b="1">
                          <a:solidFill>
                            <a:srgbClr val="FFFFFF"/>
                          </a:solidFill>
                          <a:latin typeface="Garamond"/>
                        </a:rPr>
                        <a:t>Metric</a:t>
                      </a:r>
                    </a:p>
                  </a:txBody>
                  <a:tcPr>
                    <a:solidFill>
                      <a:srgbClr val="1C2C39"/>
                    </a:solidFill>
                  </a:tcPr>
                </a:tc>
                <a:tc>
                  <a:txBody>
                    <a:bodyPr/>
                    <a:lstStyle/>
                    <a:p>
                      <a:pPr algn="ctr"/>
                      <a:r>
                        <a:rPr sz="900" b="1">
                          <a:solidFill>
                            <a:srgbClr val="FFFFFF"/>
                          </a:solidFill>
                          <a:latin typeface="Garamond"/>
                        </a:rPr>
                        <a:t>Current Level</a:t>
                      </a:r>
                    </a:p>
                  </a:txBody>
                  <a:tcPr>
                    <a:solidFill>
                      <a:srgbClr val="1C2C39"/>
                    </a:solidFill>
                  </a:tcPr>
                </a:tc>
                <a:tc>
                  <a:txBody>
                    <a:bodyPr/>
                    <a:lstStyle/>
                    <a:p>
                      <a:pPr algn="ctr"/>
                      <a:r>
                        <a:rPr sz="900" b="1">
                          <a:solidFill>
                            <a:srgbClr val="FFFFFF"/>
                          </a:solidFill>
                          <a:latin typeface="Garamond"/>
                        </a:rPr>
                        <a:t>Thesis Requires</a:t>
                      </a:r>
                    </a:p>
                  </a:txBody>
                  <a:tcPr>
                    <a:solidFill>
                      <a:srgbClr val="1C2C39"/>
                    </a:solidFill>
                  </a:tcPr>
                </a:tc>
                <a:tc>
                  <a:txBody>
                    <a:bodyPr/>
                    <a:lstStyle/>
                    <a:p>
                      <a:pPr algn="ctr"/>
                      <a:r>
                        <a:rPr sz="900" b="1">
                          <a:solidFill>
                            <a:srgbClr val="FFFFFF"/>
                          </a:solidFill>
                          <a:latin typeface="Garamond"/>
                        </a:rPr>
                        <a:t>Red Flag Threshold</a:t>
                      </a:r>
                    </a:p>
                  </a:txBody>
                  <a:tcPr>
                    <a:solidFill>
                      <a:srgbClr val="1C2C39"/>
                    </a:solidFill>
                  </a:tcPr>
                </a:tc>
                <a:tc>
                  <a:txBody>
                    <a:bodyPr/>
                    <a:lstStyle/>
                    <a:p>
                      <a:pPr algn="ctr"/>
                      <a:r>
                        <a:rPr sz="900" b="1">
                          <a:solidFill>
                            <a:srgbClr val="FFFFFF"/>
                          </a:solidFill>
                          <a:latin typeface="Garamond"/>
                        </a:rPr>
                        <a:t>Freq</a:t>
                      </a:r>
                    </a:p>
                  </a:txBody>
                  <a:tcPr>
                    <a:solidFill>
                      <a:srgbClr val="1C2C39"/>
                    </a:solidFill>
                  </a:tcPr>
                </a:tc>
              </a:tr>
              <a:tr h="413308">
                <a:tc>
                  <a:txBody>
                    <a:bodyPr/>
                    <a:lstStyle/>
                    <a:p>
                      <a:pPr algn="l"/>
                      <a:r>
                        <a:rPr sz="900" b="0">
                          <a:solidFill>
                            <a:srgbClr val="000000"/>
                          </a:solidFill>
                          <a:latin typeface="Garamond"/>
                        </a:rPr>
                        <a:t>EBITDA margin</a:t>
                      </a:r>
                    </a:p>
                  </a:txBody>
                  <a:tcPr>
                    <a:solidFill>
                      <a:srgbClr val="FFFFFF"/>
                    </a:solidFill>
                  </a:tcPr>
                </a:tc>
                <a:tc>
                  <a:txBody>
                    <a:bodyPr/>
                    <a:lstStyle/>
                    <a:p>
                      <a:pPr algn="l"/>
                      <a:r>
                        <a:rPr sz="900" b="0">
                          <a:solidFill>
                            <a:srgbClr val="000000"/>
                          </a:solidFill>
                          <a:latin typeface="Garamond"/>
                        </a:rPr>
                        <a:t>64.3% FY2025</a:t>
                      </a:r>
                    </a:p>
                  </a:txBody>
                  <a:tcPr>
                    <a:solidFill>
                      <a:srgbClr val="FFFFFF"/>
                    </a:solidFill>
                  </a:tcPr>
                </a:tc>
                <a:tc>
                  <a:txBody>
                    <a:bodyPr/>
                    <a:lstStyle/>
                    <a:p>
                      <a:pPr algn="l"/>
                      <a:r>
                        <a:rPr sz="900" b="0">
                          <a:solidFill>
                            <a:srgbClr val="000000"/>
                          </a:solidFill>
                          <a:latin typeface="Garamond"/>
                        </a:rPr>
                        <a:t>≥65.9% base; ≥68.0% bull</a:t>
                      </a:r>
                    </a:p>
                  </a:txBody>
                  <a:tcPr>
                    <a:solidFill>
                      <a:srgbClr val="FFFFFF"/>
                    </a:solidFill>
                  </a:tcPr>
                </a:tc>
                <a:tc>
                  <a:txBody>
                    <a:bodyPr/>
                    <a:lstStyle/>
                    <a:p>
                      <a:pPr algn="l"/>
                      <a:r>
                        <a:rPr sz="900" b="0">
                          <a:solidFill>
                            <a:srgbClr val="000000"/>
                          </a:solidFill>
                          <a:latin typeface="Garamond"/>
                        </a:rPr>
                        <a:t>&lt;63% — structural cost deterioration confi…</a:t>
                      </a:r>
                    </a:p>
                  </a:txBody>
                  <a:tcPr>
                    <a:solidFill>
                      <a:srgbClr val="FFFFFF"/>
                    </a:solidFill>
                  </a:tcPr>
                </a:tc>
                <a:tc>
                  <a:txBody>
                    <a:bodyPr/>
                    <a:lstStyle/>
                    <a:p>
                      <a:pPr algn="ctr"/>
                      <a:r>
                        <a:rPr sz="900" b="0">
                          <a:solidFill>
                            <a:srgbClr val="000000"/>
                          </a:solidFill>
                          <a:latin typeface="Garamond"/>
                        </a:rPr>
                        <a:t>quarterly</a:t>
                      </a:r>
                    </a:p>
                  </a:txBody>
                  <a:tcPr>
                    <a:solidFill>
                      <a:srgbClr val="FFFFFF"/>
                    </a:solidFill>
                  </a:tcPr>
                </a:tc>
              </a:tr>
              <a:tr h="413308">
                <a:tc>
                  <a:txBody>
                    <a:bodyPr/>
                    <a:lstStyle/>
                    <a:p>
                      <a:pPr algn="l"/>
                      <a:r>
                        <a:rPr sz="900" b="0">
                          <a:solidFill>
                            <a:srgbClr val="000000"/>
                          </a:solidFill>
                          <a:latin typeface="Garamond"/>
                        </a:rPr>
                        <a:t>Net debt / EBITDA</a:t>
                      </a:r>
                    </a:p>
                  </a:txBody>
                  <a:tcPr>
                    <a:solidFill>
                      <a:srgbClr val="EFEFEF"/>
                    </a:solidFill>
                  </a:tcPr>
                </a:tc>
                <a:tc>
                  <a:txBody>
                    <a:bodyPr/>
                    <a:lstStyle/>
                    <a:p>
                      <a:pPr algn="l"/>
                      <a:r>
                        <a:rPr sz="900" b="0">
                          <a:solidFill>
                            <a:srgbClr val="000000"/>
                          </a:solidFill>
                          <a:latin typeface="Garamond"/>
                        </a:rPr>
                        <a:t>6.9x</a:t>
                      </a:r>
                    </a:p>
                  </a:txBody>
                  <a:tcPr>
                    <a:solidFill>
                      <a:srgbClr val="EFEFEF"/>
                    </a:solidFill>
                  </a:tcPr>
                </a:tc>
                <a:tc>
                  <a:txBody>
                    <a:bodyPr/>
                    <a:lstStyle/>
                    <a:p>
                      <a:pPr algn="l"/>
                      <a:r>
                        <a:rPr sz="900" b="0">
                          <a:solidFill>
                            <a:srgbClr val="000000"/>
                          </a:solidFill>
                          <a:latin typeface="Garamond"/>
                        </a:rPr>
                        <a:t>&lt;6.5x by YE2026</a:t>
                      </a:r>
                    </a:p>
                  </a:txBody>
                  <a:tcPr>
                    <a:solidFill>
                      <a:srgbClr val="EFEFEF"/>
                    </a:solidFill>
                  </a:tcPr>
                </a:tc>
                <a:tc>
                  <a:txBody>
                    <a:bodyPr/>
                    <a:lstStyle/>
                    <a:p>
                      <a:pPr algn="l"/>
                      <a:r>
                        <a:rPr sz="900" b="0">
                          <a:solidFill>
                            <a:srgbClr val="000000"/>
                          </a:solidFill>
                          <a:latin typeface="Garamond"/>
                        </a:rPr>
                        <a:t>&gt;7.2x — FCF not reducing leverage</a:t>
                      </a:r>
                    </a:p>
                  </a:txBody>
                  <a:tcPr>
                    <a:solidFill>
                      <a:srgbClr val="EFEFEF"/>
                    </a:solidFill>
                  </a:tcPr>
                </a:tc>
                <a:tc>
                  <a:txBody>
                    <a:bodyPr/>
                    <a:lstStyle/>
                    <a:p>
                      <a:pPr algn="ctr"/>
                      <a:r>
                        <a:rPr sz="900" b="0">
                          <a:solidFill>
                            <a:srgbClr val="000000"/>
                          </a:solidFill>
                          <a:latin typeface="Garamond"/>
                        </a:rPr>
                        <a:t>quarterly</a:t>
                      </a:r>
                    </a:p>
                  </a:txBody>
                  <a:tcPr>
                    <a:solidFill>
                      <a:srgbClr val="EFEFEF"/>
                    </a:solidFill>
                  </a:tcPr>
                </a:tc>
              </a:tr>
              <a:tr h="413308">
                <a:tc>
                  <a:txBody>
                    <a:bodyPr/>
                    <a:lstStyle/>
                    <a:p>
                      <a:pPr algn="l"/>
                      <a:r>
                        <a:rPr sz="900" b="0">
                          <a:solidFill>
                            <a:srgbClr val="000000"/>
                          </a:solidFill>
                          <a:latin typeface="Garamond"/>
                        </a:rPr>
                        <a:t>Gross margin</a:t>
                      </a:r>
                    </a:p>
                  </a:txBody>
                  <a:tcPr>
                    <a:solidFill>
                      <a:srgbClr val="FFFFFF"/>
                    </a:solidFill>
                  </a:tcPr>
                </a:tc>
                <a:tc>
                  <a:txBody>
                    <a:bodyPr/>
                    <a:lstStyle/>
                    <a:p>
                      <a:pPr algn="l"/>
                      <a:r>
                        <a:rPr sz="900" b="0">
                          <a:solidFill>
                            <a:srgbClr val="000000"/>
                          </a:solidFill>
                          <a:latin typeface="Garamond"/>
                        </a:rPr>
                        <a:t>74.5% FY2025</a:t>
                      </a:r>
                    </a:p>
                  </a:txBody>
                  <a:tcPr>
                    <a:solidFill>
                      <a:srgbClr val="FFFFFF"/>
                    </a:solidFill>
                  </a:tcPr>
                </a:tc>
                <a:tc>
                  <a:txBody>
                    <a:bodyPr/>
                    <a:lstStyle/>
                    <a:p>
                      <a:pPr algn="l"/>
                      <a:r>
                        <a:rPr sz="900" b="0">
                          <a:solidFill>
                            <a:srgbClr val="000000"/>
                          </a:solidFill>
                          <a:latin typeface="Garamond"/>
                        </a:rPr>
                        <a:t>≥76.5% by Q2 2026 to confirm cost normaliz…</a:t>
                      </a:r>
                    </a:p>
                  </a:txBody>
                  <a:tcPr>
                    <a:solidFill>
                      <a:srgbClr val="FFFFFF"/>
                    </a:solidFill>
                  </a:tcPr>
                </a:tc>
                <a:tc>
                  <a:txBody>
                    <a:bodyPr/>
                    <a:lstStyle/>
                    <a:p>
                      <a:pPr algn="l"/>
                      <a:r>
                        <a:rPr sz="900" b="0">
                          <a:solidFill>
                            <a:srgbClr val="000000"/>
                          </a:solidFill>
                          <a:latin typeface="Garamond"/>
                        </a:rPr>
                        <a:t>&lt;73% — cost inflation accelerating</a:t>
                      </a:r>
                    </a:p>
                  </a:txBody>
                  <a:tcPr>
                    <a:solidFill>
                      <a:srgbClr val="FFFFFF"/>
                    </a:solidFill>
                  </a:tcPr>
                </a:tc>
                <a:tc>
                  <a:txBody>
                    <a:bodyPr/>
                    <a:lstStyle/>
                    <a:p>
                      <a:pPr algn="ctr"/>
                      <a:r>
                        <a:rPr sz="900" b="0">
                          <a:solidFill>
                            <a:srgbClr val="000000"/>
                          </a:solidFill>
                          <a:latin typeface="Garamond"/>
                        </a:rPr>
                        <a:t>quarterly</a:t>
                      </a:r>
                    </a:p>
                  </a:txBody>
                  <a:tcPr>
                    <a:solidFill>
                      <a:srgbClr val="FFFFFF"/>
                    </a:solidFill>
                  </a:tcPr>
                </a:tc>
              </a:tr>
              <a:tr h="413311">
                <a:tc>
                  <a:txBody>
                    <a:bodyPr/>
                    <a:lstStyle/>
                    <a:p>
                      <a:pPr algn="l"/>
                      <a:r>
                        <a:rPr sz="900" b="0">
                          <a:solidFill>
                            <a:srgbClr val="000000"/>
                          </a:solidFill>
                          <a:latin typeface="Garamond"/>
                        </a:rPr>
                        <a:t>Interest coverage (EBIT/Interest)</a:t>
                      </a:r>
                    </a:p>
                  </a:txBody>
                  <a:tcPr>
                    <a:solidFill>
                      <a:srgbClr val="EFEFEF"/>
                    </a:solidFill>
                  </a:tcPr>
                </a:tc>
                <a:tc>
                  <a:txBody>
                    <a:bodyPr/>
                    <a:lstStyle/>
                    <a:p>
                      <a:pPr algn="l"/>
                      <a:r>
                        <a:rPr sz="900" b="0">
                          <a:solidFill>
                            <a:srgbClr val="000000"/>
                          </a:solidFill>
                          <a:latin typeface="Garamond"/>
                        </a:rPr>
                        <a:t>3.0x</a:t>
                      </a:r>
                    </a:p>
                  </a:txBody>
                  <a:tcPr>
                    <a:solidFill>
                      <a:srgbClr val="EFEFEF"/>
                    </a:solidFill>
                  </a:tcPr>
                </a:tc>
                <a:tc>
                  <a:txBody>
                    <a:bodyPr/>
                    <a:lstStyle/>
                    <a:p>
                      <a:pPr algn="l"/>
                      <a:r>
                        <a:rPr sz="900" b="0">
                          <a:solidFill>
                            <a:srgbClr val="000000"/>
                          </a:solidFill>
                          <a:latin typeface="Garamond"/>
                        </a:rPr>
                        <a:t>≥3.2x — stable coverage</a:t>
                      </a:r>
                    </a:p>
                  </a:txBody>
                  <a:tcPr>
                    <a:solidFill>
                      <a:srgbClr val="EFEFEF"/>
                    </a:solidFill>
                  </a:tcPr>
                </a:tc>
                <a:tc>
                  <a:txBody>
                    <a:bodyPr/>
                    <a:lstStyle/>
                    <a:p>
                      <a:pPr algn="l"/>
                      <a:r>
                        <a:rPr sz="900" b="0">
                          <a:solidFill>
                            <a:srgbClr val="000000"/>
                          </a:solidFill>
                          <a:latin typeface="Garamond"/>
                        </a:rPr>
                        <a:t>&lt;2.5x — ratings agency watch territory</a:t>
                      </a:r>
                    </a:p>
                  </a:txBody>
                  <a:tcPr>
                    <a:solidFill>
                      <a:srgbClr val="EFEFEF"/>
                    </a:solidFill>
                  </a:tcPr>
                </a:tc>
                <a:tc>
                  <a:txBody>
                    <a:bodyPr/>
                    <a:lstStyle/>
                    <a:p>
                      <a:pPr algn="ctr"/>
                      <a:r>
                        <a:rPr sz="900" b="0">
                          <a:solidFill>
                            <a:srgbClr val="000000"/>
                          </a:solidFill>
                          <a:latin typeface="Garamond"/>
                        </a:rPr>
                        <a:t>quarterly</a:t>
                      </a:r>
                    </a:p>
                  </a:txBody>
                  <a:tcPr>
                    <a:solidFill>
                      <a:srgbClr val="EFEFEF"/>
                    </a:solidFill>
                  </a:tcPr>
                </a:tc>
              </a:tr>
            </a:tbl>
          </a:graphicData>
        </a:graphic>
      </p:graphicFrame>
      <p:sp>
        <p:nvSpPr>
          <p:cNvPr id="11" name="TextBox 10"/>
          <p:cNvSpPr txBox="1"/>
          <p:nvPr/>
        </p:nvSpPr>
        <p:spPr>
          <a:xfrm>
            <a:off x="640080" y="6565392"/>
            <a:ext cx="11183112" cy="219456"/>
          </a:xfrm>
          <a:prstGeom prst="rect">
            <a:avLst/>
          </a:prstGeom>
          <a:noFill/>
        </p:spPr>
        <p:txBody>
          <a:bodyPr wrap="square">
            <a:normAutofit/>
          </a:bodyPr>
          <a:lstStyle/>
          <a:p>
            <a:pPr algn="l"/>
            <a:r>
              <a:rPr sz="850" b="0" i="1">
                <a:solidFill>
                  <a:srgbClr val="595959"/>
                </a:solidFill>
                <a:latin typeface="Garamond"/>
              </a:rPr>
              <a:t>Change of View Triggers: Q1 2026 gross margin ≥77% AND FY2026 EBITDA guidance raised above $…  |  Net debt/EBITDA rises above 7.2x OR T-Mobile discloses Sprint ratio…</a:t>
            </a:r>
          </a:p>
        </p:txBody>
      </p:sp>
      <p:sp>
        <p:nvSpPr>
          <p:cNvPr id="12" name="TextBox 11"/>
          <p:cNvSpPr txBox="1"/>
          <p:nvPr/>
        </p:nvSpPr>
        <p:spPr>
          <a:xfrm>
            <a:off x="320040" y="91440"/>
            <a:ext cx="347472" cy="274320"/>
          </a:xfrm>
          <a:prstGeom prst="rect">
            <a:avLst/>
          </a:prstGeom>
          <a:noFill/>
        </p:spPr>
        <p:txBody>
          <a:bodyPr wrap="square">
            <a:normAutofit/>
          </a:bodyPr>
          <a:lstStyle/>
          <a:p>
            <a:pPr algn="l"/>
            <a:r>
              <a:rPr sz="1200" b="0" i="0">
                <a:solidFill>
                  <a:srgbClr val="1C2C3A"/>
                </a:solidFill>
                <a:latin typeface="Garamond"/>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