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EQUITY RESEARCH  |  LONG/SHORT INVESTMENT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MICROSOFT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A9FD4"/>
                </a:solidFill>
              </a:rPr>
              <a:t>MSFT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11274552" cy="27432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645920" cy="685800"/>
          </a:xfrm>
          <a:prstGeom prst="rect">
            <a:avLst/>
          </a:prstGeom>
          <a:solidFill>
            <a:srgbClr val="2E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Current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$371.04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12M Price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$460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Expected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+24.0%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Conviction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March 26,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11274552" cy="173736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9FD4"/>
                </a:solidFill>
              </a:rPr>
              <a:t>VARIANT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8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</a:rPr>
              <a:t>The market is wrong because it treats MSFT's AI capex cycle as a permanent FCF impairment — reflected in a 30% EV/EBITDA discount to enterprise software peers — rather than a temporal investment already generating demonstrably above-corporate-average...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CONFIDENTIAL — FOR INSTITUTIONAL INVESTOR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Why we own it — what the market gets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502920"/>
          </a:xfrm>
          <a:prstGeom prst="rect">
            <a:avLst/>
          </a:prstGeom>
          <a:solidFill>
            <a:srgbClr val="2E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BULL CASE  |  30%  |  $540  |  +46%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F4F8"/>
                </a:solidFill>
              </a:rPr>
              <a:t>Azure growth re-accelerates to 32%+ in Q3-Q4 FY2026 AND Copilot paid enterprise seats cross 10 million by end of CY2026, demonstrating that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749039" cy="5029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17043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BASE CASE  |  50%  |  $460  |  +24%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6420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F4F8"/>
                </a:solidFill>
              </a:rPr>
              <a:t>Azure sustains 26-29% growth through FY2026 (no re-acceleration but no deceleration below 25%), Copilot penetration reaches 5-10M seats, and...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097280"/>
            <a:ext cx="3749039" cy="50292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17043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BEAR CASE  |  20%  |  $285  |  -23%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66420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F4F8"/>
                </a:solidFill>
              </a:rPr>
              <a:t>Azure growth decelerates to 18-22% in two consecutive quarters while capex commitments remain locked at $80B+ (data center construction back...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0320"/>
            <a:ext cx="11640312" cy="18288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FD4"/>
                </a:solidFill>
              </a:rPr>
              <a:t>KEY CATALYSTS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17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• Q3 FY2026 Earnings — Azure growth rate and Copilot seat disclosure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3832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• FY2027 Capex Guidance — first credible signal of AI capex normalization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7490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• Copilot Enterprise paid seat milestone — crossing 10 million active commercial seats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• EU Digital Markets Act compliance resolution — clarity on Teams/Office bundling in European markets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FD4"/>
                </a:solidFill>
              </a:rPr>
              <a:t>MONITORING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349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{'metric': 'Azure YoY Revenue Growth Rate', 'curre  |  {'metric': 'FCF Conversion Rate (FCF / Net Income)  |  {'metric': 'M365 Copilot Commercial Paid Seats', '  |  {'metric': 'Service Gross Margin', 'current_level'  |  {'metric': 'AI Capital Expenditure (quarterly run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BUSINESS QUALITY &amp; COMPETITIVE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Moat durability, management quality, and industry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651760" cy="7315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356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9FD4"/>
                </a:solidFill>
              </a:rPr>
              <a:t>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79" y="1143000"/>
            <a:ext cx="2651760" cy="7315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1188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14356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A04B"/>
                </a:solidFill>
              </a:rPr>
              <a:t>? /10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2651760" cy="7315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188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Earnings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4356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42"/>
                </a:solidFill>
              </a:rPr>
              <a:t>7 /10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143000"/>
            <a:ext cx="2651760" cy="7315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188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Overall Biz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4356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? 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057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FD4"/>
                </a:solidFill>
              </a:rPr>
              <a:t>MOAT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377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8"/>
                </a:solidFill>
              </a:rPr>
              <a:t>• Switching costs: deep enterprise workflow integration across M365, Active Directory, Azure AD, Dynamics, and Power Platf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7249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8"/>
                </a:solidFill>
              </a:rPr>
              <a:t>• Network effects: GitHub (100M+ developers as of 2023), LinkedIn (1B+ members), Teams platform (enterprise communication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07238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8"/>
                </a:solidFill>
              </a:rPr>
              <a:t>• Intangible assets: exclusive Azure OpenAI Service partnership (primary enterprise route to GPT-4/o-series models), 60+ 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FD4"/>
                </a:solidFill>
              </a:rPr>
              <a:t>PORTER'S FIVE FORCES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74320" y="3794760"/>
          <a:ext cx="116403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Force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Score (1-5)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Key Insight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Competitive Rivalry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New Entrants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Substitutes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Supplier Power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Buyer Power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FINANCIAL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Historical performance &amp; forward projections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554480" cy="6400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Revenue TTM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813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$305.5B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188720"/>
            <a:ext cx="1554480" cy="6400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EBITDA TTM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4813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$175.3B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188720"/>
            <a:ext cx="1554480" cy="6400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Op.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4813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45.0%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188720"/>
            <a:ext cx="1554480" cy="6400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FCF Conv.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4813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67.7%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79" y="1188720"/>
            <a:ext cx="1554480" cy="6400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ROIC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14813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25.0%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19" y="1188720"/>
            <a:ext cx="1554480" cy="6400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19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Net Debt/EBITDA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19" y="14813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0.19x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59" y="1188720"/>
            <a:ext cx="1554480" cy="6400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59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</a:rPr>
              <a:t>Rev CAGR 3Y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9" y="14813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011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FD4"/>
                </a:solidFill>
              </a:rPr>
              <a:t>DCF PROJECTION — BASE CASE (5-YEAR)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4320" y="2331720"/>
          <a:ext cx="1164031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052"/>
                <a:gridCol w="1940052"/>
                <a:gridCol w="1940052"/>
                <a:gridCol w="1940052"/>
                <a:gridCol w="1940052"/>
                <a:gridCol w="1940052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Revenue ($B)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EBIT Margin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EBITDA ($B)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FCF ($B)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PV FCF ($B)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Yr 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$351.3B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47.5%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$209.0B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$112.3B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$102.0B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Yr 2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$396.9B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48.2%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$239.0B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$129.2B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$106.6B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Yr 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$440.6B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48.8%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$267.9B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$145.5B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$109.0B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Yr 4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$480.3B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49.3%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$294.4B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$160.6B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$109.3B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Yr 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$518.7B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49.8%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$320.5B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$175.5B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$108.5B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74320" y="461772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PV Terminal Value: $2911B  (84% of EV)  |  Intrinsic EV: $3446B  |  Intrinsic Value/Share: $457.13  |  12M Price Target: $430 (multiple re-rating)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DCF 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Sensitivity analysis: WACC vs. Terminal Growth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474720" cy="7772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28600" cy="7772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59" y="1234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Bear (20%)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490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E3E"/>
                </a:solidFill>
              </a:rPr>
              <a:t>$281.19/share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59" y="1188720"/>
            <a:ext cx="3474720" cy="7772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59" y="1188720"/>
            <a:ext cx="228600" cy="77724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234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Base (55%)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490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FD4"/>
                </a:solidFill>
              </a:rPr>
              <a:t>$457.13/share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188720"/>
            <a:ext cx="3474720" cy="7772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188720"/>
            <a:ext cx="228600" cy="777240"/>
          </a:xfrm>
          <a:prstGeom prst="rect">
            <a:avLst/>
          </a:prstGeom>
          <a:solidFill>
            <a:srgbClr val="2E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234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Bull (25%)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490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A04B"/>
                </a:solidFill>
              </a:rPr>
              <a:t>$647.72/share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0" y="1188720"/>
            <a:ext cx="822960" cy="777240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1234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C542"/>
                </a:solidFill>
              </a:rPr>
              <a:t>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14630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542"/>
                </a:solidFill>
              </a:rPr>
              <a:t>$470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FD4"/>
                </a:solidFill>
              </a:rPr>
              <a:t>SENSITIVITY: Implied Price/Share ($)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2514600"/>
          <a:ext cx="116403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052"/>
                <a:gridCol w="1940052"/>
                <a:gridCol w="1940052"/>
                <a:gridCol w="1940052"/>
                <a:gridCol w="1940052"/>
                <a:gridCol w="1940052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WACC \ TGR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1.5%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10.1%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$445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$451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$457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$465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$473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$431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$436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$442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$448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$455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$418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$422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$427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$433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$439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$476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$484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$493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$503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$515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$460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$467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$474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$483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$493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74320" y="58521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WACC: 10.1%  |  Rf: 4.3%  |  ERP: 5.5%  |  Beta: 1.1  |  Kd (pre-tax): 4.8%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COMPARABLE COMPANIES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Relative valuation vs. peer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FD4"/>
                </a:solidFill>
              </a:rPr>
              <a:t>PEER TRADING MULTIPLES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463040"/>
          <a:ext cx="116403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901"/>
                <a:gridCol w="1662901"/>
                <a:gridCol w="1662901"/>
                <a:gridCol w="1662901"/>
                <a:gridCol w="1662901"/>
                <a:gridCol w="1662901"/>
                <a:gridCol w="1662906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NTM EV/EBITDA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NTM P/E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EV/Rev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NTM Growth%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EBITDA Margin%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Data Source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GOOGL — Alphabet Inc.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13.2x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20.1x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5.8x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38.0%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ESTIMATE — veri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AMZN — Amazon.com Inc.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17.5x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35.8x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3.0x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ESTIMATE — veri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CRM — Salesforce Inc.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19.8x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28.5x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6.5x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33.0%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ESTIMATE — veri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ORCL — Oracle Corporat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20.5x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22.8x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7.2x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34.0%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ESTIMATE — veri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SAP — SAP SE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22.0x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31.2x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7.8x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36.0%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ESTIMATE — veri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▶ MSFT (Subject)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13.8x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19.5x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8.0x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47.1%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LSEG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FD4"/>
                </a:solidFill>
              </a:rPr>
              <a:t>IMPLIED VALUATION FROM COMPS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EV/EBITDA implied: $533.00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7365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P/E implied: $541.80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0840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FCF yield implied: $359.40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43153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42"/>
                </a:solidFill>
              </a:rPr>
              <a:t>BLENDED IMPLIED: $478.10  (+28.8%)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4864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MSFT trades at an unjustified 30% discount to enterprise software peers and a 32% discount on P/E. With median peer P/E of 28.5x and EV/EBITDA of 19.8x, applying even a 20% quality premium discount to MSFT's NTM metrics implies 25-30% upside from current levels — consistent with the DCF-implied $457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Probability-weighted risks by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777240"/>
          </a:xfrm>
          <a:prstGeom prst="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09728" cy="7772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3E3E"/>
                </a:solidFill>
              </a:rPr>
              <a:t>THESIS-KILLER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4F8"/>
                </a:solidFill>
              </a:rPr>
              <a:t>{'risk': 'Simultaneous AI capex ROI failure and OpenAI exclusivity erosion: if Azure AI infrastructure ($80B+ FY2026 capex, ~$300–400B cumulative over 3–5 years) fails to generate above-WACC returns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9FD4"/>
                </a:solidFill>
              </a:rPr>
              <a:t>WHAT WOULD MAKE US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1904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{'condition': 'Azure YoY growth decelerates below 20% in any  |  {'condition': 'FCF conversion (on NI basis) fails to recover  |  {'condition': 'Copilot Enterprise active seat count plateaus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4A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APPENDIX —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Market data and company profile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43000"/>
          <a:ext cx="116403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F4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Sector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Industry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Software - Infrastructure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Market Cap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$2757.7B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Enterprise Value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$2788.1B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Trailing P/E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23.204504x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Forward P/E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19.683308x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EV/EBITDA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15.908x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EV/Revenue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9.128x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P/B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7.0519814x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Gross Margin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68.6%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Operating Margin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47.1%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Profit Margin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39.0%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ROE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34.4%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ROA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Free Cash Flow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$53.6B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Total Debt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$123.3B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Cash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$89.5B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Beta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1.108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52W High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$555.45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52W Low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$344.79</a:t>
                      </a:r>
                    </a:p>
                  </a:txBody>
                  <a:tcPr>
                    <a:solidFill>
                      <a:srgbClr val="3A3F4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0F4F8"/>
                          </a:solidFill>
                        </a:rPr>
                        <a:t>Analyst Target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$591.60284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# Analysts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F0F4F8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